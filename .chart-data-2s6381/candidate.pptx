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83141e941984951" /><Relationship Type="http://schemas.openxmlformats.org/officeDocument/2006/relationships/extended-properties" Target="/docProps/app.xml" Id="R1492164614f14f11" /><Relationship Type="http://schemas.openxmlformats.org/officeDocument/2006/relationships/officeDocument" Target="/ppt/presentation.xml" Id="R338df2b693e747c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2ed0d545e174679"/>
  </p:sldMasterIdLst>
  <p:notesMasterIdLst>
    <p:notesMasterId xmlns:r="http://schemas.openxmlformats.org/officeDocument/2006/relationships" r:id="Rdadc489560614d1c"/>
  </p:notesMasterIdLst>
  <p:sldIdLst>
    <p:sldId xmlns:r="http://schemas.openxmlformats.org/officeDocument/2006/relationships" id="256" r:id="R67b8b8e685db4e4a"/>
    <p:sldId xmlns:r="http://schemas.openxmlformats.org/officeDocument/2006/relationships" id="257" r:id="R98db1de2789b42ab"/>
    <p:sldId xmlns:r="http://schemas.openxmlformats.org/officeDocument/2006/relationships" id="258" r:id="R3c8bf0daa4af4e83"/>
    <p:sldId xmlns:r="http://schemas.openxmlformats.org/officeDocument/2006/relationships" id="259" r:id="R9e0d14554b924499"/>
    <p:sldId xmlns:r="http://schemas.openxmlformats.org/officeDocument/2006/relationships" id="260" r:id="R864da58ea971497c"/>
    <p:sldId xmlns:r="http://schemas.openxmlformats.org/officeDocument/2006/relationships" id="261" r:id="Rb1d8391884fd46b7"/>
    <p:sldId xmlns:r="http://schemas.openxmlformats.org/officeDocument/2006/relationships" id="262" r:id="Rd616905bf14c47bf"/>
    <p:sldId xmlns:r="http://schemas.openxmlformats.org/officeDocument/2006/relationships" id="263" r:id="Ra1730b299d4d4c0e"/>
    <p:sldId xmlns:r="http://schemas.openxmlformats.org/officeDocument/2006/relationships" id="264" r:id="Rc300ba10ba074f98"/>
    <p:sldId xmlns:r="http://schemas.openxmlformats.org/officeDocument/2006/relationships" id="265" r:id="R0168b9264fa5434f"/>
    <p:sldId xmlns:r="http://schemas.openxmlformats.org/officeDocument/2006/relationships" id="266" r:id="Rb0963c8c7c184254"/>
    <p:sldId xmlns:r="http://schemas.openxmlformats.org/officeDocument/2006/relationships" id="267" r:id="R0b8b1c3e7dcc4e42"/>
    <p:sldId xmlns:r="http://schemas.openxmlformats.org/officeDocument/2006/relationships" id="268" r:id="Rae64a382789e4b91"/>
    <p:sldId xmlns:r="http://schemas.openxmlformats.org/officeDocument/2006/relationships" id="269" r:id="R3b11748dfae14df1"/>
    <p:sldId xmlns:r="http://schemas.openxmlformats.org/officeDocument/2006/relationships" id="270" r:id="R9f3c8b61c1894228"/>
    <p:sldId xmlns:r="http://schemas.openxmlformats.org/officeDocument/2006/relationships" id="271" r:id="R0b94d84653c04500"/>
    <p:sldId xmlns:r="http://schemas.openxmlformats.org/officeDocument/2006/relationships" id="272" r:id="R784faa1f7dce47f3"/>
    <p:sldId xmlns:r="http://schemas.openxmlformats.org/officeDocument/2006/relationships" id="273" r:id="R8d49b90410c64e8e"/>
    <p:sldId xmlns:r="http://schemas.openxmlformats.org/officeDocument/2006/relationships" id="274" r:id="R9e4169e097644690"/>
    <p:sldId xmlns:r="http://schemas.openxmlformats.org/officeDocument/2006/relationships" id="275" r:id="R6d39033b5c2e4a9f"/>
    <p:sldId xmlns:r="http://schemas.openxmlformats.org/officeDocument/2006/relationships" id="276" r:id="R507397a5978545a8"/>
    <p:sldId xmlns:r="http://schemas.openxmlformats.org/officeDocument/2006/relationships" id="277" r:id="Rb44b21a245684024"/>
    <p:sldId xmlns:r="http://schemas.openxmlformats.org/officeDocument/2006/relationships" id="278" r:id="Ra77c0d037c7348e6"/>
    <p:sldId xmlns:r="http://schemas.openxmlformats.org/officeDocument/2006/relationships" id="279" r:id="R575e6f67ddd441e7"/>
  </p:sldIdLst>
  <p:sldSz cx="9144000" cy="5143500"/>
  <p:notesSz cx="6858000" cy="9144000"/>
  <p:embeddedFontLst>
    <p:embeddedFont>
      <p:font typeface="Inter SemiBold"/>
      <p:regular xmlns:r="http://schemas.openxmlformats.org/officeDocument/2006/relationships" r:id="Reda5da08b26f4163"/>
      <p:bold xmlns:r="http://schemas.openxmlformats.org/officeDocument/2006/relationships" r:id="R3a3212ac213e4cde"/>
      <p:italic xmlns:r="http://schemas.openxmlformats.org/officeDocument/2006/relationships" r:id="R882830f6030a420d"/>
      <p:boldItalic xmlns:r="http://schemas.openxmlformats.org/officeDocument/2006/relationships" r:id="Rbf8439d92a6e44ad"/>
    </p:embeddedFont>
    <p:embeddedFont>
      <p:font typeface="Inter"/>
      <p:bold xmlns:r="http://schemas.openxmlformats.org/officeDocument/2006/relationships" r:id="R1b62b8576a0d41c5"/>
      <p:boldItalic xmlns:r="http://schemas.openxmlformats.org/officeDocument/2006/relationships" r:id="R54be091cf4594b0d"/>
    </p:embeddedFont>
    <p:embeddedFont>
      <p:font typeface="Inter ExtraBold"/>
      <p:bold xmlns:r="http://schemas.openxmlformats.org/officeDocument/2006/relationships" r:id="R1a9a6f42a1b54252"/>
      <p:boldItalic xmlns:r="http://schemas.openxmlformats.org/officeDocument/2006/relationships" r:id="R0bce74f4d32a4044"/>
    </p:embeddedFont>
    <p:embeddedFont>
      <p:font typeface="Inter Medium"/>
      <p:regular xmlns:r="http://schemas.openxmlformats.org/officeDocument/2006/relationships" r:id="R38b108e83c9e49ea"/>
      <p:bold xmlns:r="http://schemas.openxmlformats.org/officeDocument/2006/relationships" r:id="Rc9eb34eb062644a3"/>
      <p:italic xmlns:r="http://schemas.openxmlformats.org/officeDocument/2006/relationships" r:id="Rc3db706381cf4d20"/>
      <p:boldItalic xmlns:r="http://schemas.openxmlformats.org/officeDocument/2006/relationships" r:id="R75bd62753de5411a"/>
    </p:embeddedFont>
    <p:embeddedFont>
      <p:font typeface="Inter Black"/>
      <p:bold xmlns:r="http://schemas.openxmlformats.org/officeDocument/2006/relationships" r:id="R13d9bdd6c79a4bfc"/>
      <p:boldItalic xmlns:r="http://schemas.openxmlformats.org/officeDocument/2006/relationships" r:id="Rd9ae054179574257"/>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abb0aad75bf649a7" /><Relationship Type="http://schemas.openxmlformats.org/officeDocument/2006/relationships/slideMaster" Target="/ppt/slideMasters/slideMaster1.xml" Id="R22ed0d545e174679" /><Relationship Type="http://schemas.openxmlformats.org/officeDocument/2006/relationships/notesMaster" Target="/ppt/notesMasters/notesMaster1.xml" Id="Rdadc489560614d1c" /><Relationship Type="http://schemas.openxmlformats.org/officeDocument/2006/relationships/presProps" Target="/ppt/presProps.xml" Id="Rde49ef0b1c55497f" /><Relationship Type="http://schemas.openxmlformats.org/officeDocument/2006/relationships/viewProps" Target="/ppt/viewProps.xml" Id="Re2bad8e145f44087" /><Relationship Type="http://schemas.openxmlformats.org/officeDocument/2006/relationships/tableStyles" Target="/ppt/tableStyles.xml" Id="R1187cccfd3a64bfc" /><Relationship Type="http://schemas.openxmlformats.org/officeDocument/2006/relationships/font" Target="/ppt/fonts/font.dat" Id="Reda5da08b26f4163" /><Relationship Type="http://schemas.openxmlformats.org/officeDocument/2006/relationships/font" Target="/ppt/fonts/font2.dat" Id="R3a3212ac213e4cde" /><Relationship Type="http://schemas.openxmlformats.org/officeDocument/2006/relationships/font" Target="/ppt/fonts/font3.dat" Id="R882830f6030a420d" /><Relationship Type="http://schemas.openxmlformats.org/officeDocument/2006/relationships/font" Target="/ppt/fonts/font4.dat" Id="Rbf8439d92a6e44ad" /><Relationship Type="http://schemas.openxmlformats.org/officeDocument/2006/relationships/font" Target="/ppt/fonts/font5.dat" Id="R1b62b8576a0d41c5" /><Relationship Type="http://schemas.openxmlformats.org/officeDocument/2006/relationships/font" Target="/ppt/fonts/font6.dat" Id="R54be091cf4594b0d" /><Relationship Type="http://schemas.openxmlformats.org/officeDocument/2006/relationships/font" Target="/ppt/fonts/font7.dat" Id="R1a9a6f42a1b54252" /><Relationship Type="http://schemas.openxmlformats.org/officeDocument/2006/relationships/font" Target="/ppt/fonts/font8.dat" Id="R0bce74f4d32a4044" /><Relationship Type="http://schemas.openxmlformats.org/officeDocument/2006/relationships/font" Target="/ppt/fonts/font9.dat" Id="R38b108e83c9e49ea" /><Relationship Type="http://schemas.openxmlformats.org/officeDocument/2006/relationships/font" Target="/ppt/fonts/font10.dat" Id="Rc9eb34eb062644a3" /><Relationship Type="http://schemas.openxmlformats.org/officeDocument/2006/relationships/font" Target="/ppt/fonts/font11.dat" Id="Rc3db706381cf4d20" /><Relationship Type="http://schemas.openxmlformats.org/officeDocument/2006/relationships/font" Target="/ppt/fonts/font12.dat" Id="R75bd62753de5411a" /><Relationship Type="http://schemas.openxmlformats.org/officeDocument/2006/relationships/font" Target="/ppt/fonts/font13.dat" Id="R13d9bdd6c79a4bfc" /><Relationship Type="http://schemas.openxmlformats.org/officeDocument/2006/relationships/font" Target="/ppt/fonts/font14.dat" Id="Rd9ae054179574257" /><Relationship Type="http://schemas.openxmlformats.org/officeDocument/2006/relationships/slide" Target="/ppt/slides/slide1.xml" Id="R67b8b8e685db4e4a" /><Relationship Type="http://schemas.openxmlformats.org/officeDocument/2006/relationships/slide" Target="/ppt/slides/slide2.xml" Id="R98db1de2789b42ab" /><Relationship Type="http://schemas.openxmlformats.org/officeDocument/2006/relationships/slide" Target="/ppt/slides/slide3.xml" Id="R3c8bf0daa4af4e83" /><Relationship Type="http://schemas.openxmlformats.org/officeDocument/2006/relationships/slide" Target="/ppt/slides/slide4.xml" Id="R9e0d14554b924499" /><Relationship Type="http://schemas.openxmlformats.org/officeDocument/2006/relationships/slide" Target="/ppt/slides/slide5.xml" Id="R864da58ea971497c" /><Relationship Type="http://schemas.openxmlformats.org/officeDocument/2006/relationships/slide" Target="/ppt/slides/slide6.xml" Id="Rb1d8391884fd46b7" /><Relationship Type="http://schemas.openxmlformats.org/officeDocument/2006/relationships/slide" Target="/ppt/slides/slide7.xml" Id="Rd616905bf14c47bf" /><Relationship Type="http://schemas.openxmlformats.org/officeDocument/2006/relationships/slide" Target="/ppt/slides/slide8.xml" Id="Ra1730b299d4d4c0e" /><Relationship Type="http://schemas.openxmlformats.org/officeDocument/2006/relationships/slide" Target="/ppt/slides/slide9.xml" Id="Rc300ba10ba074f98" /><Relationship Type="http://schemas.openxmlformats.org/officeDocument/2006/relationships/slide" Target="/ppt/slides/slide10.xml" Id="R0168b9264fa5434f" /><Relationship Type="http://schemas.openxmlformats.org/officeDocument/2006/relationships/slide" Target="/ppt/slides/slide11.xml" Id="Rb0963c8c7c184254" /><Relationship Type="http://schemas.openxmlformats.org/officeDocument/2006/relationships/slide" Target="/ppt/slides/slide12.xml" Id="R0b8b1c3e7dcc4e42" /><Relationship Type="http://schemas.openxmlformats.org/officeDocument/2006/relationships/slide" Target="/ppt/slides/slide13.xml" Id="Rae64a382789e4b91" /><Relationship Type="http://schemas.openxmlformats.org/officeDocument/2006/relationships/slide" Target="/ppt/slides/slide14.xml" Id="R3b11748dfae14df1" /><Relationship Type="http://schemas.openxmlformats.org/officeDocument/2006/relationships/slide" Target="/ppt/slides/slide15.xml" Id="R9f3c8b61c1894228" /><Relationship Type="http://schemas.openxmlformats.org/officeDocument/2006/relationships/slide" Target="/ppt/slides/slide16.xml" Id="R0b94d84653c04500" /><Relationship Type="http://schemas.openxmlformats.org/officeDocument/2006/relationships/slide" Target="/ppt/slides/slide17.xml" Id="R784faa1f7dce47f3" /><Relationship Type="http://schemas.openxmlformats.org/officeDocument/2006/relationships/slide" Target="/ppt/slides/slide18.xml" Id="R8d49b90410c64e8e" /><Relationship Type="http://schemas.openxmlformats.org/officeDocument/2006/relationships/slide" Target="/ppt/slides/slide19.xml" Id="R9e4169e097644690" /><Relationship Type="http://schemas.openxmlformats.org/officeDocument/2006/relationships/slide" Target="/ppt/slides/slide20.xml" Id="R6d39033b5c2e4a9f" /><Relationship Type="http://schemas.openxmlformats.org/officeDocument/2006/relationships/slide" Target="/ppt/slides/slide21.xml" Id="R507397a5978545a8" /><Relationship Type="http://schemas.openxmlformats.org/officeDocument/2006/relationships/slide" Target="/ppt/slides/slide22.xml" Id="Rb44b21a245684024" /><Relationship Type="http://schemas.openxmlformats.org/officeDocument/2006/relationships/slide" Target="/ppt/slides/slide23.xml" Id="Ra77c0d037c7348e6" /><Relationship Type="http://schemas.openxmlformats.org/officeDocument/2006/relationships/slide" Target="/ppt/slides/slide24.xml" Id="R575e6f67ddd441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fe55b0dc0445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ba648bd8ac4391" /><Relationship Type="http://schemas.openxmlformats.org/officeDocument/2006/relationships/notesMaster" Target="/ppt/notesMasters/notesMaster1.xml" Id="R09accdfc646d48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918333c97b4c0c" /><Relationship Type="http://schemas.openxmlformats.org/officeDocument/2006/relationships/notesMaster" Target="/ppt/notesMasters/notesMaster1.xml" Id="Rfac38949bfbc4f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cc6fa8455344b4" /><Relationship Type="http://schemas.openxmlformats.org/officeDocument/2006/relationships/notesMaster" Target="/ppt/notesMasters/notesMaster1.xml" Id="Rabd87a3af86944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37a9bd77a749cf" /><Relationship Type="http://schemas.openxmlformats.org/officeDocument/2006/relationships/notesMaster" Target="/ppt/notesMasters/notesMaster1.xml" Id="Rb75643d3879f4d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0f3df38ef54baa" /><Relationship Type="http://schemas.openxmlformats.org/officeDocument/2006/relationships/notesMaster" Target="/ppt/notesMasters/notesMaster1.xml" Id="R7c41723e854742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f2652ece634aca" /><Relationship Type="http://schemas.openxmlformats.org/officeDocument/2006/relationships/notesMaster" Target="/ppt/notesMasters/notesMaster1.xml" Id="Rab0d5ff88d2547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b15f0f4e234324" /><Relationship Type="http://schemas.openxmlformats.org/officeDocument/2006/relationships/notesMaster" Target="/ppt/notesMasters/notesMaster1.xml" Id="R9eec7465b6c14b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8b9f185066428a" /><Relationship Type="http://schemas.openxmlformats.org/officeDocument/2006/relationships/notesMaster" Target="/ppt/notesMasters/notesMaster1.xml" Id="Ref89e9ebc59941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37f01256974296" /><Relationship Type="http://schemas.openxmlformats.org/officeDocument/2006/relationships/notesMaster" Target="/ppt/notesMasters/notesMaster1.xml" Id="Rcb8c60d4466749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bec7f0bfd940ee" /><Relationship Type="http://schemas.openxmlformats.org/officeDocument/2006/relationships/notesMaster" Target="/ppt/notesMasters/notesMaster1.xml" Id="R030c40d7feb244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a3bfed549349c5" /><Relationship Type="http://schemas.openxmlformats.org/officeDocument/2006/relationships/notesMaster" Target="/ppt/notesMasters/notesMaster1.xml" Id="R250ff8d387054d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58ca4179b94975" /><Relationship Type="http://schemas.openxmlformats.org/officeDocument/2006/relationships/notesMaster" Target="/ppt/notesMasters/notesMaster1.xml" Id="R2aebc0ff2bfe4a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bf378841984f81" /><Relationship Type="http://schemas.openxmlformats.org/officeDocument/2006/relationships/notesMaster" Target="/ppt/notesMasters/notesMaster1.xml" Id="R664b1beb13294e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bdae7ebe6f4d63" /><Relationship Type="http://schemas.openxmlformats.org/officeDocument/2006/relationships/notesMaster" Target="/ppt/notesMasters/notesMaster1.xml" Id="R7c45a9f77f5543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bf7d3e4a194406" /><Relationship Type="http://schemas.openxmlformats.org/officeDocument/2006/relationships/notesMaster" Target="/ppt/notesMasters/notesMaster1.xml" Id="Rb1beb02ef45542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780e4ff0a14afb" /><Relationship Type="http://schemas.openxmlformats.org/officeDocument/2006/relationships/notesMaster" Target="/ppt/notesMasters/notesMaster1.xml" Id="R075b9ba84c224b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798bbca542412c" /><Relationship Type="http://schemas.openxmlformats.org/officeDocument/2006/relationships/notesMaster" Target="/ppt/notesMasters/notesMaster1.xml" Id="R02098b16892443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5fd222fd514f8e" /><Relationship Type="http://schemas.openxmlformats.org/officeDocument/2006/relationships/notesMaster" Target="/ppt/notesMasters/notesMaster1.xml" Id="Rabbe2ca8065341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f41fd124894940" /><Relationship Type="http://schemas.openxmlformats.org/officeDocument/2006/relationships/notesMaster" Target="/ppt/notesMasters/notesMaster1.xml" Id="R1fd27323dbe345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f329925b9642b7" /><Relationship Type="http://schemas.openxmlformats.org/officeDocument/2006/relationships/notesMaster" Target="/ppt/notesMasters/notesMaster1.xml" Id="Rc18594b100b746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f127600b9614a8b" /><Relationship Type="http://schemas.openxmlformats.org/officeDocument/2006/relationships/notesMaster" Target="/ppt/notesMasters/notesMaster1.xml" Id="Rc551e09db22f4a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a17fafb7a884853" /><Relationship Type="http://schemas.openxmlformats.org/officeDocument/2006/relationships/notesMaster" Target="/ppt/notesMasters/notesMaster1.xml" Id="R63e522cf02f3419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f6db206a3b641c3" /><Relationship Type="http://schemas.openxmlformats.org/officeDocument/2006/relationships/notesMaster" Target="/ppt/notesMasters/notesMaster1.xml" Id="R1f7544c203574a2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525e20c15d94dd9" /><Relationship Type="http://schemas.openxmlformats.org/officeDocument/2006/relationships/notesMaster" Target="/ppt/notesMasters/notesMaster1.xml" Id="R309cf4d83f5243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63b27ab77b4d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b0021c90c947d3"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73220dfb994f5e" /><Relationship Type="http://schemas.openxmlformats.org/officeDocument/2006/relationships/slideLayout" Target="/ppt/slideLayouts/slideLayout1.xml" Id="R43208bce54a34f1a" /><Relationship Type="http://schemas.openxmlformats.org/officeDocument/2006/relationships/slideLayout" Target="/ppt/slideLayouts/slideLayout2.xml" Id="R29378802ed4341d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3208bce54a34f1a"/>
    <p:sldLayoutId xmlns:r="http://schemas.openxmlformats.org/officeDocument/2006/relationships" id="2147483650" r:id="R29378802ed4341d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d793533b7e4aa6" /><Relationship Type="http://schemas.openxmlformats.org/officeDocument/2006/relationships/image" Target="/ppt/media/image.png" Id="R3cbb04dec1c644e0" /><Relationship Type="http://schemas.openxmlformats.org/officeDocument/2006/relationships/image" Target="/ppt/media/image2.png" Id="R02dc49fd972845b5" /><Relationship Type="http://schemas.openxmlformats.org/officeDocument/2006/relationships/image" Target="/ppt/media/image3.png" Id="Rd925c9f12ef440b9" /><Relationship Type="http://schemas.openxmlformats.org/officeDocument/2006/relationships/notesSlide" Target="/ppt/notesSlides/notesSlide1.xml" Id="R3693b6b20b0d4e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27b9c62a244232" /><Relationship Type="http://schemas.openxmlformats.org/officeDocument/2006/relationships/notesSlide" Target="/ppt/notesSlides/notesSlide2.xml" Id="Rc27a109165e540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fc6a6038e24f35" /><Relationship Type="http://schemas.openxmlformats.org/officeDocument/2006/relationships/notesSlide" Target="/ppt/notesSlides/notesSlide3.xml" Id="R024da05d613643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504aa93dfd4d96" /><Relationship Type="http://schemas.openxmlformats.org/officeDocument/2006/relationships/notesSlide" Target="/ppt/notesSlides/notesSlide4.xml" Id="Rca4f75c8c3224e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d6b294b83b4834" /><Relationship Type="http://schemas.openxmlformats.org/officeDocument/2006/relationships/notesSlide" Target="/ppt/notesSlides/notesSlide5.xml" Id="Rabd7f214be0748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bf1b98e7e747b6" /><Relationship Type="http://schemas.openxmlformats.org/officeDocument/2006/relationships/notesSlide" Target="/ppt/notesSlides/notesSlide6.xml" Id="R0a12df0eee9448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35f9daa7054dc1" /><Relationship Type="http://schemas.openxmlformats.org/officeDocument/2006/relationships/notesSlide" Target="/ppt/notesSlides/notesSlide7.xml" Id="Rf65457700ab247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d6a7ac1c4d4990" /><Relationship Type="http://schemas.openxmlformats.org/officeDocument/2006/relationships/notesSlide" Target="/ppt/notesSlides/notesSlide8.xml" Id="R8361eadde8254b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49b851a5cd84ea3" /><Relationship Type="http://schemas.openxmlformats.org/officeDocument/2006/relationships/notesSlide" Target="/ppt/notesSlides/notesSlide9.xml" Id="Rff893be5a45341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9f6ced5aee94203" /><Relationship Type="http://schemas.openxmlformats.org/officeDocument/2006/relationships/image" Target="/ppt/media/image4.png" Id="R128b7ed92f2e4d46" /><Relationship Type="http://schemas.openxmlformats.org/officeDocument/2006/relationships/image" Target="/ppt/media/image.jpeg" Id="Rbd20dcd0826b48aa" /><Relationship Type="http://schemas.openxmlformats.org/officeDocument/2006/relationships/image" Target="/ppt/media/image2.jpeg" Id="R4e9b8488cb564619" /><Relationship Type="http://schemas.openxmlformats.org/officeDocument/2006/relationships/image" Target="/ppt/media/image3.jpeg" Id="R1de61097568e424d" /><Relationship Type="http://schemas.openxmlformats.org/officeDocument/2006/relationships/image" Target="/ppt/media/image4.jpeg" Id="R297f63b1ca124f45" /><Relationship Type="http://schemas.openxmlformats.org/officeDocument/2006/relationships/image" Target="/ppt/media/image5.jpeg" Id="R360d9563ac094464" /><Relationship Type="http://schemas.openxmlformats.org/officeDocument/2006/relationships/notesSlide" Target="/ppt/notesSlides/notesSlide10.xml" Id="R48d77df7c46746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7d741db02804920" /><Relationship Type="http://schemas.openxmlformats.org/officeDocument/2006/relationships/notesSlide" Target="/ppt/notesSlides/notesSlide11.xml" Id="Rd8c1c397538541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4cc4d54d2404ce1" /><Relationship Type="http://schemas.openxmlformats.org/officeDocument/2006/relationships/notesSlide" Target="/ppt/notesSlides/notesSlide12.xml" Id="Rad2493cfb5554f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9efe571591b43b3" /><Relationship Type="http://schemas.openxmlformats.org/officeDocument/2006/relationships/chart" Target="/ppt/slides/charts/chart1.xml" Id="R6d0431ddebe94df1" /><Relationship Type="http://schemas.openxmlformats.org/officeDocument/2006/relationships/notesSlide" Target="/ppt/notesSlides/notesSlide13.xml" Id="Rf259b35ff15648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e9238df68324810" /><Relationship Type="http://schemas.openxmlformats.org/officeDocument/2006/relationships/chart" Target="/ppt/slides/charts/chart2.xml" Id="R2abeee6d425d477f" /><Relationship Type="http://schemas.openxmlformats.org/officeDocument/2006/relationships/notesSlide" Target="/ppt/notesSlides/notesSlide14.xml" Id="R1303e5d19b034d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668ab17792c4302" /><Relationship Type="http://schemas.openxmlformats.org/officeDocument/2006/relationships/chart" Target="/ppt/slides/charts/chart3.xml" Id="Rf5bc9f10400f4d1a" /><Relationship Type="http://schemas.openxmlformats.org/officeDocument/2006/relationships/notesSlide" Target="/ppt/notesSlides/notesSlide15.xml" Id="Re28b492ab5e6482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ea369cd3224b45" /><Relationship Type="http://schemas.openxmlformats.org/officeDocument/2006/relationships/notesSlide" Target="/ppt/notesSlides/notesSlide16.xml" Id="R11a6e6458bc044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349cd4e30b04eec" /><Relationship Type="http://schemas.openxmlformats.org/officeDocument/2006/relationships/notesSlide" Target="/ppt/notesSlides/notesSlide17.xml" Id="R50ef495a8b5e45c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5c03d3fdb9b42ed" /><Relationship Type="http://schemas.openxmlformats.org/officeDocument/2006/relationships/chart" Target="/ppt/slides/charts/chart4.xml" Id="Rc264bb5c69ba4d39" /><Relationship Type="http://schemas.openxmlformats.org/officeDocument/2006/relationships/notesSlide" Target="/ppt/notesSlides/notesSlide18.xml" Id="Re7bb76e6aad2494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3cb3af4d08042b7" /><Relationship Type="http://schemas.openxmlformats.org/officeDocument/2006/relationships/chart" Target="/ppt/slides/charts/chart5.xml" Id="R0a47ed5c34784ce6" /><Relationship Type="http://schemas.openxmlformats.org/officeDocument/2006/relationships/notesSlide" Target="/ppt/notesSlides/notesSlide19.xml" Id="R0337f549dcef490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3be296402b74b85" /><Relationship Type="http://schemas.openxmlformats.org/officeDocument/2006/relationships/notesSlide" Target="/ppt/notesSlides/notesSlide20.xml" Id="R783fc34c58c844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9cdb00c7fbb451f" /><Relationship Type="http://schemas.openxmlformats.org/officeDocument/2006/relationships/notesSlide" Target="/ppt/notesSlides/notesSlide21.xml" Id="Rf256b4dd9e164c5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1e644a7ef324bbc" /><Relationship Type="http://schemas.openxmlformats.org/officeDocument/2006/relationships/notesSlide" Target="/ppt/notesSlides/notesSlide22.xml" Id="Rded2b93d699c46b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010b35bb0084312" /><Relationship Type="http://schemas.openxmlformats.org/officeDocument/2006/relationships/notesSlide" Target="/ppt/notesSlides/notesSlide23.xml" Id="R0c1712b1f70d462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f2a330d103e41f1" /><Relationship Type="http://schemas.openxmlformats.org/officeDocument/2006/relationships/image" Target="/ppt/media/image5.png" Id="Rb10ccf46b07e4fb9" /><Relationship Type="http://schemas.openxmlformats.org/officeDocument/2006/relationships/notesSlide" Target="/ppt/notesSlides/notesSlide24.xml" Id="Radd2dc80ce52441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internal latency</c:v>
          </c:tx>
          <c:spPr>
            <a:solidFill xmlns:a="http://schemas.openxmlformats.org/drawingml/2006/main">
              <a:srgbClr val="0FA3B1"/>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PIN</c:v>
          </c:tx>
          <c:spPr>
            <a:solidFill xmlns:a="http://schemas.openxmlformats.org/drawingml/2006/main">
              <a:srgbClr val="0B7F8A"/>
            </a:solidFill>
          </c:spPr>
          <c:invertIfNegative val="0"/>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D4872C"/>
            </a:solidFill>
          </c:spPr>
          <c:invertIfNegative val="0"/>
          <c:dLbls>
            <c:dLbl>
              <c:idx val="0"/>
              <c:showLegendKey val="0"/>
              <c:showVal val="0"/>
              <c:showCatName val="0"/>
              <c:showSerName val="0"/>
              <c:showPercent val="0"/>
            </c:dLbl>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Writing observations</c:v>
          </c:tx>
          <c:spPr>
            <a:solidFill xmlns:a="http://schemas.openxmlformats.org/drawingml/2006/main">
              <a:srgbClr val="0FA3B1"/>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n = 70</c:v>
          </c:tx>
          <c:spPr>
            <a:solidFill xmlns:a="http://schemas.openxmlformats.org/drawingml/2006/main">
              <a:srgbClr val="D4872C"/>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B7F8A"/>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Overall equal-category mean</c:v>
          </c:tx>
          <c:spPr>
            <a:solidFill xmlns:a="http://schemas.openxmlformats.org/drawingml/2006/main">
              <a:srgbClr val="0B7F8A"/>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a:blip xmlns:r="http://schemas.openxmlformats.org/officeDocument/2006/relationships" r:embed="R3cbb04dec1c644e0">
            <a:alphaModFix/>
          </a:blip>
          <a:stretch>
            <a:fillRect l="0" t="0" r="0" b="0"/>
          </a:stretch>
        </a:blipFill>
      </p:bgPr>
    </p:bg>
    <p:spTree>
      <p:nvGrpSpPr>
        <p:cNvPr id="1" name=""/>
        <p:cNvGrpSpPr/>
        <p:nvPr/>
      </p:nvGrpSpPr>
      <p:grpSpPr>
        <a:xfrm xmlns:a="http://schemas.openxmlformats.org/drawingml/2006/main"/>
      </p:grpSpPr>
      <p:sp>
        <p:nvSpPr>
          <p:cNvPr id="91" name="Google Shape;91;p6">
            <a:extLst xmlns:a="http://schemas.openxmlformats.org/drawingml/2006/main">
              <a:ext uri="{FF2B5EF4-FFF2-40B4-BE49-F238E27FC236}">
                <a16:creationId xmlns:a16="http://schemas.microsoft.com/office/drawing/2014/main" id="{288BF945-AFD5-4795-A7F8-0F610FE25031}"/>
              </a:ext>
            </a:extLst>
          </p:cNvPr>
          <p:cNvSpPr>
            <a:spLocks xmlns:a="http://schemas.openxmlformats.org/drawingml/2006/main" noGrp="1"/>
          </p:cNvSpPr>
          <p:nvPr/>
        </p:nvSpPr>
        <p:spPr>
          <a:xfrm xmlns:a="http://schemas.openxmlformats.org/drawingml/2006/main" rot="0" flipH="0" flipV="0">
            <a:off x="5715000" y="-1905000"/>
            <a:ext cx="5715000" cy="57150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2" name="Google Shape;92;p6">
            <a:extLst xmlns:a="http://schemas.openxmlformats.org/drawingml/2006/main">
              <a:ext uri="{FF2B5EF4-FFF2-40B4-BE49-F238E27FC236}">
                <a16:creationId xmlns:a16="http://schemas.microsoft.com/office/drawing/2014/main" id="{EDA0CBDD-E8CB-4F18-82F8-E6B03FE8E593}"/>
              </a:ext>
            </a:extLst>
          </p:cNvPr>
          <p:cNvSpPr>
            <a:spLocks xmlns:a="http://schemas.openxmlformats.org/drawingml/2006/main" noGrp="1"/>
          </p:cNvSpPr>
          <p:nvPr/>
        </p:nvSpPr>
        <p:spPr>
          <a:xfrm xmlns:a="http://schemas.openxmlformats.org/drawingml/2006/main" rot="0" flipH="0" flipV="0">
            <a:off x="-1428750" y="2190750"/>
            <a:ext cx="4762500" cy="47625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93" name="Google Shape;93;p6">
            <a:extLst xmlns:a="http://schemas.openxmlformats.org/drawingml/2006/main">
              <a:ext uri="{FF2B5EF4-FFF2-40B4-BE49-F238E27FC236}">
                <a16:creationId xmlns:a16="http://schemas.microsoft.com/office/drawing/2014/main" id="{1C1AE649-04C1-42BE-8B4C-03F5E65EBD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2dc49fd972845b5">
            <a:alphaModFix/>
          </a:blip>
          <a:srcRect xmlns:a="http://schemas.openxmlformats.org/drawingml/2006/main" l="0" t="0" r="0" b="0"/>
          <a:stretch xmlns:a="http://schemas.openxmlformats.org/drawingml/2006/main"/>
        </p:blipFill>
        <p:spPr>
          <a:xfrm xmlns:a="http://schemas.openxmlformats.org/drawingml/2006/main" rot="0" flipH="0" flipV="0">
            <a:off x="7138988" y="-481012"/>
            <a:ext cx="2004900" cy="2867100"/>
          </a:xfrm>
          <a:prstGeom xmlns:a="http://schemas.openxmlformats.org/drawingml/2006/main" prst="rect">
            <a:avLst/>
          </a:prstGeom>
          <a:ln xmlns:a="http://schemas.openxmlformats.org/drawingml/2006/main">
            <a:noFill/>
          </a:ln>
        </p:spPr>
      </p:pic>
      <p:pic>
        <p:nvPicPr>
          <p:cNvPr id="94" name="Google Shape;94;p6">
            <a:extLst xmlns:a="http://schemas.openxmlformats.org/drawingml/2006/main">
              <a:ext uri="{FF2B5EF4-FFF2-40B4-BE49-F238E27FC236}">
                <a16:creationId xmlns:a16="http://schemas.microsoft.com/office/drawing/2014/main" id="{0B2B2FE9-55C2-489C-98F6-A1EBC75428F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925c9f12ef440b9">
            <a:alphaModFix/>
          </a:blip>
          <a:srcRect xmlns:a="http://schemas.openxmlformats.org/drawingml/2006/main" l="0" t="0" r="0" b="0"/>
          <a:stretch xmlns:a="http://schemas.openxmlformats.org/drawingml/2006/main"/>
        </p:blipFill>
        <p:spPr>
          <a:xfrm xmlns:a="http://schemas.openxmlformats.org/drawingml/2006/main" rot="0" flipH="0" flipV="0">
            <a:off x="6467475" y="-1152525"/>
            <a:ext cx="2676600" cy="4210200"/>
          </a:xfrm>
          <a:prstGeom xmlns:a="http://schemas.openxmlformats.org/drawingml/2006/main" prst="rect">
            <a:avLst/>
          </a:prstGeom>
          <a:ln xmlns:a="http://schemas.openxmlformats.org/drawingml/2006/main">
            <a:noFill/>
          </a:ln>
        </p:spPr>
      </p:pic>
      <p:sp>
        <p:nvSpPr>
          <p:cNvPr id="95" name="Google Shape;95;p6">
            <a:extLst xmlns:a="http://schemas.openxmlformats.org/drawingml/2006/main">
              <a:ext uri="{FF2B5EF4-FFF2-40B4-BE49-F238E27FC236}">
                <a16:creationId xmlns:a16="http://schemas.microsoft.com/office/drawing/2014/main" id="{22634D8F-F354-4900-8B13-1593D4BD0D52}"/>
              </a:ext>
            </a:extLst>
          </p:cNvPr>
          <p:cNvSpPr>
            <a:spLocks xmlns:a="http://schemas.openxmlformats.org/drawingml/2006/main" noGrp="1"/>
          </p:cNvSpPr>
          <p:nvPr/>
        </p:nvSpPr>
        <p:spPr>
          <a:xfrm xmlns:a="http://schemas.openxmlformats.org/drawingml/2006/main">
            <a:off x="609600" y="523875"/>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850" b="1">
                <a:solidFill>
                  <a:srgbClr val="0FA3B1"/>
                </a:solidFill>
                <a:latin typeface="Inter"/>
                <a:ea typeface="Inter"/>
                <a:cs typeface="Inter"/>
              </a:rPr>
              <a:t>TAGUIG CITY UNIVERSITY  COLLEGE OF INFORMATION AND COMPUTING TECHNOLOGY</a:t>
            </a:r>
            <a:endParaRPr sz="850" b="1">
              <a:solidFill>
                <a:srgbClr val="0FA3B1"/>
              </a:solidFill>
              <a:latin typeface="Inter"/>
              <a:ea typeface="Inter"/>
              <a:cs typeface="Inter"/>
            </a:endParaRPr>
          </a:p>
        </p:txBody>
      </p:sp>
      <p:sp>
        <p:nvSpPr>
          <p:cNvPr id="96" name="Google Shape;96;p6">
            <a:extLst xmlns:a="http://schemas.openxmlformats.org/drawingml/2006/main">
              <a:ext uri="{FF2B5EF4-FFF2-40B4-BE49-F238E27FC236}">
                <a16:creationId xmlns:a16="http://schemas.microsoft.com/office/drawing/2014/main" id="{8C205882-82C3-4870-B2D9-3EE77EDC0114}"/>
              </a:ext>
            </a:extLst>
          </p:cNvPr>
          <p:cNvSpPr>
            <a:spLocks xmlns:a="http://schemas.openxmlformats.org/drawingml/2006/main" noGrp="1"/>
          </p:cNvSpPr>
          <p:nvPr/>
        </p:nvSpPr>
        <p:spPr>
          <a:xfrm xmlns:a="http://schemas.openxmlformats.org/drawingml/2006/main">
            <a:off x="609600" y="1095375"/>
            <a:ext cx="7905900" cy="1428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800" b="0">
                <a:solidFill>
                  <a:srgbClr val="FFFFFF"/>
                </a:solidFill>
                <a:latin typeface="Inter ExtraBold"/>
                <a:ea typeface="Inter ExtraBold"/>
                <a:cs typeface="Inter ExtraBold"/>
              </a:rPr>
              <a:t>A Risk-Based Two-Factor Student</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Verification and Event Attendance</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Management System</a:t>
            </a:r>
            <a:endParaRPr sz="2800" b="0">
              <a:solidFill>
                <a:srgbClr val="FFFFFF"/>
              </a:solidFill>
              <a:latin typeface="Inter ExtraBold"/>
              <a:ea typeface="Inter ExtraBold"/>
              <a:cs typeface="Inter ExtraBold"/>
            </a:endParaRPr>
          </a:p>
        </p:txBody>
      </p:sp>
      <p:sp>
        <p:nvSpPr>
          <p:cNvPr id="97" name="Google Shape;97;p6">
            <a:extLst xmlns:a="http://schemas.openxmlformats.org/drawingml/2006/main">
              <a:ext uri="{FF2B5EF4-FFF2-40B4-BE49-F238E27FC236}">
                <a16:creationId xmlns:a16="http://schemas.microsoft.com/office/drawing/2014/main" id="{8524E8CC-0E48-4A85-87CE-C1F662BBF57F}"/>
              </a:ext>
            </a:extLst>
          </p:cNvPr>
          <p:cNvSpPr>
            <a:spLocks xmlns:a="http://schemas.openxmlformats.org/drawingml/2006/main" noGrp="1"/>
          </p:cNvSpPr>
          <p:nvPr/>
        </p:nvSpPr>
        <p:spPr>
          <a:xfrm xmlns:a="http://schemas.openxmlformats.org/drawingml/2006/main">
            <a:off x="609600" y="2628900"/>
            <a:ext cx="7953375" cy="647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350">
                <a:solidFill>
                  <a:srgbClr val="0FA3B1"/>
                </a:solidFill>
                <a:latin typeface="Inter"/>
                <a:ea typeface="Inter"/>
                <a:cs typeface="Inter"/>
              </a:defRPr>
            </a:defPPr>
          </a:lstStyle>
          <a:p xmlns:a="http://schemas.openxmlformats.org/drawingml/2006/main">
            <a:pPr marL="0" lvl="0" indent="0" algn="l">
              <a:spcBef>
                <a:spcPts val="0"/>
              </a:spcBef>
              <a:spcAft>
                <a:spcPts val="0"/>
              </a:spcAft>
              <a:buNone/>
              <a:defRPr sz="1350">
                <a:solidFill>
                  <a:srgbClr val="0FA3B1"/>
                </a:solidFill>
                <a:latin typeface="Inter"/>
                <a:ea typeface="Inter"/>
                <a:cs typeface="Inter"/>
              </a:defRPr>
            </a:pPr>
            <a:r>
              <a:rPr sz="1350" b="0">
                <a:solidFill>
                  <a:srgbClr val="0FA3B1"/>
                </a:solidFill>
                <a:latin typeface="Inter"/>
                <a:ea typeface="Inter"/>
                <a:cs typeface="Inter"/>
              </a:rPr>
              <a:t>Using Near Field Communication (NFC), Personal Identification Number (PIN) Authentication, and Quick Response (QR) Credential Validation</a:t>
            </a:r>
            <a:endParaRPr sz="1350" b="0">
              <a:solidFill>
                <a:srgbClr val="E2E8F0"/>
              </a:solidFill>
              <a:latin typeface="Inter"/>
              <a:ea typeface="Inter"/>
              <a:cs typeface="Inter"/>
            </a:endParaRPr>
          </a:p>
        </p:txBody>
      </p:sp>
      <p:cxnSp>
        <p:nvCxnSpPr>
          <p:cNvPr id="98" name="Google Shape;98;p6">
            <a:extLst xmlns:a="http://schemas.openxmlformats.org/drawingml/2006/main">
              <a:ext uri="{FF2B5EF4-FFF2-40B4-BE49-F238E27FC236}">
                <a16:creationId xmlns:a16="http://schemas.microsoft.com/office/drawing/2014/main" id="{15961F46-E3E3-48A1-8CC0-CEA450E83437}"/>
              </a:ext>
            </a:extLst>
          </p:cNvPr>
          <p:cNvCxnSpPr/>
          <p:nvPr/>
        </p:nvCxnSpPr>
        <p:spPr>
          <a:xfrm xmlns:a="http://schemas.openxmlformats.org/drawingml/2006/main">
            <a:off x="609600" y="3286125"/>
            <a:ext cx="1905000" cy="0"/>
          </a:xfrm>
          <a:prstGeom xmlns:a="http://schemas.openxmlformats.org/drawingml/2006/main" prst="straightConnector1">
            <a:avLst/>
          </a:prstGeom>
          <a:ln xmlns:a="http://schemas.openxmlformats.org/drawingml/2006/main" w="28575" cap="rnd">
            <a:solidFill>
              <a:srgbClr val="0FA3B1"/>
            </a:solidFill>
            <a:prstDash val="solid"/>
            <a:round/>
            <a:headEnd type="none" w="sm" len="sm"/>
            <a:tailEnd type="none" w="sm" len="sm"/>
          </a:ln>
        </p:spPr>
      </p:cxnSp>
      <p:sp>
        <p:nvSpPr>
          <p:cNvPr id="99" name="Google Shape;99;p6">
            <a:extLst xmlns:a="http://schemas.openxmlformats.org/drawingml/2006/main">
              <a:ext uri="{FF2B5EF4-FFF2-40B4-BE49-F238E27FC236}">
                <a16:creationId xmlns:a16="http://schemas.microsoft.com/office/drawing/2014/main" id="{AD05E84B-4F98-47F6-995D-52438F692DB3}"/>
              </a:ext>
            </a:extLst>
          </p:cNvPr>
          <p:cNvSpPr>
            <a:spLocks xmlns:a="http://schemas.openxmlformats.org/drawingml/2006/main" noGrp="1"/>
          </p:cNvSpPr>
          <p:nvPr/>
        </p:nvSpPr>
        <p:spPr>
          <a:xfrm xmlns:a="http://schemas.openxmlformats.org/drawingml/2006/main">
            <a:off x="609600" y="3571875"/>
            <a:ext cx="7905900" cy="33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150" b="0">
                <a:solidFill>
                  <a:srgbClr val="FFFFFF"/>
                </a:solidFill>
                <a:latin typeface="Inter SemiBold"/>
                <a:ea typeface="Inter SemiBold"/>
                <a:cs typeface="Inter SemiBold"/>
              </a:rPr>
              <a:t>Justine G. Mendoza, Michael Daniel M. Milallos, Seanne Stiffel T. Sintay</a:t>
            </a:r>
            <a:endParaRPr sz="1150" b="0">
              <a:solidFill>
                <a:srgbClr val="FFFFFF"/>
              </a:solidFill>
              <a:latin typeface="Inter SemiBold"/>
              <a:ea typeface="Inter SemiBold"/>
              <a:cs typeface="Inter SemiBold"/>
            </a:endParaRPr>
          </a:p>
        </p:txBody>
      </p:sp>
      <p:sp>
        <p:nvSpPr>
          <p:cNvPr id="100" name="Google Shape;100;p6">
            <a:extLst xmlns:a="http://schemas.openxmlformats.org/drawingml/2006/main">
              <a:ext uri="{FF2B5EF4-FFF2-40B4-BE49-F238E27FC236}">
                <a16:creationId xmlns:a16="http://schemas.microsoft.com/office/drawing/2014/main" id="{6F0F6CF9-4CFA-4C48-9476-5F2904163B0B}"/>
              </a:ext>
            </a:extLst>
          </p:cNvPr>
          <p:cNvSpPr>
            <a:spLocks xmlns:a="http://schemas.openxmlformats.org/drawingml/2006/main" noGrp="1"/>
          </p:cNvSpPr>
          <p:nvPr/>
        </p:nvSpPr>
        <p:spPr>
          <a:xfrm xmlns:a="http://schemas.openxmlformats.org/drawingml/2006/main">
            <a:off x="609600" y="3924300"/>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950" b="0">
                <a:solidFill>
                  <a:srgbClr val="8FA0BE"/>
                </a:solidFill>
                <a:latin typeface="Inter"/>
                <a:ea typeface="Inter"/>
                <a:cs typeface="Inter"/>
              </a:rPr>
              <a:t>BS Computer Science   Adviser: Prof. Ferdinand Rubio</a:t>
            </a:r>
            <a:endParaRPr sz="950" b="0">
              <a:solidFill>
                <a:srgbClr val="8FA0BE"/>
              </a:solidFill>
              <a:latin typeface="Inter"/>
              <a:ea typeface="Inter"/>
              <a:cs typeface="Inter"/>
            </a:endParaRPr>
          </a:p>
        </p:txBody>
      </p:sp>
      <p:sp>
        <p:nvSpPr>
          <p:cNvPr id="101" name="Google Shape;101;p6">
            <a:extLst xmlns:a="http://schemas.openxmlformats.org/drawingml/2006/main">
              <a:ext uri="{FF2B5EF4-FFF2-40B4-BE49-F238E27FC236}">
                <a16:creationId xmlns:a16="http://schemas.microsoft.com/office/drawing/2014/main" id="{F9B69305-423C-4172-AA5B-2B15F200F02E}"/>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b="0" i="0" u="none" strike="noStrike" cap="none">
                <a:solidFill>
                  <a:srgbClr val="8FA0BE"/>
                </a:solidFill>
                <a:latin typeface="Calibri"/>
                <a:ea typeface="Calibri"/>
                <a:cs typeface="Calibri"/>
              </a:rPr>
              <a:t>01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882970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394ACCBF-1832-4456-9F07-249AC60A5EA1}"/>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Evidence">
            <a:extLst xmlns:a="http://schemas.openxmlformats.org/drawingml/2006/main">
              <a:ext uri="{FF2B5EF4-FFF2-40B4-BE49-F238E27FC236}">
                <a16:creationId xmlns:a16="http://schemas.microsoft.com/office/drawing/2014/main" id="{A817C6A3-98BC-4F06-8485-B8D493E2624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Evidence</a:t>
            </a:r>
          </a:p>
        </p:txBody>
      </p:sp>
      <p:sp>
        <p:nvSpPr>
          <p:cNvPr id="3" name="02 / 24">
            <a:extLst xmlns:a="http://schemas.openxmlformats.org/drawingml/2006/main">
              <a:ext uri="{FF2B5EF4-FFF2-40B4-BE49-F238E27FC236}">
                <a16:creationId xmlns:a16="http://schemas.microsoft.com/office/drawing/2014/main" id="{63098D78-BB2F-4ECC-BBD7-0689CA765F14}"/>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110CEE3E-4F21-48C4-A49C-9FA7E0E6D13A}"/>
              </a:ext>
            </a:extLst>
          </p:cNvPr>
          <p:cNvGraphicFramePr/>
          <p:nvPr/>
        </p:nvGraphicFramePr>
        <p:xfrm>
          <a:off xmlns:a="http://schemas.openxmlformats.org/drawingml/2006/main" x="304800" y="1285875"/>
          <a:ext xmlns:a="http://schemas.openxmlformats.org/drawingml/2006/main" cx="8524875" cy="2705100"/>
        </p:xfrm>
        <a:graphic xmlns:a="http://schemas.openxmlformats.org/drawingml/2006/main">
          <a:graphicData uri="http://schemas.openxmlformats.org/drawingml/2006/table">
            <a:tbl>
              <a:tblPr/>
              <a:tblGrid>
                <a:gridCol w="3095625"/>
                <a:gridCol w="5429250"/>
              </a:tblGrid>
              <a:tr h="541020">
                <a:tc>
                  <a:txBody>
                    <a:bodyPr lIns="0" tIns="0" rIns="0" bIns="0">
                      <a:noAutofit/>
                    </a:bodyPr>
                    <a:lstStyle/>
                    <a:p>
                      <a:pPr algn="l"/>
                      <a:r>
                        <a:rPr sz="1575"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75" b="1">
                          <a:solidFill>
                            <a:srgbClr val="0B7F8A"/>
                          </a:solidFill>
                          <a:latin typeface="Calibri"/>
                          <a:ea typeface="Calibri"/>
                          <a:cs typeface="Calibri"/>
                        </a:rPr>
                        <a:t>Action and Present Status</a:t>
                      </a:r>
                    </a:p>
                  </a:txBody>
                  <a:tcPr marL="85725" marR="85725" marT="28575" marB="28575" anchor="ctr">
                    <a:solidFill>
                      <a:srgbClr val="E2E8F0"/>
                    </a:solidFill>
                  </a:tcPr>
                </a:tc>
              </a:tr>
              <a:tr h="541020">
                <a:tc>
                  <a:txBody>
                    <a:bodyPr lIns="0" tIns="0" rIns="0" bIns="0">
                      <a:noAutofit/>
                    </a:bodyPr>
                    <a:lstStyle/>
                    <a:p>
                      <a:pPr algn="l"/>
                      <a:r>
                        <a:rPr sz="1575" b="0">
                          <a:solidFill>
                            <a:srgbClr val="334155"/>
                          </a:solidFill>
                          <a:latin typeface="Calibri"/>
                          <a:ea typeface="Calibri"/>
                          <a:cs typeface="Calibri"/>
                        </a:rPr>
                        <a:t>01-02  Checklist and Chapter 4 visuals</a:t>
                      </a:r>
                    </a:p>
                  </a:txBody>
                  <a:tcPr marL="85725" marR="85725" marT="28575" marB="28575" anchor="ctr">
                    <a:solidFill>
                      <a:srgbClr val="FFFFFF"/>
                    </a:solidFill>
                  </a:tcPr>
                </a:tc>
                <a:tc>
                  <a:txBody>
                    <a:bodyPr lIns="0" tIns="0" rIns="0" bIns="0">
                      <a:noAutofit/>
                    </a:bodyPr>
                    <a:lstStyle/>
                    <a:p>
                      <a:pPr algn="l"/>
                      <a:r>
                        <a:rPr sz="1575" b="0">
                          <a:solidFill>
                            <a:srgbClr val="334155"/>
                          </a:solidFill>
                          <a:latin typeface="Calibri"/>
                          <a:ea typeface="Calibri"/>
                          <a:cs typeface="Calibri"/>
                        </a:rPr>
                        <a:t>Complete checklist, corrected results, item tables, and comparison figures.</a:t>
                      </a:r>
                    </a:p>
                  </a:txBody>
                  <a:tcPr marL="85725" marR="85725" marT="28575" marB="28575" anchor="ctr">
                    <a:solidFill>
                      <a:srgbClr val="FFFFFF"/>
                    </a:solidFill>
                  </a:tcPr>
                </a:tc>
              </a:tr>
              <a:tr h="541020">
                <a:tc>
                  <a:txBody>
                    <a:bodyPr lIns="0" tIns="0" rIns="0" bIns="0">
                      <a:noAutofit/>
                    </a:bodyPr>
                    <a:lstStyle/>
                    <a:p>
                      <a:pPr algn="l"/>
                      <a:r>
                        <a:rPr sz="1575" b="0">
                          <a:solidFill>
                            <a:srgbClr val="334155"/>
                          </a:solidFill>
                          <a:latin typeface="Calibri"/>
                          <a:ea typeface="Calibri"/>
                          <a:cs typeface="Calibri"/>
                        </a:rPr>
                        <a:t>03  Raw survey and comparison records</a:t>
                      </a:r>
                    </a:p>
                  </a:txBody>
                  <a:tcPr marL="85725" marR="85725" marT="28575" marB="28575" anchor="ctr">
                    <a:solidFill>
                      <a:srgbClr val="F8FAFC"/>
                    </a:solidFill>
                  </a:tcPr>
                </a:tc>
                <a:tc>
                  <a:txBody>
                    <a:bodyPr lIns="0" tIns="0" rIns="0" bIns="0">
                      <a:noAutofit/>
                    </a:bodyPr>
                    <a:lstStyle/>
                    <a:p>
                      <a:pPr algn="l"/>
                      <a:r>
                        <a:rPr sz="1575" b="0">
                          <a:solidFill>
                            <a:srgbClr val="334155"/>
                          </a:solidFill>
                          <a:latin typeface="Calibri"/>
                          <a:ea typeface="Calibri"/>
                          <a:cs typeface="Calibri"/>
                        </a:rPr>
                        <a:t>Student workbook and exports available. Full anonymized records still need a traceable evidence package.</a:t>
                      </a:r>
                    </a:p>
                  </a:txBody>
                  <a:tcPr marL="85725" marR="85725" marT="28575" marB="28575" anchor="ctr">
                    <a:solidFill>
                      <a:srgbClr val="F8FAFC"/>
                    </a:solidFill>
                  </a:tcPr>
                </a:tc>
              </a:tr>
              <a:tr h="541020">
                <a:tc>
                  <a:txBody>
                    <a:bodyPr lIns="0" tIns="0" rIns="0" bIns="0">
                      <a:noAutofit/>
                    </a:bodyPr>
                    <a:lstStyle/>
                    <a:p>
                      <a:pPr algn="l"/>
                      <a:r>
                        <a:rPr sz="1575" b="0">
                          <a:solidFill>
                            <a:srgbClr val="334155"/>
                          </a:solidFill>
                          <a:latin typeface="Calibri"/>
                          <a:ea typeface="Calibri"/>
                          <a:cs typeface="Calibri"/>
                        </a:rPr>
                        <a:t>04  Evidence for tests and surveys</a:t>
                      </a:r>
                    </a:p>
                  </a:txBody>
                  <a:tcPr marL="85725" marR="85725" marT="28575" marB="28575" anchor="ctr">
                    <a:solidFill>
                      <a:srgbClr val="FFFFFF"/>
                    </a:solidFill>
                  </a:tcPr>
                </a:tc>
                <a:tc>
                  <a:txBody>
                    <a:bodyPr lIns="0" tIns="0" rIns="0" bIns="0">
                      <a:noAutofit/>
                    </a:bodyPr>
                    <a:lstStyle/>
                    <a:p>
                      <a:pPr algn="l"/>
                      <a:r>
                        <a:rPr sz="1575" b="0">
                          <a:solidFill>
                            <a:srgbClr val="334155"/>
                          </a:solidFill>
                          <a:latin typeface="Calibri"/>
                          <a:ea typeface="Calibri"/>
                          <a:cs typeface="Calibri"/>
                        </a:rPr>
                        <a:t>16 listed test cases and appendix photographs. Evidence does not cover every current feature.</a:t>
                      </a:r>
                    </a:p>
                  </a:txBody>
                  <a:tcPr marL="85725" marR="85725" marT="28575" marB="28575" anchor="ctr">
                    <a:solidFill>
                      <a:srgbClr val="FFFFFF"/>
                    </a:solidFill>
                  </a:tcPr>
                </a:tc>
              </a:tr>
              <a:tr h="541020">
                <a:tc>
                  <a:txBody>
                    <a:bodyPr lIns="0" tIns="0" rIns="0" bIns="0">
                      <a:noAutofit/>
                    </a:bodyPr>
                    <a:lstStyle/>
                    <a:p>
                      <a:pPr algn="l"/>
                      <a:r>
                        <a:rPr sz="1575" b="0">
                          <a:solidFill>
                            <a:srgbClr val="334155"/>
                          </a:solidFill>
                          <a:latin typeface="Calibri"/>
                          <a:ea typeface="Calibri"/>
                          <a:cs typeface="Calibri"/>
                        </a:rPr>
                        <a:t>05  Interfaces in appendices</a:t>
                      </a:r>
                    </a:p>
                  </a:txBody>
                  <a:tcPr marL="85725" marR="85725" marT="28575" marB="28575" anchor="ctr">
                    <a:solidFill>
                      <a:srgbClr val="F8FAFC"/>
                    </a:solidFill>
                  </a:tcPr>
                </a:tc>
                <a:tc>
                  <a:txBody>
                    <a:bodyPr lIns="0" tIns="0" rIns="0" bIns="0">
                      <a:noAutofit/>
                    </a:bodyPr>
                    <a:lstStyle/>
                    <a:p>
                      <a:pPr algn="l"/>
                      <a:r>
                        <a:rPr sz="1575" b="0">
                          <a:solidFill>
                            <a:srgbClr val="334155"/>
                          </a:solidFill>
                          <a:latin typeface="Calibri"/>
                          <a:ea typeface="Calibri"/>
                          <a:cs typeface="Calibri"/>
                        </a:rPr>
                        <a:t>Appendix D includes selected interfaces. Current timestamp and maintenance screenshots remain to be added.</a:t>
                      </a:r>
                    </a:p>
                  </a:txBody>
                  <a:tcPr marL="85725" marR="85725" marT="28575" marB="28575" anchor="ctr">
                    <a:solidFill>
                      <a:srgbClr val="F8FAFC"/>
                    </a:solidFill>
                  </a:tcPr>
                </a:tc>
              </a:tr>
            </a:tbl>
          </a:graphicData>
        </a:graphic>
      </p:graphicFrame>
      <p:sp>
        <p:nvSpPr>
          <p:cNvPr id="5" name="Selected evidence appears in Appendices D and">
            <a:extLst xmlns:a="http://schemas.openxmlformats.org/drawingml/2006/main">
              <a:ext uri="{FF2B5EF4-FFF2-40B4-BE49-F238E27FC236}">
                <a16:creationId xmlns:a16="http://schemas.microsoft.com/office/drawing/2014/main" id="{291E2160-C648-434E-A1A2-53A6B71E9AA6}"/>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Selected evidence appears in Appendices D and H-K. Pending evidence remains identified.</a:t>
            </a:r>
          </a:p>
        </p:txBody>
      </p:sp>
    </p:spTree>
    <p:extLst>
      <p:ext uri="{BB962C8B-B14F-4D97-AF65-F5344CB8AC3E}">
        <p14:creationId xmlns:p14="http://schemas.microsoft.com/office/powerpoint/2010/main" val="1557778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1A284D54-074D-4C85-922A-FAA38E7D9B37}"/>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Comparison">
            <a:extLst xmlns:a="http://schemas.openxmlformats.org/drawingml/2006/main">
              <a:ext uri="{FF2B5EF4-FFF2-40B4-BE49-F238E27FC236}">
                <a16:creationId xmlns:a16="http://schemas.microsoft.com/office/drawing/2014/main" id="{2AEB2D30-DEE8-4612-A4A6-0D7334A7959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Comparison</a:t>
            </a:r>
          </a:p>
        </p:txBody>
      </p:sp>
      <p:sp>
        <p:nvSpPr>
          <p:cNvPr id="3" name="03 / 24">
            <a:extLst xmlns:a="http://schemas.openxmlformats.org/drawingml/2006/main">
              <a:ext uri="{FF2B5EF4-FFF2-40B4-BE49-F238E27FC236}">
                <a16:creationId xmlns:a16="http://schemas.microsoft.com/office/drawing/2014/main" id="{ED693B65-0C28-4521-9120-CD90E2F6DEE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E4534ED0-2091-49FE-8138-45F3BCECFC68}"/>
              </a:ext>
            </a:extLst>
          </p:cNvPr>
          <p:cNvGraphicFramePr/>
          <p:nvPr/>
        </p:nvGraphicFramePr>
        <p:xfrm>
          <a:off xmlns:a="http://schemas.openxmlformats.org/drawingml/2006/main" x="304800" y="1219200"/>
          <a:ext xmlns:a="http://schemas.openxmlformats.org/drawingml/2006/main" cx="8524875" cy="2952750"/>
        </p:xfrm>
        <a:graphic xmlns:a="http://schemas.openxmlformats.org/drawingml/2006/main">
          <a:graphicData uri="http://schemas.openxmlformats.org/drawingml/2006/table">
            <a:tbl>
              <a:tblPr/>
              <a:tblGrid>
                <a:gridCol w="3095625"/>
                <a:gridCol w="5429250"/>
              </a:tblGrid>
              <a:tr h="492125">
                <a:tc>
                  <a:txBody>
                    <a:bodyPr lIns="0" tIns="0" rIns="0" bIns="0">
                      <a:noAutofit/>
                    </a:bodyPr>
                    <a:lstStyle/>
                    <a:p>
                      <a:pPr algn="l"/>
                      <a:r>
                        <a:rPr sz="1500"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Action and Present Status</a:t>
                      </a:r>
                    </a:p>
                  </a:txBody>
                  <a:tcPr marL="85725" marR="85725" marT="28575" marB="28575" anchor="ctr">
                    <a:solidFill>
                      <a:srgbClr val="E2E8F0"/>
                    </a:solidFill>
                  </a:tcPr>
                </a:tc>
              </a:tr>
              <a:tr h="492125">
                <a:tc>
                  <a:txBody>
                    <a:bodyPr lIns="0" tIns="0" rIns="0" bIns="0">
                      <a:noAutofit/>
                    </a:bodyPr>
                    <a:lstStyle/>
                    <a:p>
                      <a:pPr algn="l"/>
                      <a:r>
                        <a:rPr sz="1500" b="0">
                          <a:solidFill>
                            <a:srgbClr val="334155"/>
                          </a:solidFill>
                          <a:latin typeface="Calibri"/>
                          <a:ea typeface="Calibri"/>
                          <a:cs typeface="Calibri"/>
                        </a:rPr>
                        <a:t>06-07  Manual baseline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Manual questionnaire, 70 writing observations, and 70 manual survey responses included.</a:t>
                      </a:r>
                    </a:p>
                  </a:txBody>
                  <a:tcPr marL="85725" marR="85725" marT="28575" marB="28575" anchor="ctr">
                    <a:solidFill>
                      <a:srgbClr val="FFFFFF"/>
                    </a:solidFill>
                  </a:tcPr>
                </a:tc>
              </a:tr>
              <a:tr h="492125">
                <a:tc>
                  <a:txBody>
                    <a:bodyPr lIns="0" tIns="0" rIns="0" bIns="0">
                      <a:noAutofit/>
                    </a:bodyPr>
                    <a:lstStyle/>
                    <a:p>
                      <a:pPr algn="l"/>
                      <a:r>
                        <a:rPr sz="1500" b="0">
                          <a:solidFill>
                            <a:srgbClr val="334155"/>
                          </a:solidFill>
                          <a:latin typeface="Calibri"/>
                          <a:ea typeface="Calibri"/>
                          <a:cs typeface="Calibri"/>
                        </a:rPr>
                        <a:t>08  Student participant counts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70 manual students and 70 different system students. System survey also includes two groups of five.</a:t>
                      </a:r>
                    </a:p>
                  </a:txBody>
                  <a:tcPr marL="85725" marR="85725" marT="28575" marB="28575" anchor="ctr">
                    <a:solidFill>
                      <a:srgbClr val="F8FAFC"/>
                    </a:solidFill>
                  </a:tcPr>
                </a:tc>
              </a:tr>
              <a:tr h="492125">
                <a:tc>
                  <a:txBody>
                    <a:bodyPr lIns="0" tIns="0" rIns="0" bIns="0">
                      <a:noAutofit/>
                    </a:bodyPr>
                    <a:lstStyle/>
                    <a:p>
                      <a:pPr algn="l"/>
                      <a:r>
                        <a:rPr sz="1500" b="0">
                          <a:solidFill>
                            <a:srgbClr val="334155"/>
                          </a:solidFill>
                          <a:latin typeface="Calibri"/>
                          <a:ea typeface="Calibri"/>
                          <a:cs typeface="Calibri"/>
                        </a:rPr>
                        <a:t>09-10  Same students and survey sequence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Not fulfilled as specified. Different groups require an independent-samples analysis.</a:t>
                      </a:r>
                    </a:p>
                  </a:txBody>
                  <a:tcPr marL="85725" marR="85725" marT="28575" marB="28575" anchor="ctr">
                    <a:solidFill>
                      <a:srgbClr val="FFFFFF"/>
                    </a:solidFill>
                  </a:tcPr>
                </a:tc>
              </a:tr>
              <a:tr h="492125">
                <a:tc>
                  <a:txBody>
                    <a:bodyPr lIns="0" tIns="0" rIns="0" bIns="0">
                      <a:noAutofit/>
                    </a:bodyPr>
                    <a:lstStyle/>
                    <a:p>
                      <a:pPr algn="l"/>
                      <a:r>
                        <a:rPr sz="1500" b="0">
                          <a:solidFill>
                            <a:srgbClr val="334155"/>
                          </a:solidFill>
                          <a:latin typeface="Calibri"/>
                          <a:ea typeface="Calibri"/>
                          <a:cs typeface="Calibri"/>
                        </a:rPr>
                        <a:t>16  Use case diagram</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Diagram included. Conditional PIN use still needs alignment with NFC-only Fast mode.</a:t>
                      </a:r>
                    </a:p>
                  </a:txBody>
                  <a:tcPr marL="85725" marR="85725" marT="28575" marB="28575" anchor="ctr">
                    <a:solidFill>
                      <a:srgbClr val="F8FAFC"/>
                    </a:solidFill>
                  </a:tcPr>
                </a:tc>
              </a:tr>
              <a:tr h="492125">
                <a:tc>
                  <a:txBody>
                    <a:bodyPr lIns="0" tIns="0" rIns="0" bIns="0">
                      <a:noAutofit/>
                    </a:bodyPr>
                    <a:lstStyle/>
                    <a:p>
                      <a:pPr algn="l"/>
                      <a:r>
                        <a:rPr sz="1500" b="0">
                          <a:solidFill>
                            <a:srgbClr val="334155"/>
                          </a:solidFill>
                          <a:latin typeface="Calibri"/>
                          <a:ea typeface="Calibri"/>
                          <a:cs typeface="Calibri"/>
                        </a:rPr>
                        <a:t>17  T-test of manual and system means</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Welch test compares overall survey scores. Equivalent complete-task times were unavailable.</a:t>
                      </a:r>
                    </a:p>
                  </a:txBody>
                  <a:tcPr marL="85725" marR="85725" marT="28575" marB="28575" anchor="ctr">
                    <a:solidFill>
                      <a:srgbClr val="FFFFFF"/>
                    </a:solidFill>
                  </a:tcPr>
                </a:tc>
              </a:tr>
            </a:tbl>
          </a:graphicData>
        </a:graphic>
      </p:graphicFrame>
      <p:sp>
        <p:nvSpPr>
          <p:cNvPr id="5" name="Equal group sizes do not mean the same partic">
            <a:extLst xmlns:a="http://schemas.openxmlformats.org/drawingml/2006/main">
              <a:ext uri="{FF2B5EF4-FFF2-40B4-BE49-F238E27FC236}">
                <a16:creationId xmlns:a16="http://schemas.microsoft.com/office/drawing/2014/main" id="{80043387-4507-458D-92C3-69F4B1B4FC92}"/>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Equal group sizes do not mean the same participants or eliminate group-selection bias.</a:t>
            </a:r>
          </a:p>
        </p:txBody>
      </p:sp>
    </p:spTree>
    <p:extLst>
      <p:ext uri="{BB962C8B-B14F-4D97-AF65-F5344CB8AC3E}">
        <p14:creationId xmlns:p14="http://schemas.microsoft.com/office/powerpoint/2010/main" val="10585131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B72CF3E9-0DAC-4DBA-81DE-B2D1533DC2C9}"/>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the System">
            <a:extLst xmlns:a="http://schemas.openxmlformats.org/drawingml/2006/main">
              <a:ext uri="{FF2B5EF4-FFF2-40B4-BE49-F238E27FC236}">
                <a16:creationId xmlns:a16="http://schemas.microsoft.com/office/drawing/2014/main" id="{E9F0B3F7-0DA4-4736-8A30-C9DBFD167FE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the System</a:t>
            </a:r>
          </a:p>
        </p:txBody>
      </p:sp>
      <p:sp>
        <p:nvSpPr>
          <p:cNvPr id="3" name="04 / 24">
            <a:extLst xmlns:a="http://schemas.openxmlformats.org/drawingml/2006/main">
              <a:ext uri="{FF2B5EF4-FFF2-40B4-BE49-F238E27FC236}">
                <a16:creationId xmlns:a16="http://schemas.microsoft.com/office/drawing/2014/main" id="{5DFDE2CD-D66F-4D29-A987-917314710E5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D8CBB411-73E9-449E-8CD7-3D4FA38BFBCD}"/>
              </a:ext>
            </a:extLst>
          </p:cNvPr>
          <p:cNvGraphicFramePr/>
          <p:nvPr/>
        </p:nvGraphicFramePr>
        <p:xfrm>
          <a:off xmlns:a="http://schemas.openxmlformats.org/drawingml/2006/main" x="304800" y="1219200"/>
          <a:ext xmlns:a="http://schemas.openxmlformats.org/drawingml/2006/main" cx="8524875" cy="2876550"/>
        </p:xfrm>
        <a:graphic xmlns:a="http://schemas.openxmlformats.org/drawingml/2006/main">
          <a:graphicData uri="http://schemas.openxmlformats.org/drawingml/2006/table">
            <a:tbl>
              <a:tblPr/>
              <a:tblGrid>
                <a:gridCol w="2857500"/>
                <a:gridCol w="5667375"/>
              </a:tblGrid>
              <a:tr h="479425">
                <a:tc>
                  <a:txBody>
                    <a:bodyPr lIns="0" tIns="0" rIns="0" bIns="0">
                      <a:noAutofit/>
                    </a:bodyPr>
                    <a:lstStyle/>
                    <a:p>
                      <a:pPr algn="l"/>
                      <a:r>
                        <a:rPr sz="1500"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Current Implementation and Qualification</a:t>
                      </a:r>
                    </a:p>
                  </a:txBody>
                  <a:tcPr marL="85725" marR="85725" marT="28575" marB="28575" anchor="ctr">
                    <a:solidFill>
                      <a:srgbClr val="E2E8F0"/>
                    </a:solidFill>
                  </a:tcPr>
                </a:tc>
              </a:tr>
              <a:tr h="479425">
                <a:tc>
                  <a:txBody>
                    <a:bodyPr lIns="0" tIns="0" rIns="0" bIns="0">
                      <a:noAutofit/>
                    </a:bodyPr>
                    <a:lstStyle/>
                    <a:p>
                      <a:pPr algn="l"/>
                      <a:r>
                        <a:rPr sz="1500" b="0">
                          <a:solidFill>
                            <a:srgbClr val="334155"/>
                          </a:solidFill>
                          <a:latin typeface="Calibri"/>
                          <a:ea typeface="Calibri"/>
                          <a:cs typeface="Calibri"/>
                        </a:rPr>
                        <a:t>11  Personnel login timestamp</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Login audit timestamp recorded. A dedicated visible login-time field remains unverified.</a:t>
                      </a:r>
                    </a:p>
                  </a:txBody>
                  <a:tcPr marL="85725" marR="85725" marT="28575" marB="28575" anchor="ctr">
                    <a:solidFill>
                      <a:srgbClr val="FFFFFF"/>
                    </a:solidFill>
                  </a:tcPr>
                </a:tc>
              </a:tr>
              <a:tr h="479425">
                <a:tc>
                  <a:txBody>
                    <a:bodyPr lIns="0" tIns="0" rIns="0" bIns="0">
                      <a:noAutofit/>
                    </a:bodyPr>
                    <a:lstStyle/>
                    <a:p>
                      <a:pPr algn="l"/>
                      <a:r>
                        <a:rPr sz="1500" b="0">
                          <a:solidFill>
                            <a:srgbClr val="334155"/>
                          </a:solidFill>
                          <a:latin typeface="Calibri"/>
                          <a:ea typeface="Calibri"/>
                          <a:cs typeface="Calibri"/>
                        </a:rPr>
                        <a:t>12  Student timestamps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Kiosk code displays scan time and applicable IN/OUT values.</a:t>
                      </a:r>
                    </a:p>
                  </a:txBody>
                  <a:tcPr marL="85725" marR="85725" marT="28575" marB="28575" anchor="ctr">
                    <a:solidFill>
                      <a:srgbClr val="F8FAFC"/>
                    </a:solidFill>
                  </a:tcPr>
                </a:tc>
              </a:tr>
              <a:tr h="479425">
                <a:tc>
                  <a:txBody>
                    <a:bodyPr lIns="0" tIns="0" rIns="0" bIns="0">
                      <a:noAutofit/>
                    </a:bodyPr>
                    <a:lstStyle/>
                    <a:p>
                      <a:pPr algn="l"/>
                      <a:r>
                        <a:rPr sz="1500" b="0">
                          <a:solidFill>
                            <a:srgbClr val="334155"/>
                          </a:solidFill>
                          <a:latin typeface="Calibri"/>
                          <a:ea typeface="Calibri"/>
                          <a:cs typeface="Calibri"/>
                        </a:rPr>
                        <a:t>13  Retain student result</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10-second result display. Persistent last-log display still needs confirmation.</a:t>
                      </a:r>
                    </a:p>
                  </a:txBody>
                  <a:tcPr marL="85725" marR="85725" marT="28575" marB="28575" anchor="ctr">
                    <a:solidFill>
                      <a:srgbClr val="FFFFFF"/>
                    </a:solidFill>
                  </a:tcPr>
                </a:tc>
              </a:tr>
              <a:tr h="479425">
                <a:tc>
                  <a:txBody>
                    <a:bodyPr lIns="0" tIns="0" rIns="0" bIns="0">
                      <a:noAutofit/>
                    </a:bodyPr>
                    <a:lstStyle/>
                    <a:p>
                      <a:pPr algn="l"/>
                      <a:r>
                        <a:rPr sz="1500" b="0">
                          <a:solidFill>
                            <a:srgbClr val="334155"/>
                          </a:solidFill>
                          <a:latin typeface="Calibri"/>
                          <a:ea typeface="Calibri"/>
                          <a:cs typeface="Calibri"/>
                        </a:rPr>
                        <a:t>14  Administrator purge</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Authorized active cleanup removes eligible cloud-backed local logs.</a:t>
                      </a:r>
                    </a:p>
                  </a:txBody>
                  <a:tcPr marL="85725" marR="85725" marT="28575" marB="28575" anchor="ctr">
                    <a:solidFill>
                      <a:srgbClr val="F8FAFC"/>
                    </a:solidFill>
                  </a:tcPr>
                </a:tc>
              </a:tr>
              <a:tr h="479425">
                <a:tc>
                  <a:txBody>
                    <a:bodyPr lIns="0" tIns="0" rIns="0" bIns="0">
                      <a:noAutofit/>
                    </a:bodyPr>
                    <a:lstStyle/>
                    <a:p>
                      <a:pPr algn="l"/>
                      <a:r>
                        <a:rPr sz="1500" b="0">
                          <a:solidFill>
                            <a:srgbClr val="334155"/>
                          </a:solidFill>
                          <a:latin typeface="Calibri"/>
                          <a:ea typeface="Calibri"/>
                          <a:cs typeface="Calibri"/>
                        </a:rPr>
                        <a:t>15  Data destruction</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Partial: local cleanup retains cloud history. Full disposal remains unverified.</a:t>
                      </a:r>
                    </a:p>
                  </a:txBody>
                  <a:tcPr marL="85725" marR="85725" marT="28575" marB="28575" anchor="ctr">
                    <a:solidFill>
                      <a:srgbClr val="FFFFFF"/>
                    </a:solidFill>
                  </a:tcPr>
                </a:tc>
              </a:tr>
            </a:tbl>
          </a:graphicData>
        </a:graphic>
      </p:graphicFrame>
      <p:sp>
        <p:nvSpPr>
          <p:cNvPr id="5" name="Photo 18: full title terms added. Implementat">
            <a:extLst xmlns:a="http://schemas.openxmlformats.org/drawingml/2006/main">
              <a:ext uri="{FF2B5EF4-FFF2-40B4-BE49-F238E27FC236}">
                <a16:creationId xmlns:a16="http://schemas.microsoft.com/office/drawing/2014/main" id="{2058EB8D-3493-4120-B618-3A4F221BAF5A}"/>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Photo 18: full title terms added. Implementation status still needs dated UI evidence.</a:t>
            </a:r>
          </a:p>
        </p:txBody>
      </p:sp>
    </p:spTree>
    <p:extLst>
      <p:ext uri="{BB962C8B-B14F-4D97-AF65-F5344CB8AC3E}">
        <p14:creationId xmlns:p14="http://schemas.microsoft.com/office/powerpoint/2010/main" val="18031925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31243B3C-85A7-46E0-8DF1-1DEC96D3DEC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Problem and Research Objectives">
            <a:extLst xmlns:a="http://schemas.openxmlformats.org/drawingml/2006/main">
              <a:ext uri="{FF2B5EF4-FFF2-40B4-BE49-F238E27FC236}">
                <a16:creationId xmlns:a16="http://schemas.microsoft.com/office/drawing/2014/main" id="{013E55F7-5BBF-4BD8-90CF-389D134F4586}"/>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Problem and Research Objectives</a:t>
            </a:r>
          </a:p>
        </p:txBody>
      </p:sp>
      <p:sp>
        <p:nvSpPr>
          <p:cNvPr id="3" name="05 / 24">
            <a:extLst xmlns:a="http://schemas.openxmlformats.org/drawingml/2006/main">
              <a:ext uri="{FF2B5EF4-FFF2-40B4-BE49-F238E27FC236}">
                <a16:creationId xmlns:a16="http://schemas.microsoft.com/office/drawing/2014/main" id="{40A0D739-0A8F-4770-AB96-8388C2ACA543}"/>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05 / 24</a:t>
            </a:r>
          </a:p>
        </p:txBody>
      </p:sp>
      <p:sp>
        <p:nvSpPr>
          <p:cNvPr id="4" name="Problem">
            <a:extLst xmlns:a="http://schemas.openxmlformats.org/drawingml/2006/main">
              <a:ext uri="{FF2B5EF4-FFF2-40B4-BE49-F238E27FC236}">
                <a16:creationId xmlns:a16="http://schemas.microsoft.com/office/drawing/2014/main" id="{40662072-0814-4EB8-9D41-ABB4041D0A05}"/>
              </a:ext>
            </a:extLst>
          </p:cNvPr>
          <p:cNvSpPr>
            <a:spLocks xmlns:a="http://schemas.openxmlformats.org/drawingml/2006/main" noGrp="1"/>
          </p:cNvSpPr>
          <p:nvPr/>
        </p:nvSpPr>
        <p:spPr>
          <a:xfrm xmlns:a="http://schemas.openxmlformats.org/drawingml/2006/main">
            <a:off x="361950" y="1285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Problem</a:t>
            </a:r>
          </a:p>
        </p:txBody>
      </p:sp>
      <p:sp>
        <p:nvSpPr>
          <p:cNvPr id="5" name="Campus verification and event attendance requ">
            <a:extLst xmlns:a="http://schemas.openxmlformats.org/drawingml/2006/main">
              <a:ext uri="{FF2B5EF4-FFF2-40B4-BE49-F238E27FC236}">
                <a16:creationId xmlns:a16="http://schemas.microsoft.com/office/drawing/2014/main" id="{9C1E1480-0743-4AFC-B6BF-E465F4CA530B}"/>
              </a:ext>
            </a:extLst>
          </p:cNvPr>
          <p:cNvSpPr>
            <a:spLocks xmlns:a="http://schemas.openxmlformats.org/drawingml/2006/main" noGrp="1"/>
          </p:cNvSpPr>
          <p:nvPr/>
        </p:nvSpPr>
        <p:spPr>
          <a:xfrm xmlns:a="http://schemas.openxmlformats.org/drawingml/2006/main">
            <a:off x="361950" y="15811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Campus verification and event attendance require credential checks, eligibility decisions, and traceable records. Paper sign-in alone does not perform these checks.</a:t>
            </a:r>
          </a:p>
        </p:txBody>
      </p:sp>
      <p:sp>
        <p:nvSpPr>
          <p:cNvPr id="6" name="Development objective">
            <a:extLst xmlns:a="http://schemas.openxmlformats.org/drawingml/2006/main">
              <a:ext uri="{FF2B5EF4-FFF2-40B4-BE49-F238E27FC236}">
                <a16:creationId xmlns:a16="http://schemas.microsoft.com/office/drawing/2014/main" id="{C8916D4A-92F5-43FC-9D05-0941DAF45852}"/>
              </a:ext>
            </a:extLst>
          </p:cNvPr>
          <p:cNvSpPr>
            <a:spLocks xmlns:a="http://schemas.openxmlformats.org/drawingml/2006/main" noGrp="1"/>
          </p:cNvSpPr>
          <p:nvPr/>
        </p:nvSpPr>
        <p:spPr>
          <a:xfrm xmlns:a="http://schemas.openxmlformats.org/drawingml/2006/main">
            <a:off x="361950" y="22955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Development objective</a:t>
            </a:r>
          </a:p>
        </p:txBody>
      </p:sp>
      <p:sp>
        <p:nvSpPr>
          <p:cNvPr id="7" name="Develop a prototype that combines configurabl">
            <a:extLst xmlns:a="http://schemas.openxmlformats.org/drawingml/2006/main">
              <a:ext uri="{FF2B5EF4-FFF2-40B4-BE49-F238E27FC236}">
                <a16:creationId xmlns:a16="http://schemas.microsoft.com/office/drawing/2014/main" id="{F7139FB9-B7C9-4AFD-BD47-64B9017F13E0}"/>
              </a:ext>
            </a:extLst>
          </p:cNvPr>
          <p:cNvSpPr>
            <a:spLocks xmlns:a="http://schemas.openxmlformats.org/drawingml/2006/main" noGrp="1"/>
          </p:cNvSpPr>
          <p:nvPr/>
        </p:nvSpPr>
        <p:spPr>
          <a:xfrm xmlns:a="http://schemas.openxmlformats.org/drawingml/2006/main">
            <a:off x="361950" y="259080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Develop a prototype that combines configurable credential validation with entry/exit handling, event attendance, and role-based monitoring.</a:t>
            </a:r>
          </a:p>
        </p:txBody>
      </p:sp>
      <p:sp>
        <p:nvSpPr>
          <p:cNvPr id="8" name="Evaluation objective">
            <a:extLst xmlns:a="http://schemas.openxmlformats.org/drawingml/2006/main">
              <a:ext uri="{FF2B5EF4-FFF2-40B4-BE49-F238E27FC236}">
                <a16:creationId xmlns:a16="http://schemas.microsoft.com/office/drawing/2014/main" id="{2AE89B7E-15F2-4685-B48D-F295F590CF62}"/>
              </a:ext>
            </a:extLst>
          </p:cNvPr>
          <p:cNvSpPr>
            <a:spLocks xmlns:a="http://schemas.openxmlformats.org/drawingml/2006/main" noGrp="1"/>
          </p:cNvSpPr>
          <p:nvPr/>
        </p:nvSpPr>
        <p:spPr>
          <a:xfrm xmlns:a="http://schemas.openxmlformats.org/drawingml/2006/main">
            <a:off x="361950" y="33051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Evaluation objective</a:t>
            </a:r>
          </a:p>
        </p:txBody>
      </p:sp>
      <p:sp>
        <p:nvSpPr>
          <p:cNvPr id="9" name="Describe system metrics and perceived quality">
            <a:extLst xmlns:a="http://schemas.openxmlformats.org/drawingml/2006/main">
              <a:ext uri="{FF2B5EF4-FFF2-40B4-BE49-F238E27FC236}">
                <a16:creationId xmlns:a16="http://schemas.microsoft.com/office/drawing/2014/main" id="{97A085ED-900D-45DA-B4F4-35C156AF8CBC}"/>
              </a:ext>
            </a:extLst>
          </p:cNvPr>
          <p:cNvSpPr>
            <a:spLocks xmlns:a="http://schemas.openxmlformats.org/drawingml/2006/main" noGrp="1"/>
          </p:cNvSpPr>
          <p:nvPr/>
        </p:nvSpPr>
        <p:spPr>
          <a:xfrm xmlns:a="http://schemas.openxmlformats.org/drawingml/2006/main">
            <a:off x="361950" y="36004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Describe system metrics and perceived quality. Compare manual and system survey ratings while preserving the limits of the timing data.</a:t>
            </a:r>
          </a:p>
        </p:txBody>
      </p:sp>
    </p:spTree>
    <p:extLst>
      <p:ext uri="{BB962C8B-B14F-4D97-AF65-F5344CB8AC3E}">
        <p14:creationId xmlns:p14="http://schemas.microsoft.com/office/powerpoint/2010/main" val="12061691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E558FE0A-8414-4935-A153-B1FF11C90BC2}"/>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Scope and Configured Verification Modes">
            <a:extLst xmlns:a="http://schemas.openxmlformats.org/drawingml/2006/main">
              <a:ext uri="{FF2B5EF4-FFF2-40B4-BE49-F238E27FC236}">
                <a16:creationId xmlns:a16="http://schemas.microsoft.com/office/drawing/2014/main" id="{FED23B9A-BE9B-4E69-8FB0-24B18B022DA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Scope and Configured Verification Modes</a:t>
            </a:r>
          </a:p>
        </p:txBody>
      </p:sp>
      <p:sp>
        <p:nvSpPr>
          <p:cNvPr id="3" name="06 / 24">
            <a:extLst xmlns:a="http://schemas.openxmlformats.org/drawingml/2006/main">
              <a:ext uri="{FF2B5EF4-FFF2-40B4-BE49-F238E27FC236}">
                <a16:creationId xmlns:a16="http://schemas.microsoft.com/office/drawing/2014/main" id="{F43D85F7-BF89-48FB-B98A-63665A8A8A0C}"/>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60108FA5-91F0-44F1-89C3-63BA3B873EDF}"/>
              </a:ext>
            </a:extLst>
          </p:cNvPr>
          <p:cNvGraphicFramePr/>
          <p:nvPr/>
        </p:nvGraphicFramePr>
        <p:xfrm>
          <a:off xmlns:a="http://schemas.openxmlformats.org/drawingml/2006/main" x="304800" y="1314450"/>
          <a:ext xmlns:a="http://schemas.openxmlformats.org/drawingml/2006/main" cx="8524875" cy="1847850"/>
        </p:xfrm>
        <a:graphic xmlns:a="http://schemas.openxmlformats.org/drawingml/2006/main">
          <a:graphicData uri="http://schemas.openxmlformats.org/drawingml/2006/table">
            <a:tbl>
              <a:tblPr/>
              <a:tblGrid>
                <a:gridCol w="1952625"/>
                <a:gridCol w="3524250"/>
                <a:gridCol w="3048000"/>
              </a:tblGrid>
              <a:tr h="461963">
                <a:tc>
                  <a:txBody>
                    <a:bodyPr lIns="0" tIns="0" rIns="0" bIns="0">
                      <a:noAutofit/>
                    </a:bodyPr>
                    <a:lstStyle/>
                    <a:p>
                      <a:pPr algn="l"/>
                      <a:r>
                        <a:rPr sz="172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Required Credentials</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Selection</a:t>
                      </a:r>
                    </a:p>
                  </a:txBody>
                  <a:tcPr marL="85725" marR="85725" marT="28575" marB="28575" anchor="ctr">
                    <a:solidFill>
                      <a:srgbClr val="E2E8F0"/>
                    </a:solidFill>
                  </a:tcPr>
                </a:tc>
              </a:tr>
              <a:tr h="461963">
                <a:tc>
                  <a:txBody>
                    <a:bodyPr lIns="0" tIns="0" rIns="0" bIns="0">
                      <a:noAutofit/>
                    </a:bodyPr>
                    <a:lstStyle/>
                    <a:p>
                      <a:pPr algn="l"/>
                      <a:r>
                        <a:rPr sz="172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NFC only</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FFFFF"/>
                    </a:solidFill>
                  </a:tcPr>
                </a:tc>
              </a:tr>
              <a:tr h="461963">
                <a:tc>
                  <a:txBody>
                    <a:bodyPr lIns="0" tIns="0" rIns="0" bIns="0">
                      <a:noAutofit/>
                    </a:bodyPr>
                    <a:lstStyle/>
                    <a:p>
                      <a:pPr algn="l"/>
                      <a:r>
                        <a:rPr sz="172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NFC and PIN</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8FAFC"/>
                    </a:solidFill>
                  </a:tcPr>
                </a:tc>
              </a:tr>
              <a:tr h="461963">
                <a:tc>
                  <a:txBody>
                    <a:bodyPr lIns="0" tIns="0" rIns="0" bIns="0">
                      <a:noAutofit/>
                    </a:bodyPr>
                    <a:lstStyle/>
                    <a:p>
                      <a:pPr algn="l"/>
                      <a:r>
                        <a:rPr sz="172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NFC, PIN, and QR validation</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FFFFF"/>
                    </a:solidFill>
                  </a:tcPr>
                </a:tc>
              </a:tr>
            </a:tbl>
          </a:graphicData>
        </a:graphic>
      </p:graphicFrame>
      <p:sp>
        <p:nvSpPr>
          <p:cNvPr id="5" name="QR checks consistency with the NFC-linked cre">
            <a:extLst xmlns:a="http://schemas.openxmlformats.org/drawingml/2006/main">
              <a:ext uri="{FF2B5EF4-FFF2-40B4-BE49-F238E27FC236}">
                <a16:creationId xmlns:a16="http://schemas.microsoft.com/office/drawing/2014/main" id="{7858561E-DF66-49D8-B015-D2A89371BD75}"/>
              </a:ext>
            </a:extLst>
          </p:cNvPr>
          <p:cNvSpPr>
            <a:spLocks xmlns:a="http://schemas.openxmlformats.org/drawingml/2006/main" noGrp="1"/>
          </p:cNvSpPr>
          <p:nvPr/>
        </p:nvSpPr>
        <p:spPr>
          <a:xfrm xmlns:a="http://schemas.openxmlformats.org/drawingml/2006/main">
            <a:off x="361950" y="33909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QR checks consistency with the NFC-linked credential record. It does not independently prove physical identity.</a:t>
            </a:r>
          </a:p>
        </p:txBody>
      </p:sp>
      <p:sp>
        <p:nvSpPr>
          <p:cNvPr id="6" name="The evaluated prototype used configured modes">
            <a:extLst xmlns:a="http://schemas.openxmlformats.org/drawingml/2006/main">
              <a:ext uri="{FF2B5EF4-FFF2-40B4-BE49-F238E27FC236}">
                <a16:creationId xmlns:a16="http://schemas.microsoft.com/office/drawing/2014/main" id="{D61B2159-5055-40B7-87A3-55285A257C69}"/>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 evaluated prototype used configured modes rather than a per-student automatic risk score.</a:t>
            </a:r>
          </a:p>
        </p:txBody>
      </p:sp>
    </p:spTree>
    <p:extLst>
      <p:ext uri="{BB962C8B-B14F-4D97-AF65-F5344CB8AC3E}">
        <p14:creationId xmlns:p14="http://schemas.microsoft.com/office/powerpoint/2010/main" val="1982258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993D4918-AA22-4F44-BDD0-ECAD16A15604}"/>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6D64AD16-331A-4175-B436-429BAF7506A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Research Design and Respondents</a:t>
            </a:r>
          </a:p>
        </p:txBody>
      </p:sp>
      <p:sp>
        <p:nvSpPr>
          <p:cNvPr id="3" name="07 / 24">
            <a:extLst xmlns:a="http://schemas.openxmlformats.org/drawingml/2006/main">
              <a:ext uri="{FF2B5EF4-FFF2-40B4-BE49-F238E27FC236}">
                <a16:creationId xmlns:a16="http://schemas.microsoft.com/office/drawing/2014/main" id="{3C2BD2E2-C4CF-40F8-8238-CCF882CE4B52}"/>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07 / 24</a:t>
            </a:r>
          </a:p>
        </p:txBody>
      </p:sp>
      <p:sp>
        <p:nvSpPr>
          <p:cNvPr id="4" name="Quantitative developmental and descriptive-ev">
            <a:extLst xmlns:a="http://schemas.openxmlformats.org/drawingml/2006/main">
              <a:ext uri="{FF2B5EF4-FFF2-40B4-BE49-F238E27FC236}">
                <a16:creationId xmlns:a16="http://schemas.microsoft.com/office/drawing/2014/main" id="{E80520FF-539A-4484-9A20-DCE95FA18CDE}"/>
              </a:ext>
            </a:extLst>
          </p:cNvPr>
          <p:cNvSpPr>
            <a:spLocks xmlns:a="http://schemas.openxmlformats.org/drawingml/2006/main" noGrp="1"/>
          </p:cNvSpPr>
          <p:nvPr/>
        </p:nvSpPr>
        <p:spPr>
          <a:xfrm xmlns:a="http://schemas.openxmlformats.org/drawingml/2006/main">
            <a:off x="361950" y="126682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Quantitative developmental and descriptive-evaluative design</a:t>
            </a:r>
          </a:p>
        </p:txBody>
      </p:sp>
      <p:sp>
        <p:nvSpPr>
          <p:cNvPr id="5" name="Iterative Waterfall development with controll">
            <a:extLst xmlns:a="http://schemas.openxmlformats.org/drawingml/2006/main">
              <a:ext uri="{FF2B5EF4-FFF2-40B4-BE49-F238E27FC236}">
                <a16:creationId xmlns:a16="http://schemas.microsoft.com/office/drawing/2014/main" id="{DF8B8695-BF60-4B4A-8957-AF8658E6DC40}"/>
              </a:ext>
            </a:extLst>
          </p:cNvPr>
          <p:cNvSpPr>
            <a:spLocks xmlns:a="http://schemas.openxmlformats.org/drawingml/2006/main" noGrp="1"/>
          </p:cNvSpPr>
          <p:nvPr/>
        </p:nvSpPr>
        <p:spPr>
          <a:xfrm xmlns:a="http://schemas.openxmlformats.org/drawingml/2006/main">
            <a:off x="361950" y="16859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Iterative Waterfall development with controlled observation and ISO/IEC 25010-based questionnaires. Purposive and convenience sampling.</a:t>
            </a:r>
          </a:p>
        </p:txBody>
      </p:sp>
      <p:graphicFrame>
        <p:nvGraphicFramePr>
          <p:cNvPr id="6" name="">
            <a:extLst xmlns:a="http://schemas.openxmlformats.org/drawingml/2006/main">
              <a:ext uri="{FF2B5EF4-FFF2-40B4-BE49-F238E27FC236}">
                <a16:creationId xmlns:a16="http://schemas.microsoft.com/office/drawing/2014/main" id="{58E1C20B-BB44-4BD8-BCB2-A24DDC0B4548}"/>
              </a:ext>
            </a:extLst>
          </p:cNvPr>
          <p:cNvGraphicFramePr/>
          <p:nvPr/>
        </p:nvGraphicFramePr>
        <p:xfrm>
          <a:off xmlns:a="http://schemas.openxmlformats.org/drawingml/2006/main" x="304800" y="2505075"/>
          <a:ext xmlns:a="http://schemas.openxmlformats.org/drawingml/2006/main" cx="8524875" cy="1743075"/>
        </p:xfrm>
        <a:graphic xmlns:a="http://schemas.openxmlformats.org/drawingml/2006/main">
          <a:graphicData uri="http://schemas.openxmlformats.org/drawingml/2006/table">
            <a:tbl>
              <a:tblPr/>
              <a:tblGrid>
                <a:gridCol w="4524375"/>
                <a:gridCol w="666750"/>
                <a:gridCol w="3333750"/>
              </a:tblGrid>
              <a:tr h="348615">
                <a:tc>
                  <a:txBody>
                    <a:bodyPr lIns="0" tIns="0" rIns="0" bIns="0">
                      <a:noAutofit/>
                    </a:bodyPr>
                    <a:lstStyle/>
                    <a:p>
                      <a:pPr algn="l"/>
                      <a:r>
                        <a:rPr sz="1500" b="1">
                          <a:solidFill>
                            <a:srgbClr val="0B7F8A"/>
                          </a:solidFill>
                          <a:latin typeface="Calibri"/>
                          <a:ea typeface="Calibri"/>
                          <a:cs typeface="Calibri"/>
                        </a:rPr>
                        <a:t>Survey Group</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Evaluation</a:t>
                      </a:r>
                    </a:p>
                  </a:txBody>
                  <a:tcPr marL="85725" marR="85725" marT="28575" marB="28575" anchor="ctr">
                    <a:solidFill>
                      <a:srgbClr val="E2E8F0"/>
                    </a:solidFill>
                  </a:tcPr>
                </a:tc>
              </a:tr>
              <a:tr h="348615">
                <a:tc>
                  <a:txBody>
                    <a:bodyPr lIns="0" tIns="0" rIns="0" bIns="0">
                      <a:noAutofit/>
                    </a:bodyPr>
                    <a:lstStyle/>
                    <a:p>
                      <a:pPr algn="l"/>
                      <a:r>
                        <a:rPr sz="1500" b="0">
                          <a:solidFill>
                            <a:srgbClr val="334155"/>
                          </a:solidFill>
                          <a:latin typeface="Calibri"/>
                          <a:ea typeface="Calibri"/>
                          <a:cs typeface="Calibri"/>
                        </a:rPr>
                        <a:t>Students, proposed system</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Five common quality categories</a:t>
                      </a:r>
                    </a:p>
                  </a:txBody>
                  <a:tcPr marL="85725" marR="85725" marT="28575" marB="28575" anchor="ctr">
                    <a:solidFill>
                      <a:srgbClr val="FFFFFF"/>
                    </a:solidFill>
                  </a:tcPr>
                </a:tc>
              </a:tr>
              <a:tr h="348615">
                <a:tc>
                  <a:txBody>
                    <a:bodyPr lIns="0" tIns="0" rIns="0" bIns="0">
                      <a:noAutofit/>
                    </a:bodyPr>
                    <a:lstStyle/>
                    <a:p>
                      <a:pPr algn="l"/>
                      <a:r>
                        <a:rPr sz="1500" b="0">
                          <a:solidFill>
                            <a:srgbClr val="334155"/>
                          </a:solidFill>
                          <a:latin typeface="Calibri"/>
                          <a:ea typeface="Calibri"/>
                          <a:cs typeface="Calibri"/>
                        </a:rPr>
                        <a:t>Students, manual process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Five quality categories</a:t>
                      </a:r>
                    </a:p>
                  </a:txBody>
                  <a:tcPr marL="85725" marR="85725" marT="28575" marB="28575" anchor="ctr">
                    <a:solidFill>
                      <a:srgbClr val="F8FAFC"/>
                    </a:solidFill>
                  </a:tcPr>
                </a:tc>
              </a:tr>
              <a:tr h="348615">
                <a:tc>
                  <a:txBody>
                    <a:bodyPr lIns="0" tIns="0" rIns="0" bIns="0">
                      <a:noAutofit/>
                    </a:bodyPr>
                    <a:lstStyle/>
                    <a:p>
                      <a:pPr algn="l"/>
                      <a:r>
                        <a:rPr sz="1500" b="0">
                          <a:solidFill>
                            <a:srgbClr val="334155"/>
                          </a:solidFill>
                          <a:latin typeface="Calibri"/>
                          <a:ea typeface="Calibri"/>
                          <a:cs typeface="Calibri"/>
                        </a:rPr>
                        <a:t>Security personnel</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Five quality categories</a:t>
                      </a:r>
                    </a:p>
                  </a:txBody>
                  <a:tcPr marL="85725" marR="85725" marT="28575" marB="28575" anchor="ctr">
                    <a:solidFill>
                      <a:srgbClr val="FFFFFF"/>
                    </a:solidFill>
                  </a:tcPr>
                </a:tc>
              </a:tr>
              <a:tr h="348615">
                <a:tc>
                  <a:txBody>
                    <a:bodyPr lIns="0" tIns="0" rIns="0" bIns="0">
                      <a:noAutofit/>
                    </a:bodyPr>
                    <a:lstStyle/>
                    <a:p>
                      <a:pPr algn="l"/>
                      <a:r>
                        <a:rPr sz="1500" b="0">
                          <a:solidFill>
                            <a:srgbClr val="334155"/>
                          </a:solidFill>
                          <a:latin typeface="Calibri"/>
                          <a:ea typeface="Calibri"/>
                          <a:cs typeface="Calibri"/>
                        </a:rPr>
                        <a:t>Faculty, organizer, administrators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Eight quality categories</a:t>
                      </a:r>
                    </a:p>
                  </a:txBody>
                  <a:tcPr marL="85725" marR="85725" marT="28575" marB="28575" anchor="ctr">
                    <a:solidFill>
                      <a:srgbClr val="F8FAFC"/>
                    </a:solidFill>
                  </a:tcPr>
                </a:tc>
              </a:tr>
            </a:tbl>
          </a:graphicData>
        </a:graphic>
      </p:graphicFrame>
      <p:sp>
        <p:nvSpPr>
          <p:cNvPr id="7" name="150 survey respondents in total. The two stud">
            <a:extLst xmlns:a="http://schemas.openxmlformats.org/drawingml/2006/main">
              <a:ext uri="{FF2B5EF4-FFF2-40B4-BE49-F238E27FC236}">
                <a16:creationId xmlns:a16="http://schemas.microsoft.com/office/drawing/2014/main" id="{9F0A9381-749D-4904-8129-1FFFFB5EFD4C}"/>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150 survey respondents in total. The two student survey groups contain different people.</a:t>
            </a:r>
          </a:p>
        </p:txBody>
      </p:sp>
    </p:spTree>
    <p:extLst>
      <p:ext uri="{BB962C8B-B14F-4D97-AF65-F5344CB8AC3E}">
        <p14:creationId xmlns:p14="http://schemas.microsoft.com/office/powerpoint/2010/main" val="379448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 METHODOLOGY">
            <a:extLst xmlns:a="http://schemas.openxmlformats.org/drawingml/2006/main">
              <a:ext uri="{FF2B5EF4-FFF2-40B4-BE49-F238E27FC236}">
                <a16:creationId xmlns:a16="http://schemas.microsoft.com/office/drawing/2014/main" id="{C6E18E37-4980-4484-92ED-813A9675C928}"/>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Controlled Observation Procedure">
            <a:extLst xmlns:a="http://schemas.openxmlformats.org/drawingml/2006/main">
              <a:ext uri="{FF2B5EF4-FFF2-40B4-BE49-F238E27FC236}">
                <a16:creationId xmlns:a16="http://schemas.microsoft.com/office/drawing/2014/main" id="{DDD9DBB2-37C5-4F45-8D56-4FD7387DC6AF}"/>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Controlled Observation Procedure</a:t>
            </a:r>
          </a:p>
        </p:txBody>
      </p:sp>
      <p:sp>
        <p:nvSpPr>
          <p:cNvPr id="3" name="08 / 24">
            <a:extLst xmlns:a="http://schemas.openxmlformats.org/drawingml/2006/main">
              <a:ext uri="{FF2B5EF4-FFF2-40B4-BE49-F238E27FC236}">
                <a16:creationId xmlns:a16="http://schemas.microsoft.com/office/drawing/2014/main" id="{3E999917-5BCC-4535-B3D9-E38272412216}"/>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15AAFB91-9954-4D1B-986F-9F958FDFE385}"/>
              </a:ext>
            </a:extLst>
          </p:cNvPr>
          <p:cNvGraphicFramePr/>
          <p:nvPr/>
        </p:nvGraphicFramePr>
        <p:xfrm>
          <a:off xmlns:a="http://schemas.openxmlformats.org/drawingml/2006/main" x="304800" y="1295400"/>
          <a:ext xmlns:a="http://schemas.openxmlformats.org/drawingml/2006/main" cx="8524875" cy="1428750"/>
        </p:xfrm>
        <a:graphic xmlns:a="http://schemas.openxmlformats.org/drawingml/2006/main">
          <a:graphicData uri="http://schemas.openxmlformats.org/drawingml/2006/table">
            <a:tbl>
              <a:tblPr/>
              <a:tblGrid>
                <a:gridCol w="2286000"/>
                <a:gridCol w="1381125"/>
                <a:gridCol w="4857750"/>
              </a:tblGrid>
              <a:tr h="476250">
                <a:tc>
                  <a:txBody>
                    <a:bodyPr lIns="0" tIns="0" rIns="0" bIns="0">
                      <a:noAutofit/>
                    </a:bodyPr>
                    <a:lstStyle/>
                    <a:p>
                      <a:pPr algn="l"/>
                      <a:r>
                        <a:rPr sz="1725" b="1">
                          <a:solidFill>
                            <a:srgbClr val="0B7F8A"/>
                          </a:solidFill>
                          <a:latin typeface="Calibri"/>
                          <a:ea typeface="Calibri"/>
                          <a:cs typeface="Calibri"/>
                        </a:rPr>
                        <a:t>Session</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Participants</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Entry Rounds per Mode</a:t>
                      </a:r>
                    </a:p>
                  </a:txBody>
                  <a:tcPr marL="85725" marR="85725" marT="28575" marB="28575" anchor="ctr">
                    <a:solidFill>
                      <a:srgbClr val="E2E8F0"/>
                    </a:solidFill>
                  </a:tcPr>
                </a:tc>
              </a:tr>
              <a:tr h="476250">
                <a:tc>
                  <a:txBody>
                    <a:bodyPr lIns="0" tIns="0" rIns="0" bIns="0">
                      <a:noAutofit/>
                    </a:bodyPr>
                    <a:lstStyle/>
                    <a:p>
                      <a:pPr algn="l"/>
                      <a:r>
                        <a:rPr sz="1725" b="0">
                          <a:solidFill>
                            <a:srgbClr val="334155"/>
                          </a:solidFill>
                          <a:latin typeface="Calibri"/>
                          <a:ea typeface="Calibri"/>
                          <a:cs typeface="Calibri"/>
                        </a:rPr>
                        <a:t>August 12, 2026</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40</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20 entries, reset exits, then 20 entries</a:t>
                      </a:r>
                    </a:p>
                  </a:txBody>
                  <a:tcPr marL="85725" marR="85725" marT="28575" marB="28575" anchor="ctr">
                    <a:solidFill>
                      <a:srgbClr val="FFFFFF"/>
                    </a:solidFill>
                  </a:tcPr>
                </a:tc>
              </a:tr>
              <a:tr h="476250">
                <a:tc>
                  <a:txBody>
                    <a:bodyPr lIns="0" tIns="0" rIns="0" bIns="0">
                      <a:noAutofit/>
                    </a:bodyPr>
                    <a:lstStyle/>
                    <a:p>
                      <a:pPr algn="l"/>
                      <a:r>
                        <a:rPr sz="1725" b="0">
                          <a:solidFill>
                            <a:srgbClr val="334155"/>
                          </a:solidFill>
                          <a:latin typeface="Calibri"/>
                          <a:ea typeface="Calibri"/>
                          <a:cs typeface="Calibri"/>
                        </a:rPr>
                        <a:t>August 13, 2026</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30</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20 entries, reset exits, then 10 entries</a:t>
                      </a:r>
                    </a:p>
                  </a:txBody>
                  <a:tcPr marL="85725" marR="85725" marT="28575" marB="28575" anchor="ctr">
                    <a:solidFill>
                      <a:srgbClr val="F8FAFC"/>
                    </a:solidFill>
                  </a:tcPr>
                </a:tc>
              </a:tr>
            </a:tbl>
          </a:graphicData>
        </a:graphic>
      </p:graphicFrame>
      <p:sp>
        <p:nvSpPr>
          <p:cNvPr id="5" name="Same participants across modes">
            <a:extLst xmlns:a="http://schemas.openxmlformats.org/drawingml/2006/main">
              <a:ext uri="{FF2B5EF4-FFF2-40B4-BE49-F238E27FC236}">
                <a16:creationId xmlns:a16="http://schemas.microsoft.com/office/drawing/2014/main" id="{BF75016E-6337-48DB-846F-B55B19BB9570}"/>
              </a:ext>
            </a:extLst>
          </p:cNvPr>
          <p:cNvSpPr>
            <a:spLocks xmlns:a="http://schemas.openxmlformats.org/drawingml/2006/main" noGrp="1"/>
          </p:cNvSpPr>
          <p:nvPr/>
        </p:nvSpPr>
        <p:spPr>
          <a:xfrm xmlns:a="http://schemas.openxmlformats.org/drawingml/2006/main">
            <a:off x="361950" y="29337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Same participants across modes</a:t>
            </a:r>
          </a:p>
        </p:txBody>
      </p:sp>
      <p:sp>
        <p:nvSpPr>
          <p:cNvPr id="6" name="70 participants completed Fast, Standard, the">
            <a:extLst xmlns:a="http://schemas.openxmlformats.org/drawingml/2006/main">
              <a:ext uri="{FF2B5EF4-FFF2-40B4-BE49-F238E27FC236}">
                <a16:creationId xmlns:a16="http://schemas.microsoft.com/office/drawing/2014/main" id="{EE3CE9A0-0EB9-40E4-965F-509A02049891}"/>
              </a:ext>
            </a:extLst>
          </p:cNvPr>
          <p:cNvSpPr>
            <a:spLocks xmlns:a="http://schemas.openxmlformats.org/drawingml/2006/main" noGrp="1"/>
          </p:cNvSpPr>
          <p:nvPr/>
        </p:nvSpPr>
        <p:spPr>
          <a:xfrm xmlns:a="http://schemas.openxmlformats.org/drawingml/2006/main">
            <a:off x="361950" y="32289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70 participants completed Fast, Standard, then High-Security in that fixed order. Each mode contains 70 successful entries.</a:t>
            </a:r>
          </a:p>
        </p:txBody>
      </p:sp>
      <p:sp>
        <p:nvSpPr>
          <p:cNvPr id="7" name="Shared test credentials">
            <a:extLst xmlns:a="http://schemas.openxmlformats.org/drawingml/2006/main">
              <a:ext uri="{FF2B5EF4-FFF2-40B4-BE49-F238E27FC236}">
                <a16:creationId xmlns:a16="http://schemas.microsoft.com/office/drawing/2014/main" id="{A387A964-7092-4ED4-8BE3-806A4C9FDAF2}"/>
              </a:ext>
            </a:extLst>
          </p:cNvPr>
          <p:cNvSpPr>
            <a:spLocks xmlns:a="http://schemas.openxmlformats.org/drawingml/2006/main" noGrp="1"/>
          </p:cNvSpPr>
          <p:nvPr/>
        </p:nvSpPr>
        <p:spPr>
          <a:xfrm xmlns:a="http://schemas.openxmlformats.org/drawingml/2006/main">
            <a:off x="361950" y="3733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Shared test credentials</a:t>
            </a:r>
          </a:p>
        </p:txBody>
      </p:sp>
      <p:sp>
        <p:nvSpPr>
          <p:cNvPr id="8" name="20 preconfigured NFC cards with PIN and QR we">
            <a:extLst xmlns:a="http://schemas.openxmlformats.org/drawingml/2006/main">
              <a:ext uri="{FF2B5EF4-FFF2-40B4-BE49-F238E27FC236}">
                <a16:creationId xmlns:a16="http://schemas.microsoft.com/office/drawing/2014/main" id="{8E262061-4AB9-4FF1-8F03-E6468C77E522}"/>
              </a:ext>
            </a:extLst>
          </p:cNvPr>
          <p:cNvSpPr>
            <a:spLocks xmlns:a="http://schemas.openxmlformats.org/drawingml/2006/main" noGrp="1"/>
          </p:cNvSpPr>
          <p:nvPr/>
        </p:nvSpPr>
        <p:spPr>
          <a:xfrm xmlns:a="http://schemas.openxmlformats.org/drawingml/2006/main">
            <a:off x="361950" y="40290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20 preconfigured NFC cards with PIN and QR were reused. Team exit transactions reset the profiles between rounds.</a:t>
            </a:r>
          </a:p>
        </p:txBody>
      </p:sp>
    </p:spTree>
    <p:extLst>
      <p:ext uri="{BB962C8B-B14F-4D97-AF65-F5344CB8AC3E}">
        <p14:creationId xmlns:p14="http://schemas.microsoft.com/office/powerpoint/2010/main" val="1068466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DCC6148F-3119-4609-8270-9A20ACF96F8F}"/>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ystem Architecture and Evaluation Scope">
            <a:extLst xmlns:a="http://schemas.openxmlformats.org/drawingml/2006/main">
              <a:ext uri="{FF2B5EF4-FFF2-40B4-BE49-F238E27FC236}">
                <a16:creationId xmlns:a16="http://schemas.microsoft.com/office/drawing/2014/main" id="{03F69B22-2323-48DB-A137-77B8228FE89A}"/>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System Architecture and Evaluation Scope</a:t>
            </a:r>
          </a:p>
        </p:txBody>
      </p:sp>
      <p:sp>
        <p:nvSpPr>
          <p:cNvPr id="3" name="09 / 24">
            <a:extLst xmlns:a="http://schemas.openxmlformats.org/drawingml/2006/main">
              <a:ext uri="{FF2B5EF4-FFF2-40B4-BE49-F238E27FC236}">
                <a16:creationId xmlns:a16="http://schemas.microsoft.com/office/drawing/2014/main" id="{3A8BD093-898A-417E-90E4-30C7FAF5B24F}"/>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3C70897C-43AC-45CF-84FF-B22157356559}"/>
              </a:ext>
            </a:extLst>
          </p:cNvPr>
          <p:cNvGraphicFramePr/>
          <p:nvPr/>
        </p:nvGraphicFramePr>
        <p:xfrm>
          <a:off xmlns:a="http://schemas.openxmlformats.org/drawingml/2006/main" x="304800" y="1266825"/>
          <a:ext xmlns:a="http://schemas.openxmlformats.org/drawingml/2006/main" cx="8524875" cy="2143125"/>
        </p:xfrm>
        <a:graphic xmlns:a="http://schemas.openxmlformats.org/drawingml/2006/main">
          <a:graphicData uri="http://schemas.openxmlformats.org/drawingml/2006/table">
            <a:tbl>
              <a:tblPr/>
              <a:tblGrid>
                <a:gridCol w="2381250"/>
                <a:gridCol w="6143625"/>
              </a:tblGrid>
              <a:tr h="428625">
                <a:tc>
                  <a:txBody>
                    <a:bodyPr lIns="0" tIns="0" rIns="0" bIns="0">
                      <a:noAutofit/>
                    </a:bodyPr>
                    <a:lstStyle/>
                    <a:p>
                      <a:pPr algn="l"/>
                      <a:r>
                        <a:rPr sz="1650" b="1">
                          <a:solidFill>
                            <a:srgbClr val="0B7F8A"/>
                          </a:solidFill>
                          <a:latin typeface="Calibri"/>
                          <a:ea typeface="Calibri"/>
                          <a:cs typeface="Calibri"/>
                        </a:rPr>
                        <a:t>Layer</a:t>
                      </a:r>
                    </a:p>
                  </a:txBody>
                  <a:tcPr marL="85725" marR="85725" marT="28575" marB="28575" anchor="ctr">
                    <a:solidFill>
                      <a:srgbClr val="E2E8F0"/>
                    </a:solidFill>
                  </a:tcPr>
                </a:tc>
                <a:tc>
                  <a:txBody>
                    <a:bodyPr lIns="0" tIns="0" rIns="0" bIns="0">
                      <a:noAutofit/>
                    </a:bodyPr>
                    <a:lstStyle/>
                    <a:p>
                      <a:pPr algn="l"/>
                      <a:r>
                        <a:rPr sz="1650" b="1">
                          <a:solidFill>
                            <a:srgbClr val="0B7F8A"/>
                          </a:solidFill>
                          <a:latin typeface="Calibri"/>
                          <a:ea typeface="Calibri"/>
                          <a:cs typeface="Calibri"/>
                        </a:rPr>
                        <a:t>Role</a:t>
                      </a:r>
                    </a:p>
                  </a:txBody>
                  <a:tcPr marL="85725" marR="85725" marT="28575" marB="28575" anchor="ctr">
                    <a:solidFill>
                      <a:srgbClr val="E2E8F0"/>
                    </a:solidFill>
                  </a:tcPr>
                </a:tc>
              </a:tr>
              <a:tr h="428625">
                <a:tc>
                  <a:txBody>
                    <a:bodyPr lIns="0" tIns="0" rIns="0" bIns="0">
                      <a:noAutofit/>
                    </a:bodyPr>
                    <a:lstStyle/>
                    <a:p>
                      <a:pPr algn="l"/>
                      <a:r>
                        <a:rPr sz="1650" b="0">
                          <a:solidFill>
                            <a:srgbClr val="334155"/>
                          </a:solidFill>
                          <a:latin typeface="Calibri"/>
                          <a:ea typeface="Calibri"/>
                          <a:cs typeface="Calibri"/>
                        </a:rPr>
                        <a:t>ESP32 and PN532</a:t>
                      </a:r>
                    </a:p>
                  </a:txBody>
                  <a:tcPr marL="85725" marR="85725" marT="28575" marB="28575" anchor="ctr">
                    <a:solidFill>
                      <a:srgbClr val="FFFFFF"/>
                    </a:solidFill>
                  </a:tcPr>
                </a:tc>
                <a:tc>
                  <a:txBody>
                    <a:bodyPr lIns="0" tIns="0" rIns="0" bIns="0">
                      <a:noAutofit/>
                    </a:bodyPr>
                    <a:lstStyle/>
                    <a:p>
                      <a:pPr algn="l"/>
                      <a:r>
                        <a:rPr sz="1650" b="0">
                          <a:solidFill>
                            <a:srgbClr val="334155"/>
                          </a:solidFill>
                          <a:latin typeface="Calibri"/>
                          <a:ea typeface="Calibri"/>
                          <a:cs typeface="Calibri"/>
                        </a:rPr>
                        <a:t>Read NFC UID and forward it through USB serial.</a:t>
                      </a:r>
                    </a:p>
                  </a:txBody>
                  <a:tcPr marL="85725" marR="85725" marT="28575" marB="28575" anchor="ctr">
                    <a:solidFill>
                      <a:srgbClr val="FFFFFF"/>
                    </a:solidFill>
                  </a:tcPr>
                </a:tc>
              </a:tr>
              <a:tr h="428625">
                <a:tc>
                  <a:txBody>
                    <a:bodyPr lIns="0" tIns="0" rIns="0" bIns="0">
                      <a:noAutofit/>
                    </a:bodyPr>
                    <a:lstStyle/>
                    <a:p>
                      <a:pPr algn="l"/>
                      <a:r>
                        <a:rPr sz="1650" b="0">
                          <a:solidFill>
                            <a:srgbClr val="334155"/>
                          </a:solidFill>
                          <a:latin typeface="Calibri"/>
                          <a:ea typeface="Calibri"/>
                          <a:cs typeface="Calibri"/>
                        </a:rPr>
                        <a:t>WinUI 3 application</a:t>
                      </a:r>
                    </a:p>
                  </a:txBody>
                  <a:tcPr marL="85725" marR="85725" marT="28575" marB="28575" anchor="ctr">
                    <a:solidFill>
                      <a:srgbClr val="F8FAFC"/>
                    </a:solidFill>
                  </a:tcPr>
                </a:tc>
                <a:tc>
                  <a:txBody>
                    <a:bodyPr lIns="0" tIns="0" rIns="0" bIns="0">
                      <a:noAutofit/>
                    </a:bodyPr>
                    <a:lstStyle/>
                    <a:p>
                      <a:pPr algn="l"/>
                      <a:r>
                        <a:rPr sz="1650" b="0">
                          <a:solidFill>
                            <a:srgbClr val="334155"/>
                          </a:solidFill>
                          <a:latin typeface="Calibri"/>
                          <a:ea typeface="Calibri"/>
                          <a:cs typeface="Calibri"/>
                        </a:rPr>
                        <a:t>Validate credentials, apply rules, and timestamp records.</a:t>
                      </a:r>
                    </a:p>
                  </a:txBody>
                  <a:tcPr marL="85725" marR="85725" marT="28575" marB="28575" anchor="ctr">
                    <a:solidFill>
                      <a:srgbClr val="F8FAFC"/>
                    </a:solidFill>
                  </a:tcPr>
                </a:tc>
              </a:tr>
              <a:tr h="428625">
                <a:tc>
                  <a:txBody>
                    <a:bodyPr lIns="0" tIns="0" rIns="0" bIns="0">
                      <a:noAutofit/>
                    </a:bodyPr>
                    <a:lstStyle/>
                    <a:p>
                      <a:pPr algn="l"/>
                      <a:r>
                        <a:rPr sz="1650" b="0">
                          <a:solidFill>
                            <a:srgbClr val="334155"/>
                          </a:solidFill>
                          <a:latin typeface="Calibri"/>
                          <a:ea typeface="Calibri"/>
                          <a:cs typeface="Calibri"/>
                        </a:rPr>
                        <a:t>Local MySQL</a:t>
                      </a:r>
                    </a:p>
                  </a:txBody>
                  <a:tcPr marL="85725" marR="85725" marT="28575" marB="28575" anchor="ctr">
                    <a:solidFill>
                      <a:srgbClr val="FFFFFF"/>
                    </a:solidFill>
                  </a:tcPr>
                </a:tc>
                <a:tc>
                  <a:txBody>
                    <a:bodyPr lIns="0" tIns="0" rIns="0" bIns="0">
                      <a:noAutofit/>
                    </a:bodyPr>
                    <a:lstStyle/>
                    <a:p>
                      <a:pPr algn="l"/>
                      <a:r>
                        <a:rPr sz="1650" b="0">
                          <a:solidFill>
                            <a:srgbClr val="334155"/>
                          </a:solidFill>
                          <a:latin typeface="Calibri"/>
                          <a:ea typeface="Calibri"/>
                          <a:cs typeface="Calibri"/>
                        </a:rPr>
                        <a:t>Store student, event, attendance, and security records.</a:t>
                      </a:r>
                    </a:p>
                  </a:txBody>
                  <a:tcPr marL="85725" marR="85725" marT="28575" marB="28575" anchor="ctr">
                    <a:solidFill>
                      <a:srgbClr val="FFFFFF"/>
                    </a:solidFill>
                  </a:tcPr>
                </a:tc>
              </a:tr>
              <a:tr h="428625">
                <a:tc>
                  <a:txBody>
                    <a:bodyPr lIns="0" tIns="0" rIns="0" bIns="0">
                      <a:noAutofit/>
                    </a:bodyPr>
                    <a:lstStyle/>
                    <a:p>
                      <a:pPr algn="l"/>
                      <a:r>
                        <a:rPr sz="1650" b="0">
                          <a:solidFill>
                            <a:srgbClr val="334155"/>
                          </a:solidFill>
                          <a:latin typeface="Calibri"/>
                          <a:ea typeface="Calibri"/>
                          <a:cs typeface="Calibri"/>
                        </a:rPr>
                        <a:t>Firebase Firestore</a:t>
                      </a:r>
                    </a:p>
                  </a:txBody>
                  <a:tcPr marL="85725" marR="85725" marT="28575" marB="28575" anchor="ctr">
                    <a:solidFill>
                      <a:srgbClr val="F8FAFC"/>
                    </a:solidFill>
                  </a:tcPr>
                </a:tc>
                <a:tc>
                  <a:txBody>
                    <a:bodyPr lIns="0" tIns="0" rIns="0" bIns="0">
                      <a:noAutofit/>
                    </a:bodyPr>
                    <a:lstStyle/>
                    <a:p>
                      <a:pPr algn="l"/>
                      <a:r>
                        <a:rPr sz="1650" b="0">
                          <a:solidFill>
                            <a:srgbClr val="334155"/>
                          </a:solidFill>
                          <a:latin typeface="Calibri"/>
                          <a:ea typeface="Calibri"/>
                          <a:cs typeface="Calibri"/>
                        </a:rPr>
                        <a:t>Support cloud synchronization and backup.</a:t>
                      </a:r>
                    </a:p>
                  </a:txBody>
                  <a:tcPr marL="85725" marR="85725" marT="28575" marB="28575" anchor="ctr">
                    <a:solidFill>
                      <a:srgbClr val="F8FAFC"/>
                    </a:solidFill>
                  </a:tcPr>
                </a:tc>
              </a:tr>
            </a:tbl>
          </a:graphicData>
        </a:graphic>
      </p:graphicFrame>
      <p:sp>
        <p:nvSpPr>
          <p:cNvPr id="5" name="Added after the August observation">
            <a:extLst xmlns:a="http://schemas.openxmlformats.org/drawingml/2006/main">
              <a:ext uri="{FF2B5EF4-FFF2-40B4-BE49-F238E27FC236}">
                <a16:creationId xmlns:a16="http://schemas.microsoft.com/office/drawing/2014/main" id="{29DA03FA-B23F-4220-92B6-4018DECD9848}"/>
              </a:ext>
            </a:extLst>
          </p:cNvPr>
          <p:cNvSpPr>
            <a:spLocks xmlns:a="http://schemas.openxmlformats.org/drawingml/2006/main" noGrp="1"/>
          </p:cNvSpPr>
          <p:nvPr/>
        </p:nvSpPr>
        <p:spPr>
          <a:xfrm xmlns:a="http://schemas.openxmlformats.org/drawingml/2006/main">
            <a:off x="361950" y="3629025"/>
            <a:ext cx="838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Added after the August observation</a:t>
            </a:r>
          </a:p>
        </p:txBody>
      </p:sp>
      <p:sp>
        <p:nvSpPr>
          <p:cNvPr id="6" name="Signed QR credentials, durable offline queues">
            <a:extLst xmlns:a="http://schemas.openxmlformats.org/drawingml/2006/main">
              <a:ext uri="{FF2B5EF4-FFF2-40B4-BE49-F238E27FC236}">
                <a16:creationId xmlns:a16="http://schemas.microsoft.com/office/drawing/2014/main" id="{FB913CC2-3C27-41D3-88CC-FC62BB4186A7}"/>
              </a:ext>
            </a:extLst>
          </p:cNvPr>
          <p:cNvSpPr>
            <a:spLocks xmlns:a="http://schemas.openxmlformats.org/drawingml/2006/main" noGrp="1"/>
          </p:cNvSpPr>
          <p:nvPr/>
        </p:nvSpPr>
        <p:spPr>
          <a:xfrm xmlns:a="http://schemas.openxmlformats.org/drawingml/2006/main">
            <a:off x="361950" y="3990975"/>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Signed QR credentials, durable offline queues, event-completion rules, and graduation clearance require separate evaluation evidence.</a:t>
            </a:r>
          </a:p>
        </p:txBody>
      </p:sp>
    </p:spTree>
    <p:extLst>
      <p:ext uri="{BB962C8B-B14F-4D97-AF65-F5344CB8AC3E}">
        <p14:creationId xmlns:p14="http://schemas.microsoft.com/office/powerpoint/2010/main" val="1028355674"/>
      </p:ext>
    </p:extLst>
  </p:cSld>
</p:sld>
</file>

<file path=ppt/slides/slide10.xml><?xml version="1.0" encoding="utf-8"?>
<p:sld xmlns:p="http://schemas.openxmlformats.org/presentationml/2006/main" show="1">
  <p:cSld>
    <p:spTree>
      <p:nvGrpSpPr>
        <p:cNvPr id="1" name=""/>
        <p:cNvGrpSpPr/>
        <p:nvPr/>
      </p:nvGrpSpPr>
      <p:grpSpPr>
        <a:xfrm xmlns:a="http://schemas.openxmlformats.org/drawingml/2006/main"/>
      </p:grpSpPr>
      <p:sp>
        <p:nvSpPr>
          <p:cNvPr id="295" name="Google Shape;295;p13">
            <a:extLst xmlns:a="http://schemas.openxmlformats.org/drawingml/2006/main">
              <a:ext uri="{FF2B5EF4-FFF2-40B4-BE49-F238E27FC236}">
                <a16:creationId xmlns:a16="http://schemas.microsoft.com/office/drawing/2014/main" id="{1007F80C-92EC-4E81-8F77-6A9C2BE062C5}"/>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4F7F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6" name="Google Shape;296;p13">
            <a:extLst xmlns:a="http://schemas.openxmlformats.org/drawingml/2006/main">
              <a:ext uri="{FF2B5EF4-FFF2-40B4-BE49-F238E27FC236}">
                <a16:creationId xmlns:a16="http://schemas.microsoft.com/office/drawing/2014/main" id="{34BBCFB1-EEEE-4351-9BFF-42B33FA1D67D}"/>
              </a:ext>
            </a:extLst>
          </p:cNvPr>
          <p:cNvSpPr>
            <a:spLocks xmlns:a="http://schemas.openxmlformats.org/drawingml/2006/main" noGrp="1"/>
          </p:cNvSpPr>
          <p:nvPr/>
        </p:nvSpPr>
        <p:spPr>
          <a:xfrm xmlns:a="http://schemas.openxmlformats.org/drawingml/2006/main">
            <a:off x="447675" y="285750"/>
            <a:ext cx="342900" cy="342900"/>
          </a:xfrm>
          <a:prstGeom xmlns:a="http://schemas.openxmlformats.org/drawingml/2006/main" prst="ellipse">
            <a:avLst/>
          </a:prstGeom>
          <a:solidFill xmlns:a="http://schemas.openxmlformats.org/drawingml/2006/main">
            <a:srgbClr val="E8EDF5"/>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97" name="Google Shape;297;p13">
            <a:extLst xmlns:a="http://schemas.openxmlformats.org/drawingml/2006/main">
              <a:ext uri="{FF2B5EF4-FFF2-40B4-BE49-F238E27FC236}">
                <a16:creationId xmlns:a16="http://schemas.microsoft.com/office/drawing/2014/main" id="{EE8BE12C-C2B5-4660-829B-B2A525FB32A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28b7ed92f2e4d46">
            <a:alphaModFix/>
          </a:blip>
          <a:srcRect xmlns:a="http://schemas.openxmlformats.org/drawingml/2006/main" l="0" t="0" r="0" b="0"/>
          <a:stretch xmlns:a="http://schemas.openxmlformats.org/drawingml/2006/main"/>
        </p:blipFill>
        <p:spPr>
          <a:xfrm xmlns:a="http://schemas.openxmlformats.org/drawingml/2006/main">
            <a:off x="533400" y="371475"/>
            <a:ext cx="171600" cy="171600"/>
          </a:xfrm>
          <a:prstGeom xmlns:a="http://schemas.openxmlformats.org/drawingml/2006/main" prst="rect">
            <a:avLst/>
          </a:prstGeom>
          <a:ln xmlns:a="http://schemas.openxmlformats.org/drawingml/2006/main">
            <a:noFill/>
          </a:ln>
        </p:spPr>
      </p:pic>
      <p:sp>
        <p:nvSpPr>
          <p:cNvPr id="298" name="Google Shape;298;p13">
            <a:extLst xmlns:a="http://schemas.openxmlformats.org/drawingml/2006/main">
              <a:ext uri="{FF2B5EF4-FFF2-40B4-BE49-F238E27FC236}">
                <a16:creationId xmlns:a16="http://schemas.microsoft.com/office/drawing/2014/main" id="{F06CC5AC-FF3F-41EF-B27A-0AEE015E1878}"/>
              </a:ext>
            </a:extLst>
          </p:cNvPr>
          <p:cNvSpPr>
            <a:spLocks xmlns:a="http://schemas.openxmlformats.org/drawingml/2006/main" noGrp="1"/>
          </p:cNvSpPr>
          <p:nvPr/>
        </p:nvSpPr>
        <p:spPr>
          <a:xfrm xmlns:a="http://schemas.openxmlformats.org/drawingml/2006/main">
            <a:off x="952500" y="266700"/>
            <a:ext cx="5486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000" b="1">
                <a:solidFill>
                  <a:srgbClr val="0B7F8A"/>
                </a:solidFill>
                <a:latin typeface="Calibri"/>
                <a:ea typeface="Calibri"/>
                <a:cs typeface="Calibri"/>
              </a:rPr>
              <a:t>II. METHODOLOGY  SYSTEM IMPLEMENTATION</a:t>
            </a:r>
            <a:endParaRPr sz="1000" b="1">
              <a:solidFill>
                <a:srgbClr val="0B7F8A"/>
              </a:solidFill>
              <a:latin typeface="Calibri"/>
              <a:ea typeface="Calibri"/>
              <a:cs typeface="Calibri"/>
            </a:endParaRPr>
          </a:p>
        </p:txBody>
      </p:sp>
      <p:sp>
        <p:nvSpPr>
          <p:cNvPr id="299" name="Google Shape;299;p13">
            <a:extLst xmlns:a="http://schemas.openxmlformats.org/drawingml/2006/main">
              <a:ext uri="{FF2B5EF4-FFF2-40B4-BE49-F238E27FC236}">
                <a16:creationId xmlns:a16="http://schemas.microsoft.com/office/drawing/2014/main" id="{58619A78-F931-4761-9B12-85AD29E7285B}"/>
              </a:ext>
            </a:extLst>
          </p:cNvPr>
          <p:cNvSpPr>
            <a:spLocks xmlns:a="http://schemas.openxmlformats.org/drawingml/2006/main" noGrp="1"/>
          </p:cNvSpPr>
          <p:nvPr/>
        </p:nvSpPr>
        <p:spPr>
          <a:xfrm xmlns:a="http://schemas.openxmlformats.org/drawingml/2006/main">
            <a:off x="952500" y="457200"/>
            <a:ext cx="7620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2400" b="1">
                <a:solidFill>
                  <a:srgbClr val="1B2A4A"/>
                </a:solidFill>
                <a:latin typeface="Cambria"/>
                <a:ea typeface="Cambria"/>
                <a:cs typeface="Cambria"/>
              </a:rPr>
              <a:t>Prototype Interfaces</a:t>
            </a:r>
            <a:endParaRPr sz="2400" b="1">
              <a:solidFill>
                <a:srgbClr val="1B2A4A"/>
              </a:solidFill>
              <a:latin typeface="Cambria"/>
              <a:ea typeface="Cambria"/>
              <a:cs typeface="Cambria"/>
            </a:endParaRPr>
          </a:p>
        </p:txBody>
      </p:sp>
      <p:sp>
        <p:nvSpPr>
          <p:cNvPr id="300" name="Google Shape;300;p13">
            <a:extLst xmlns:a="http://schemas.openxmlformats.org/drawingml/2006/main">
              <a:ext uri="{FF2B5EF4-FFF2-40B4-BE49-F238E27FC236}">
                <a16:creationId xmlns:a16="http://schemas.microsoft.com/office/drawing/2014/main" id="{2BC3329E-BEA1-4DAB-90FE-0CA370DBC89D}"/>
              </a:ext>
            </a:extLst>
          </p:cNvPr>
          <p:cNvSpPr>
            <a:spLocks xmlns:a="http://schemas.openxmlformats.org/drawingml/2006/main" noGrp="1"/>
          </p:cNvSpPr>
          <p:nvPr/>
        </p:nvSpPr>
        <p:spPr>
          <a:xfrm xmlns:a="http://schemas.openxmlformats.org/drawingml/2006/main">
            <a:off x="476250"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1" name="Google Shape;301;p13">
            <a:extLst xmlns:a="http://schemas.openxmlformats.org/drawingml/2006/main">
              <a:ext uri="{FF2B5EF4-FFF2-40B4-BE49-F238E27FC236}">
                <a16:creationId xmlns:a16="http://schemas.microsoft.com/office/drawing/2014/main" id="{01B829B4-B82D-4246-9F48-43C0A0CAD3DD}"/>
              </a:ext>
            </a:extLst>
          </p:cNvPr>
          <p:cNvSpPr>
            <a:spLocks xmlns:a="http://schemas.openxmlformats.org/drawingml/2006/main" noGrp="1"/>
          </p:cNvSpPr>
          <p:nvPr/>
        </p:nvSpPr>
        <p:spPr>
          <a:xfrm xmlns:a="http://schemas.openxmlformats.org/drawingml/2006/main">
            <a:off x="619125"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1. Authentication Window</a:t>
            </a:r>
            <a:endParaRPr sz="1200" b="1">
              <a:solidFill>
                <a:srgbClr val="1B2A4A"/>
              </a:solidFill>
              <a:latin typeface="Calibri"/>
              <a:ea typeface="Calibri"/>
              <a:cs typeface="Calibri"/>
            </a:endParaRPr>
          </a:p>
        </p:txBody>
      </p:sp>
      <p:sp>
        <p:nvSpPr>
          <p:cNvPr id="303" name="Google Shape;303;p13">
            <a:extLst xmlns:a="http://schemas.openxmlformats.org/drawingml/2006/main">
              <a:ext uri="{FF2B5EF4-FFF2-40B4-BE49-F238E27FC236}">
                <a16:creationId xmlns:a16="http://schemas.microsoft.com/office/drawing/2014/main" id="{5F2385B8-AE82-48EE-B353-EC8EAF37A478}"/>
              </a:ext>
            </a:extLst>
          </p:cNvPr>
          <p:cNvSpPr>
            <a:spLocks xmlns:a="http://schemas.openxmlformats.org/drawingml/2006/main" noGrp="1"/>
          </p:cNvSpPr>
          <p:nvPr/>
        </p:nvSpPr>
        <p:spPr>
          <a:xfrm xmlns:a="http://schemas.openxmlformats.org/drawingml/2006/main" rot="0" flipH="0" flipV="0">
            <a:off x="326707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4" name="Google Shape;304;p13">
            <a:extLst xmlns:a="http://schemas.openxmlformats.org/drawingml/2006/main">
              <a:ext uri="{FF2B5EF4-FFF2-40B4-BE49-F238E27FC236}">
                <a16:creationId xmlns:a16="http://schemas.microsoft.com/office/drawing/2014/main" id="{7EE6E954-55CF-4F76-80F4-E4007F0A380A}"/>
              </a:ext>
            </a:extLst>
          </p:cNvPr>
          <p:cNvSpPr>
            <a:spLocks xmlns:a="http://schemas.openxmlformats.org/drawingml/2006/main" noGrp="1"/>
          </p:cNvSpPr>
          <p:nvPr/>
        </p:nvSpPr>
        <p:spPr>
          <a:xfrm xmlns:a="http://schemas.openxmlformats.org/drawingml/2006/main" rot="0" flipH="0" flipV="0">
            <a:off x="340995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2. Admin Dashboard</a:t>
            </a:r>
            <a:endParaRPr sz="1200" b="1">
              <a:solidFill>
                <a:srgbClr val="1B2A4A"/>
              </a:solidFill>
              <a:latin typeface="Calibri"/>
              <a:ea typeface="Calibri"/>
              <a:cs typeface="Calibri"/>
            </a:endParaRPr>
          </a:p>
        </p:txBody>
      </p:sp>
      <p:sp>
        <p:nvSpPr>
          <p:cNvPr id="306" name="Google Shape;306;p13">
            <a:extLst xmlns:a="http://schemas.openxmlformats.org/drawingml/2006/main">
              <a:ext uri="{FF2B5EF4-FFF2-40B4-BE49-F238E27FC236}">
                <a16:creationId xmlns:a16="http://schemas.microsoft.com/office/drawing/2014/main" id="{6E04AD41-1C69-435D-974D-A4CEB4F26542}"/>
              </a:ext>
            </a:extLst>
          </p:cNvPr>
          <p:cNvSpPr>
            <a:spLocks xmlns:a="http://schemas.openxmlformats.org/drawingml/2006/main" noGrp="1"/>
          </p:cNvSpPr>
          <p:nvPr/>
        </p:nvSpPr>
        <p:spPr>
          <a:xfrm xmlns:a="http://schemas.openxmlformats.org/drawingml/2006/main" rot="0" flipH="0" flipV="0">
            <a:off x="606742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7" name="Google Shape;307;p13">
            <a:extLst xmlns:a="http://schemas.openxmlformats.org/drawingml/2006/main">
              <a:ext uri="{FF2B5EF4-FFF2-40B4-BE49-F238E27FC236}">
                <a16:creationId xmlns:a16="http://schemas.microsoft.com/office/drawing/2014/main" id="{D2E92D87-4DE9-4B51-B0AD-9B27249C4DF7}"/>
              </a:ext>
            </a:extLst>
          </p:cNvPr>
          <p:cNvSpPr>
            <a:spLocks xmlns:a="http://schemas.openxmlformats.org/drawingml/2006/main" noGrp="1"/>
          </p:cNvSpPr>
          <p:nvPr/>
        </p:nvSpPr>
        <p:spPr>
          <a:xfrm xmlns:a="http://schemas.openxmlformats.org/drawingml/2006/main" rot="0" flipH="0" flipV="0">
            <a:off x="621030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3. Security Personnel Dashboard</a:t>
            </a:r>
            <a:endParaRPr sz="1200" b="1">
              <a:solidFill>
                <a:srgbClr val="1B2A4A"/>
              </a:solidFill>
              <a:latin typeface="Calibri"/>
              <a:ea typeface="Calibri"/>
              <a:cs typeface="Calibri"/>
            </a:endParaRPr>
          </a:p>
        </p:txBody>
      </p:sp>
      <p:sp>
        <p:nvSpPr>
          <p:cNvPr id="309" name="Google Shape;309;p13">
            <a:extLst xmlns:a="http://schemas.openxmlformats.org/drawingml/2006/main">
              <a:ext uri="{FF2B5EF4-FFF2-40B4-BE49-F238E27FC236}">
                <a16:creationId xmlns:a16="http://schemas.microsoft.com/office/drawing/2014/main" id="{1D4C4986-1CEB-40A6-8DF7-0F7E6C8327D0}"/>
              </a:ext>
            </a:extLst>
          </p:cNvPr>
          <p:cNvSpPr>
            <a:spLocks xmlns:a="http://schemas.openxmlformats.org/drawingml/2006/main" noGrp="1"/>
          </p:cNvSpPr>
          <p:nvPr/>
        </p:nvSpPr>
        <p:spPr>
          <a:xfrm xmlns:a="http://schemas.openxmlformats.org/drawingml/2006/main" rot="0" flipH="0" flipV="0">
            <a:off x="476250"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0" name="Google Shape;310;p13">
            <a:extLst xmlns:a="http://schemas.openxmlformats.org/drawingml/2006/main">
              <a:ext uri="{FF2B5EF4-FFF2-40B4-BE49-F238E27FC236}">
                <a16:creationId xmlns:a16="http://schemas.microsoft.com/office/drawing/2014/main" id="{7E5A1357-DD65-4339-BC03-2E1D983197CC}"/>
              </a:ext>
            </a:extLst>
          </p:cNvPr>
          <p:cNvSpPr>
            <a:spLocks xmlns:a="http://schemas.openxmlformats.org/drawingml/2006/main" noGrp="1"/>
          </p:cNvSpPr>
          <p:nvPr/>
        </p:nvSpPr>
        <p:spPr>
          <a:xfrm xmlns:a="http://schemas.openxmlformats.org/drawingml/2006/main" rot="0" flipH="0" flipV="0">
            <a:off x="619125"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4. Event Organizer Dashboard</a:t>
            </a:r>
            <a:endParaRPr sz="1200" b="1">
              <a:solidFill>
                <a:srgbClr val="1B2A4A"/>
              </a:solidFill>
              <a:latin typeface="Calibri"/>
              <a:ea typeface="Calibri"/>
              <a:cs typeface="Calibri"/>
            </a:endParaRPr>
          </a:p>
        </p:txBody>
      </p:sp>
      <p:sp>
        <p:nvSpPr>
          <p:cNvPr id="312" name="Google Shape;312;p13">
            <a:extLst xmlns:a="http://schemas.openxmlformats.org/drawingml/2006/main">
              <a:ext uri="{FF2B5EF4-FFF2-40B4-BE49-F238E27FC236}">
                <a16:creationId xmlns:a16="http://schemas.microsoft.com/office/drawing/2014/main" id="{A116A28E-83A3-4379-9B70-DCB69F0D013B}"/>
              </a:ext>
            </a:extLst>
          </p:cNvPr>
          <p:cNvSpPr>
            <a:spLocks xmlns:a="http://schemas.openxmlformats.org/drawingml/2006/main" noGrp="1"/>
          </p:cNvSpPr>
          <p:nvPr/>
        </p:nvSpPr>
        <p:spPr>
          <a:xfrm xmlns:a="http://schemas.openxmlformats.org/drawingml/2006/main" rot="0" flipH="0" flipV="0">
            <a:off x="326707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3" name="Google Shape;313;p13">
            <a:extLst xmlns:a="http://schemas.openxmlformats.org/drawingml/2006/main">
              <a:ext uri="{FF2B5EF4-FFF2-40B4-BE49-F238E27FC236}">
                <a16:creationId xmlns:a16="http://schemas.microsoft.com/office/drawing/2014/main" id="{C431A475-746B-48E7-839B-DD782FED997C}"/>
              </a:ext>
            </a:extLst>
          </p:cNvPr>
          <p:cNvSpPr>
            <a:spLocks xmlns:a="http://schemas.openxmlformats.org/drawingml/2006/main" noGrp="1"/>
          </p:cNvSpPr>
          <p:nvPr/>
        </p:nvSpPr>
        <p:spPr>
          <a:xfrm xmlns:a="http://schemas.openxmlformats.org/drawingml/2006/main" rot="0" flipH="0" flipV="0">
            <a:off x="340995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5. Active Monitoring Console</a:t>
            </a:r>
            <a:endParaRPr sz="1200" b="1">
              <a:solidFill>
                <a:srgbClr val="1B2A4A"/>
              </a:solidFill>
              <a:latin typeface="Calibri"/>
              <a:ea typeface="Calibri"/>
              <a:cs typeface="Calibri"/>
            </a:endParaRPr>
          </a:p>
        </p:txBody>
      </p:sp>
      <p:sp>
        <p:nvSpPr>
          <p:cNvPr id="315" name="Google Shape;315;p13">
            <a:extLst xmlns:a="http://schemas.openxmlformats.org/drawingml/2006/main">
              <a:ext uri="{FF2B5EF4-FFF2-40B4-BE49-F238E27FC236}">
                <a16:creationId xmlns:a16="http://schemas.microsoft.com/office/drawing/2014/main" id="{9E7FBC1A-8ECB-47B8-8500-1B7BF3D11484}"/>
              </a:ext>
            </a:extLst>
          </p:cNvPr>
          <p:cNvSpPr>
            <a:spLocks xmlns:a="http://schemas.openxmlformats.org/drawingml/2006/main" noGrp="1"/>
          </p:cNvSpPr>
          <p:nvPr/>
        </p:nvSpPr>
        <p:spPr>
          <a:xfrm xmlns:a="http://schemas.openxmlformats.org/drawingml/2006/main" rot="0" flipH="0" flipV="0">
            <a:off x="606742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6" name="Google Shape;316;p13">
            <a:extLst xmlns:a="http://schemas.openxmlformats.org/drawingml/2006/main">
              <a:ext uri="{FF2B5EF4-FFF2-40B4-BE49-F238E27FC236}">
                <a16:creationId xmlns:a16="http://schemas.microsoft.com/office/drawing/2014/main" id="{CB46F9C8-B19E-4A39-BF80-A65CC9A0F69E}"/>
              </a:ext>
            </a:extLst>
          </p:cNvPr>
          <p:cNvSpPr>
            <a:spLocks xmlns:a="http://schemas.openxmlformats.org/drawingml/2006/main" noGrp="1"/>
          </p:cNvSpPr>
          <p:nvPr/>
        </p:nvSpPr>
        <p:spPr>
          <a:xfrm xmlns:a="http://schemas.openxmlformats.org/drawingml/2006/main" rot="0" flipH="0" flipV="0">
            <a:off x="621030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6. Student-Facing Kiosk</a:t>
            </a:r>
            <a:endParaRPr sz="1200" b="1">
              <a:solidFill>
                <a:srgbClr val="1B2A4A"/>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0113CE4B-D86B-4734-84B3-B05B1406C8A1}"/>
              </a:ext>
            </a:extLst>
          </p:cNvPr>
          <p:cNvSpPr>
            <a:spLocks xmlns:a="http://schemas.openxmlformats.org/drawingml/2006/main" noGrp="1"/>
          </p:cNvSpPr>
          <p:nvPr/>
        </p:nvSpPr>
        <p:spPr>
          <a:xfrm xmlns:a="http://schemas.openxmlformats.org/drawingml/2006/main">
            <a:off x="476250" y="4619625"/>
            <a:ext cx="8191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100" b="0" i="1">
                <a:solidFill>
                  <a:srgbClr val="516385"/>
                </a:solidFill>
                <a:latin typeface="Calibri"/>
                <a:ea typeface="Calibri"/>
                <a:cs typeface="Calibri"/>
              </a:rPr>
              <a:t>Selected prototype screenshots. The live demonstration shows the current build.</a:t>
            </a:r>
            <a:endParaRPr sz="1100" b="0" i="1">
              <a:solidFill>
                <a:srgbClr val="516385"/>
              </a:solidFill>
              <a:latin typeface="Calibri"/>
              <a:ea typeface="Calibri"/>
              <a:cs typeface="Calibri"/>
            </a:endParaRPr>
          </a:p>
        </p:txBody>
      </p:sp>
      <p:pic>
        <p:nvPicPr>
          <p:cNvPr id="318" name="Google Shape;318;p13">
            <a:extLst xmlns:a="http://schemas.openxmlformats.org/drawingml/2006/main">
              <a:ext uri="{FF2B5EF4-FFF2-40B4-BE49-F238E27FC236}">
                <a16:creationId xmlns:a16="http://schemas.microsoft.com/office/drawing/2014/main" id="{F5F441C4-25F3-424B-AFE3-899306D440FC}"/>
              </a:ext>
            </a:extLst>
          </p:cNvPr>
          <p:cNvPicPr>
            <a:picLocks xmlns:a="http://schemas.openxmlformats.org/drawingml/2006/main" noChangeAspect="1"/>
          </p:cNvPicPr>
          <p:nvPr/>
        </p:nvPicPr>
        <p:blipFill>
          <a:blip xmlns:r="http://schemas.openxmlformats.org/officeDocument/2006/relationships" xmlns:a="http://schemas.openxmlformats.org/drawingml/2006/main" r:embed="Rbd20dcd0826b48aa">
            <a:alphaModFix/>
          </a:blip>
          <a:stretch xmlns:a="http://schemas.openxmlformats.org/drawingml/2006/main">
            <a:fillRect l="0" t="0" r="0" b="0"/>
          </a:stretch>
        </p:blipFill>
        <p:spPr>
          <a:xfrm xmlns:a="http://schemas.openxmlformats.org/drawingml/2006/main">
            <a:off x="771123" y="1333575"/>
            <a:ext cx="2010492" cy="1238176"/>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10FF43BE-8C7E-4166-8ECC-99BE71451B0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e9b8488cb564619">
            <a:alphaModFix/>
          </a:blip>
          <a:srcRect xmlns:a="http://schemas.openxmlformats.org/drawingml/2006/main" l="0" t="30" r="0" b="30"/>
          <a:stretch xmlns:a="http://schemas.openxmlformats.org/drawingml/2006/main"/>
        </p:blipFill>
        <p:spPr>
          <a:xfrm xmlns:a="http://schemas.openxmlformats.org/drawingml/2006/main">
            <a:off x="3566789" y="1333575"/>
            <a:ext cx="2010491"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BF06A6F5-A062-4DF4-9EA1-E4C2EB90EF6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de61097568e424d">
            <a:alphaModFix/>
          </a:blip>
          <a:srcRect xmlns:a="http://schemas.openxmlformats.org/drawingml/2006/main" l="0" t="239" r="0" b="239"/>
          <a:stretch xmlns:a="http://schemas.openxmlformats.org/drawingml/2006/main"/>
        </p:blipFill>
        <p:spPr>
          <a:xfrm xmlns:a="http://schemas.openxmlformats.org/drawingml/2006/main">
            <a:off x="6149300" y="1333575"/>
            <a:ext cx="2436649"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0B2A55D4-D70A-4D21-A7F4-6369B3FD26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de61097568e424d">
            <a:alphaModFix/>
          </a:blip>
          <a:srcRect xmlns:a="http://schemas.openxmlformats.org/drawingml/2006/main" l="0" t="239" r="0" b="239"/>
          <a:stretch xmlns:a="http://schemas.openxmlformats.org/drawingml/2006/main"/>
        </p:blipFill>
        <p:spPr>
          <a:xfrm xmlns:a="http://schemas.openxmlformats.org/drawingml/2006/main">
            <a:off x="558048" y="3162150"/>
            <a:ext cx="2436653"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61D38D64-D4C4-4651-A7A2-5C0ECA9830DD}"/>
              </a:ext>
            </a:extLst>
          </p:cNvPr>
          <p:cNvPicPr>
            <a:picLocks xmlns:a="http://schemas.openxmlformats.org/drawingml/2006/main" noChangeAspect="1"/>
          </p:cNvPicPr>
          <p:nvPr/>
        </p:nvPicPr>
        <p:blipFill>
          <a:blip xmlns:r="http://schemas.openxmlformats.org/officeDocument/2006/relationships" xmlns:a="http://schemas.openxmlformats.org/drawingml/2006/main" r:embed="R297f63b1ca124f45">
            <a:alphaModFix/>
          </a:blip>
          <a:stretch xmlns:a="http://schemas.openxmlformats.org/drawingml/2006/main">
            <a:fillRect l="0" t="0" r="0" b="0"/>
          </a:stretch>
        </p:blipFill>
        <p:spPr>
          <a:xfrm xmlns:a="http://schemas.openxmlformats.org/drawingml/2006/main">
            <a:off x="3427400" y="3162150"/>
            <a:ext cx="2289284" cy="1238175"/>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4BC51200-45F3-4504-8B21-42DF95B25F3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60d9563ac094464">
            <a:alphaModFix/>
          </a:blip>
          <a:srcRect xmlns:a="http://schemas.openxmlformats.org/drawingml/2006/main" l="0" t="1923" r="0" b="1923"/>
          <a:stretch xmlns:a="http://schemas.openxmlformats.org/drawingml/2006/main"/>
        </p:blipFill>
        <p:spPr>
          <a:xfrm xmlns:a="http://schemas.openxmlformats.org/drawingml/2006/main">
            <a:off x="6222975" y="3162150"/>
            <a:ext cx="2289298" cy="1238174"/>
          </a:xfrm>
          <a:prstGeom xmlns:a="http://schemas.openxmlformats.org/drawingml/2006/main" prst="rect">
            <a:avLst/>
          </a:prstGeom>
          <a:ln xmlns:a="http://schemas.openxmlformats.org/drawingml/2006/main">
            <a:noFill/>
          </a:ln>
        </p:spPr>
      </p:pic>
      <p:sp>
        <p:nvSpPr>
          <p:cNvPr id="324" name="Google Shape;324;p13">
            <a:extLst xmlns:a="http://schemas.openxmlformats.org/drawingml/2006/main">
              <a:ext uri="{FF2B5EF4-FFF2-40B4-BE49-F238E27FC236}">
                <a16:creationId xmlns:a16="http://schemas.microsoft.com/office/drawing/2014/main" id="{F2A14945-A57A-4A6B-BE26-DD8D8E6F6FE6}"/>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10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6570400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I. METHODOLOGY">
            <a:extLst xmlns:a="http://schemas.openxmlformats.org/drawingml/2006/main">
              <a:ext uri="{FF2B5EF4-FFF2-40B4-BE49-F238E27FC236}">
                <a16:creationId xmlns:a16="http://schemas.microsoft.com/office/drawing/2014/main" id="{F4B90375-F701-44F0-A26D-EC7F945FC1A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tatistical Treatment and Hypotheses">
            <a:extLst xmlns:a="http://schemas.openxmlformats.org/drawingml/2006/main">
              <a:ext uri="{FF2B5EF4-FFF2-40B4-BE49-F238E27FC236}">
                <a16:creationId xmlns:a16="http://schemas.microsoft.com/office/drawing/2014/main" id="{28A556E4-CCE8-4B6F-95C2-6C4AE5146EFA}"/>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Statistical Treatment and Hypotheses</a:t>
            </a:r>
          </a:p>
        </p:txBody>
      </p:sp>
      <p:sp>
        <p:nvSpPr>
          <p:cNvPr id="3" name="11 / 24">
            <a:extLst xmlns:a="http://schemas.openxmlformats.org/drawingml/2006/main">
              <a:ext uri="{FF2B5EF4-FFF2-40B4-BE49-F238E27FC236}">
                <a16:creationId xmlns:a16="http://schemas.microsoft.com/office/drawing/2014/main" id="{5DB3568A-FFD9-4BEB-9340-5A986EAF6FF2}"/>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11 / 24</a:t>
            </a:r>
          </a:p>
        </p:txBody>
      </p:sp>
      <p:sp>
        <p:nvSpPr>
          <p:cNvPr id="4" name="Descriptive analysis">
            <a:extLst xmlns:a="http://schemas.openxmlformats.org/drawingml/2006/main">
              <a:ext uri="{FF2B5EF4-FFF2-40B4-BE49-F238E27FC236}">
                <a16:creationId xmlns:a16="http://schemas.microsoft.com/office/drawing/2014/main" id="{E77A42DE-6EDC-49AF-964D-E655630FD486}"/>
              </a:ext>
            </a:extLst>
          </p:cNvPr>
          <p:cNvSpPr>
            <a:spLocks xmlns:a="http://schemas.openxmlformats.org/drawingml/2006/main" noGrp="1"/>
          </p:cNvSpPr>
          <p:nvPr/>
        </p:nvSpPr>
        <p:spPr>
          <a:xfrm xmlns:a="http://schemas.openxmlformats.org/drawingml/2006/main">
            <a:off x="361950" y="12668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Descriptive analysis</a:t>
            </a:r>
          </a:p>
        </p:txBody>
      </p:sp>
      <p:sp>
        <p:nvSpPr>
          <p:cNvPr id="5" name="Frequency, mean, and sample SD use applicable">
            <a:extLst xmlns:a="http://schemas.openxmlformats.org/drawingml/2006/main">
              <a:ext uri="{FF2B5EF4-FFF2-40B4-BE49-F238E27FC236}">
                <a16:creationId xmlns:a16="http://schemas.microsoft.com/office/drawing/2014/main" id="{274CAACC-131B-44FF-9466-D64757A1DAD5}"/>
              </a:ext>
            </a:extLst>
          </p:cNvPr>
          <p:cNvSpPr>
            <a:spLocks xmlns:a="http://schemas.openxmlformats.org/drawingml/2006/main" noGrp="1"/>
          </p:cNvSpPr>
          <p:nvPr/>
        </p:nvSpPr>
        <p:spPr>
          <a:xfrm xmlns:a="http://schemas.openxmlformats.org/drawingml/2006/main">
            <a:off x="361950" y="15621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Frequency, mean, and sample SD use applicable observations. Respondent category scores produce the category and overall composite SDs.</a:t>
            </a:r>
          </a:p>
        </p:txBody>
      </p:sp>
      <p:sp>
        <p:nvSpPr>
          <p:cNvPr id="6" name="Welch independent-samples t-test">
            <a:extLst xmlns:a="http://schemas.openxmlformats.org/drawingml/2006/main">
              <a:ext uri="{FF2B5EF4-FFF2-40B4-BE49-F238E27FC236}">
                <a16:creationId xmlns:a16="http://schemas.microsoft.com/office/drawing/2014/main" id="{67E07634-D486-44B5-8059-271DDFF50651}"/>
              </a:ext>
            </a:extLst>
          </p:cNvPr>
          <p:cNvSpPr>
            <a:spLocks xmlns:a="http://schemas.openxmlformats.org/drawingml/2006/main" noGrp="1"/>
          </p:cNvSpPr>
          <p:nvPr/>
        </p:nvSpPr>
        <p:spPr>
          <a:xfrm xmlns:a="http://schemas.openxmlformats.org/drawingml/2006/main">
            <a:off x="361950" y="2181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Welch independent-samples t-test</a:t>
            </a:r>
          </a:p>
        </p:txBody>
      </p:sp>
      <p:sp>
        <p:nvSpPr>
          <p:cNvPr id="7" name="Two-tailed test of overall student survey sco">
            <a:extLst xmlns:a="http://schemas.openxmlformats.org/drawingml/2006/main">
              <a:ext uri="{FF2B5EF4-FFF2-40B4-BE49-F238E27FC236}">
                <a16:creationId xmlns:a16="http://schemas.microsoft.com/office/drawing/2014/main" id="{ED6E890D-02EC-416C-97CB-3F5629569129}"/>
              </a:ext>
            </a:extLst>
          </p:cNvPr>
          <p:cNvSpPr>
            <a:spLocks xmlns:a="http://schemas.openxmlformats.org/drawingml/2006/main" noGrp="1"/>
          </p:cNvSpPr>
          <p:nvPr/>
        </p:nvSpPr>
        <p:spPr>
          <a:xfrm xmlns:a="http://schemas.openxmlformats.org/drawingml/2006/main">
            <a:off x="361950" y="24765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Two-tailed test of overall student survey scores at alpha = 0.05. Different students form the manual and proposed-system groups.</a:t>
            </a:r>
          </a:p>
        </p:txBody>
      </p:sp>
      <p:sp>
        <p:nvSpPr>
          <p:cNvPr id="8" name="H0: No significant difference in mean overall">
            <a:extLst xmlns:a="http://schemas.openxmlformats.org/drawingml/2006/main">
              <a:ext uri="{FF2B5EF4-FFF2-40B4-BE49-F238E27FC236}">
                <a16:creationId xmlns:a16="http://schemas.microsoft.com/office/drawing/2014/main" id="{4176BF3E-DFA0-4236-B6E0-0D26CE0003D2}"/>
              </a:ext>
            </a:extLst>
          </p:cNvPr>
          <p:cNvSpPr>
            <a:spLocks xmlns:a="http://schemas.openxmlformats.org/drawingml/2006/main" noGrp="1"/>
          </p:cNvSpPr>
          <p:nvPr/>
        </p:nvSpPr>
        <p:spPr>
          <a:xfrm xmlns:a="http://schemas.openxmlformats.org/drawingml/2006/main">
            <a:off x="361950" y="32004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34155"/>
                </a:solidFill>
                <a:latin typeface="Calibri"/>
                <a:ea typeface="Calibri"/>
                <a:cs typeface="Calibri"/>
              </a:defRPr>
            </a:defPPr>
          </a:lstStyle>
          <a:p xmlns:a="http://schemas.openxmlformats.org/drawingml/2006/main">
            <a:pPr algn="l">
              <a:defRPr sz="1725" b="1">
                <a:solidFill>
                  <a:srgbClr val="334155"/>
                </a:solidFill>
                <a:latin typeface="Calibri"/>
                <a:ea typeface="Calibri"/>
                <a:cs typeface="Calibri"/>
              </a:defRPr>
            </a:pPr>
            <a:r>
              <a:rPr sz="1725" b="1">
                <a:solidFill>
                  <a:srgbClr val="334155"/>
                </a:solidFill>
                <a:latin typeface="Calibri"/>
                <a:ea typeface="Calibri"/>
                <a:cs typeface="Calibri"/>
              </a:rPr>
              <a:t>H0: No significant difference in mean overall survey ratings.</a:t>
            </a:r>
          </a:p>
        </p:txBody>
      </p:sp>
      <p:sp>
        <p:nvSpPr>
          <p:cNvPr id="9" name="H1: A significant difference exists in mean o">
            <a:extLst xmlns:a="http://schemas.openxmlformats.org/drawingml/2006/main">
              <a:ext uri="{FF2B5EF4-FFF2-40B4-BE49-F238E27FC236}">
                <a16:creationId xmlns:a16="http://schemas.microsoft.com/office/drawing/2014/main" id="{83251ADC-4BE3-4E63-8C4A-05F7C265B14E}"/>
              </a:ext>
            </a:extLst>
          </p:cNvPr>
          <p:cNvSpPr>
            <a:spLocks xmlns:a="http://schemas.openxmlformats.org/drawingml/2006/main" noGrp="1"/>
          </p:cNvSpPr>
          <p:nvPr/>
        </p:nvSpPr>
        <p:spPr>
          <a:xfrm xmlns:a="http://schemas.openxmlformats.org/drawingml/2006/main">
            <a:off x="361950" y="36195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H1: A significant difference exists in mean overall survey ratings.</a:t>
            </a:r>
          </a:p>
        </p:txBody>
      </p:sp>
      <p:sp>
        <p:nvSpPr>
          <p:cNvPr id="10" name="t = (mean System - mean Manual) / sqrt(SD Sys">
            <a:extLst xmlns:a="http://schemas.openxmlformats.org/drawingml/2006/main">
              <a:ext uri="{FF2B5EF4-FFF2-40B4-BE49-F238E27FC236}">
                <a16:creationId xmlns:a16="http://schemas.microsoft.com/office/drawing/2014/main" id="{61CDF205-CBDB-4C4C-9D2A-7A5D369ADAB8}"/>
              </a:ext>
            </a:extLst>
          </p:cNvPr>
          <p:cNvSpPr>
            <a:spLocks xmlns:a="http://schemas.openxmlformats.org/drawingml/2006/main" noGrp="1"/>
          </p:cNvSpPr>
          <p:nvPr/>
        </p:nvSpPr>
        <p:spPr>
          <a:xfrm xmlns:a="http://schemas.openxmlformats.org/drawingml/2006/main">
            <a:off x="361950" y="41433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B7F8A"/>
                </a:solidFill>
                <a:latin typeface="Calibri"/>
                <a:ea typeface="Calibri"/>
                <a:cs typeface="Calibri"/>
              </a:defRPr>
            </a:defPPr>
          </a:lstStyle>
          <a:p xmlns:a="http://schemas.openxmlformats.org/drawingml/2006/main">
            <a:pPr algn="l">
              <a:defRPr sz="1575" b="0">
                <a:solidFill>
                  <a:srgbClr val="0B7F8A"/>
                </a:solidFill>
                <a:latin typeface="Calibri"/>
                <a:ea typeface="Calibri"/>
                <a:cs typeface="Calibri"/>
              </a:defRPr>
            </a:pPr>
            <a:r>
              <a:rPr sz="1575" b="0">
                <a:solidFill>
                  <a:srgbClr val="0B7F8A"/>
                </a:solidFill>
                <a:latin typeface="Calibri"/>
                <a:ea typeface="Calibri"/>
                <a:cs typeface="Calibri"/>
              </a:rPr>
              <a:t>t = (mean System - mean Manual) / sqrt(SD System^2 / n System + SD Manual^2 / n Manual)</a:t>
            </a:r>
          </a:p>
        </p:txBody>
      </p:sp>
    </p:spTree>
    <p:extLst>
      <p:ext uri="{BB962C8B-B14F-4D97-AF65-F5344CB8AC3E}">
        <p14:creationId xmlns:p14="http://schemas.microsoft.com/office/powerpoint/2010/main" val="1580559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I. RESULTS">
            <a:extLst xmlns:a="http://schemas.openxmlformats.org/drawingml/2006/main">
              <a:ext uri="{FF2B5EF4-FFF2-40B4-BE49-F238E27FC236}">
                <a16:creationId xmlns:a16="http://schemas.microsoft.com/office/drawing/2014/main" id="{611462F7-1715-4D95-BFC7-EA4CDFDE508E}"/>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Observation Records and Functionality Cases">
            <a:extLst xmlns:a="http://schemas.openxmlformats.org/drawingml/2006/main">
              <a:ext uri="{FF2B5EF4-FFF2-40B4-BE49-F238E27FC236}">
                <a16:creationId xmlns:a16="http://schemas.microsoft.com/office/drawing/2014/main" id="{7DA0B7B9-E55B-42BB-9CD7-DC8396B4D2E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Observation Records and Functionality Cases</a:t>
            </a:r>
          </a:p>
        </p:txBody>
      </p:sp>
      <p:sp>
        <p:nvSpPr>
          <p:cNvPr id="3" name="12 / 24">
            <a:extLst xmlns:a="http://schemas.openxmlformats.org/drawingml/2006/main">
              <a:ext uri="{FF2B5EF4-FFF2-40B4-BE49-F238E27FC236}">
                <a16:creationId xmlns:a16="http://schemas.microsoft.com/office/drawing/2014/main" id="{5FBD70FA-2388-4AB3-AA18-42F1F38D517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D72AFAA1-6792-47E2-A2AD-73314668A1A0}"/>
              </a:ext>
            </a:extLst>
          </p:cNvPr>
          <p:cNvGraphicFramePr/>
          <p:nvPr/>
        </p:nvGraphicFramePr>
        <p:xfrm>
          <a:off xmlns:a="http://schemas.openxmlformats.org/drawingml/2006/main" x="304800" y="1257300"/>
          <a:ext xmlns:a="http://schemas.openxmlformats.org/drawingml/2006/main" cx="8524875" cy="2114550"/>
        </p:xfrm>
        <a:graphic xmlns:a="http://schemas.openxmlformats.org/drawingml/2006/main">
          <a:graphicData uri="http://schemas.openxmlformats.org/drawingml/2006/table">
            <a:tbl>
              <a:tblPr/>
              <a:tblGrid>
                <a:gridCol w="2238375"/>
                <a:gridCol w="1809750"/>
                <a:gridCol w="1381125"/>
                <a:gridCol w="1619250"/>
                <a:gridCol w="1476375"/>
              </a:tblGrid>
              <a:tr h="422910">
                <a:tc>
                  <a:txBody>
                    <a:bodyPr lIns="0" tIns="0" rIns="0" bIns="0">
                      <a:noAutofit/>
                    </a:bodyPr>
                    <a:lstStyle/>
                    <a:p>
                      <a:pPr algn="l"/>
                      <a:r>
                        <a:rPr sz="1650"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Successful Entries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Reset Exits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Denied Records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Total</a:t>
                      </a:r>
                    </a:p>
                  </a:txBody>
                  <a:tcPr marL="85725" marR="85725" marT="28575" marB="28575" anchor="ctr">
                    <a:solidFill>
                      <a:srgbClr val="E2E8F0"/>
                    </a:solidFill>
                  </a:tcPr>
                </a:tc>
              </a:tr>
              <a:tr h="422910">
                <a:tc>
                  <a:txBody>
                    <a:bodyPr lIns="0" tIns="0" rIns="0" bIns="0">
                      <a:noAutofit/>
                    </a:bodyPr>
                    <a:lstStyle/>
                    <a:p>
                      <a:pPr algn="l"/>
                      <a:r>
                        <a:rPr sz="1650"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2</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142</a:t>
                      </a:r>
                    </a:p>
                  </a:txBody>
                  <a:tcPr marL="85725" marR="85725" marT="28575" marB="28575" anchor="ctr">
                    <a:solidFill>
                      <a:srgbClr val="FFFFFF"/>
                    </a:solidFill>
                  </a:tcPr>
                </a:tc>
              </a:tr>
              <a:tr h="422910">
                <a:tc>
                  <a:txBody>
                    <a:bodyPr lIns="0" tIns="0" rIns="0" bIns="0">
                      <a:noAutofit/>
                    </a:bodyPr>
                    <a:lstStyle/>
                    <a:p>
                      <a:pPr algn="l"/>
                      <a:r>
                        <a:rPr sz="1650"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12</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152</a:t>
                      </a:r>
                    </a:p>
                  </a:txBody>
                  <a:tcPr marL="85725" marR="85725" marT="28575" marB="28575" anchor="ctr">
                    <a:solidFill>
                      <a:srgbClr val="F8FAFC"/>
                    </a:solidFill>
                  </a:tcPr>
                </a:tc>
              </a:tr>
              <a:tr h="422910">
                <a:tc>
                  <a:txBody>
                    <a:bodyPr lIns="0" tIns="0" rIns="0" bIns="0">
                      <a:noAutofit/>
                    </a:bodyPr>
                    <a:lstStyle/>
                    <a:p>
                      <a:pPr algn="l"/>
                      <a:r>
                        <a:rPr sz="1650"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4</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144</a:t>
                      </a:r>
                    </a:p>
                  </a:txBody>
                  <a:tcPr marL="85725" marR="85725" marT="28575" marB="28575" anchor="ctr">
                    <a:solidFill>
                      <a:srgbClr val="FFFFFF"/>
                    </a:solidFill>
                  </a:tcPr>
                </a:tc>
              </a:tr>
              <a:tr h="422910">
                <a:tc>
                  <a:txBody>
                    <a:bodyPr lIns="0" tIns="0" rIns="0" bIns="0">
                      <a:noAutofit/>
                    </a:bodyPr>
                    <a:lstStyle/>
                    <a:p>
                      <a:pPr algn="l"/>
                      <a:r>
                        <a:rPr sz="1650" b="0">
                          <a:solidFill>
                            <a:srgbClr val="334155"/>
                          </a:solidFill>
                          <a:latin typeface="Calibri"/>
                          <a:ea typeface="Calibri"/>
                          <a:cs typeface="Calibri"/>
                        </a:rPr>
                        <a:t>Total</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210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210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18</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438</a:t>
                      </a:r>
                    </a:p>
                  </a:txBody>
                  <a:tcPr marL="85725" marR="85725" marT="28575" marB="28575" anchor="ctr">
                    <a:solidFill>
                      <a:srgbClr val="F8FAFC"/>
                    </a:solidFill>
                  </a:tcPr>
                </a:tc>
              </a:tr>
            </a:tbl>
          </a:graphicData>
        </a:graphic>
      </p:graphicFrame>
      <p:sp>
        <p:nvSpPr>
          <p:cNvPr id="5" name="Recorded challenges">
            <a:extLst xmlns:a="http://schemas.openxmlformats.org/drawingml/2006/main">
              <a:ext uri="{FF2B5EF4-FFF2-40B4-BE49-F238E27FC236}">
                <a16:creationId xmlns:a16="http://schemas.microsoft.com/office/drawing/2014/main" id="{0B6DE7B7-EB41-46E4-8DA7-57371350AFD7}"/>
              </a:ext>
            </a:extLst>
          </p:cNvPr>
          <p:cNvSpPr>
            <a:spLocks xmlns:a="http://schemas.openxmlformats.org/drawingml/2006/main" noGrp="1"/>
          </p:cNvSpPr>
          <p:nvPr/>
        </p:nvSpPr>
        <p:spPr>
          <a:xfrm xmlns:a="http://schemas.openxmlformats.org/drawingml/2006/main">
            <a:off x="361950" y="3571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Recorded challenges</a:t>
            </a:r>
          </a:p>
        </p:txBody>
      </p:sp>
      <p:sp>
        <p:nvSpPr>
          <p:cNvPr id="6" name="Denials include deliberate PIN/lockout, QR mi">
            <a:extLst xmlns:a="http://schemas.openxmlformats.org/drawingml/2006/main">
              <a:ext uri="{FF2B5EF4-FFF2-40B4-BE49-F238E27FC236}">
                <a16:creationId xmlns:a16="http://schemas.microsoft.com/office/drawing/2014/main" id="{2EE87913-A850-42CE-AF56-6DC20FC8DEF3}"/>
              </a:ext>
            </a:extLst>
          </p:cNvPr>
          <p:cNvSpPr>
            <a:spLocks xmlns:a="http://schemas.openxmlformats.org/drawingml/2006/main" noGrp="1"/>
          </p:cNvSpPr>
          <p:nvPr/>
        </p:nvSpPr>
        <p:spPr>
          <a:xfrm xmlns:a="http://schemas.openxmlformats.org/drawingml/2006/main">
            <a:off x="361950" y="38671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Denials include deliberate PIN/lockout, QR mismatch, and entry/exit state tests.</a:t>
            </a:r>
          </a:p>
        </p:txBody>
      </p:sp>
      <p:sp>
        <p:nvSpPr>
          <p:cNvPr id="7" name="Documented functionality">
            <a:extLst xmlns:a="http://schemas.openxmlformats.org/drawingml/2006/main">
              <a:ext uri="{FF2B5EF4-FFF2-40B4-BE49-F238E27FC236}">
                <a16:creationId xmlns:a16="http://schemas.microsoft.com/office/drawing/2014/main" id="{7BA21AA4-A4C3-4506-8A8E-DF4991F2DBE7}"/>
              </a:ext>
            </a:extLst>
          </p:cNvPr>
          <p:cNvSpPr>
            <a:spLocks xmlns:a="http://schemas.openxmlformats.org/drawingml/2006/main" noGrp="1"/>
          </p:cNvSpPr>
          <p:nvPr/>
        </p:nvSpPr>
        <p:spPr>
          <a:xfrm xmlns:a="http://schemas.openxmlformats.org/drawingml/2006/main">
            <a:off x="361950" y="4171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Documented functionality</a:t>
            </a:r>
          </a:p>
        </p:txBody>
      </p:sp>
      <p:sp>
        <p:nvSpPr>
          <p:cNvPr id="8" name="Appendix H lists 16 PASS cases. These do not ">
            <a:extLst xmlns:a="http://schemas.openxmlformats.org/drawingml/2006/main">
              <a:ext uri="{FF2B5EF4-FFF2-40B4-BE49-F238E27FC236}">
                <a16:creationId xmlns:a16="http://schemas.microsoft.com/office/drawing/2014/main" id="{5D56E260-551E-4991-B516-5CC07A3E3D46}"/>
              </a:ext>
            </a:extLst>
          </p:cNvPr>
          <p:cNvSpPr>
            <a:spLocks xmlns:a="http://schemas.openxmlformats.org/drawingml/2006/main" noGrp="1"/>
          </p:cNvSpPr>
          <p:nvPr/>
        </p:nvSpPr>
        <p:spPr>
          <a:xfrm xmlns:a="http://schemas.openxmlformats.org/drawingml/2006/main">
            <a:off x="361950" y="4467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Appendix H lists 16 PASS cases. These do not validate every feature or later addition.</a:t>
            </a:r>
          </a:p>
        </p:txBody>
      </p:sp>
    </p:spTree>
    <p:extLst>
      <p:ext uri="{BB962C8B-B14F-4D97-AF65-F5344CB8AC3E}">
        <p14:creationId xmlns:p14="http://schemas.microsoft.com/office/powerpoint/2010/main" val="7160449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CCESSFUL ENTRIES">
            <a:extLst xmlns:a="http://schemas.openxmlformats.org/drawingml/2006/main">
              <a:ext uri="{FF2B5EF4-FFF2-40B4-BE49-F238E27FC236}">
                <a16:creationId xmlns:a16="http://schemas.microsoft.com/office/drawing/2014/main" id="{0CA9DEFB-78AB-4A68-8C96-B65D6B97B33A}"/>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Internal System Latency">
            <a:extLst xmlns:a="http://schemas.openxmlformats.org/drawingml/2006/main">
              <a:ext uri="{FF2B5EF4-FFF2-40B4-BE49-F238E27FC236}">
                <a16:creationId xmlns:a16="http://schemas.microsoft.com/office/drawing/2014/main" id="{4B6AFF49-5063-43B6-8A40-696E63521937}"/>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Internal System Latency</a:t>
            </a:r>
          </a:p>
        </p:txBody>
      </p:sp>
      <p:sp>
        <p:nvSpPr>
          <p:cNvPr id="3" name="13 / 24">
            <a:extLst xmlns:a="http://schemas.openxmlformats.org/drawingml/2006/main">
              <a:ext uri="{FF2B5EF4-FFF2-40B4-BE49-F238E27FC236}">
                <a16:creationId xmlns:a16="http://schemas.microsoft.com/office/drawing/2014/main" id="{5BC5E4C2-5B21-4357-A36A-4DC1F71D7538}"/>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13 / 24</a:t>
            </a:r>
          </a:p>
        </p:txBody>
      </p:sp>
      <p:graphicFrame>
        <p:nvGraphicFramePr>
          <p:cNvPr id="4" name="">
            <a:extLst xmlns:a="http://schemas.openxmlformats.org/drawingml/2006/main">
              <a:ext uri="{FF2B5EF4-FFF2-40B4-BE49-F238E27FC236}">
                <a16:creationId xmlns:a16="http://schemas.microsoft.com/office/drawing/2014/main" id="{3A7EACD1-09DD-4BF8-A7FA-D92D600DD659}"/>
              </a:ext>
            </a:extLst>
          </p:cNvPr>
          <p:cNvGraphicFramePr/>
          <p:nvPr/>
        </p:nvGraphicFramePr>
        <p:xfrm>
          <a:off xmlns:a="http://schemas.openxmlformats.org/drawingml/2006/main" x="304800" y="1400175"/>
          <a:ext xmlns:a="http://schemas.openxmlformats.org/drawingml/2006/main" cx="4524375" cy="2162175"/>
        </p:xfrm>
        <a:graphic xmlns:a="http://schemas.openxmlformats.org/drawingml/2006/main">
          <a:graphicData uri="http://schemas.openxmlformats.org/drawingml/2006/table">
            <a:tbl>
              <a:tblPr/>
              <a:tblGrid>
                <a:gridCol w="1571625"/>
                <a:gridCol w="857250"/>
                <a:gridCol w="1143000"/>
                <a:gridCol w="952500"/>
              </a:tblGrid>
              <a:tr h="540544">
                <a:tc>
                  <a:txBody>
                    <a:bodyPr lIns="0" tIns="0" rIns="0" bIns="0">
                      <a:noAutofit/>
                    </a:bodyPr>
                    <a:lstStyle/>
                    <a:p>
                      <a:pPr algn="l"/>
                      <a:r>
                        <a:rPr sz="157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Mean ms</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Sample SD ms</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DB Mean ms</a:t>
                      </a:r>
                    </a:p>
                  </a:txBody>
                  <a:tcPr marL="85725" marR="85725" marT="28575" marB="28575" anchor="ctr">
                    <a:solidFill>
                      <a:srgbClr val="E2E8F0"/>
                    </a:solidFill>
                  </a:tcPr>
                </a:tc>
              </a:tr>
              <a:tr h="540544">
                <a:tc>
                  <a:txBody>
                    <a:bodyPr lIns="0" tIns="0" rIns="0" bIns="0">
                      <a:noAutofit/>
                    </a:bodyPr>
                    <a:lstStyle/>
                    <a:p>
                      <a:pPr algn="l"/>
                      <a:r>
                        <a:rPr sz="157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11.49</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2.20</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2.88</a:t>
                      </a:r>
                    </a:p>
                  </a:txBody>
                  <a:tcPr marL="85725" marR="85725" marT="28575" marB="28575" anchor="ctr">
                    <a:solidFill>
                      <a:srgbClr val="FFFFFF"/>
                    </a:solidFill>
                  </a:tcPr>
                </a:tc>
              </a:tr>
              <a:tr h="540544">
                <a:tc>
                  <a:txBody>
                    <a:bodyPr lIns="0" tIns="0" rIns="0" bIns="0">
                      <a:noAutofit/>
                    </a:bodyPr>
                    <a:lstStyle/>
                    <a:p>
                      <a:pPr algn="l"/>
                      <a:r>
                        <a:rPr sz="157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57.37</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17.46</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47.95</a:t>
                      </a:r>
                    </a:p>
                  </a:txBody>
                  <a:tcPr marL="85725" marR="85725" marT="28575" marB="28575" anchor="ctr">
                    <a:solidFill>
                      <a:srgbClr val="F8FAFC"/>
                    </a:solidFill>
                  </a:tcPr>
                </a:tc>
              </a:tr>
              <a:tr h="540544">
                <a:tc>
                  <a:txBody>
                    <a:bodyPr lIns="0" tIns="0" rIns="0" bIns="0">
                      <a:noAutofit/>
                    </a:bodyPr>
                    <a:lstStyle/>
                    <a:p>
                      <a:pPr algn="l"/>
                      <a:r>
                        <a:rPr sz="157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54.06</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6.34</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44.90</a:t>
                      </a:r>
                    </a:p>
                  </a:txBody>
                  <a:tcPr marL="85725" marR="85725" marT="28575" marB="28575" anchor="ctr">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56359555-536F-4F9B-BAAC-95DE285CC175}"/>
              </a:ext>
            </a:extLst>
          </p:cNvPr>
          <p:cNvGraphicFramePr/>
          <p:nvPr/>
        </p:nvGraphicFramePr>
        <p:xfrm>
          <a:off xmlns:a="http://schemas.openxmlformats.org/drawingml/2006/main" x="5067300" y="1304925"/>
          <a:ext xmlns:a="http://schemas.openxmlformats.org/drawingml/2006/main" cx="3743325" cy="2743200"/>
        </p:xfrm>
        <a:graphic xmlns:a="http://schemas.openxmlformats.org/drawingml/2006/main">
          <a:graphicData uri="http://schemas.openxmlformats.org/drawingml/2006/chart">
            <c:chart xmlns:r="http://schemas.openxmlformats.org/officeDocument/2006/relationships" xmlns:c="http://schemas.openxmlformats.org/drawingml/2006/chart" r:id="R6d0431ddebe94df1"/>
          </a:graphicData>
        </a:graphic>
      </p:graphicFrame>
      <p:sp>
        <p:nvSpPr>
          <p:cNvPr id="6" name="70 successful entries per mode">
            <a:extLst xmlns:a="http://schemas.openxmlformats.org/drawingml/2006/main">
              <a:ext uri="{FF2B5EF4-FFF2-40B4-BE49-F238E27FC236}">
                <a16:creationId xmlns:a16="http://schemas.microsoft.com/office/drawing/2014/main" id="{A54A7160-8F7B-4DE6-A872-9D34B6417965}"/>
              </a:ext>
            </a:extLst>
          </p:cNvPr>
          <p:cNvSpPr>
            <a:spLocks xmlns:a="http://schemas.openxmlformats.org/drawingml/2006/main" noGrp="1"/>
          </p:cNvSpPr>
          <p:nvPr/>
        </p:nvSpPr>
        <p:spPr>
          <a:xfrm xmlns:a="http://schemas.openxmlformats.org/drawingml/2006/main">
            <a:off x="361950" y="37814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70 successful entries per mode</a:t>
            </a:r>
          </a:p>
        </p:txBody>
      </p:sp>
      <p:sp>
        <p:nvSpPr>
          <p:cNvPr id="7" name="Database-query time overlaps internal latency">
            <a:extLst xmlns:a="http://schemas.openxmlformats.org/drawingml/2006/main">
              <a:ext uri="{FF2B5EF4-FFF2-40B4-BE49-F238E27FC236}">
                <a16:creationId xmlns:a16="http://schemas.microsoft.com/office/drawing/2014/main" id="{9163E79C-6BC7-4766-978A-B726F32897C5}"/>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Database-query time overlaps internal latency. Adding it again would double-count time.</a:t>
            </a:r>
          </a:p>
        </p:txBody>
      </p:sp>
    </p:spTree>
    <p:extLst>
      <p:ext uri="{BB962C8B-B14F-4D97-AF65-F5344CB8AC3E}">
        <p14:creationId xmlns:p14="http://schemas.microsoft.com/office/powerpoint/2010/main" val="1497566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SUCCESSFUL ENTRIES">
            <a:extLst xmlns:a="http://schemas.openxmlformats.org/drawingml/2006/main">
              <a:ext uri="{FF2B5EF4-FFF2-40B4-BE49-F238E27FC236}">
                <a16:creationId xmlns:a16="http://schemas.microsoft.com/office/drawing/2014/main" id="{843F5315-2CF6-448C-B3FB-BD9C07434CAB}"/>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Recorded PIN and QR Interaction">
            <a:extLst xmlns:a="http://schemas.openxmlformats.org/drawingml/2006/main">
              <a:ext uri="{FF2B5EF4-FFF2-40B4-BE49-F238E27FC236}">
                <a16:creationId xmlns:a16="http://schemas.microsoft.com/office/drawing/2014/main" id="{B47DA83F-1559-43EF-B693-0302D29EB43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PIN and QR Interaction</a:t>
            </a:r>
          </a:p>
        </p:txBody>
      </p:sp>
      <p:sp>
        <p:nvSpPr>
          <p:cNvPr id="3" name="14 / 24">
            <a:extLst xmlns:a="http://schemas.openxmlformats.org/drawingml/2006/main">
              <a:ext uri="{FF2B5EF4-FFF2-40B4-BE49-F238E27FC236}">
                <a16:creationId xmlns:a16="http://schemas.microsoft.com/office/drawing/2014/main" id="{4DCB654C-C7C0-4071-B560-6522DF54F44C}"/>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14 / 24</a:t>
            </a:r>
          </a:p>
        </p:txBody>
      </p:sp>
      <p:graphicFrame>
        <p:nvGraphicFramePr>
          <p:cNvPr id="4" name="Chart">
            <a:extLst xmlns:a="http://schemas.openxmlformats.org/drawingml/2006/main">
              <a:ext uri="{FF2B5EF4-FFF2-40B4-BE49-F238E27FC236}">
                <a16:creationId xmlns:a16="http://schemas.microsoft.com/office/drawing/2014/main" id="{6EABD43F-92EB-4D63-9EDA-85E4E5C785C5}"/>
              </a:ext>
            </a:extLst>
          </p:cNvPr>
          <p:cNvGraphicFramePr/>
          <p:nvPr/>
        </p:nvGraphicFramePr>
        <p:xfrm>
          <a:off xmlns:a="http://schemas.openxmlformats.org/drawingml/2006/main" x="304800" y="1228725"/>
          <a:ext xmlns:a="http://schemas.openxmlformats.org/drawingml/2006/main" cx="4762500" cy="2752725"/>
        </p:xfrm>
        <a:graphic xmlns:a="http://schemas.openxmlformats.org/drawingml/2006/main">
          <a:graphicData uri="http://schemas.openxmlformats.org/drawingml/2006/chart">
            <c:chart xmlns:r="http://schemas.openxmlformats.org/officeDocument/2006/relationships" xmlns:c="http://schemas.openxmlformats.org/drawingml/2006/chart" r:id="R2abeee6d425d477f"/>
          </a:graphicData>
        </a:graphic>
      </p:graphicFrame>
      <p:graphicFrame>
        <p:nvGraphicFramePr>
          <p:cNvPr id="5" name="">
            <a:extLst xmlns:a="http://schemas.openxmlformats.org/drawingml/2006/main">
              <a:ext uri="{FF2B5EF4-FFF2-40B4-BE49-F238E27FC236}">
                <a16:creationId xmlns:a16="http://schemas.microsoft.com/office/drawing/2014/main" id="{D4F6BD61-8EC9-47BB-AB58-3D56240E68C0}"/>
              </a:ext>
            </a:extLst>
          </p:cNvPr>
          <p:cNvGraphicFramePr/>
          <p:nvPr/>
        </p:nvGraphicFramePr>
        <p:xfrm>
          <a:off xmlns:a="http://schemas.openxmlformats.org/drawingml/2006/main" x="5305425" y="1457325"/>
          <a:ext xmlns:a="http://schemas.openxmlformats.org/drawingml/2006/main" cx="3524250" cy="2095500"/>
        </p:xfrm>
        <a:graphic xmlns:a="http://schemas.openxmlformats.org/drawingml/2006/main">
          <a:graphicData uri="http://schemas.openxmlformats.org/drawingml/2006/table">
            <a:tbl>
              <a:tblPr/>
              <a:tblGrid>
                <a:gridCol w="1571625"/>
                <a:gridCol w="914400"/>
                <a:gridCol w="1038225"/>
              </a:tblGrid>
              <a:tr h="419100">
                <a:tc>
                  <a:txBody>
                    <a:bodyPr lIns="0" tIns="0" rIns="0" bIns="0">
                      <a:noAutofit/>
                    </a:bodyPr>
                    <a:lstStyle/>
                    <a:p>
                      <a:pPr algn="l"/>
                      <a:r>
                        <a:rPr sz="1425" b="1">
                          <a:solidFill>
                            <a:srgbClr val="0B7F8A"/>
                          </a:solidFill>
                          <a:latin typeface="Calibri"/>
                          <a:ea typeface="Calibri"/>
                          <a:cs typeface="Calibri"/>
                        </a:rPr>
                        <a:t>Total Stage Duration</a:t>
                      </a:r>
                    </a:p>
                  </a:txBody>
                  <a:tcPr marL="85725" marR="85725" marT="28575" marB="28575" anchor="ctr">
                    <a:solidFill>
                      <a:srgbClr val="E2E8F0"/>
                    </a:solidFill>
                  </a:tcPr>
                </a:tc>
                <a:tc>
                  <a:txBody>
                    <a:bodyPr lIns="0" tIns="0" rIns="0" bIns="0">
                      <a:noAutofit/>
                    </a:bodyPr>
                    <a:lstStyle/>
                    <a:p>
                      <a:pPr algn="l"/>
                      <a:r>
                        <a:rPr sz="1425" b="1">
                          <a:solidFill>
                            <a:srgbClr val="0B7F8A"/>
                          </a:solidFill>
                          <a:latin typeface="Calibri"/>
                          <a:ea typeface="Calibri"/>
                          <a:cs typeface="Calibri"/>
                        </a:rPr>
                        <a:t>Standard</a:t>
                      </a:r>
                    </a:p>
                  </a:txBody>
                  <a:tcPr marL="85725" marR="85725" marT="28575" marB="28575" anchor="ctr">
                    <a:solidFill>
                      <a:srgbClr val="E2E8F0"/>
                    </a:solidFill>
                  </a:tcPr>
                </a:tc>
                <a:tc>
                  <a:txBody>
                    <a:bodyPr lIns="0" tIns="0" rIns="0" bIns="0">
                      <a:noAutofit/>
                    </a:bodyPr>
                    <a:lstStyle/>
                    <a:p>
                      <a:pPr algn="l"/>
                      <a:r>
                        <a:rPr sz="1425" b="1">
                          <a:solidFill>
                            <a:srgbClr val="0B7F8A"/>
                          </a:solidFill>
                          <a:latin typeface="Calibri"/>
                          <a:ea typeface="Calibri"/>
                          <a:cs typeface="Calibri"/>
                        </a:rPr>
                        <a:t>High-Security</a:t>
                      </a:r>
                    </a:p>
                  </a:txBody>
                  <a:tcPr marL="85725" marR="85725" marT="28575" marB="28575" anchor="ctr">
                    <a:solidFill>
                      <a:srgbClr val="E2E8F0"/>
                    </a:solidFill>
                  </a:tcPr>
                </a:tc>
              </a:tr>
              <a:tr h="419100">
                <a:tc>
                  <a:txBody>
                    <a:bodyPr lIns="0" tIns="0" rIns="0" bIns="0">
                      <a:noAutofit/>
                    </a:bodyPr>
                    <a:lstStyle/>
                    <a:p>
                      <a:pPr algn="l"/>
                      <a:r>
                        <a:rPr sz="1425" b="0">
                          <a:solidFill>
                            <a:srgbClr val="334155"/>
                          </a:solidFill>
                          <a:latin typeface="Calibri"/>
                          <a:ea typeface="Calibri"/>
                          <a:cs typeface="Calibri"/>
                        </a:rPr>
                        <a:t>Mean (s)</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2.505</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5.799</a:t>
                      </a:r>
                    </a:p>
                  </a:txBody>
                  <a:tcPr marL="85725" marR="85725" marT="28575" marB="28575" anchor="ctr">
                    <a:solidFill>
                      <a:srgbClr val="FFFFFF"/>
                    </a:solidFill>
                  </a:tcPr>
                </a:tc>
              </a:tr>
              <a:tr h="419100">
                <a:tc>
                  <a:txBody>
                    <a:bodyPr lIns="0" tIns="0" rIns="0" bIns="0">
                      <a:noAutofit/>
                    </a:bodyPr>
                    <a:lstStyle/>
                    <a:p>
                      <a:pPr algn="l"/>
                      <a:r>
                        <a:rPr sz="1425" b="0">
                          <a:solidFill>
                            <a:srgbClr val="334155"/>
                          </a:solidFill>
                          <a:latin typeface="Calibri"/>
                          <a:ea typeface="Calibri"/>
                          <a:cs typeface="Calibri"/>
                        </a:rPr>
                        <a:t>Median (s)</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2.035</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4.348</a:t>
                      </a:r>
                    </a:p>
                  </a:txBody>
                  <a:tcPr marL="85725" marR="85725" marT="28575" marB="28575" anchor="ctr">
                    <a:solidFill>
                      <a:srgbClr val="F8FAFC"/>
                    </a:solidFill>
                  </a:tcPr>
                </a:tc>
              </a:tr>
              <a:tr h="419100">
                <a:tc>
                  <a:txBody>
                    <a:bodyPr lIns="0" tIns="0" rIns="0" bIns="0">
                      <a:noAutofit/>
                    </a:bodyPr>
                    <a:lstStyle/>
                    <a:p>
                      <a:pPr algn="l"/>
                      <a:r>
                        <a:rPr sz="1425" b="0">
                          <a:solidFill>
                            <a:srgbClr val="334155"/>
                          </a:solidFill>
                          <a:latin typeface="Calibri"/>
                          <a:ea typeface="Calibri"/>
                          <a:cs typeface="Calibri"/>
                        </a:rPr>
                        <a:t>Sample SD (s)</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1.152</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3.878</a:t>
                      </a:r>
                    </a:p>
                  </a:txBody>
                  <a:tcPr marL="85725" marR="85725" marT="28575" marB="28575" anchor="ctr">
                    <a:solidFill>
                      <a:srgbClr val="FFFFFF"/>
                    </a:solidFill>
                  </a:tcPr>
                </a:tc>
              </a:tr>
              <a:tr h="419100">
                <a:tc>
                  <a:txBody>
                    <a:bodyPr lIns="0" tIns="0" rIns="0" bIns="0">
                      <a:noAutofit/>
                    </a:bodyPr>
                    <a:lstStyle/>
                    <a:p>
                      <a:pPr algn="l"/>
                      <a:r>
                        <a:rPr sz="1425" b="0">
                          <a:solidFill>
                            <a:srgbClr val="334155"/>
                          </a:solidFill>
                          <a:latin typeface="Calibri"/>
                          <a:ea typeface="Calibri"/>
                          <a:cs typeface="Calibri"/>
                        </a:rPr>
                        <a:t>Maximum (s)</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6.875</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22.604</a:t>
                      </a:r>
                    </a:p>
                  </a:txBody>
                  <a:tcPr marL="85725" marR="85725" marT="28575" marB="28575" anchor="ctr">
                    <a:solidFill>
                      <a:srgbClr val="F8FAFC"/>
                    </a:solidFill>
                  </a:tcPr>
                </a:tc>
              </a:tr>
            </a:tbl>
          </a:graphicData>
        </a:graphic>
      </p:graphicFrame>
      <p:sp>
        <p:nvSpPr>
          <p:cNvPr id="6" name="n = 70 per mode. Fast bypasses PIN/QR. Its in">
            <a:extLst xmlns:a="http://schemas.openxmlformats.org/drawingml/2006/main">
              <a:ext uri="{FF2B5EF4-FFF2-40B4-BE49-F238E27FC236}">
                <a16:creationId xmlns:a16="http://schemas.microsoft.com/office/drawing/2014/main" id="{281F19FA-58D9-4EE7-A94C-D37EA054B707}"/>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n = 70 per mode. Fast bypasses PIN/QR. Its interaction stage is N/A, not a zero-second full task.</a:t>
            </a:r>
          </a:p>
        </p:txBody>
      </p:sp>
    </p:spTree>
    <p:extLst>
      <p:ext uri="{BB962C8B-B14F-4D97-AF65-F5344CB8AC3E}">
        <p14:creationId xmlns:p14="http://schemas.microsoft.com/office/powerpoint/2010/main" val="7782991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OBSERVATION">
            <a:extLst xmlns:a="http://schemas.openxmlformats.org/drawingml/2006/main">
              <a:ext uri="{FF2B5EF4-FFF2-40B4-BE49-F238E27FC236}">
                <a16:creationId xmlns:a16="http://schemas.microsoft.com/office/drawing/2014/main" id="{67C26A64-AA11-4471-99A0-4B7DC8632022}"/>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OBSERVATION</a:t>
            </a:r>
          </a:p>
        </p:txBody>
      </p:sp>
      <p:sp>
        <p:nvSpPr>
          <p:cNvPr id="2" name="Manual Paper Attendance Baseline">
            <a:extLst xmlns:a="http://schemas.openxmlformats.org/drawingml/2006/main">
              <a:ext uri="{FF2B5EF4-FFF2-40B4-BE49-F238E27FC236}">
                <a16:creationId xmlns:a16="http://schemas.microsoft.com/office/drawing/2014/main" id="{84CF7903-EE20-4A4D-87BB-E69716707376}"/>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Paper Attendance Baseline</a:t>
            </a:r>
          </a:p>
        </p:txBody>
      </p:sp>
      <p:sp>
        <p:nvSpPr>
          <p:cNvPr id="3" name="15 / 24">
            <a:extLst xmlns:a="http://schemas.openxmlformats.org/drawingml/2006/main">
              <a:ext uri="{FF2B5EF4-FFF2-40B4-BE49-F238E27FC236}">
                <a16:creationId xmlns:a16="http://schemas.microsoft.com/office/drawing/2014/main" id="{88E82878-B270-4A3F-ACE7-146F564AA7F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15 / 24</a:t>
            </a:r>
          </a:p>
        </p:txBody>
      </p:sp>
      <p:sp>
        <p:nvSpPr>
          <p:cNvPr id="4" name="21.803 seconds">
            <a:extLst xmlns:a="http://schemas.openxmlformats.org/drawingml/2006/main">
              <a:ext uri="{FF2B5EF4-FFF2-40B4-BE49-F238E27FC236}">
                <a16:creationId xmlns:a16="http://schemas.microsoft.com/office/drawing/2014/main" id="{7B5803F4-E2BC-4473-811A-072AE5AF8038}"/>
              </a:ext>
            </a:extLst>
          </p:cNvPr>
          <p:cNvSpPr>
            <a:spLocks xmlns:a="http://schemas.openxmlformats.org/drawingml/2006/main" noGrp="1"/>
          </p:cNvSpPr>
          <p:nvPr/>
        </p:nvSpPr>
        <p:spPr>
          <a:xfrm xmlns:a="http://schemas.openxmlformats.org/drawingml/2006/main">
            <a:off x="361950" y="1352550"/>
            <a:ext cx="423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7F8A"/>
                </a:solidFill>
                <a:latin typeface="Calibri"/>
                <a:ea typeface="Calibri"/>
                <a:cs typeface="Calibri"/>
              </a:defRPr>
            </a:defPPr>
          </a:lstStyle>
          <a:p xmlns:a="http://schemas.openxmlformats.org/drawingml/2006/main">
            <a:pPr algn="l">
              <a:defRPr sz="3000" b="1">
                <a:solidFill>
                  <a:srgbClr val="0B7F8A"/>
                </a:solidFill>
                <a:latin typeface="Calibri"/>
                <a:ea typeface="Calibri"/>
                <a:cs typeface="Calibri"/>
              </a:defRPr>
            </a:pPr>
            <a:r>
              <a:rPr sz="3000" b="1">
                <a:solidFill>
                  <a:srgbClr val="0B7F8A"/>
                </a:solidFill>
                <a:latin typeface="Calibri"/>
                <a:ea typeface="Calibri"/>
                <a:cs typeface="Calibri"/>
              </a:rPr>
              <a:t>21.803 seconds</a:t>
            </a:r>
          </a:p>
        </p:txBody>
      </p:sp>
      <p:sp>
        <p:nvSpPr>
          <p:cNvPr id="5" name="Mean active writing duration, n = 70">
            <a:extLst xmlns:a="http://schemas.openxmlformats.org/drawingml/2006/main">
              <a:ext uri="{FF2B5EF4-FFF2-40B4-BE49-F238E27FC236}">
                <a16:creationId xmlns:a16="http://schemas.microsoft.com/office/drawing/2014/main" id="{5D73C20C-B6BD-473A-AD07-142ADD356506}"/>
              </a:ext>
            </a:extLst>
          </p:cNvPr>
          <p:cNvSpPr>
            <a:spLocks xmlns:a="http://schemas.openxmlformats.org/drawingml/2006/main" noGrp="1"/>
          </p:cNvSpPr>
          <p:nvPr/>
        </p:nvSpPr>
        <p:spPr>
          <a:xfrm xmlns:a="http://schemas.openxmlformats.org/drawingml/2006/main">
            <a:off x="361950" y="1943100"/>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Mean active writing duration, n = 70</a:t>
            </a:r>
          </a:p>
        </p:txBody>
      </p:sp>
      <p:sp>
        <p:nvSpPr>
          <p:cNvPr id="6" name="Sample SD 4.436 s&#10;Median 21.135 s&#10;Range 13.21">
            <a:extLst xmlns:a="http://schemas.openxmlformats.org/drawingml/2006/main">
              <a:ext uri="{FF2B5EF4-FFF2-40B4-BE49-F238E27FC236}">
                <a16:creationId xmlns:a16="http://schemas.microsoft.com/office/drawing/2014/main" id="{DC043102-446B-408C-88CA-EE202D5F23D4}"/>
              </a:ext>
            </a:extLst>
          </p:cNvPr>
          <p:cNvSpPr>
            <a:spLocks xmlns:a="http://schemas.openxmlformats.org/drawingml/2006/main" noGrp="1"/>
          </p:cNvSpPr>
          <p:nvPr/>
        </p:nvSpPr>
        <p:spPr>
          <a:xfrm xmlns:a="http://schemas.openxmlformats.org/drawingml/2006/main">
            <a:off x="361950" y="2447925"/>
            <a:ext cx="4191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Sample SD 4.436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Median 21.135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Range 13.21-37.63 s</a:t>
            </a:r>
          </a:p>
        </p:txBody>
      </p:sp>
      <p:graphicFrame>
        <p:nvGraphicFramePr>
          <p:cNvPr id="7" name="Chart">
            <a:extLst xmlns:a="http://schemas.openxmlformats.org/drawingml/2006/main">
              <a:ext uri="{FF2B5EF4-FFF2-40B4-BE49-F238E27FC236}">
                <a16:creationId xmlns:a16="http://schemas.microsoft.com/office/drawing/2014/main" id="{D2072F3F-C6D6-44AB-A887-9C98A9DA9121}"/>
              </a:ext>
            </a:extLst>
          </p:cNvPr>
          <p:cNvGraphicFramePr/>
          <p:nvPr/>
        </p:nvGraphicFramePr>
        <p:xfrm>
          <a:off xmlns:a="http://schemas.openxmlformats.org/drawingml/2006/main" x="4686300" y="1247775"/>
          <a:ext xmlns:a="http://schemas.openxmlformats.org/drawingml/2006/main" cx="4105275" cy="2571750"/>
        </p:xfrm>
        <a:graphic xmlns:a="http://schemas.openxmlformats.org/drawingml/2006/main">
          <a:graphicData uri="http://schemas.openxmlformats.org/drawingml/2006/chart">
            <c:chart xmlns:r="http://schemas.openxmlformats.org/officeDocument/2006/relationships" xmlns:c="http://schemas.openxmlformats.org/drawingml/2006/chart" r:id="Rf5bc9f10400f4d1a"/>
          </a:graphicData>
        </a:graphic>
      </p:graphicFrame>
      <p:sp>
        <p:nvSpPr>
          <p:cNvPr id="8" name="Duration bins in seconds">
            <a:extLst xmlns:a="http://schemas.openxmlformats.org/drawingml/2006/main">
              <a:ext uri="{FF2B5EF4-FFF2-40B4-BE49-F238E27FC236}">
                <a16:creationId xmlns:a16="http://schemas.microsoft.com/office/drawing/2014/main" id="{6F6AD8F9-5919-4471-8FD3-B48197B38F25}"/>
              </a:ext>
            </a:extLst>
          </p:cNvPr>
          <p:cNvSpPr>
            <a:spLocks xmlns:a="http://schemas.openxmlformats.org/drawingml/2006/main" noGrp="1"/>
          </p:cNvSpPr>
          <p:nvPr/>
        </p:nvSpPr>
        <p:spPr>
          <a:xfrm xmlns:a="http://schemas.openxmlformats.org/drawingml/2006/main">
            <a:off x="5715000" y="39052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516385"/>
                </a:solidFill>
                <a:latin typeface="Calibri"/>
                <a:ea typeface="Calibri"/>
                <a:cs typeface="Calibri"/>
              </a:defRPr>
            </a:defPPr>
          </a:lstStyle>
          <a:p xmlns:a="http://schemas.openxmlformats.org/drawingml/2006/main">
            <a:pPr algn="ctr">
              <a:defRPr sz="1425" b="0">
                <a:solidFill>
                  <a:srgbClr val="516385"/>
                </a:solidFill>
                <a:latin typeface="Calibri"/>
                <a:ea typeface="Calibri"/>
                <a:cs typeface="Calibri"/>
              </a:defRPr>
            </a:pPr>
            <a:r>
              <a:rPr sz="1425" b="0">
                <a:solidFill>
                  <a:srgbClr val="516385"/>
                </a:solidFill>
                <a:latin typeface="Calibri"/>
                <a:ea typeface="Calibri"/>
                <a:cs typeface="Calibri"/>
              </a:rPr>
              <a:t>Duration bins in seconds</a:t>
            </a:r>
          </a:p>
        </p:txBody>
      </p:sp>
      <p:sp>
        <p:nvSpPr>
          <p:cNvPr id="9" name="Stopwatch: first written character to complet">
            <a:extLst xmlns:a="http://schemas.openxmlformats.org/drawingml/2006/main">
              <a:ext uri="{FF2B5EF4-FFF2-40B4-BE49-F238E27FC236}">
                <a16:creationId xmlns:a16="http://schemas.microsoft.com/office/drawing/2014/main" id="{BE82A0E5-9E9B-4D3C-BBA3-D45B87BE93D8}"/>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Stopwatch: first written character to completed name, course/section, student ID, and signature.</a:t>
            </a:r>
          </a:p>
        </p:txBody>
      </p:sp>
    </p:spTree>
    <p:extLst>
      <p:ext uri="{BB962C8B-B14F-4D97-AF65-F5344CB8AC3E}">
        <p14:creationId xmlns:p14="http://schemas.microsoft.com/office/powerpoint/2010/main" val="13784987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PPLEMENTARY MEASURE">
            <a:extLst xmlns:a="http://schemas.openxmlformats.org/drawingml/2006/main">
              <a:ext uri="{FF2B5EF4-FFF2-40B4-BE49-F238E27FC236}">
                <a16:creationId xmlns:a16="http://schemas.microsoft.com/office/drawing/2014/main" id="{6DF65B63-DBEB-4E71-BA15-28092CAB1811}"/>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SUPPLEMENTARY MEASURE</a:t>
            </a:r>
          </a:p>
        </p:txBody>
      </p:sp>
      <p:sp>
        <p:nvSpPr>
          <p:cNvPr id="2" name="Recorded Entry Spacing and Rate">
            <a:extLst xmlns:a="http://schemas.openxmlformats.org/drawingml/2006/main">
              <a:ext uri="{FF2B5EF4-FFF2-40B4-BE49-F238E27FC236}">
                <a16:creationId xmlns:a16="http://schemas.microsoft.com/office/drawing/2014/main" id="{11B74E77-0FB1-481A-8C04-7CDB9912CC0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Entry Spacing and Rate</a:t>
            </a:r>
          </a:p>
        </p:txBody>
      </p:sp>
      <p:sp>
        <p:nvSpPr>
          <p:cNvPr id="3" name="16 / 24">
            <a:extLst xmlns:a="http://schemas.openxmlformats.org/drawingml/2006/main">
              <a:ext uri="{FF2B5EF4-FFF2-40B4-BE49-F238E27FC236}">
                <a16:creationId xmlns:a16="http://schemas.microsoft.com/office/drawing/2014/main" id="{8B5190B5-8D00-45B0-A590-877982FB8B9C}"/>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6069038D-EA08-4A08-8156-C53BF9B637D9}"/>
              </a:ext>
            </a:extLst>
          </p:cNvPr>
          <p:cNvGraphicFramePr/>
          <p:nvPr/>
        </p:nvGraphicFramePr>
        <p:xfrm>
          <a:off xmlns:a="http://schemas.openxmlformats.org/drawingml/2006/main" x="304800" y="1266825"/>
          <a:ext xmlns:a="http://schemas.openxmlformats.org/drawingml/2006/main" cx="8524875" cy="1876425"/>
        </p:xfrm>
        <a:graphic xmlns:a="http://schemas.openxmlformats.org/drawingml/2006/main">
          <a:graphicData uri="http://schemas.openxmlformats.org/drawingml/2006/table">
            <a:tbl>
              <a:tblPr/>
              <a:tblGrid>
                <a:gridCol w="2143125"/>
                <a:gridCol w="1285875"/>
                <a:gridCol w="2428875"/>
                <a:gridCol w="2667000"/>
              </a:tblGrid>
              <a:tr h="469106">
                <a:tc>
                  <a:txBody>
                    <a:bodyPr lIns="0" tIns="0" rIns="0" bIns="0">
                      <a:noAutofit/>
                    </a:bodyPr>
                    <a:lstStyle/>
                    <a:p>
                      <a:pPr algn="l"/>
                      <a:r>
                        <a:rPr sz="172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Intervals</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Mean Spacing s</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Intervals per Minute</a:t>
                      </a:r>
                    </a:p>
                  </a:txBody>
                  <a:tcPr marL="85725" marR="85725" marT="28575" marB="28575" anchor="ctr">
                    <a:solidFill>
                      <a:srgbClr val="E2E8F0"/>
                    </a:solidFill>
                  </a:tcPr>
                </a:tc>
              </a:tr>
              <a:tr h="469106">
                <a:tc>
                  <a:txBody>
                    <a:bodyPr lIns="0" tIns="0" rIns="0" bIns="0">
                      <a:noAutofit/>
                    </a:bodyPr>
                    <a:lstStyle/>
                    <a:p>
                      <a:pPr algn="l"/>
                      <a:r>
                        <a:rPr sz="172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2.730</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21.98</a:t>
                      </a:r>
                    </a:p>
                  </a:txBody>
                  <a:tcPr marL="85725" marR="85725" marT="28575" marB="28575" anchor="ctr">
                    <a:solidFill>
                      <a:srgbClr val="FFFFFF"/>
                    </a:solidFill>
                  </a:tcPr>
                </a:tc>
              </a:tr>
              <a:tr h="469106">
                <a:tc>
                  <a:txBody>
                    <a:bodyPr lIns="0" tIns="0" rIns="0" bIns="0">
                      <a:noAutofit/>
                    </a:bodyPr>
                    <a:lstStyle/>
                    <a:p>
                      <a:pPr algn="l"/>
                      <a:r>
                        <a:rPr sz="172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8.048</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7.46</a:t>
                      </a:r>
                    </a:p>
                  </a:txBody>
                  <a:tcPr marL="85725" marR="85725" marT="28575" marB="28575" anchor="ctr">
                    <a:solidFill>
                      <a:srgbClr val="F8FAFC"/>
                    </a:solidFill>
                  </a:tcPr>
                </a:tc>
              </a:tr>
              <a:tr h="469106">
                <a:tc>
                  <a:txBody>
                    <a:bodyPr lIns="0" tIns="0" rIns="0" bIns="0">
                      <a:noAutofit/>
                    </a:bodyPr>
                    <a:lstStyle/>
                    <a:p>
                      <a:pPr algn="l"/>
                      <a:r>
                        <a:rPr sz="172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12.129</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4.95</a:t>
                      </a:r>
                    </a:p>
                  </a:txBody>
                  <a:tcPr marL="85725" marR="85725" marT="28575" marB="28575" anchor="ctr">
                    <a:solidFill>
                      <a:srgbClr val="FFFFFF"/>
                    </a:solidFill>
                  </a:tcPr>
                </a:tc>
              </a:tr>
            </a:tbl>
          </a:graphicData>
        </a:graphic>
      </p:graphicFrame>
      <p:sp>
        <p:nvSpPr>
          <p:cNvPr id="5" name="Why 66 intervals?">
            <a:extLst xmlns:a="http://schemas.openxmlformats.org/drawingml/2006/main">
              <a:ext uri="{FF2B5EF4-FFF2-40B4-BE49-F238E27FC236}">
                <a16:creationId xmlns:a16="http://schemas.microsoft.com/office/drawing/2014/main" id="{E55A9A7F-AAD4-45A6-B429-06B93C5D0399}"/>
              </a:ext>
            </a:extLst>
          </p:cNvPr>
          <p:cNvSpPr>
            <a:spLocks xmlns:a="http://schemas.openxmlformats.org/drawingml/2006/main" noGrp="1"/>
          </p:cNvSpPr>
          <p:nvPr/>
        </p:nvSpPr>
        <p:spPr>
          <a:xfrm xmlns:a="http://schemas.openxmlformats.org/drawingml/2006/main">
            <a:off x="361950" y="3362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Why 66 intervals?</a:t>
            </a:r>
          </a:p>
        </p:txBody>
      </p:sp>
      <p:sp>
        <p:nvSpPr>
          <p:cNvPr id="6" name="Rounds of 20, 20, 20, and 10 entries produce ">
            <a:extLst xmlns:a="http://schemas.openxmlformats.org/drawingml/2006/main">
              <a:ext uri="{FF2B5EF4-FFF2-40B4-BE49-F238E27FC236}">
                <a16:creationId xmlns:a16="http://schemas.microsoft.com/office/drawing/2014/main" id="{3430F449-A9F8-4EBA-A5FB-22F3145E8798}"/>
              </a:ext>
            </a:extLst>
          </p:cNvPr>
          <p:cNvSpPr>
            <a:spLocks xmlns:a="http://schemas.openxmlformats.org/drawingml/2006/main" noGrp="1"/>
          </p:cNvSpPr>
          <p:nvPr/>
        </p:nvSpPr>
        <p:spPr>
          <a:xfrm xmlns:a="http://schemas.openxmlformats.org/drawingml/2006/main">
            <a:off x="361950" y="37338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Rounds of 20, 20, 20, and 10 entries produce 19 + 19 + 19 + 9 gaps between consecutive entries.</a:t>
            </a:r>
          </a:p>
        </p:txBody>
      </p:sp>
      <p:sp>
        <p:nvSpPr>
          <p:cNvPr id="7" name="These rates do not establish full-round capac">
            <a:extLst xmlns:a="http://schemas.openxmlformats.org/drawingml/2006/main">
              <a:ext uri="{FF2B5EF4-FFF2-40B4-BE49-F238E27FC236}">
                <a16:creationId xmlns:a16="http://schemas.microsoft.com/office/drawing/2014/main" id="{8B15B685-8BC2-407C-8210-F3DB660F0FC8}"/>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These rates do not establish full-round capacity or a matched throughput advantage over manual attendance.</a:t>
            </a:r>
          </a:p>
        </p:txBody>
      </p:sp>
    </p:spTree>
    <p:extLst>
      <p:ext uri="{BB962C8B-B14F-4D97-AF65-F5344CB8AC3E}">
        <p14:creationId xmlns:p14="http://schemas.microsoft.com/office/powerpoint/2010/main" val="9224495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III. RESULTS">
            <a:extLst xmlns:a="http://schemas.openxmlformats.org/drawingml/2006/main">
              <a:ext uri="{FF2B5EF4-FFF2-40B4-BE49-F238E27FC236}">
                <a16:creationId xmlns:a16="http://schemas.microsoft.com/office/drawing/2014/main" id="{A9B6489C-DF0B-4A49-8EA2-1A4C257F5127}"/>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Credential Decisions and Security Conditions">
            <a:extLst xmlns:a="http://schemas.openxmlformats.org/drawingml/2006/main">
              <a:ext uri="{FF2B5EF4-FFF2-40B4-BE49-F238E27FC236}">
                <a16:creationId xmlns:a16="http://schemas.microsoft.com/office/drawing/2014/main" id="{4315A904-95E4-41D6-AAD1-0F1A1D8B8559}"/>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Credential Decisions and Security Conditions</a:t>
            </a:r>
          </a:p>
        </p:txBody>
      </p:sp>
      <p:sp>
        <p:nvSpPr>
          <p:cNvPr id="3" name="17 / 24">
            <a:extLst xmlns:a="http://schemas.openxmlformats.org/drawingml/2006/main">
              <a:ext uri="{FF2B5EF4-FFF2-40B4-BE49-F238E27FC236}">
                <a16:creationId xmlns:a16="http://schemas.microsoft.com/office/drawing/2014/main" id="{DD5C9B65-DB67-4274-AC0A-64A2A07F891C}"/>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17 / 24</a:t>
            </a:r>
          </a:p>
        </p:txBody>
      </p:sp>
      <p:sp>
        <p:nvSpPr>
          <p:cNvPr id="4" name="100.00%">
            <a:extLst xmlns:a="http://schemas.openxmlformats.org/drawingml/2006/main">
              <a:ext uri="{FF2B5EF4-FFF2-40B4-BE49-F238E27FC236}">
                <a16:creationId xmlns:a16="http://schemas.microsoft.com/office/drawing/2014/main" id="{0D83EA37-BE86-4EFD-84E5-CDE3A2BD7B9E}"/>
              </a:ext>
            </a:extLst>
          </p:cNvPr>
          <p:cNvSpPr>
            <a:spLocks xmlns:a="http://schemas.openxmlformats.org/drawingml/2006/main" noGrp="1"/>
          </p:cNvSpPr>
          <p:nvPr/>
        </p:nvSpPr>
        <p:spPr>
          <a:xfrm xmlns:a="http://schemas.openxmlformats.org/drawingml/2006/main">
            <a:off x="3619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100.00%</a:t>
            </a:r>
          </a:p>
        </p:txBody>
      </p:sp>
      <p:sp>
        <p:nvSpPr>
          <p:cNvPr id="5" name="222 / 222 correct applicable&#10;credential decis">
            <a:extLst xmlns:a="http://schemas.openxmlformats.org/drawingml/2006/main">
              <a:ext uri="{FF2B5EF4-FFF2-40B4-BE49-F238E27FC236}">
                <a16:creationId xmlns:a16="http://schemas.microsoft.com/office/drawing/2014/main" id="{E6DCCAFA-1D6E-40E3-AB8E-68DD4A2107AE}"/>
              </a:ext>
            </a:extLst>
          </p:cNvPr>
          <p:cNvSpPr>
            <a:spLocks xmlns:a="http://schemas.openxmlformats.org/drawingml/2006/main" noGrp="1"/>
          </p:cNvSpPr>
          <p:nvPr/>
        </p:nvSpPr>
        <p:spPr>
          <a:xfrm xmlns:a="http://schemas.openxmlformats.org/drawingml/2006/main">
            <a:off x="3619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222 / 222 correct applicable</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credential decisions</a:t>
            </a:r>
          </a:p>
        </p:txBody>
      </p:sp>
      <p:sp>
        <p:nvSpPr>
          <p:cNvPr id="6" name="4.11%">
            <a:extLst xmlns:a="http://schemas.openxmlformats.org/drawingml/2006/main">
              <a:ext uri="{FF2B5EF4-FFF2-40B4-BE49-F238E27FC236}">
                <a16:creationId xmlns:a16="http://schemas.microsoft.com/office/drawing/2014/main" id="{C0FC2F23-C825-4E45-A834-B9A15F56BF07}"/>
              </a:ext>
            </a:extLst>
          </p:cNvPr>
          <p:cNvSpPr>
            <a:spLocks xmlns:a="http://schemas.openxmlformats.org/drawingml/2006/main" noGrp="1"/>
          </p:cNvSpPr>
          <p:nvPr/>
        </p:nvSpPr>
        <p:spPr>
          <a:xfrm xmlns:a="http://schemas.openxmlformats.org/drawingml/2006/main">
            <a:off x="33337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4.11%</a:t>
            </a:r>
          </a:p>
        </p:txBody>
      </p:sp>
      <p:sp>
        <p:nvSpPr>
          <p:cNvPr id="7" name="18 / 438 denied&#10;exported records">
            <a:extLst xmlns:a="http://schemas.openxmlformats.org/drawingml/2006/main">
              <a:ext uri="{FF2B5EF4-FFF2-40B4-BE49-F238E27FC236}">
                <a16:creationId xmlns:a16="http://schemas.microsoft.com/office/drawing/2014/main" id="{03D541B9-616F-4AC4-8BDC-D7A4CD229648}"/>
              </a:ext>
            </a:extLst>
          </p:cNvPr>
          <p:cNvSpPr>
            <a:spLocks xmlns:a="http://schemas.openxmlformats.org/drawingml/2006/main" noGrp="1"/>
          </p:cNvSpPr>
          <p:nvPr/>
        </p:nvSpPr>
        <p:spPr>
          <a:xfrm xmlns:a="http://schemas.openxmlformats.org/drawingml/2006/main">
            <a:off x="33337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18 / 438 denied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exported records</a:t>
            </a:r>
          </a:p>
        </p:txBody>
      </p:sp>
      <p:sp>
        <p:nvSpPr>
          <p:cNvPr id="8" name="1.32%">
            <a:extLst xmlns:a="http://schemas.openxmlformats.org/drawingml/2006/main">
              <a:ext uri="{FF2B5EF4-FFF2-40B4-BE49-F238E27FC236}">
                <a16:creationId xmlns:a16="http://schemas.microsoft.com/office/drawing/2014/main" id="{B89A90DD-2DE2-46E7-B674-16963D063F83}"/>
              </a:ext>
            </a:extLst>
          </p:cNvPr>
          <p:cNvSpPr>
            <a:spLocks xmlns:a="http://schemas.openxmlformats.org/drawingml/2006/main" noGrp="1"/>
          </p:cNvSpPr>
          <p:nvPr/>
        </p:nvSpPr>
        <p:spPr>
          <a:xfrm xmlns:a="http://schemas.openxmlformats.org/drawingml/2006/main">
            <a:off x="6305550" y="128587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1.32%</a:t>
            </a:r>
          </a:p>
        </p:txBody>
      </p:sp>
      <p:sp>
        <p:nvSpPr>
          <p:cNvPr id="9" name="2 / 152 newly triggered&#10;PIN lockouts">
            <a:extLst xmlns:a="http://schemas.openxmlformats.org/drawingml/2006/main">
              <a:ext uri="{FF2B5EF4-FFF2-40B4-BE49-F238E27FC236}">
                <a16:creationId xmlns:a16="http://schemas.microsoft.com/office/drawing/2014/main" id="{BF8A1977-611F-48BB-B570-735497637EFF}"/>
              </a:ext>
            </a:extLst>
          </p:cNvPr>
          <p:cNvSpPr>
            <a:spLocks xmlns:a="http://schemas.openxmlformats.org/drawingml/2006/main" noGrp="1"/>
          </p:cNvSpPr>
          <p:nvPr/>
        </p:nvSpPr>
        <p:spPr>
          <a:xfrm xmlns:a="http://schemas.openxmlformats.org/drawingml/2006/main">
            <a:off x="6305550" y="1857375"/>
            <a:ext cx="238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 / 152 newly triggered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PIN lockouts</a:t>
            </a:r>
          </a:p>
        </p:txBody>
      </p:sp>
      <p:graphicFrame>
        <p:nvGraphicFramePr>
          <p:cNvPr id="10" name="">
            <a:extLst xmlns:a="http://schemas.openxmlformats.org/drawingml/2006/main">
              <a:ext uri="{FF2B5EF4-FFF2-40B4-BE49-F238E27FC236}">
                <a16:creationId xmlns:a16="http://schemas.microsoft.com/office/drawing/2014/main" id="{BA6F30AC-D8A6-4C9C-AB09-21F4626F5BE5}"/>
              </a:ext>
            </a:extLst>
          </p:cNvPr>
          <p:cNvGraphicFramePr/>
          <p:nvPr/>
        </p:nvGraphicFramePr>
        <p:xfrm>
          <a:off xmlns:a="http://schemas.openxmlformats.org/drawingml/2006/main" x="304800" y="2562225"/>
          <a:ext xmlns:a="http://schemas.openxmlformats.org/drawingml/2006/main" cx="4953000" cy="1733550"/>
        </p:xfrm>
        <a:graphic xmlns:a="http://schemas.openxmlformats.org/drawingml/2006/main">
          <a:graphicData uri="http://schemas.openxmlformats.org/drawingml/2006/table">
            <a:tbl>
              <a:tblPr/>
              <a:tblGrid>
                <a:gridCol w="4238625"/>
                <a:gridCol w="714375"/>
              </a:tblGrid>
              <a:tr h="288925">
                <a:tc>
                  <a:txBody>
                    <a:bodyPr lIns="0" tIns="0" rIns="0" bIns="0">
                      <a:noAutofit/>
                    </a:bodyPr>
                    <a:lstStyle/>
                    <a:p>
                      <a:pPr algn="l"/>
                      <a:r>
                        <a:rPr sz="1500" b="1">
                          <a:solidFill>
                            <a:srgbClr val="0B7F8A"/>
                          </a:solidFill>
                          <a:latin typeface="Calibri"/>
                          <a:ea typeface="Calibri"/>
                          <a:cs typeface="Calibri"/>
                        </a:rPr>
                        <a:t>Recorded Denial Condition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Count</a:t>
                      </a:r>
                    </a:p>
                  </a:txBody>
                  <a:tcPr marL="85725" marR="85725" marT="28575" marB="28575" anchor="ctr">
                    <a:solidFill>
                      <a:srgbClr val="E2E8F0"/>
                    </a:solidFill>
                  </a:tcPr>
                </a:tc>
              </a:tr>
              <a:tr h="288925">
                <a:tc>
                  <a:txBody>
                    <a:bodyPr lIns="0" tIns="0" rIns="0" bIns="0">
                      <a:noAutofit/>
                    </a:bodyPr>
                    <a:lstStyle/>
                    <a:p>
                      <a:pPr algn="l"/>
                      <a:r>
                        <a:rPr sz="1500" b="0">
                          <a:solidFill>
                            <a:srgbClr val="334155"/>
                          </a:solidFill>
                          <a:latin typeface="Calibri"/>
                          <a:ea typeface="Calibri"/>
                          <a:cs typeface="Calibri"/>
                        </a:rPr>
                        <a:t>Incorrect PIN</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8</a:t>
                      </a:r>
                    </a:p>
                  </a:txBody>
                  <a:tcPr marL="85725" marR="85725" marT="28575" marB="28575" anchor="ctr">
                    <a:solidFill>
                      <a:srgbClr val="FFFFFF"/>
                    </a:solidFill>
                  </a:tcPr>
                </a:tc>
              </a:tr>
              <a:tr h="288925">
                <a:tc>
                  <a:txBody>
                    <a:bodyPr lIns="0" tIns="0" rIns="0" bIns="0">
                      <a:noAutofit/>
                    </a:bodyPr>
                    <a:lstStyle/>
                    <a:p>
                      <a:pPr algn="l"/>
                      <a:r>
                        <a:rPr sz="1500" b="0">
                          <a:solidFill>
                            <a:srgbClr val="334155"/>
                          </a:solidFill>
                          <a:latin typeface="Calibri"/>
                          <a:ea typeface="Calibri"/>
                          <a:cs typeface="Calibri"/>
                        </a:rPr>
                        <a:t>Consecutive-entry state violation</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8FAFC"/>
                    </a:solidFill>
                  </a:tcPr>
                </a:tc>
              </a:tr>
              <a:tr h="288925">
                <a:tc>
                  <a:txBody>
                    <a:bodyPr lIns="0" tIns="0" rIns="0" bIns="0">
                      <a:noAutofit/>
                    </a:bodyPr>
                    <a:lstStyle/>
                    <a:p>
                      <a:pPr algn="l"/>
                      <a:r>
                        <a:rPr sz="1500" b="0">
                          <a:solidFill>
                            <a:srgbClr val="334155"/>
                          </a:solidFill>
                          <a:latin typeface="Calibri"/>
                          <a:ea typeface="Calibri"/>
                          <a:cs typeface="Calibri"/>
                        </a:rPr>
                        <a:t>New PIN lockout</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2</a:t>
                      </a:r>
                    </a:p>
                  </a:txBody>
                  <a:tcPr marL="85725" marR="85725" marT="28575" marB="28575" anchor="ctr">
                    <a:solidFill>
                      <a:srgbClr val="FFFFFF"/>
                    </a:solidFill>
                  </a:tcPr>
                </a:tc>
              </a:tr>
              <a:tr h="288925">
                <a:tc>
                  <a:txBody>
                    <a:bodyPr lIns="0" tIns="0" rIns="0" bIns="0">
                      <a:noAutofit/>
                    </a:bodyPr>
                    <a:lstStyle/>
                    <a:p>
                      <a:pPr algn="l"/>
                      <a:r>
                        <a:rPr sz="1500" b="0">
                          <a:solidFill>
                            <a:srgbClr val="334155"/>
                          </a:solidFill>
                          <a:latin typeface="Calibri"/>
                          <a:ea typeface="Calibri"/>
                          <a:cs typeface="Calibri"/>
                        </a:rPr>
                        <a:t>QR mismatch</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2</a:t>
                      </a:r>
                    </a:p>
                  </a:txBody>
                  <a:tcPr marL="85725" marR="85725" marT="28575" marB="28575" anchor="ctr">
                    <a:solidFill>
                      <a:srgbClr val="F8FAFC"/>
                    </a:solidFill>
                  </a:tcPr>
                </a:tc>
              </a:tr>
              <a:tr h="288925">
                <a:tc>
                  <a:txBody>
                    <a:bodyPr lIns="0" tIns="0" rIns="0" bIns="0">
                      <a:noAutofit/>
                    </a:bodyPr>
                    <a:lstStyle/>
                    <a:p>
                      <a:pPr algn="l"/>
                      <a:r>
                        <a:rPr sz="1500" b="0">
                          <a:solidFill>
                            <a:srgbClr val="334155"/>
                          </a:solidFill>
                          <a:latin typeface="Calibri"/>
                          <a:ea typeface="Calibri"/>
                          <a:cs typeface="Calibri"/>
                        </a:rPr>
                        <a:t>Irregular exit state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1</a:t>
                      </a:r>
                    </a:p>
                  </a:txBody>
                  <a:tcPr marL="85725" marR="85725" marT="28575" marB="28575" anchor="ctr">
                    <a:solidFill>
                      <a:srgbClr val="FFFFFF"/>
                    </a:solidFill>
                  </a:tcPr>
                </a:tc>
              </a:tr>
            </a:tbl>
          </a:graphicData>
        </a:graphic>
      </p:graphicFrame>
      <p:sp>
        <p:nvSpPr>
          <p:cNvPr id="11" name="Expected outcomes came from the researcher. D">
            <a:extLst xmlns:a="http://schemas.openxmlformats.org/drawingml/2006/main">
              <a:ext uri="{FF2B5EF4-FFF2-40B4-BE49-F238E27FC236}">
                <a16:creationId xmlns:a16="http://schemas.microsoft.com/office/drawing/2014/main" id="{50A7C8F5-7A77-44DA-B37C-54861785739F}"/>
              </a:ext>
            </a:extLst>
          </p:cNvPr>
          <p:cNvSpPr>
            <a:spLocks xmlns:a="http://schemas.openxmlformats.org/drawingml/2006/main" noGrp="1"/>
          </p:cNvSpPr>
          <p:nvPr/>
        </p:nvSpPr>
        <p:spPr>
          <a:xfrm xmlns:a="http://schemas.openxmlformats.org/drawingml/2006/main">
            <a:off x="5543550" y="2714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Expected outcomes came from the researcher. Demonstrations contribute to denial and lockout counts.</a:t>
            </a:r>
          </a:p>
        </p:txBody>
      </p:sp>
      <p:sp>
        <p:nvSpPr>
          <p:cNvPr id="12" name="Controlled credential decisions do not establ">
            <a:extLst xmlns:a="http://schemas.openxmlformats.org/drawingml/2006/main">
              <a:ext uri="{FF2B5EF4-FFF2-40B4-BE49-F238E27FC236}">
                <a16:creationId xmlns:a16="http://schemas.microsoft.com/office/drawing/2014/main" id="{A140C633-2991-436A-9B3F-5ECA81512DB0}"/>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Controlled credential decisions do not establish physical identity or universal attack resistance.</a:t>
            </a:r>
          </a:p>
        </p:txBody>
      </p:sp>
    </p:spTree>
    <p:extLst>
      <p:ext uri="{BB962C8B-B14F-4D97-AF65-F5344CB8AC3E}">
        <p14:creationId xmlns:p14="http://schemas.microsoft.com/office/powerpoint/2010/main" val="7396857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ISO/IEC 25010">
            <a:extLst xmlns:a="http://schemas.openxmlformats.org/drawingml/2006/main">
              <a:ext uri="{FF2B5EF4-FFF2-40B4-BE49-F238E27FC236}">
                <a16:creationId xmlns:a16="http://schemas.microsoft.com/office/drawing/2014/main" id="{79EE478F-F923-44CB-8773-DAC5B75C9567}"/>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Manual and System Student Survey Ratings">
            <a:extLst xmlns:a="http://schemas.openxmlformats.org/drawingml/2006/main">
              <a:ext uri="{FF2B5EF4-FFF2-40B4-BE49-F238E27FC236}">
                <a16:creationId xmlns:a16="http://schemas.microsoft.com/office/drawing/2014/main" id="{18E31969-5AAB-4144-BB10-BB909500A9D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and System Student Survey Ratings</a:t>
            </a:r>
          </a:p>
        </p:txBody>
      </p:sp>
      <p:sp>
        <p:nvSpPr>
          <p:cNvPr id="3" name="18 / 24">
            <a:extLst xmlns:a="http://schemas.openxmlformats.org/drawingml/2006/main">
              <a:ext uri="{FF2B5EF4-FFF2-40B4-BE49-F238E27FC236}">
                <a16:creationId xmlns:a16="http://schemas.microsoft.com/office/drawing/2014/main" id="{31E978D9-A128-4B30-8E1C-2A1D36B4252E}"/>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18 / 24</a:t>
            </a:r>
          </a:p>
        </p:txBody>
      </p:sp>
      <p:graphicFrame>
        <p:nvGraphicFramePr>
          <p:cNvPr id="4" name="Chart">
            <a:extLst xmlns:a="http://schemas.openxmlformats.org/drawingml/2006/main">
              <a:ext uri="{FF2B5EF4-FFF2-40B4-BE49-F238E27FC236}">
                <a16:creationId xmlns:a16="http://schemas.microsoft.com/office/drawing/2014/main" id="{40B73DF2-1B5F-4364-BEDB-823A19744711}"/>
              </a:ext>
            </a:extLst>
          </p:cNvPr>
          <p:cNvGraphicFramePr/>
          <p:nvPr/>
        </p:nvGraphicFramePr>
        <p:xfrm>
          <a:off xmlns:a="http://schemas.openxmlformats.org/drawingml/2006/main" x="304800" y="1238250"/>
          <a:ext xmlns:a="http://schemas.openxmlformats.org/drawingml/2006/main" cx="8524875" cy="2781300"/>
        </p:xfrm>
        <a:graphic xmlns:a="http://schemas.openxmlformats.org/drawingml/2006/main">
          <a:graphicData uri="http://schemas.openxmlformats.org/drawingml/2006/chart">
            <c:chart xmlns:r="http://schemas.openxmlformats.org/officeDocument/2006/relationships" xmlns:c="http://schemas.openxmlformats.org/drawingml/2006/chart" r:id="Rc264bb5c69ba4d39"/>
          </a:graphicData>
        </a:graphic>
      </p:graphicFrame>
      <p:sp>
        <p:nvSpPr>
          <p:cNvPr id="5" name="Largest descriptive difference: Performance E">
            <a:extLst xmlns:a="http://schemas.openxmlformats.org/drawingml/2006/main">
              <a:ext uri="{FF2B5EF4-FFF2-40B4-BE49-F238E27FC236}">
                <a16:creationId xmlns:a16="http://schemas.microsoft.com/office/drawing/2014/main" id="{813BCB45-9FE3-4929-B095-E500596D1F3B}"/>
              </a:ext>
            </a:extLst>
          </p:cNvPr>
          <p:cNvSpPr>
            <a:spLocks xmlns:a="http://schemas.openxmlformats.org/drawingml/2006/main" noGrp="1"/>
          </p:cNvSpPr>
          <p:nvPr/>
        </p:nvSpPr>
        <p:spPr>
          <a:xfrm xmlns:a="http://schemas.openxmlformats.org/drawingml/2006/main">
            <a:off x="361950" y="4133850"/>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Largest descriptive difference: Performance Efficiency, 1.811 points.</a:t>
            </a:r>
          </a:p>
        </p:txBody>
      </p:sp>
      <p:sp>
        <p:nvSpPr>
          <p:cNvPr id="6" name="Different student groups. Category means are ">
            <a:extLst xmlns:a="http://schemas.openxmlformats.org/drawingml/2006/main">
              <a:ext uri="{FF2B5EF4-FFF2-40B4-BE49-F238E27FC236}">
                <a16:creationId xmlns:a16="http://schemas.microsoft.com/office/drawing/2014/main" id="{D60A63D6-DC60-4A35-8721-44DD5CC2E1CE}"/>
              </a:ext>
            </a:extLst>
          </p:cNvPr>
          <p:cNvSpPr>
            <a:spLocks xmlns:a="http://schemas.openxmlformats.org/drawingml/2006/main" noGrp="1"/>
          </p:cNvSpPr>
          <p:nvPr/>
        </p:nvSpPr>
        <p:spPr>
          <a:xfrm xmlns:a="http://schemas.openxmlformats.org/drawingml/2006/main">
            <a:off x="304800" y="4524375"/>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Different student groups. Category means are descriptive. Only the overall score received a t-test.</a:t>
            </a:r>
          </a:p>
        </p:txBody>
      </p:sp>
    </p:spTree>
    <p:extLst>
      <p:ext uri="{BB962C8B-B14F-4D97-AF65-F5344CB8AC3E}">
        <p14:creationId xmlns:p14="http://schemas.microsoft.com/office/powerpoint/2010/main" val="808269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ISO/IEC 25010">
            <a:extLst xmlns:a="http://schemas.openxmlformats.org/drawingml/2006/main">
              <a:ext uri="{FF2B5EF4-FFF2-40B4-BE49-F238E27FC236}">
                <a16:creationId xmlns:a16="http://schemas.microsoft.com/office/drawing/2014/main" id="{FC1EB0A9-86D6-4944-A821-C4983E643D57}"/>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Proposed-System Evaluation by Group">
            <a:extLst xmlns:a="http://schemas.openxmlformats.org/drawingml/2006/main">
              <a:ext uri="{FF2B5EF4-FFF2-40B4-BE49-F238E27FC236}">
                <a16:creationId xmlns:a16="http://schemas.microsoft.com/office/drawing/2014/main" id="{085A014C-4ED4-4A92-BDE6-1BA44D5C072E}"/>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Proposed-System Evaluation by Group</a:t>
            </a:r>
          </a:p>
        </p:txBody>
      </p:sp>
      <p:sp>
        <p:nvSpPr>
          <p:cNvPr id="3" name="19 / 24">
            <a:extLst xmlns:a="http://schemas.openxmlformats.org/drawingml/2006/main">
              <a:ext uri="{FF2B5EF4-FFF2-40B4-BE49-F238E27FC236}">
                <a16:creationId xmlns:a16="http://schemas.microsoft.com/office/drawing/2014/main" id="{49659DA0-9967-48D6-9856-6751D5E5FCB3}"/>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19 / 24</a:t>
            </a:r>
          </a:p>
        </p:txBody>
      </p:sp>
      <p:graphicFrame>
        <p:nvGraphicFramePr>
          <p:cNvPr id="4" name="Chart">
            <a:extLst xmlns:a="http://schemas.openxmlformats.org/drawingml/2006/main">
              <a:ext uri="{FF2B5EF4-FFF2-40B4-BE49-F238E27FC236}">
                <a16:creationId xmlns:a16="http://schemas.microsoft.com/office/drawing/2014/main" id="{0DB74C2D-CF19-4A40-BBC6-2EBE952144F4}"/>
              </a:ext>
            </a:extLst>
          </p:cNvPr>
          <p:cNvGraphicFramePr/>
          <p:nvPr/>
        </p:nvGraphicFramePr>
        <p:xfrm>
          <a:off xmlns:a="http://schemas.openxmlformats.org/drawingml/2006/main" x="304800" y="1285875"/>
          <a:ext xmlns:a="http://schemas.openxmlformats.org/drawingml/2006/main" cx="4810125" cy="2743200"/>
        </p:xfrm>
        <a:graphic xmlns:a="http://schemas.openxmlformats.org/drawingml/2006/main">
          <a:graphicData uri="http://schemas.openxmlformats.org/drawingml/2006/chart">
            <c:chart xmlns:r="http://schemas.openxmlformats.org/officeDocument/2006/relationships" xmlns:c="http://schemas.openxmlformats.org/drawingml/2006/chart" r:id="R0a47ed5c34784ce6"/>
          </a:graphicData>
        </a:graphic>
      </p:graphicFrame>
      <p:sp>
        <p:nvSpPr>
          <p:cNvPr id="5" name="Highly Satisfactory">
            <a:extLst xmlns:a="http://schemas.openxmlformats.org/drawingml/2006/main">
              <a:ext uri="{FF2B5EF4-FFF2-40B4-BE49-F238E27FC236}">
                <a16:creationId xmlns:a16="http://schemas.microsoft.com/office/drawing/2014/main" id="{2B540018-B829-4A79-B81F-6F98E8CCBF33}"/>
              </a:ext>
            </a:extLst>
          </p:cNvPr>
          <p:cNvSpPr>
            <a:spLocks xmlns:a="http://schemas.openxmlformats.org/drawingml/2006/main" noGrp="1"/>
          </p:cNvSpPr>
          <p:nvPr/>
        </p:nvSpPr>
        <p:spPr>
          <a:xfrm xmlns:a="http://schemas.openxmlformats.org/drawingml/2006/main">
            <a:off x="5467350" y="13716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B7F8A"/>
                </a:solidFill>
                <a:latin typeface="Calibri"/>
                <a:ea typeface="Calibri"/>
                <a:cs typeface="Calibri"/>
              </a:defRPr>
            </a:defPPr>
          </a:lstStyle>
          <a:p xmlns:a="http://schemas.openxmlformats.org/drawingml/2006/main">
            <a:pPr algn="l">
              <a:defRPr sz="1950" b="1">
                <a:solidFill>
                  <a:srgbClr val="0B7F8A"/>
                </a:solidFill>
                <a:latin typeface="Calibri"/>
                <a:ea typeface="Calibri"/>
                <a:cs typeface="Calibri"/>
              </a:defRPr>
            </a:pPr>
            <a:r>
              <a:rPr sz="1950" b="1">
                <a:solidFill>
                  <a:srgbClr val="0B7F8A"/>
                </a:solidFill>
                <a:latin typeface="Calibri"/>
                <a:ea typeface="Calibri"/>
                <a:cs typeface="Calibri"/>
              </a:rPr>
              <a:t>Highly Satisfactory</a:t>
            </a:r>
          </a:p>
        </p:txBody>
      </p:sp>
      <p:sp>
        <p:nvSpPr>
          <p:cNvPr id="6" name="All three overall means fall in the 3.26-4.00">
            <a:extLst xmlns:a="http://schemas.openxmlformats.org/drawingml/2006/main">
              <a:ext uri="{FF2B5EF4-FFF2-40B4-BE49-F238E27FC236}">
                <a16:creationId xmlns:a16="http://schemas.microsoft.com/office/drawing/2014/main" id="{A3F7A5B8-17E3-49F6-BBD1-32F34B3FC3DB}"/>
              </a:ext>
            </a:extLst>
          </p:cNvPr>
          <p:cNvSpPr>
            <a:spLocks xmlns:a="http://schemas.openxmlformats.org/drawingml/2006/main" noGrp="1"/>
          </p:cNvSpPr>
          <p:nvPr/>
        </p:nvSpPr>
        <p:spPr>
          <a:xfrm xmlns:a="http://schemas.openxmlformats.org/drawingml/2006/main">
            <a:off x="5467350" y="1790700"/>
            <a:ext cx="319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All three overall means fall in the 3.26-4.00 interpretation range.</a:t>
            </a:r>
          </a:p>
        </p:txBody>
      </p:sp>
      <p:sp>
        <p:nvSpPr>
          <p:cNvPr id="7" name="Security personnel: five categories&#10;Lowest ca">
            <a:extLst xmlns:a="http://schemas.openxmlformats.org/drawingml/2006/main">
              <a:ext uri="{FF2B5EF4-FFF2-40B4-BE49-F238E27FC236}">
                <a16:creationId xmlns:a16="http://schemas.microsoft.com/office/drawing/2014/main" id="{1234EE00-C81C-4761-9994-0C9DE9DCFEDA}"/>
              </a:ext>
            </a:extLst>
          </p:cNvPr>
          <p:cNvSpPr>
            <a:spLocks xmlns:a="http://schemas.openxmlformats.org/drawingml/2006/main" noGrp="1"/>
          </p:cNvSpPr>
          <p:nvPr/>
        </p:nvSpPr>
        <p:spPr>
          <a:xfrm xmlns:a="http://schemas.openxmlformats.org/drawingml/2006/main">
            <a:off x="5467350" y="2571750"/>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Security personnel: five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Lowest category mean: Performance Efficiency, 3.45.</a:t>
            </a:r>
          </a:p>
        </p:txBody>
      </p:sp>
      <p:sp>
        <p:nvSpPr>
          <p:cNvPr id="8" name="Admin: eight categories&#10;Portability 3.92&#10;Perf">
            <a:extLst xmlns:a="http://schemas.openxmlformats.org/drawingml/2006/main">
              <a:ext uri="{FF2B5EF4-FFF2-40B4-BE49-F238E27FC236}">
                <a16:creationId xmlns:a16="http://schemas.microsoft.com/office/drawing/2014/main" id="{B801F630-650E-4FD7-A0BB-0A43CE777D1A}"/>
              </a:ext>
            </a:extLst>
          </p:cNvPr>
          <p:cNvSpPr>
            <a:spLocks xmlns:a="http://schemas.openxmlformats.org/drawingml/2006/main" noGrp="1"/>
          </p:cNvSpPr>
          <p:nvPr/>
        </p:nvSpPr>
        <p:spPr>
          <a:xfrm xmlns:a="http://schemas.openxmlformats.org/drawingml/2006/main">
            <a:off x="5467350" y="3476625"/>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Admin: eight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Portability 3.92</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Performance Efficiency 3.68</a:t>
            </a:r>
          </a:p>
        </p:txBody>
      </p:sp>
      <p:sp>
        <p:nvSpPr>
          <p:cNvPr id="9" name="Role-specific instruments remain separate. No">
            <a:extLst xmlns:a="http://schemas.openxmlformats.org/drawingml/2006/main">
              <a:ext uri="{FF2B5EF4-FFF2-40B4-BE49-F238E27FC236}">
                <a16:creationId xmlns:a16="http://schemas.microsoft.com/office/drawing/2014/main" id="{B25109E8-3082-411E-92E9-1FCF2AB2B89E}"/>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Role-specific instruments remain separate. No pooled system-wide mean or composite SD for the five-person groups.</a:t>
            </a:r>
          </a:p>
        </p:txBody>
      </p:sp>
    </p:spTree>
    <p:extLst>
      <p:ext uri="{BB962C8B-B14F-4D97-AF65-F5344CB8AC3E}">
        <p14:creationId xmlns:p14="http://schemas.microsoft.com/office/powerpoint/2010/main" val="4204498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AND SYSTEM COMPARISON">
            <a:extLst xmlns:a="http://schemas.openxmlformats.org/drawingml/2006/main">
              <a:ext uri="{FF2B5EF4-FFF2-40B4-BE49-F238E27FC236}">
                <a16:creationId xmlns:a16="http://schemas.microsoft.com/office/drawing/2014/main" id="{1CB63D50-EB13-440F-8121-1A7AECDEDCF2}"/>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AND SYSTEM COMPARISON</a:t>
            </a:r>
          </a:p>
        </p:txBody>
      </p:sp>
      <p:sp>
        <p:nvSpPr>
          <p:cNvPr id="2" name="Welch Test of Overall Survey Scores">
            <a:extLst xmlns:a="http://schemas.openxmlformats.org/drawingml/2006/main">
              <a:ext uri="{FF2B5EF4-FFF2-40B4-BE49-F238E27FC236}">
                <a16:creationId xmlns:a16="http://schemas.microsoft.com/office/drawing/2014/main" id="{EAEF8E31-4743-4E68-93F3-CF8747F603FD}"/>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Welch Test of Overall Survey Scores</a:t>
            </a:r>
          </a:p>
        </p:txBody>
      </p:sp>
      <p:sp>
        <p:nvSpPr>
          <p:cNvPr id="3" name="20 / 24">
            <a:extLst xmlns:a="http://schemas.openxmlformats.org/drawingml/2006/main">
              <a:ext uri="{FF2B5EF4-FFF2-40B4-BE49-F238E27FC236}">
                <a16:creationId xmlns:a16="http://schemas.microsoft.com/office/drawing/2014/main" id="{6D104F7E-9299-4D51-A915-B192E099503E}"/>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B64C75CA-0465-4FAE-A6FC-3312D2165673}"/>
              </a:ext>
            </a:extLst>
          </p:cNvPr>
          <p:cNvGraphicFramePr/>
          <p:nvPr/>
        </p:nvGraphicFramePr>
        <p:xfrm>
          <a:off xmlns:a="http://schemas.openxmlformats.org/drawingml/2006/main" x="304800" y="1209675"/>
          <a:ext xmlns:a="http://schemas.openxmlformats.org/drawingml/2006/main" cx="8524875" cy="1266825"/>
        </p:xfrm>
        <a:graphic xmlns:a="http://schemas.openxmlformats.org/drawingml/2006/main">
          <a:graphicData uri="http://schemas.openxmlformats.org/drawingml/2006/table">
            <a:tbl>
              <a:tblPr/>
              <a:tblGrid>
                <a:gridCol w="3048000"/>
                <a:gridCol w="809625"/>
                <a:gridCol w="2095500"/>
                <a:gridCol w="2571750"/>
              </a:tblGrid>
              <a:tr h="422275">
                <a:tc>
                  <a:txBody>
                    <a:bodyPr lIns="0" tIns="0" rIns="0" bIns="0">
                      <a:noAutofit/>
                    </a:bodyPr>
                    <a:lstStyle/>
                    <a:p>
                      <a:pPr algn="l"/>
                      <a:r>
                        <a:rPr sz="1725" b="1">
                          <a:solidFill>
                            <a:srgbClr val="0B7F8A"/>
                          </a:solidFill>
                          <a:latin typeface="Calibri"/>
                          <a:ea typeface="Calibri"/>
                          <a:cs typeface="Calibri"/>
                        </a:rPr>
                        <a:t>Group</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n</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Overall Mean</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Composite Sample SD</a:t>
                      </a:r>
                    </a:p>
                  </a:txBody>
                  <a:tcPr marL="85725" marR="85725" marT="28575" marB="28575" anchor="ctr">
                    <a:solidFill>
                      <a:srgbClr val="E2E8F0"/>
                    </a:solidFill>
                  </a:tcPr>
                </a:tc>
              </a:tr>
              <a:tr h="422275">
                <a:tc>
                  <a:txBody>
                    <a:bodyPr lIns="0" tIns="0" rIns="0" bIns="0">
                      <a:noAutofit/>
                    </a:bodyPr>
                    <a:lstStyle/>
                    <a:p>
                      <a:pPr algn="l"/>
                      <a:r>
                        <a:rPr sz="1725" b="0">
                          <a:solidFill>
                            <a:srgbClr val="334155"/>
                          </a:solidFill>
                          <a:latin typeface="Calibri"/>
                          <a:ea typeface="Calibri"/>
                          <a:cs typeface="Calibri"/>
                        </a:rPr>
                        <a:t>Manual process</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2.284</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0.753</a:t>
                      </a:r>
                    </a:p>
                  </a:txBody>
                  <a:tcPr marL="85725" marR="85725" marT="28575" marB="28575" anchor="ctr">
                    <a:solidFill>
                      <a:srgbClr val="FFFFFF"/>
                    </a:solidFill>
                  </a:tcPr>
                </a:tc>
              </a:tr>
              <a:tr h="422275">
                <a:tc>
                  <a:txBody>
                    <a:bodyPr lIns="0" tIns="0" rIns="0" bIns="0">
                      <a:noAutofit/>
                    </a:bodyPr>
                    <a:lstStyle/>
                    <a:p>
                      <a:pPr algn="l"/>
                      <a:r>
                        <a:rPr sz="1725" b="0">
                          <a:solidFill>
                            <a:srgbClr val="334155"/>
                          </a:solidFill>
                          <a:latin typeface="Calibri"/>
                          <a:ea typeface="Calibri"/>
                          <a:cs typeface="Calibri"/>
                        </a:rPr>
                        <a:t>Proposed system</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3.742</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0.290</a:t>
                      </a:r>
                    </a:p>
                  </a:txBody>
                  <a:tcPr marL="85725" marR="85725" marT="28575" marB="28575" anchor="ctr">
                    <a:solidFill>
                      <a:srgbClr val="F8FAFC"/>
                    </a:solidFill>
                  </a:tcPr>
                </a:tc>
              </a:tr>
            </a:tbl>
          </a:graphicData>
        </a:graphic>
      </p:graphicFrame>
      <p:sp>
        <p:nvSpPr>
          <p:cNvPr id="5" name="Rounded demonstration">
            <a:extLst xmlns:a="http://schemas.openxmlformats.org/drawingml/2006/main">
              <a:ext uri="{FF2B5EF4-FFF2-40B4-BE49-F238E27FC236}">
                <a16:creationId xmlns:a16="http://schemas.microsoft.com/office/drawing/2014/main" id="{0FC7B6DE-A5F4-441C-B769-FA4D532799D4}"/>
              </a:ext>
            </a:extLst>
          </p:cNvPr>
          <p:cNvSpPr>
            <a:spLocks xmlns:a="http://schemas.openxmlformats.org/drawingml/2006/main" noGrp="1"/>
          </p:cNvSpPr>
          <p:nvPr/>
        </p:nvSpPr>
        <p:spPr>
          <a:xfrm xmlns:a="http://schemas.openxmlformats.org/drawingml/2006/main">
            <a:off x="361950" y="268605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Rounded demonstration</a:t>
            </a:r>
          </a:p>
        </p:txBody>
      </p:sp>
      <p:sp>
        <p:nvSpPr>
          <p:cNvPr id="6" name="SE = sqrt(0.290^2 / 70 + 0.753^2 / 70) = 0.09">
            <a:extLst xmlns:a="http://schemas.openxmlformats.org/drawingml/2006/main">
              <a:ext uri="{FF2B5EF4-FFF2-40B4-BE49-F238E27FC236}">
                <a16:creationId xmlns:a16="http://schemas.microsoft.com/office/drawing/2014/main" id="{24C20995-6722-44DC-907A-D01EB3BB0393}"/>
              </a:ext>
            </a:extLst>
          </p:cNvPr>
          <p:cNvSpPr>
            <a:spLocks xmlns:a="http://schemas.openxmlformats.org/drawingml/2006/main" noGrp="1"/>
          </p:cNvSpPr>
          <p:nvPr/>
        </p:nvSpPr>
        <p:spPr>
          <a:xfrm xmlns:a="http://schemas.openxmlformats.org/drawingml/2006/main">
            <a:off x="361950" y="30956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 = sqrt(0.290^2 / 70 + 0.753^2 / 70) = 0.096445</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 = (3.742 - 2.284) / 0.096445 = 15.12</a:t>
            </a:r>
          </a:p>
        </p:txBody>
      </p:sp>
      <p:sp>
        <p:nvSpPr>
          <p:cNvPr id="7" name="t(89.076) = 15.124, p &lt; .001">
            <a:extLst xmlns:a="http://schemas.openxmlformats.org/drawingml/2006/main">
              <a:ext uri="{FF2B5EF4-FFF2-40B4-BE49-F238E27FC236}">
                <a16:creationId xmlns:a16="http://schemas.microsoft.com/office/drawing/2014/main" id="{1079F738-5BAC-444A-9F64-9C75AB18EB4E}"/>
              </a:ext>
            </a:extLst>
          </p:cNvPr>
          <p:cNvSpPr>
            <a:spLocks xmlns:a="http://schemas.openxmlformats.org/drawingml/2006/main" noGrp="1"/>
          </p:cNvSpPr>
          <p:nvPr/>
        </p:nvSpPr>
        <p:spPr>
          <a:xfrm xmlns:a="http://schemas.openxmlformats.org/drawingml/2006/main">
            <a:off x="361950" y="384810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7F8A"/>
                </a:solidFill>
                <a:latin typeface="Calibri"/>
                <a:ea typeface="Calibri"/>
                <a:cs typeface="Calibri"/>
              </a:defRPr>
            </a:defPPr>
          </a:lstStyle>
          <a:p xmlns:a="http://schemas.openxmlformats.org/drawingml/2006/main">
            <a:pPr algn="l">
              <a:defRPr sz="2175" b="1">
                <a:solidFill>
                  <a:srgbClr val="0B7F8A"/>
                </a:solidFill>
                <a:latin typeface="Calibri"/>
                <a:ea typeface="Calibri"/>
                <a:cs typeface="Calibri"/>
              </a:defRPr>
            </a:pPr>
            <a:r>
              <a:rPr sz="2175" b="1">
                <a:solidFill>
                  <a:srgbClr val="0B7F8A"/>
                </a:solidFill>
                <a:latin typeface="Calibri"/>
                <a:ea typeface="Calibri"/>
                <a:cs typeface="Calibri"/>
              </a:rPr>
              <a:t>t(89.076) = 15.124, p &lt; .001</a:t>
            </a:r>
          </a:p>
        </p:txBody>
      </p:sp>
      <p:sp>
        <p:nvSpPr>
          <p:cNvPr id="8" name="Difference 1.458 points&#10;95% CI [1.267, 1.650]">
            <a:extLst xmlns:a="http://schemas.openxmlformats.org/drawingml/2006/main">
              <a:ext uri="{FF2B5EF4-FFF2-40B4-BE49-F238E27FC236}">
                <a16:creationId xmlns:a16="http://schemas.microsoft.com/office/drawing/2014/main" id="{5C083FAC-3E3B-470A-B9B0-B41DE5EB9D8E}"/>
              </a:ext>
            </a:extLst>
          </p:cNvPr>
          <p:cNvSpPr>
            <a:spLocks xmlns:a="http://schemas.openxmlformats.org/drawingml/2006/main" noGrp="1"/>
          </p:cNvSpPr>
          <p:nvPr/>
        </p:nvSpPr>
        <p:spPr>
          <a:xfrm xmlns:a="http://schemas.openxmlformats.org/drawingml/2006/main">
            <a:off x="5286375" y="38004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Difference 1.458 points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95% CI [1.267, 1.650]</a:t>
            </a:r>
          </a:p>
        </p:txBody>
      </p:sp>
      <p:sp>
        <p:nvSpPr>
          <p:cNvPr id="9" name="Reject H0 at alpha = .05. The result concerns">
            <a:extLst xmlns:a="http://schemas.openxmlformats.org/drawingml/2006/main">
              <a:ext uri="{FF2B5EF4-FFF2-40B4-BE49-F238E27FC236}">
                <a16:creationId xmlns:a16="http://schemas.microsoft.com/office/drawing/2014/main" id="{280004D7-A7E2-40CB-B318-9F703FFF746E}"/>
              </a:ext>
            </a:extLst>
          </p:cNvPr>
          <p:cNvSpPr>
            <a:spLocks xmlns:a="http://schemas.openxmlformats.org/drawingml/2006/main" noGrp="1"/>
          </p:cNvSpPr>
          <p:nvPr/>
        </p:nvSpPr>
        <p:spPr>
          <a:xfrm xmlns:a="http://schemas.openxmlformats.org/drawingml/2006/main">
            <a:off x="304800" y="45529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Reject H0 at alpha = .05. The result concerns overall survey ratings, not processing speed.</a:t>
            </a:r>
          </a:p>
        </p:txBody>
      </p:sp>
    </p:spTree>
    <p:extLst>
      <p:ext uri="{BB962C8B-B14F-4D97-AF65-F5344CB8AC3E}">
        <p14:creationId xmlns:p14="http://schemas.microsoft.com/office/powerpoint/2010/main" val="12586257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7602022C-BED2-40D8-BA8B-F6C6BFE07DED}"/>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IV. DISCUSSION</a:t>
            </a:r>
          </a:p>
        </p:txBody>
      </p:sp>
      <p:sp>
        <p:nvSpPr>
          <p:cNvPr id="2" name="Discussion and Study Limitations">
            <a:extLst xmlns:a="http://schemas.openxmlformats.org/drawingml/2006/main">
              <a:ext uri="{FF2B5EF4-FFF2-40B4-BE49-F238E27FC236}">
                <a16:creationId xmlns:a16="http://schemas.microsoft.com/office/drawing/2014/main" id="{D3D710A2-756B-4205-A6D9-6C002E9F423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Discussion and Study Limitations</a:t>
            </a:r>
          </a:p>
        </p:txBody>
      </p:sp>
      <p:sp>
        <p:nvSpPr>
          <p:cNvPr id="3" name="21 / 24">
            <a:extLst xmlns:a="http://schemas.openxmlformats.org/drawingml/2006/main">
              <a:ext uri="{FF2B5EF4-FFF2-40B4-BE49-F238E27FC236}">
                <a16:creationId xmlns:a16="http://schemas.microsoft.com/office/drawing/2014/main" id="{A8679683-0C36-4E25-A469-7DC7ACBF90B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21 / 24</a:t>
            </a:r>
          </a:p>
        </p:txBody>
      </p:sp>
      <p:sp>
        <p:nvSpPr>
          <p:cNvPr id="4" name="Recorded capability">
            <a:extLst xmlns:a="http://schemas.openxmlformats.org/drawingml/2006/main">
              <a:ext uri="{FF2B5EF4-FFF2-40B4-BE49-F238E27FC236}">
                <a16:creationId xmlns:a16="http://schemas.microsoft.com/office/drawing/2014/main" id="{25CD78C9-A314-4457-BC62-E2EF5139ADE4}"/>
              </a:ext>
            </a:extLst>
          </p:cNvPr>
          <p:cNvSpPr>
            <a:spLocks xmlns:a="http://schemas.openxmlformats.org/drawingml/2006/main" noGrp="1"/>
          </p:cNvSpPr>
          <p:nvPr/>
        </p:nvSpPr>
        <p:spPr>
          <a:xfrm xmlns:a="http://schemas.openxmlformats.org/drawingml/2006/main">
            <a:off x="361950" y="12573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Recorded capability</a:t>
            </a:r>
          </a:p>
        </p:txBody>
      </p:sp>
      <p:sp>
        <p:nvSpPr>
          <p:cNvPr id="5" name="The prototype applied configured rules in the">
            <a:extLst xmlns:a="http://schemas.openxmlformats.org/drawingml/2006/main">
              <a:ext uri="{FF2B5EF4-FFF2-40B4-BE49-F238E27FC236}">
                <a16:creationId xmlns:a16="http://schemas.microsoft.com/office/drawing/2014/main" id="{8D8AF5B1-E7D1-467C-89CB-1F25FB0DDAD7}"/>
              </a:ext>
            </a:extLst>
          </p:cNvPr>
          <p:cNvSpPr>
            <a:spLocks xmlns:a="http://schemas.openxmlformats.org/drawingml/2006/main" noGrp="1"/>
          </p:cNvSpPr>
          <p:nvPr/>
        </p:nvSpPr>
        <p:spPr>
          <a:xfrm xmlns:a="http://schemas.openxmlformats.org/drawingml/2006/main">
            <a:off x="361950" y="15525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The prototype applied configured rules in the recorded tests. Logical re-entry rejection does not establish physical tailgating prevention.</a:t>
            </a:r>
          </a:p>
        </p:txBody>
      </p:sp>
      <p:sp>
        <p:nvSpPr>
          <p:cNvPr id="6" name="Timing interpretation">
            <a:extLst xmlns:a="http://schemas.openxmlformats.org/drawingml/2006/main">
              <a:ext uri="{FF2B5EF4-FFF2-40B4-BE49-F238E27FC236}">
                <a16:creationId xmlns:a16="http://schemas.microsoft.com/office/drawing/2014/main" id="{1DC50B09-F66D-40FF-9D64-4CD43FF94281}"/>
              </a:ext>
            </a:extLst>
          </p:cNvPr>
          <p:cNvSpPr>
            <a:spLocks xmlns:a="http://schemas.openxmlformats.org/drawingml/2006/main" noGrp="1"/>
          </p:cNvSpPr>
          <p:nvPr/>
        </p:nvSpPr>
        <p:spPr>
          <a:xfrm xmlns:a="http://schemas.openxmlformats.org/drawingml/2006/main">
            <a:off x="361950" y="23050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Timing interpretation</a:t>
            </a:r>
          </a:p>
        </p:txBody>
      </p:sp>
      <p:sp>
        <p:nvSpPr>
          <p:cNvPr id="7" name="Millisecond internal latency and seconds of P">
            <a:extLst xmlns:a="http://schemas.openxmlformats.org/drawingml/2006/main">
              <a:ext uri="{FF2B5EF4-FFF2-40B4-BE49-F238E27FC236}">
                <a16:creationId xmlns:a16="http://schemas.microsoft.com/office/drawing/2014/main" id="{EBD96324-48AD-4F87-A3AE-FB66AF0E384D}"/>
              </a:ext>
            </a:extLst>
          </p:cNvPr>
          <p:cNvSpPr>
            <a:spLocks xmlns:a="http://schemas.openxmlformats.org/drawingml/2006/main" noGrp="1"/>
          </p:cNvSpPr>
          <p:nvPr/>
        </p:nvSpPr>
        <p:spPr>
          <a:xfrm xmlns:a="http://schemas.openxmlformats.org/drawingml/2006/main">
            <a:off x="361950" y="26003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Millisecond internal latency and seconds of PIN/QR interaction describe different components. Complete-task speed and matched throughput remain unmeasured.</a:t>
            </a:r>
          </a:p>
        </p:txBody>
      </p:sp>
      <p:sp>
        <p:nvSpPr>
          <p:cNvPr id="8" name="Evaluation limits">
            <a:extLst xmlns:a="http://schemas.openxmlformats.org/drawingml/2006/main">
              <a:ext uri="{FF2B5EF4-FFF2-40B4-BE49-F238E27FC236}">
                <a16:creationId xmlns:a16="http://schemas.microsoft.com/office/drawing/2014/main" id="{3AFE70AE-7FE1-4F15-A437-EEC0CA2CEE94}"/>
              </a:ext>
            </a:extLst>
          </p:cNvPr>
          <p:cNvSpPr>
            <a:spLocks xmlns:a="http://schemas.openxmlformats.org/drawingml/2006/main" noGrp="1"/>
          </p:cNvSpPr>
          <p:nvPr/>
        </p:nvSpPr>
        <p:spPr>
          <a:xfrm xmlns:a="http://schemas.openxmlformats.org/drawingml/2006/main">
            <a:off x="361950" y="3352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Evaluation limits</a:t>
            </a:r>
          </a:p>
        </p:txBody>
      </p:sp>
      <p:sp>
        <p:nvSpPr>
          <p:cNvPr id="9" name="Shared cards, fixed mode order, non-probabili">
            <a:extLst xmlns:a="http://schemas.openxmlformats.org/drawingml/2006/main">
              <a:ext uri="{FF2B5EF4-FFF2-40B4-BE49-F238E27FC236}">
                <a16:creationId xmlns:a16="http://schemas.microsoft.com/office/drawing/2014/main" id="{EB3A8B50-279D-4BCA-9A1A-2392C1CFC7C0}"/>
              </a:ext>
            </a:extLst>
          </p:cNvPr>
          <p:cNvSpPr>
            <a:spLocks xmlns:a="http://schemas.openxmlformats.org/drawingml/2006/main" noGrp="1"/>
          </p:cNvSpPr>
          <p:nvPr/>
        </p:nvSpPr>
        <p:spPr>
          <a:xfrm xmlns:a="http://schemas.openxmlformats.org/drawingml/2006/main">
            <a:off x="361950" y="36480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Shared cards, fixed mode order, non-probability sampling, small staff groups, and different student survey groups limit generalization and causal interpretation.</a:t>
            </a:r>
          </a:p>
        </p:txBody>
      </p:sp>
    </p:spTree>
    <p:extLst>
      <p:ext uri="{BB962C8B-B14F-4D97-AF65-F5344CB8AC3E}">
        <p14:creationId xmlns:p14="http://schemas.microsoft.com/office/powerpoint/2010/main" val="1275493691"/>
      </p:ext>
    </p:extLst>
  </p:cSld>
</p:sld>
</file>

<file path=ppt/slides/slide22.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5314E34-CAB9-4761-AEA3-8789E04D2E3A}"/>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F377566D-76D8-4F91-868A-7412D42DADF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Conclusion</a:t>
            </a:r>
          </a:p>
        </p:txBody>
      </p:sp>
      <p:sp>
        <p:nvSpPr>
          <p:cNvPr id="3" name="22 / 24">
            <a:extLst xmlns:a="http://schemas.openxmlformats.org/drawingml/2006/main">
              <a:ext uri="{FF2B5EF4-FFF2-40B4-BE49-F238E27FC236}">
                <a16:creationId xmlns:a16="http://schemas.microsoft.com/office/drawing/2014/main" id="{81735C47-4244-436A-93AA-9930AF12A5F1}"/>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22 / 24</a:t>
            </a:r>
          </a:p>
        </p:txBody>
      </p:sp>
      <p:sp>
        <p:nvSpPr>
          <p:cNvPr id="4" name="Developed prototype">
            <a:extLst xmlns:a="http://schemas.openxmlformats.org/drawingml/2006/main">
              <a:ext uri="{FF2B5EF4-FFF2-40B4-BE49-F238E27FC236}">
                <a16:creationId xmlns:a16="http://schemas.microsoft.com/office/drawing/2014/main" id="{CDCEA84C-690E-4E21-9895-4B6B15B87CFD}"/>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Developed prototype</a:t>
            </a:r>
          </a:p>
        </p:txBody>
      </p:sp>
      <p:sp>
        <p:nvSpPr>
          <p:cNvPr id="5" name="The system combines configured NFC/PIN/QR wor">
            <a:extLst xmlns:a="http://schemas.openxmlformats.org/drawingml/2006/main">
              <a:ext uri="{FF2B5EF4-FFF2-40B4-BE49-F238E27FC236}">
                <a16:creationId xmlns:a16="http://schemas.microsoft.com/office/drawing/2014/main" id="{195A9B77-3A52-464A-8D1D-C4E46F5D7526}"/>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system combines configured NFC/PIN/QR workflows, eligibility checks, attendance records, and role-based monitoring.</a:t>
            </a:r>
          </a:p>
        </p:txBody>
      </p:sp>
      <p:sp>
        <p:nvSpPr>
          <p:cNvPr id="6" name="Supported findings">
            <a:extLst xmlns:a="http://schemas.openxmlformats.org/drawingml/2006/main">
              <a:ext uri="{FF2B5EF4-FFF2-40B4-BE49-F238E27FC236}">
                <a16:creationId xmlns:a16="http://schemas.microsoft.com/office/drawing/2014/main" id="{2EC727BC-466E-4EBC-B74B-E0680E5C1394}"/>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Supported findings</a:t>
            </a:r>
          </a:p>
        </p:txBody>
      </p:sp>
      <p:sp>
        <p:nvSpPr>
          <p:cNvPr id="7" name="Controlled credential decisions matched expec">
            <a:extLst xmlns:a="http://schemas.openxmlformats.org/drawingml/2006/main">
              <a:ext uri="{FF2B5EF4-FFF2-40B4-BE49-F238E27FC236}">
                <a16:creationId xmlns:a16="http://schemas.microsoft.com/office/drawing/2014/main" id="{29B46020-5B6E-4785-8918-6B4DCD1ED984}"/>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Controlled credential decisions matched expected outcomes. Respondents reported favorable perceived quality and higher overall system-group student ratings.</a:t>
            </a:r>
          </a:p>
        </p:txBody>
      </p:sp>
      <p:sp>
        <p:nvSpPr>
          <p:cNvPr id="8" name="Scope of the conclusion">
            <a:extLst xmlns:a="http://schemas.openxmlformats.org/drawingml/2006/main">
              <a:ext uri="{FF2B5EF4-FFF2-40B4-BE49-F238E27FC236}">
                <a16:creationId xmlns:a16="http://schemas.microsoft.com/office/drawing/2014/main" id="{920C6D80-337E-4323-B37A-C3D3B5DC3572}"/>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Scope of the conclusion</a:t>
            </a:r>
          </a:p>
        </p:txBody>
      </p:sp>
      <p:sp>
        <p:nvSpPr>
          <p:cNvPr id="9" name="The study supports demonstrated prototype fun">
            <a:extLst xmlns:a="http://schemas.openxmlformats.org/drawingml/2006/main">
              <a:ext uri="{FF2B5EF4-FFF2-40B4-BE49-F238E27FC236}">
                <a16:creationId xmlns:a16="http://schemas.microsoft.com/office/drawing/2014/main" id="{0365DCCE-EBB8-444E-A12D-07ADA028A1B4}"/>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study supports demonstrated prototype functionality and the survey comparison. Deployment-scale performance and broader security effectiveness require further testing.</a:t>
            </a:r>
          </a:p>
        </p:txBody>
      </p:sp>
    </p:spTree>
    <p:extLst>
      <p:ext uri="{BB962C8B-B14F-4D97-AF65-F5344CB8AC3E}">
        <p14:creationId xmlns:p14="http://schemas.microsoft.com/office/powerpoint/2010/main" val="1234274716"/>
      </p:ext>
    </p:extLst>
  </p:cSld>
</p:sld>
</file>

<file path=ppt/slides/slide23.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B7060E2-8B1A-4D60-A625-BF81B75E32A9}"/>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Recommendations for Further Evaluation">
            <a:extLst xmlns:a="http://schemas.openxmlformats.org/drawingml/2006/main">
              <a:ext uri="{FF2B5EF4-FFF2-40B4-BE49-F238E27FC236}">
                <a16:creationId xmlns:a16="http://schemas.microsoft.com/office/drawing/2014/main" id="{5886EF76-E3A4-4762-A7F7-B3557F189E0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Recommendations for Further Evaluation</a:t>
            </a:r>
          </a:p>
        </p:txBody>
      </p:sp>
      <p:sp>
        <p:nvSpPr>
          <p:cNvPr id="3" name="23 / 24">
            <a:extLst xmlns:a="http://schemas.openxmlformats.org/drawingml/2006/main">
              <a:ext uri="{FF2B5EF4-FFF2-40B4-BE49-F238E27FC236}">
                <a16:creationId xmlns:a16="http://schemas.microsoft.com/office/drawing/2014/main" id="{4BC1D412-6A27-4219-A113-EA7931480D64}"/>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23 / 24</a:t>
            </a:r>
          </a:p>
        </p:txBody>
      </p:sp>
      <p:sp>
        <p:nvSpPr>
          <p:cNvPr id="4" name="Equivalent timing and larger studies">
            <a:extLst xmlns:a="http://schemas.openxmlformats.org/drawingml/2006/main">
              <a:ext uri="{FF2B5EF4-FFF2-40B4-BE49-F238E27FC236}">
                <a16:creationId xmlns:a16="http://schemas.microsoft.com/office/drawing/2014/main" id="{080918CD-60E9-4E89-A88A-63F2A18FEB16}"/>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Equivalent timing and larger studies</a:t>
            </a:r>
          </a:p>
        </p:txBody>
      </p:sp>
      <p:sp>
        <p:nvSpPr>
          <p:cNvPr id="5" name="Measure full tasks and sustained throughput w">
            <a:extLst xmlns:a="http://schemas.openxmlformats.org/drawingml/2006/main">
              <a:ext uri="{FF2B5EF4-FFF2-40B4-BE49-F238E27FC236}">
                <a16:creationId xmlns:a16="http://schemas.microsoft.com/office/drawing/2014/main" id="{19CFA843-D787-4971-88C4-54E32A72AB70}"/>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Measure full tasks and sustained throughput with common boundaries. Use matched or clearly independent groups and counterbalance mode order.</a:t>
            </a:r>
          </a:p>
        </p:txBody>
      </p:sp>
      <p:sp>
        <p:nvSpPr>
          <p:cNvPr id="6" name="Security, recovery, and personnel workflows">
            <a:extLst xmlns:a="http://schemas.openxmlformats.org/drawingml/2006/main">
              <a:ext uri="{FF2B5EF4-FFF2-40B4-BE49-F238E27FC236}">
                <a16:creationId xmlns:a16="http://schemas.microsoft.com/office/drawing/2014/main" id="{91424BD7-1916-42F8-99A1-CD5E60148BE7}"/>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Security, recovery, and personnel workflows</a:t>
            </a:r>
          </a:p>
        </p:txBody>
      </p:sp>
      <p:sp>
        <p:nvSpPr>
          <p:cNvPr id="7" name="Test credential sharing and copied payloads, ">
            <a:extLst xmlns:a="http://schemas.openxmlformats.org/drawingml/2006/main">
              <a:ext uri="{FF2B5EF4-FFF2-40B4-BE49-F238E27FC236}">
                <a16:creationId xmlns:a16="http://schemas.microsoft.com/office/drawing/2014/main" id="{765193D5-09D3-41A8-9965-FF573820F4BA}"/>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Test credential sharing and copied payloads, outages and power recovery, alert workload, and routine PIN usability separately from demonstrations.</a:t>
            </a:r>
          </a:p>
        </p:txBody>
      </p:sp>
      <p:sp>
        <p:nvSpPr>
          <p:cNvPr id="8" name="Documentation and deployment readiness">
            <a:extLst xmlns:a="http://schemas.openxmlformats.org/drawingml/2006/main">
              <a:ext uri="{FF2B5EF4-FFF2-40B4-BE49-F238E27FC236}">
                <a16:creationId xmlns:a16="http://schemas.microsoft.com/office/drawing/2014/main" id="{B345823C-4F6B-4EBB-A3B3-647E551D0042}"/>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Documentation and deployment readiness</a:t>
            </a:r>
          </a:p>
        </p:txBody>
      </p:sp>
      <p:sp>
        <p:nvSpPr>
          <p:cNvPr id="9" name="Retain anonymized raw responses, complete dat">
            <a:extLst xmlns:a="http://schemas.openxmlformats.org/drawingml/2006/main">
              <a:ext uri="{FF2B5EF4-FFF2-40B4-BE49-F238E27FC236}">
                <a16:creationId xmlns:a16="http://schemas.microsoft.com/office/drawing/2014/main" id="{1510D1FE-1004-4880-8F5D-DB2C71139321}"/>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Retain anonymized raw responses, complete dated evidence, and current interface screenshots. Resolve retention/destruction scope before wider deployment.</a:t>
            </a:r>
          </a:p>
        </p:txBody>
      </p:sp>
    </p:spTree>
    <p:extLst>
      <p:ext uri="{BB962C8B-B14F-4D97-AF65-F5344CB8AC3E}">
        <p14:creationId xmlns:p14="http://schemas.microsoft.com/office/powerpoint/2010/main" val="1027888241"/>
      </p:ext>
    </p:extLst>
  </p:cSld>
</p:sld>
</file>

<file path=ppt/slides/slide24.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pic>
        <p:nvPicPr>
          <p:cNvPr id="543" name="Google Shape;543;p21">
            <a:extLst xmlns:a="http://schemas.openxmlformats.org/drawingml/2006/main">
              <a:ext uri="{FF2B5EF4-FFF2-40B4-BE49-F238E27FC236}">
                <a16:creationId xmlns:a16="http://schemas.microsoft.com/office/drawing/2014/main" id="{C808DD91-CC75-49DF-9EAD-6ED0EC2AC6F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10ccf46b07e4fb9">
            <a:alphaModFix/>
          </a:blip>
          <a:srcRect xmlns:a="http://schemas.openxmlformats.org/drawingml/2006/main" l="0" t="0" r="0" b="0"/>
          <a:stretch xmlns:a="http://schemas.openxmlformats.org/drawingml/2006/main"/>
        </p:blipFill>
        <p:spPr>
          <a:xfrm xmlns:a="http://schemas.openxmlformats.org/drawingml/2006/main">
            <a:off x="2081213" y="1128713"/>
            <a:ext cx="4981500" cy="2886000"/>
          </a:xfrm>
          <a:prstGeom xmlns:a="http://schemas.openxmlformats.org/drawingml/2006/main" prst="rect">
            <a:avLst/>
          </a:prstGeom>
          <a:ln xmlns:a="http://schemas.openxmlformats.org/drawingml/2006/main">
            <a:noFill/>
          </a:ln>
        </p:spPr>
      </p:pic>
      <p:sp>
        <p:nvSpPr>
          <p:cNvPr id="545" name="Google Shape;545;p21">
            <a:extLst xmlns:a="http://schemas.openxmlformats.org/drawingml/2006/main">
              <a:ext uri="{FF2B5EF4-FFF2-40B4-BE49-F238E27FC236}">
                <a16:creationId xmlns:a16="http://schemas.microsoft.com/office/drawing/2014/main" id="{46BAC156-F1F8-4576-9E47-73DADEA43915}"/>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24 / 24</a:t>
            </a:r>
            <a:endParaRPr sz="700" b="0" i="0" u="none" strike="noStrike" cap="none">
              <a:solidFill>
                <a:schemeClr val="dk1"/>
              </a:solidFill>
              <a:latin typeface="Calibri"/>
              <a:ea typeface="Calibri"/>
              <a:cs typeface="Calibri"/>
            </a:endParaRPr>
          </a:p>
        </p:txBody>
      </p:sp>
      <p:sp>
        <p:nvSpPr>
          <p:cNvPr id="546" name="SYSTEM DEMONSTRATION">
            <a:extLst xmlns:a="http://schemas.openxmlformats.org/drawingml/2006/main">
              <a:ext uri="{FF2B5EF4-FFF2-40B4-BE49-F238E27FC236}">
                <a16:creationId xmlns:a16="http://schemas.microsoft.com/office/drawing/2014/main" id="{6C3D10B6-C19F-4415-B380-989A9BD9F6FF}"/>
              </a:ext>
            </a:extLst>
          </p:cNvPr>
          <p:cNvSpPr>
            <a:spLocks xmlns:a="http://schemas.openxmlformats.org/drawingml/2006/main" noGrp="1"/>
          </p:cNvSpPr>
          <p:nvPr/>
        </p:nvSpPr>
        <p:spPr>
          <a:xfrm xmlns:a="http://schemas.openxmlformats.org/drawingml/2006/main">
            <a:off x="1238250" y="14859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5EC4CE"/>
                </a:solidFill>
                <a:latin typeface="Inter"/>
                <a:ea typeface="Inter"/>
                <a:cs typeface="Inter"/>
              </a:defRPr>
            </a:defPPr>
          </a:lstStyle>
          <a:p xmlns:a="http://schemas.openxmlformats.org/drawingml/2006/main">
            <a:pPr algn="ctr">
              <a:defRPr sz="1575" b="1">
                <a:solidFill>
                  <a:srgbClr val="5EC4CE"/>
                </a:solidFill>
                <a:latin typeface="Inter"/>
                <a:ea typeface="Inter"/>
                <a:cs typeface="Inter"/>
              </a:defRPr>
            </a:pPr>
            <a:r>
              <a:rPr sz="1575" b="1">
                <a:solidFill>
                  <a:srgbClr val="5EC4CE"/>
                </a:solidFill>
                <a:latin typeface="Inter"/>
                <a:ea typeface="Inter"/>
                <a:cs typeface="Inter"/>
              </a:rPr>
              <a:t>SYSTEM DEMONSTRATION</a:t>
            </a:r>
          </a:p>
        </p:txBody>
      </p:sp>
      <p:sp>
        <p:nvSpPr>
          <p:cNvPr id="547" name="Live Demo and Questions">
            <a:extLst xmlns:a="http://schemas.openxmlformats.org/drawingml/2006/main">
              <a:ext uri="{FF2B5EF4-FFF2-40B4-BE49-F238E27FC236}">
                <a16:creationId xmlns:a16="http://schemas.microsoft.com/office/drawing/2014/main" id="{F7991224-1AC4-4269-AE85-B8ADAE7F8C86}"/>
              </a:ext>
            </a:extLst>
          </p:cNvPr>
          <p:cNvSpPr>
            <a:spLocks xmlns:a="http://schemas.openxmlformats.org/drawingml/2006/main" noGrp="1"/>
          </p:cNvSpPr>
          <p:nvPr/>
        </p:nvSpPr>
        <p:spPr>
          <a:xfrm xmlns:a="http://schemas.openxmlformats.org/drawingml/2006/main">
            <a:off x="1095375" y="2066925"/>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000" b="0">
                <a:solidFill>
                  <a:srgbClr val="FFFFFF"/>
                </a:solidFill>
                <a:latin typeface="Inter"/>
                <a:ea typeface="Inter"/>
                <a:cs typeface="Inter"/>
              </a:defRPr>
            </a:defPPr>
          </a:lstStyle>
          <a:p xmlns:a="http://schemas.openxmlformats.org/drawingml/2006/main">
            <a:pPr algn="ctr">
              <a:defRPr sz="3000" b="0">
                <a:solidFill>
                  <a:srgbClr val="FFFFFF"/>
                </a:solidFill>
                <a:latin typeface="Inter"/>
                <a:ea typeface="Inter"/>
                <a:cs typeface="Inter"/>
              </a:defRPr>
            </a:pPr>
            <a:r>
              <a:rPr sz="3000" b="0">
                <a:solidFill>
                  <a:srgbClr val="FFFFFF"/>
                </a:solidFill>
                <a:latin typeface="Inter"/>
                <a:ea typeface="Inter"/>
                <a:cs typeface="Inter"/>
              </a:rPr>
              <a:t>Live Demo and Questions</a:t>
            </a:r>
          </a:p>
        </p:txBody>
      </p:sp>
      <p:sp>
        <p:nvSpPr>
          <p:cNvPr id="548" name="Configured modes, entry/exit timestamps, aler">
            <a:extLst xmlns:a="http://schemas.openxmlformats.org/drawingml/2006/main">
              <a:ext uri="{FF2B5EF4-FFF2-40B4-BE49-F238E27FC236}">
                <a16:creationId xmlns:a16="http://schemas.microsoft.com/office/drawing/2014/main" id="{C7EAC146-3CDC-4B75-AAAF-0BC849FA9681}"/>
              </a:ext>
            </a:extLst>
          </p:cNvPr>
          <p:cNvSpPr>
            <a:spLocks xmlns:a="http://schemas.openxmlformats.org/drawingml/2006/main" noGrp="1"/>
          </p:cNvSpPr>
          <p:nvPr/>
        </p:nvSpPr>
        <p:spPr>
          <a:xfrm xmlns:a="http://schemas.openxmlformats.org/drawingml/2006/main">
            <a:off x="1495425" y="2971800"/>
            <a:ext cx="615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C9D8EC"/>
                </a:solidFill>
                <a:latin typeface="Calibri"/>
                <a:ea typeface="Calibri"/>
                <a:cs typeface="Calibri"/>
              </a:defRPr>
            </a:defPPr>
          </a:lstStyle>
          <a:p xmlns:a="http://schemas.openxmlformats.org/drawingml/2006/main">
            <a:pPr algn="ctr">
              <a:defRPr sz="1725" b="0">
                <a:solidFill>
                  <a:srgbClr val="C9D8EC"/>
                </a:solidFill>
                <a:latin typeface="Calibri"/>
                <a:ea typeface="Calibri"/>
                <a:cs typeface="Calibri"/>
              </a:defRPr>
            </a:pPr>
            <a:r>
              <a:rPr sz="1725" b="0">
                <a:solidFill>
                  <a:srgbClr val="C9D8EC"/>
                </a:solidFill>
                <a:latin typeface="Calibri"/>
                <a:ea typeface="Calibri"/>
                <a:cs typeface="Calibri"/>
              </a:rPr>
              <a:t>Configured modes, entry/exit timestamps, alerts, and authorized local cleanup</a:t>
            </a:r>
          </a:p>
        </p:txBody>
      </p:sp>
    </p:spTree>
    <p:extLst>
      <p:ext uri="{BB962C8B-B14F-4D97-AF65-F5344CB8AC3E}">
        <p14:creationId xmlns:p14="http://schemas.microsoft.com/office/powerpoint/2010/main" val="1109252051"/>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2026-10-11T16:59:44.6070000Z</dcterms:created>
  <dcterms:modified xsi:type="dcterms:W3CDTF">2026-10-11T16:59:44.6070000Z</dcterms:modified>
</coreProperties>
</file>