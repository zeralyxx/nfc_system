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220b83913da438a" /><Relationship Type="http://schemas.openxmlformats.org/officeDocument/2006/relationships/extended-properties" Target="/docProps/app.xml" Id="R7d91230638ad4e23" /><Relationship Type="http://schemas.openxmlformats.org/officeDocument/2006/relationships/officeDocument" Target="/ppt/presentation.xml" Id="Re5b0525adb91451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0e8ecc768284c00"/>
  </p:sldMasterIdLst>
  <p:notesMasterIdLst>
    <p:notesMasterId xmlns:r="http://schemas.openxmlformats.org/officeDocument/2006/relationships" r:id="R968f939fdc2a4810"/>
  </p:notesMasterIdLst>
  <p:sldIdLst>
    <p:sldId xmlns:r="http://schemas.openxmlformats.org/officeDocument/2006/relationships" id="256" r:id="Re4030ff558cc43fd"/>
    <p:sldId xmlns:r="http://schemas.openxmlformats.org/officeDocument/2006/relationships" id="257" r:id="R284ee72e7dff455a"/>
    <p:sldId xmlns:r="http://schemas.openxmlformats.org/officeDocument/2006/relationships" id="258" r:id="R48b574b2837445e9"/>
    <p:sldId xmlns:r="http://schemas.openxmlformats.org/officeDocument/2006/relationships" id="259" r:id="Ra87d12376b864bc4"/>
    <p:sldId xmlns:r="http://schemas.openxmlformats.org/officeDocument/2006/relationships" id="260" r:id="Rc809c717a3c84976"/>
    <p:sldId xmlns:r="http://schemas.openxmlformats.org/officeDocument/2006/relationships" id="261" r:id="Raab01703963b47ea"/>
    <p:sldId xmlns:r="http://schemas.openxmlformats.org/officeDocument/2006/relationships" id="262" r:id="R71e43142df9b4df3"/>
    <p:sldId xmlns:r="http://schemas.openxmlformats.org/officeDocument/2006/relationships" id="263" r:id="R1d0b09c76baf4a6c"/>
    <p:sldId xmlns:r="http://schemas.openxmlformats.org/officeDocument/2006/relationships" id="264" r:id="R70115f608d0d4058"/>
    <p:sldId xmlns:r="http://schemas.openxmlformats.org/officeDocument/2006/relationships" id="265" r:id="Rb0ae0f7853414182"/>
    <p:sldId xmlns:r="http://schemas.openxmlformats.org/officeDocument/2006/relationships" id="266" r:id="R858bd373489b4117"/>
    <p:sldId xmlns:r="http://schemas.openxmlformats.org/officeDocument/2006/relationships" id="267" r:id="R66e54932ed8b4296"/>
    <p:sldId xmlns:r="http://schemas.openxmlformats.org/officeDocument/2006/relationships" id="268" r:id="R88e4c95dcb4f4702"/>
    <p:sldId xmlns:r="http://schemas.openxmlformats.org/officeDocument/2006/relationships" id="269" r:id="R57dab20662284b71"/>
    <p:sldId xmlns:r="http://schemas.openxmlformats.org/officeDocument/2006/relationships" id="270" r:id="R1ef58da47c584b6b"/>
    <p:sldId xmlns:r="http://schemas.openxmlformats.org/officeDocument/2006/relationships" id="271" r:id="R31578e38d1384b3a"/>
    <p:sldId xmlns:r="http://schemas.openxmlformats.org/officeDocument/2006/relationships" id="272" r:id="R2009b05859d249bb"/>
    <p:sldId xmlns:r="http://schemas.openxmlformats.org/officeDocument/2006/relationships" id="273" r:id="R440a0940fb7d496d"/>
    <p:sldId xmlns:r="http://schemas.openxmlformats.org/officeDocument/2006/relationships" id="274" r:id="R52630ddb368748e4"/>
    <p:sldId xmlns:r="http://schemas.openxmlformats.org/officeDocument/2006/relationships" id="275" r:id="R89af6adb5f514573"/>
    <p:sldId xmlns:r="http://schemas.openxmlformats.org/officeDocument/2006/relationships" id="276" r:id="R6c3837073e944229"/>
    <p:sldId xmlns:r="http://schemas.openxmlformats.org/officeDocument/2006/relationships" id="277" r:id="R64373d58fc8e4ce4"/>
    <p:sldId xmlns:r="http://schemas.openxmlformats.org/officeDocument/2006/relationships" id="278" r:id="R9421e218436c4436"/>
    <p:sldId xmlns:r="http://schemas.openxmlformats.org/officeDocument/2006/relationships" id="279" r:id="R6abcb8a4748a4d69"/>
  </p:sldIdLst>
  <p:sldSz cx="9144000" cy="5143500"/>
  <p:notesSz cx="6858000" cy="9144000"/>
  <p:embeddedFontLst>
    <p:embeddedFont>
      <p:font typeface="Inter SemiBold"/>
      <p:regular xmlns:r="http://schemas.openxmlformats.org/officeDocument/2006/relationships" r:id="R6d8ffbf21d1b4ead"/>
      <p:bold xmlns:r="http://schemas.openxmlformats.org/officeDocument/2006/relationships" r:id="Rb369a011c992400d"/>
      <p:italic xmlns:r="http://schemas.openxmlformats.org/officeDocument/2006/relationships" r:id="Raaa807a0f0754002"/>
      <p:boldItalic xmlns:r="http://schemas.openxmlformats.org/officeDocument/2006/relationships" r:id="Rc41a55bfde8b43a5"/>
    </p:embeddedFont>
    <p:embeddedFont>
      <p:font typeface="Inter"/>
      <p:bold xmlns:r="http://schemas.openxmlformats.org/officeDocument/2006/relationships" r:id="R538bbbb3f965420b"/>
      <p:boldItalic xmlns:r="http://schemas.openxmlformats.org/officeDocument/2006/relationships" r:id="R47d2fda21ae9462d"/>
    </p:embeddedFont>
    <p:embeddedFont>
      <p:font typeface="Inter ExtraBold"/>
      <p:bold xmlns:r="http://schemas.openxmlformats.org/officeDocument/2006/relationships" r:id="R322ca99b2c4445b4"/>
      <p:boldItalic xmlns:r="http://schemas.openxmlformats.org/officeDocument/2006/relationships" r:id="R9be8022a6be1425e"/>
    </p:embeddedFont>
    <p:embeddedFont>
      <p:font typeface="Inter Medium"/>
      <p:regular xmlns:r="http://schemas.openxmlformats.org/officeDocument/2006/relationships" r:id="R231e646c68504c2e"/>
      <p:bold xmlns:r="http://schemas.openxmlformats.org/officeDocument/2006/relationships" r:id="Rada4164f3b0e477f"/>
      <p:italic xmlns:r="http://schemas.openxmlformats.org/officeDocument/2006/relationships" r:id="R9b4e14aaadbb417c"/>
      <p:boldItalic xmlns:r="http://schemas.openxmlformats.org/officeDocument/2006/relationships" r:id="Rbe3ca3007aa64ef6"/>
    </p:embeddedFont>
    <p:embeddedFont>
      <p:font typeface="Inter Black"/>
      <p:bold xmlns:r="http://schemas.openxmlformats.org/officeDocument/2006/relationships" r:id="Rf559c16c2e3541c5"/>
      <p:boldItalic xmlns:r="http://schemas.openxmlformats.org/officeDocument/2006/relationships" r:id="R8a8cc102917849f4"/>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6ea4538d9c014048" /><Relationship Type="http://schemas.openxmlformats.org/officeDocument/2006/relationships/slideMaster" Target="/ppt/slideMasters/slideMaster1.xml" Id="R30e8ecc768284c00" /><Relationship Type="http://schemas.openxmlformats.org/officeDocument/2006/relationships/notesMaster" Target="/ppt/notesMasters/notesMaster1.xml" Id="R968f939fdc2a4810" /><Relationship Type="http://schemas.openxmlformats.org/officeDocument/2006/relationships/presProps" Target="/ppt/presProps.xml" Id="R718d4bdcfe3d4536" /><Relationship Type="http://schemas.openxmlformats.org/officeDocument/2006/relationships/viewProps" Target="/ppt/viewProps.xml" Id="R69fbeeb54508466d" /><Relationship Type="http://schemas.openxmlformats.org/officeDocument/2006/relationships/tableStyles" Target="/ppt/tableStyles.xml" Id="R61ec6b1fc337419a" /><Relationship Type="http://schemas.openxmlformats.org/officeDocument/2006/relationships/font" Target="/ppt/fonts/font.dat" Id="R6d8ffbf21d1b4ead" /><Relationship Type="http://schemas.openxmlformats.org/officeDocument/2006/relationships/font" Target="/ppt/fonts/font2.dat" Id="Rb369a011c992400d" /><Relationship Type="http://schemas.openxmlformats.org/officeDocument/2006/relationships/font" Target="/ppt/fonts/font3.dat" Id="Raaa807a0f0754002" /><Relationship Type="http://schemas.openxmlformats.org/officeDocument/2006/relationships/font" Target="/ppt/fonts/font4.dat" Id="Rc41a55bfde8b43a5" /><Relationship Type="http://schemas.openxmlformats.org/officeDocument/2006/relationships/font" Target="/ppt/fonts/font5.dat" Id="R538bbbb3f965420b" /><Relationship Type="http://schemas.openxmlformats.org/officeDocument/2006/relationships/font" Target="/ppt/fonts/font6.dat" Id="R47d2fda21ae9462d" /><Relationship Type="http://schemas.openxmlformats.org/officeDocument/2006/relationships/font" Target="/ppt/fonts/font7.dat" Id="R322ca99b2c4445b4" /><Relationship Type="http://schemas.openxmlformats.org/officeDocument/2006/relationships/font" Target="/ppt/fonts/font8.dat" Id="R9be8022a6be1425e" /><Relationship Type="http://schemas.openxmlformats.org/officeDocument/2006/relationships/font" Target="/ppt/fonts/font9.dat" Id="R231e646c68504c2e" /><Relationship Type="http://schemas.openxmlformats.org/officeDocument/2006/relationships/font" Target="/ppt/fonts/font10.dat" Id="Rada4164f3b0e477f" /><Relationship Type="http://schemas.openxmlformats.org/officeDocument/2006/relationships/font" Target="/ppt/fonts/font11.dat" Id="R9b4e14aaadbb417c" /><Relationship Type="http://schemas.openxmlformats.org/officeDocument/2006/relationships/font" Target="/ppt/fonts/font12.dat" Id="Rbe3ca3007aa64ef6" /><Relationship Type="http://schemas.openxmlformats.org/officeDocument/2006/relationships/font" Target="/ppt/fonts/font13.dat" Id="Rf559c16c2e3541c5" /><Relationship Type="http://schemas.openxmlformats.org/officeDocument/2006/relationships/font" Target="/ppt/fonts/font14.dat" Id="R8a8cc102917849f4" /><Relationship Type="http://schemas.openxmlformats.org/officeDocument/2006/relationships/slide" Target="/ppt/slides/slide1.xml" Id="Re4030ff558cc43fd" /><Relationship Type="http://schemas.openxmlformats.org/officeDocument/2006/relationships/slide" Target="/ppt/slides/slide2.xml" Id="R284ee72e7dff455a" /><Relationship Type="http://schemas.openxmlformats.org/officeDocument/2006/relationships/slide" Target="/ppt/slides/slide3.xml" Id="R48b574b2837445e9" /><Relationship Type="http://schemas.openxmlformats.org/officeDocument/2006/relationships/slide" Target="/ppt/slides/slide4.xml" Id="Ra87d12376b864bc4" /><Relationship Type="http://schemas.openxmlformats.org/officeDocument/2006/relationships/slide" Target="/ppt/slides/slide5.xml" Id="Rc809c717a3c84976" /><Relationship Type="http://schemas.openxmlformats.org/officeDocument/2006/relationships/slide" Target="/ppt/slides/slide6.xml" Id="Raab01703963b47ea" /><Relationship Type="http://schemas.openxmlformats.org/officeDocument/2006/relationships/slide" Target="/ppt/slides/slide7.xml" Id="R71e43142df9b4df3" /><Relationship Type="http://schemas.openxmlformats.org/officeDocument/2006/relationships/slide" Target="/ppt/slides/slide8.xml" Id="R1d0b09c76baf4a6c" /><Relationship Type="http://schemas.openxmlformats.org/officeDocument/2006/relationships/slide" Target="/ppt/slides/slide9.xml" Id="R70115f608d0d4058" /><Relationship Type="http://schemas.openxmlformats.org/officeDocument/2006/relationships/slide" Target="/ppt/slides/slide10.xml" Id="Rb0ae0f7853414182" /><Relationship Type="http://schemas.openxmlformats.org/officeDocument/2006/relationships/slide" Target="/ppt/slides/slide11.xml" Id="R858bd373489b4117" /><Relationship Type="http://schemas.openxmlformats.org/officeDocument/2006/relationships/slide" Target="/ppt/slides/slide12.xml" Id="R66e54932ed8b4296" /><Relationship Type="http://schemas.openxmlformats.org/officeDocument/2006/relationships/slide" Target="/ppt/slides/slide13.xml" Id="R88e4c95dcb4f4702" /><Relationship Type="http://schemas.openxmlformats.org/officeDocument/2006/relationships/slide" Target="/ppt/slides/slide14.xml" Id="R57dab20662284b71" /><Relationship Type="http://schemas.openxmlformats.org/officeDocument/2006/relationships/slide" Target="/ppt/slides/slide15.xml" Id="R1ef58da47c584b6b" /><Relationship Type="http://schemas.openxmlformats.org/officeDocument/2006/relationships/slide" Target="/ppt/slides/slide16.xml" Id="R31578e38d1384b3a" /><Relationship Type="http://schemas.openxmlformats.org/officeDocument/2006/relationships/slide" Target="/ppt/slides/slide17.xml" Id="R2009b05859d249bb" /><Relationship Type="http://schemas.openxmlformats.org/officeDocument/2006/relationships/slide" Target="/ppt/slides/slide18.xml" Id="R440a0940fb7d496d" /><Relationship Type="http://schemas.openxmlformats.org/officeDocument/2006/relationships/slide" Target="/ppt/slides/slide19.xml" Id="R52630ddb368748e4" /><Relationship Type="http://schemas.openxmlformats.org/officeDocument/2006/relationships/slide" Target="/ppt/slides/slide20.xml" Id="R89af6adb5f514573" /><Relationship Type="http://schemas.openxmlformats.org/officeDocument/2006/relationships/slide" Target="/ppt/slides/slide21.xml" Id="R6c3837073e944229" /><Relationship Type="http://schemas.openxmlformats.org/officeDocument/2006/relationships/slide" Target="/ppt/slides/slide22.xml" Id="R64373d58fc8e4ce4" /><Relationship Type="http://schemas.openxmlformats.org/officeDocument/2006/relationships/slide" Target="/ppt/slides/slide23.xml" Id="R9421e218436c4436" /><Relationship Type="http://schemas.openxmlformats.org/officeDocument/2006/relationships/slide" Target="/ppt/slides/slide24.xml" Id="R6abcb8a4748a4d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e8418620504c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5b70e949f34604" /><Relationship Type="http://schemas.openxmlformats.org/officeDocument/2006/relationships/notesMaster" Target="/ppt/notesMasters/notesMaster1.xml" Id="R9f852f3a16474c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85985aea574d3e" /><Relationship Type="http://schemas.openxmlformats.org/officeDocument/2006/relationships/notesMaster" Target="/ppt/notesMasters/notesMaster1.xml" Id="R5960d76e3de148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4c4f25308f48c6" /><Relationship Type="http://schemas.openxmlformats.org/officeDocument/2006/relationships/notesMaster" Target="/ppt/notesMasters/notesMaster1.xml" Id="Rbad2c4035c2543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63e8498ae84b04" /><Relationship Type="http://schemas.openxmlformats.org/officeDocument/2006/relationships/notesMaster" Target="/ppt/notesMasters/notesMaster1.xml" Id="Re4838baddf1b40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ab1b5d871e402a" /><Relationship Type="http://schemas.openxmlformats.org/officeDocument/2006/relationships/notesMaster" Target="/ppt/notesMasters/notesMaster1.xml" Id="R5e7855267a8043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aeb6575047451b" /><Relationship Type="http://schemas.openxmlformats.org/officeDocument/2006/relationships/notesMaster" Target="/ppt/notesMasters/notesMaster1.xml" Id="R1213b094ea2d45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3cf12314354f8a" /><Relationship Type="http://schemas.openxmlformats.org/officeDocument/2006/relationships/notesMaster" Target="/ppt/notesMasters/notesMaster1.xml" Id="R84a3a757faf14a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1fd7bf12ba4791" /><Relationship Type="http://schemas.openxmlformats.org/officeDocument/2006/relationships/notesMaster" Target="/ppt/notesMasters/notesMaster1.xml" Id="R30157134f9cb4f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0b70f93fd14fc6" /><Relationship Type="http://schemas.openxmlformats.org/officeDocument/2006/relationships/notesMaster" Target="/ppt/notesMasters/notesMaster1.xml" Id="R6e08cf29f2fe42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61c231869b4db5" /><Relationship Type="http://schemas.openxmlformats.org/officeDocument/2006/relationships/notesMaster" Target="/ppt/notesMasters/notesMaster1.xml" Id="R80b7b92243944c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6696e0f95240e7" /><Relationship Type="http://schemas.openxmlformats.org/officeDocument/2006/relationships/notesMaster" Target="/ppt/notesMasters/notesMaster1.xml" Id="Rdb0319374d0e439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8d9e84eee14f4a" /><Relationship Type="http://schemas.openxmlformats.org/officeDocument/2006/relationships/notesMaster" Target="/ppt/notesMasters/notesMaster1.xml" Id="R8bce40c450124c3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e40da4d241246fa" /><Relationship Type="http://schemas.openxmlformats.org/officeDocument/2006/relationships/notesMaster" Target="/ppt/notesMasters/notesMaster1.xml" Id="R578607e4a0d241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2f842e1b364f1d" /><Relationship Type="http://schemas.openxmlformats.org/officeDocument/2006/relationships/notesMaster" Target="/ppt/notesMasters/notesMaster1.xml" Id="Reab1822da0014aa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38a285d8a844877" /><Relationship Type="http://schemas.openxmlformats.org/officeDocument/2006/relationships/notesMaster" Target="/ppt/notesMasters/notesMaster1.xml" Id="R542aa13800bb456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28f388366dc41e1" /><Relationship Type="http://schemas.openxmlformats.org/officeDocument/2006/relationships/notesMaster" Target="/ppt/notesMasters/notesMaster1.xml" Id="R144cef6c728f4ee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b9480d2836d4d34" /><Relationship Type="http://schemas.openxmlformats.org/officeDocument/2006/relationships/notesMaster" Target="/ppt/notesMasters/notesMaster1.xml" Id="Rb04c711c56d642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a2994c31dff42ba" /><Relationship Type="http://schemas.openxmlformats.org/officeDocument/2006/relationships/notesMaster" Target="/ppt/notesMasters/notesMaster1.xml" Id="Rf702bfe9c83945d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eda0a31b0bc473a" /><Relationship Type="http://schemas.openxmlformats.org/officeDocument/2006/relationships/notesMaster" Target="/ppt/notesMasters/notesMaster1.xml" Id="R2645e772c627480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48a5be1549c42e0" /><Relationship Type="http://schemas.openxmlformats.org/officeDocument/2006/relationships/notesMaster" Target="/ppt/notesMasters/notesMaster1.xml" Id="R0db2fc46ba3a455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02f6a3982ee469e" /><Relationship Type="http://schemas.openxmlformats.org/officeDocument/2006/relationships/notesMaster" Target="/ppt/notesMasters/notesMaster1.xml" Id="Rd4b8908326c4401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a68770611b74986" /><Relationship Type="http://schemas.openxmlformats.org/officeDocument/2006/relationships/notesMaster" Target="/ppt/notesMasters/notesMaster1.xml" Id="R338c6495c06b4a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2231e51fa4246cb" /><Relationship Type="http://schemas.openxmlformats.org/officeDocument/2006/relationships/notesMaster" Target="/ppt/notesMasters/notesMaster1.xml" Id="Rc73cd7179d5c4b0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4ffcc8c171a4fba" /><Relationship Type="http://schemas.openxmlformats.org/officeDocument/2006/relationships/notesMaster" Target="/ppt/notesMasters/notesMaster1.xml" Id="Rc440c128b38545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Final defense presentation. The formal thesis title remains unchanged. Fast mode uses NFC alone, while Standard and High-Security add PIN. QR provides a credential-integrity check rather than an independent third authentication factor.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pre-oral recommendations from September 2, 2026, not the earlier title-defense comments. The full revision matrix lists each recommendation individually. Appendix I contains tally screenshots and selected sheets, not every respondent-level answer or exported transaction. Do not claim complete raw-data publication or comprehensive test evidence.</a:t>
            </a:r>
          </a:p>
          <a:p xmlns:a="http://schemas.openxmlformats.org/drawingml/2006/main">
            <a:r>
              <a:t/>
            </a:r>
          </a:p>
          <a:p xmlns:a="http://schemas.openxmlformats.org/drawingml/2006/main">
            <a:r>
              <a:t>Source: C:/Users/justine mendoza/Documents/NFC Thesis Chapter 1-5 (1).pdf, printed pages 205-212, 230-242.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9 and 10 remain methodological limitations. Both questionnaires exist, but the records do not demonstrate a paired manual-then-system sequence with the same students. Welch is appropriate for the supplied independent records and does not substitute for complying with a same-participant requirement. Processing-time inference needs a new comparison with equivalent task boundaries.</a:t>
            </a:r>
          </a:p>
          <a:p xmlns:a="http://schemas.openxmlformats.org/drawingml/2006/main">
            <a:r>
              <a:t/>
            </a:r>
          </a:p>
          <a:p xmlns:a="http://schemas.openxmlformats.org/drawingml/2006/main">
            <a:r>
              <a:t>Source: C:/Users/justine mendoza/Documents/NFC Thesis Chapter 1-5 (1).pdf, printed pages 50-53, 64-67, 88-92, 123-128, 158-163, 225-226.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title instruction comes from the annotated pre-oral photograph. Code evidence: MainWindow.xaml.cs logs STAFF_LOGIN and ADMIN_LOGIN. SecurityDashboardWindow displays DisplayTime in audit feeds. KioskModeWindow.xaml.cs defines ResultDisplayDuration as 10 seconds and sets StudentScanTimeText. SecurityDashboardWindow.xaml.cs exposes authorized maintenance. DatabaseService.PurgeOldLogsAsync deletes local records only after synced_to_cloud confirmation. Cloud history remains. No destructive purge was executed for this presentation review.</a:t>
            </a:r>
          </a:p>
          <a:p xmlns:a="http://schemas.openxmlformats.org/drawingml/2006/main">
            <a:r>
              <a:t/>
            </a:r>
          </a:p>
          <a:p xmlns:a="http://schemas.openxmlformats.org/drawingml/2006/main">
            <a:r>
              <a:t>Source: C:/Users/justine mendoza/Documents/NFC Thesis Chapter 1-5 (1).pdf, printed pages 1, 205-212.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repeating unsupported claims of reduced queues, prevented fraud, or eliminated workload. SOP 6 asks about processing time, throughput, and corresponding survey-category means. Only the survey overall-score comparison supports the inferential t-test with the supplied data. The timing observations support descriptive component results.</a:t>
            </a:r>
          </a:p>
          <a:p xmlns:a="http://schemas.openxmlformats.org/drawingml/2006/main">
            <a:r>
              <a:t/>
            </a:r>
          </a:p>
          <a:p xmlns:a="http://schemas.openxmlformats.org/drawingml/2006/main">
            <a:r>
              <a:t>Source: C:/Users/justine mendoza/Documents/NFC Thesis Chapter 1-5 (1).pdf, printed pages 3-8.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 is single-factor NFC. Standard uses possession plus knowledge. High-Security adds QR credential validation, not an independent third factor. Configured eligibility checks and entry/exit rules remain distinct from proving exclusive credential ownership. The same 20 preconfigured cards were shared across 70 test participants.</a:t>
            </a:r>
          </a:p>
          <a:p xmlns:a="http://schemas.openxmlformats.org/drawingml/2006/main">
            <a:r>
              <a:t/>
            </a:r>
          </a:p>
          <a:p xmlns:a="http://schemas.openxmlformats.org/drawingml/2006/main">
            <a:r>
              <a:t>Source: C:/Users/justine mendoza/Documents/NFC Thesis Chapter 1-5 (1).pdf, printed pages 101-105, 112-114, 184-187.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respondents evaluated the proposed system: 70 students, five security personnel, and five faculty/event-organizer/administrator respondents. A separate manual group contributed 70 responses. Do not present 150 as the proposed-system-only sample. Questionnaire totals are 24 items for the five-category student/security instruments and 39 items for the administrative instrument. These non-probability samples limit generalization.</a:t>
            </a:r>
          </a:p>
          <a:p xmlns:a="http://schemas.openxmlformats.org/drawingml/2006/main">
            <a:r>
              <a:t/>
            </a:r>
          </a:p>
          <a:p xmlns:a="http://schemas.openxmlformats.org/drawingml/2006/main">
            <a:r>
              <a:t>Source: C:/Users/justine mendoza/Documents/NFC Thesis Chapter 1-5 (1).pdf, printed pages 48-53, 129-131, 135-158.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210 successful entry trials, not 210 distinct people. Across both dates, each mode contains rounds of 20, 20, 20, and 10. Team reset exits are preserved in the record audit but excluded from participant entry timing and credential-decision accuracy. Explanations occur before each subsequent mode. Fixed order allows practice or order effects. Shared test credentials limit claims about each participant's personal identity.</a:t>
            </a:r>
          </a:p>
          <a:p xmlns:a="http://schemas.openxmlformats.org/drawingml/2006/main">
            <a:r>
              <a:t/>
            </a:r>
          </a:p>
          <a:p xmlns:a="http://schemas.openxmlformats.org/drawingml/2006/main">
            <a:r>
              <a:t>Source: C:/Users/justine mendoza/Documents/NFC Thesis Chapter 1-5 (1).pdf, printed pages 113-114.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ESP32 forwards captured input. The Windows application handles validation, timestamping, database operations, and cloud sync. Do not assert a universal sub-15-ms database latency. The researcher confirmed that signed QR, durable queues, event completion, and graduation clearance came after August 12-13. The final architecture may include them, but the August metrics and earlier surveys do not validate those additions. Selected historical disconnection/sync cases do not establish recovery under every outage or power failure.</a:t>
            </a:r>
          </a:p>
          <a:p xmlns:a="http://schemas.openxmlformats.org/drawingml/2006/main">
            <a:r>
              <a:t/>
            </a:r>
          </a:p>
          <a:p xmlns:a="http://schemas.openxmlformats.org/drawingml/2006/main">
            <a:r>
              <a:t>Source: C:/Users/justine mendoza/Documents/NFC Thesis Chapter 1-5 (1).pdf, printed pages 98-105, 112, 214.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are screenshots retained from the supplied deck, not fabricated current captures. Roles include administrator, security personnel, organizer, and student-facing verification. Check current permissions in the live build. Gate flow checks student status and campus entry/exit state. Event attendance checks event eligibility and records event check-in/checkout. Current event completion or clearance features require separately documented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Formally H0 is equality of population mean overall ratings, mu S = mu M. H1 is mu S not equal to mu M. Welch does not assume equal variances and uses Welch-Satterthwaite degrees of freedom. The overall score gives equal weight to five category means, not equal weight to all 24 individual items. Use sample SD with n - 1. Do not average item SDs to obtain a composite SD. Category means are descriptive. No separate category hypothesis tests or processing-time t-test were performed.</a:t>
            </a:r>
          </a:p>
          <a:p xmlns:a="http://schemas.openxmlformats.org/drawingml/2006/main">
            <a:r>
              <a:t/>
            </a:r>
          </a:p>
          <a:p xmlns:a="http://schemas.openxmlformats.org/drawingml/2006/main">
            <a:r>
              <a:t>Source: C:/Users/justine mendoza/Documents/NFC Thesis Chapter 1-5 (1).pdf, printed pages 64-67, 158-163.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 granted records are 420: 210 participant entries plus 210 team reset exits. The 18 denials belong to different conditions. Do not label them spontaneous participant failures. The appendix case list records selected functional outcomes rather than independently reproduced hardware testing during this preparation. Later signed-QR, durable-queue, completion, and clearance features need separate dated cases.</a:t>
            </a:r>
          </a:p>
          <a:p xmlns:a="http://schemas.openxmlformats.org/drawingml/2006/main">
            <a:r>
              <a:t/>
            </a:r>
          </a:p>
          <a:p xmlns:a="http://schemas.openxmlformats.org/drawingml/2006/main">
            <a:r>
              <a:t>Source: C:/Users/justine mendoza/Documents/NFC Thesis Chapter 1-5 (1).pdf, printed pages 113, 120-123, 230-231.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internal latency is a logged component, not complete NFC-presentation-to-finished-verification duration. Standard has higher mean latency and dispersion than High-Security, so these results do not show a simple monotonic increase with security steps. Medians are 11.30, 50.66, and 52.64 ms. Ranges are 8.26-26.36, 44.55-137.47, and 49.44-86.36 ms. Database time is reported separately but overlaps internal latency.</a:t>
            </a:r>
          </a:p>
          <a:p xmlns:a="http://schemas.openxmlformats.org/drawingml/2006/main">
            <a:r>
              <a:t/>
            </a:r>
          </a:p>
          <a:p xmlns:a="http://schemas.openxmlformats.org/drawingml/2006/main">
            <a:r>
              <a:t>Source: C:/Users/justine mendoza/Documents/NFC Thesis Chapter 1-5 (1).pdf, printed pages 114-117.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High-Security PIN mean 2.162 plus QR mean 3.637 gives 5.799 seconds. Standard includes PIN only. These logged stages do not include every physical task component. All successful observations, including slow trials, remain included. The High-Security maximum is 22.604 seconds. Lower High-Security PIN mean does not prove improvement because the fixed sequence placed it after Standard and practice may affect performance. The exports alone do not identify why QR trials took longer.</a:t>
            </a:r>
          </a:p>
          <a:p xmlns:a="http://schemas.openxmlformats.org/drawingml/2006/main">
            <a:r>
              <a:t/>
            </a:r>
          </a:p>
          <a:p xmlns:a="http://schemas.openxmlformats.org/drawingml/2006/main">
            <a:r>
              <a:t>Source: C:/Users/justine mendoza/Documents/NFC Thesis Chapter 1-5 (1).pdf, printed pages 115-117.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event-attendance simulation included writing the required information. Personnel did not perform an ID or enrollment check. Timings exclude approach, waiting, transitions, and later record transcription. Mean 21.803 seconds is active writing, not a complete verified-entry task. The service-time-equivalent rate is 60 / 21.803 = 2.75 writing completions per minute and is not independently observed queue throughput. Histogram bins include their lower edge and exclude their upper edge. Source raw manual observations: output/chapter4/manual.json and the supplied manual baseline PDF.</a:t>
            </a:r>
          </a:p>
          <a:p xmlns:a="http://schemas.openxmlformats.org/drawingml/2006/main">
            <a:r>
              <a:t/>
            </a:r>
          </a:p>
          <a:p xmlns:a="http://schemas.openxmlformats.org/drawingml/2006/main">
            <a:r>
              <a:t>Source: C:/Users/justine mendoza/Documents/NFC Thesis Chapter 1-5 (1).pdf, printed pages 60, 123-125, 232-233.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intervals are timestamp differences between successive successful entries within each round. First-entry latency is not represented. Sum spans are 180.200, 531.167, and 800.508 seconds. Rate equals 60 times 66 divided by summed seconds. Between-round resets and explanations are excluded. Within-round pauses and denials remain in elapsed time, including 13 denied records within selected spans. The manual 2.75 per minute is a service-time-equivalent calculation with a different denominator. Do not calculate a speed multiplier, peak capacity, or percentage improvement from these unlike measures. Independent complete-round timings were unavailable.</a:t>
            </a:r>
          </a:p>
          <a:p xmlns:a="http://schemas.openxmlformats.org/drawingml/2006/main">
            <a:r>
              <a:t/>
            </a:r>
          </a:p>
          <a:p xmlns:a="http://schemas.openxmlformats.org/drawingml/2006/main">
            <a:r>
              <a:t>Source: C:/Users/justine mendoza/Documents/NFC Thesis Chapter 1-5 (1).pdf, printed pages 117-119, 124, 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Accuracy denominator is 210 expected-valid entry grants plus 12 expected-invalid credential rejections: eight PIN failures, two newly triggered lockouts, and two QR mismatches. Five pre-authentication entry-state violations, one irregular exit, and 210 granted reset exits are excluded. Correct denials count as correct credential decisions. Mode accuracy is 70/70 Fast, 79/79 Standard, and 73/73 High-Security. Denial proportion uses all 438 records. PIN denominator is 140 successful PIN stages plus eight failure submissions plus two triggering lockout submissions plus two correct PIN stages followed by QR denial. The researcher confirmed every PIN submission was captured and both lockouts were newly triggered on the third incorrect submission. Lockout demos were researcher-led. Do not infer normal-user PIN usability or zero hardware/database failures. No hardware-read/database-timeout code appears among these 18 denials, but missed scans/cancellations were not independently audited.</a:t>
            </a:r>
          </a:p>
          <a:p xmlns:a="http://schemas.openxmlformats.org/drawingml/2006/main">
            <a:r>
              <a:t/>
            </a:r>
          </a:p>
          <a:p xmlns:a="http://schemas.openxmlformats.org/drawingml/2006/main">
            <a:r>
              <a:t>Source: C:/Users/justine mendoza/Documents/NFC Thesis Chapter 1-5 (1).pdf, printed pages 119-123.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Full-precision displayed category means: manual 2.483, 1.932, 2.637, 2.183, 2.183; system 3.763, 3.743, 3.740, 3.711, 3.751. System composite sample SDs: 0.318, 0.366, 0.329, 0.348, 0.341. Manual composite sample SDs: 0.899, 0.919, 0.854, 0.852, 0.883. Difference column uses unrounded values, so subtracting displayed rounded category values can differ by 0.001. Manual Usability mean 2.637 is Satisfactory. Other manual category means are Unsatisfactory. All system category means are Highly Satisfactory. Shared category labels do not establish identical measurement because wording is process-specific.</a:t>
            </a:r>
          </a:p>
          <a:p xmlns:a="http://schemas.openxmlformats.org/drawingml/2006/main">
            <a:r>
              <a:t/>
            </a:r>
          </a:p>
          <a:p xmlns:a="http://schemas.openxmlformats.org/drawingml/2006/main">
            <a:r>
              <a:t>Source: C:/Users/justine mendoza/Documents/NFC Thesis Chapter 1-5 (1).pdf, printed pages 135-139, 153-159.</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mean 3.742 and composite sample SD 0.290. Security mean 3.634 rounds to 3.63. Category means are Functional Suitability 3.84, Performance Efficiency 3.45, Usability 3.60, Reliability 3.48, Security 3.80. Administrative mean 3.81375 rounds to 3.81. Category means are Functional Suitability 3.80, Performance Efficiency 3.68, Compatibility 3.75, Usability 3.88, Reliability 3.76, Security 3.84, Maintainability 3.88, Portability 3.92. Only item-frequency totals were available for the two groups of five, so respondent composite SDs cannot be recovered. Agreement ratings are perceived quality, not formal ISO certification or proof of technical review. Do not combine the differently sized and differently worded instruments into a pooled 3.81 score.</a:t>
            </a:r>
          </a:p>
          <a:p xmlns:a="http://schemas.openxmlformats.org/drawingml/2006/main">
            <a:r>
              <a:t/>
            </a:r>
          </a:p>
          <a:p xmlns:a="http://schemas.openxmlformats.org/drawingml/2006/main">
            <a:r>
              <a:t>Source: C:/Users/justine mendoza/Documents/NFC Thesis Chapter 1-5 (1).pdf, printed pages 139-153, 186.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statistics use unrounded respondent-level equal-category scores. Rounded substitution illustrates the method and yields 15.12, while full precision yields t = 15.1241767182 and Welch df = 89.0760178841. Two-sided p is approximately 2.46554e-26, reported p &lt; .001. The observed mean difference is 1.458 points with 95% CI 1.267 to 1.650. Reject H0 of equal population mean overall ratings. Different groups and process-specific wording limit causal attribution to the attendance method alone. The result does not establish objective security superiority, faster complete tasks, or performance improvement for each category.</a:t>
            </a:r>
          </a:p>
          <a:p xmlns:a="http://schemas.openxmlformats.org/drawingml/2006/main">
            <a:r>
              <a:t/>
            </a:r>
          </a:p>
          <a:p xmlns:a="http://schemas.openxmlformats.org/drawingml/2006/main">
            <a:r>
              <a:t>Source: C:/Users/justine mendoza/Documents/NFC Thesis Chapter 1-5 (1).pdf, printed pages 160-163.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SOP 1-4 receive evidence of integrated prototype functions and selected rule handling. SOP 5 concerns favorable perceived quality within the respondent groups. SOP 6A and 6B remain descriptive because measurement boundaries and rate denominators differ. SOP 6C has a significant overall survey comparison. Do not infer fraud reduction, exclusive credential ownership, queue reduction, workload savings, or universal offline reliability. Researcher-labelled outcomes are not blinded independent accuracy assessment. New features added after the observation require separate evaluation.</a:t>
            </a:r>
          </a:p>
          <a:p xmlns:a="http://schemas.openxmlformats.org/drawingml/2006/main">
            <a:r>
              <a:t/>
            </a:r>
          </a:p>
          <a:p xmlns:a="http://schemas.openxmlformats.org/drawingml/2006/main">
            <a:r>
              <a:t>Source: C:/Users/justine mendoza/Documents/NFC Thesis Chapter 1-5 (1).pdf, printed pages 163-187.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conclusion bounded to supplied observations and surveys. Say the prototype demonstrated selected functionality under controlled conditions. Do not use proven efficiency, strict physical control, best thesis, total security, no errors, or complete offline resilience. The statistically significant survey result does not remove the independent-group limitation or establish a matched processing-time improvement.</a:t>
            </a:r>
          </a:p>
          <a:p xmlns:a="http://schemas.openxmlformats.org/drawingml/2006/main">
            <a:r>
              <a:t/>
            </a:r>
          </a:p>
          <a:p xmlns:a="http://schemas.openxmlformats.org/drawingml/2006/main">
            <a:r>
              <a:t>Source: C:/Users/justine mendoza/Documents/NFC Thesis Chapter 1-5 (1).pdf, printed pages 183-187.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Further recommendations include larger multi-terminal studies, broader colleges and staff samples, individual credential assignment when testing identity-linked behavior, and independent audits of record quality and personnel workload. Test later signed-QR credentials, durable queues, event completion, and graduation clearance separately. Document failure, cancellation, retry, and synchronization outcomes with clear denominators. Visitor modules are future work, not evaluated results. Pending same-participant and documentation requirements remain in the pre-oral matrix.</a:t>
            </a:r>
          </a:p>
          <a:p xmlns:a="http://schemas.openxmlformats.org/drawingml/2006/main">
            <a:r>
              <a:t/>
            </a:r>
          </a:p>
          <a:p xmlns:a="http://schemas.openxmlformats.org/drawingml/2006/main">
            <a:r>
              <a:t>Source: C:/Users/justine mendoza/Documents/NFC Thesis Chapter 1-5 (1).pdf, printed pages 188-191.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the current system separately from the historical August results. Use a prepared valid credential for each mode, then show a documented invalid condition without describing all denials as failures. Show timestamps and the result-retention duration. For administrative cleanup, use a disposable test database or show the authorization and confirmation without deleting real research data. Explain that local log cleanup retains cloud history. Identify later additions as current functionality requiring separate evaluation.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101-105,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efab1acfc343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c24b4415864393"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Generated (g3f9a2bf5764_91_0)">
  <p:cSld name="Generated (g3f9a2bf5764_91_0)">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41dbfe49554412" /><Relationship Type="http://schemas.openxmlformats.org/officeDocument/2006/relationships/slideLayout" Target="/ppt/slideLayouts/slideLayout1.xml" Id="Raa8cdd4df4cd457e" /><Relationship Type="http://schemas.openxmlformats.org/officeDocument/2006/relationships/slideLayout" Target="/ppt/slideLayouts/slideLayout2.xml" Id="R61b48e3c37a44373"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a8cdd4df4cd457e"/>
    <p:sldLayoutId xmlns:r="http://schemas.openxmlformats.org/officeDocument/2006/relationships" id="2147483650" r:id="R61b48e3c37a4437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c8bbfa4a7f476d" /><Relationship Type="http://schemas.openxmlformats.org/officeDocument/2006/relationships/image" Target="/ppt/media/image.png" Id="Rd12d6f9c5d2a4e6e" /><Relationship Type="http://schemas.openxmlformats.org/officeDocument/2006/relationships/image" Target="/ppt/media/image2.png" Id="R4c5b1d93d67d43e3" /><Relationship Type="http://schemas.openxmlformats.org/officeDocument/2006/relationships/image" Target="/ppt/media/image3.png" Id="R22673e3b6a6d482e" /><Relationship Type="http://schemas.openxmlformats.org/officeDocument/2006/relationships/notesSlide" Target="/ppt/notesSlides/notesSlide1.xml" Id="Rc61810ae8bd143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02ea38436d48b8" /><Relationship Type="http://schemas.openxmlformats.org/officeDocument/2006/relationships/notesSlide" Target="/ppt/notesSlides/notesSlide2.xml" Id="Rc6131653edfd46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ab3b10f7a34acb" /><Relationship Type="http://schemas.openxmlformats.org/officeDocument/2006/relationships/notesSlide" Target="/ppt/notesSlides/notesSlide3.xml" Id="R2bd73d05951941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29dd9601b034890" /><Relationship Type="http://schemas.openxmlformats.org/officeDocument/2006/relationships/notesSlide" Target="/ppt/notesSlides/notesSlide4.xml" Id="Rcffa5fe2ae6d41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b1b707be424650" /><Relationship Type="http://schemas.openxmlformats.org/officeDocument/2006/relationships/notesSlide" Target="/ppt/notesSlides/notesSlide5.xml" Id="Rc35d96d6d9fd49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e49ce6bd4ef43f0" /><Relationship Type="http://schemas.openxmlformats.org/officeDocument/2006/relationships/notesSlide" Target="/ppt/notesSlides/notesSlide6.xml" Id="Rddc9e0ffb1c247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9dcdef803e441b8" /><Relationship Type="http://schemas.openxmlformats.org/officeDocument/2006/relationships/notesSlide" Target="/ppt/notesSlides/notesSlide7.xml" Id="R47052819314649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5d95930566245e6" /><Relationship Type="http://schemas.openxmlformats.org/officeDocument/2006/relationships/notesSlide" Target="/ppt/notesSlides/notesSlide8.xml" Id="R7fc9d0c2bb8341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6a66a765104691" /><Relationship Type="http://schemas.openxmlformats.org/officeDocument/2006/relationships/notesSlide" Target="/ppt/notesSlides/notesSlide9.xml" Id="Rbbdb9536209147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20f5f318a464584" /><Relationship Type="http://schemas.openxmlformats.org/officeDocument/2006/relationships/image" Target="/ppt/media/image4.png" Id="R01ea68f1bbb64573" /><Relationship Type="http://schemas.openxmlformats.org/officeDocument/2006/relationships/image" Target="/ppt/media/image.jpeg" Id="R3a1d8a4900d44671" /><Relationship Type="http://schemas.openxmlformats.org/officeDocument/2006/relationships/image" Target="/ppt/media/image2.jpeg" Id="Rea35ac286e31448a" /><Relationship Type="http://schemas.openxmlformats.org/officeDocument/2006/relationships/image" Target="/ppt/media/image3.jpeg" Id="R698cf5ed4d824b3d" /><Relationship Type="http://schemas.openxmlformats.org/officeDocument/2006/relationships/image" Target="/ppt/media/image4.jpeg" Id="Rc10b197e25ad4f78" /><Relationship Type="http://schemas.openxmlformats.org/officeDocument/2006/relationships/image" Target="/ppt/media/image5.jpeg" Id="R0be820d43ebe4866" /><Relationship Type="http://schemas.openxmlformats.org/officeDocument/2006/relationships/notesSlide" Target="/ppt/notesSlides/notesSlide10.xml" Id="R26f1aa8985df49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db1d927b17445d5" /><Relationship Type="http://schemas.openxmlformats.org/officeDocument/2006/relationships/notesSlide" Target="/ppt/notesSlides/notesSlide11.xml" Id="Rf8d33173160d45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77e6a5ad3bd4c39" /><Relationship Type="http://schemas.openxmlformats.org/officeDocument/2006/relationships/notesSlide" Target="/ppt/notesSlides/notesSlide12.xml" Id="Rdcd2890296504d6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bf7da7be17e4569" /><Relationship Type="http://schemas.openxmlformats.org/officeDocument/2006/relationships/chart" Target="/ppt/slides/charts/chart1.xml" Id="Re3ac93e6a7ba403c" /><Relationship Type="http://schemas.openxmlformats.org/officeDocument/2006/relationships/notesSlide" Target="/ppt/notesSlides/notesSlide13.xml" Id="R4cac67aadb4b4d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524b64e7a034b27" /><Relationship Type="http://schemas.openxmlformats.org/officeDocument/2006/relationships/chart" Target="/ppt/slides/charts/chart2.xml" Id="Rbd7b417a2bd84e59" /><Relationship Type="http://schemas.openxmlformats.org/officeDocument/2006/relationships/notesSlide" Target="/ppt/notesSlides/notesSlide14.xml" Id="R81631792a2f948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3ae28b470c146ac" /><Relationship Type="http://schemas.openxmlformats.org/officeDocument/2006/relationships/chart" Target="/ppt/slides/charts/chart3.xml" Id="Reeedb4e52acc4812" /><Relationship Type="http://schemas.openxmlformats.org/officeDocument/2006/relationships/notesSlide" Target="/ppt/notesSlides/notesSlide15.xml" Id="Ra0b6c31e91664e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8a10d80b7c54dd1" /><Relationship Type="http://schemas.openxmlformats.org/officeDocument/2006/relationships/notesSlide" Target="/ppt/notesSlides/notesSlide16.xml" Id="R4c370bad223a4ec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bbbb9f6f2534046" /><Relationship Type="http://schemas.openxmlformats.org/officeDocument/2006/relationships/notesSlide" Target="/ppt/notesSlides/notesSlide17.xml" Id="Re12f8e58ebdf4ec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3b35f68db394d0c" /><Relationship Type="http://schemas.openxmlformats.org/officeDocument/2006/relationships/chart" Target="/ppt/slides/charts/chart4.xml" Id="R2979c727046041d5" /><Relationship Type="http://schemas.openxmlformats.org/officeDocument/2006/relationships/notesSlide" Target="/ppt/notesSlides/notesSlide18.xml" Id="R4b82fa5790a943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21415a6eaed434e" /><Relationship Type="http://schemas.openxmlformats.org/officeDocument/2006/relationships/chart" Target="/ppt/slides/charts/chart5.xml" Id="R53aeb6e94c6c4524" /><Relationship Type="http://schemas.openxmlformats.org/officeDocument/2006/relationships/notesSlide" Target="/ppt/notesSlides/notesSlide19.xml" Id="Rab80b15823e44ee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3be9452b0ed478e" /><Relationship Type="http://schemas.openxmlformats.org/officeDocument/2006/relationships/notesSlide" Target="/ppt/notesSlides/notesSlide20.xml" Id="Ra981837ee7eb4a7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2eeb15567eb4cbb" /><Relationship Type="http://schemas.openxmlformats.org/officeDocument/2006/relationships/notesSlide" Target="/ppt/notesSlides/notesSlide21.xml" Id="Rdb9d76abe019409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3ce72bf16914e5e" /><Relationship Type="http://schemas.openxmlformats.org/officeDocument/2006/relationships/notesSlide" Target="/ppt/notesSlides/notesSlide22.xml" Id="R970a63862bba4f2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009ffb78e804fcc" /><Relationship Type="http://schemas.openxmlformats.org/officeDocument/2006/relationships/notesSlide" Target="/ppt/notesSlides/notesSlide23.xml" Id="Rab71df0632c14f8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a5758741a114013" /><Relationship Type="http://schemas.openxmlformats.org/officeDocument/2006/relationships/image" Target="/ppt/media/image5.png" Id="R5cf5413abcd1463a" /><Relationship Type="http://schemas.openxmlformats.org/officeDocument/2006/relationships/notesSlide" Target="/ppt/notesSlides/notesSlide24.xml" Id="R7f6bceffeef4477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internal latency</c:v>
          </c:tx>
          <c:spPr>
            <a:solidFill xmlns:a="http://schemas.openxmlformats.org/drawingml/2006/main">
              <a:srgbClr val="0FA3B1"/>
            </a:solidFill>
          </c:spPr>
          <c:invertIfNegative val="0"/>
          <c:cat>
            <c:strRef>
              <c:f>'Chart Data'!$A$2:$A$4</c:f>
              <c:strCache>
                <c:ptCount val="3"/>
                <c:pt idx="0">
                  <c:v>Fast</c:v>
                </c:pt>
                <c:pt idx="1">
                  <c:v>Standard</c:v>
                </c:pt>
                <c:pt idx="2">
                  <c:v>High-Security</c:v>
                </c:pt>
              </c:strCache>
            </c:strRef>
          </c:cat>
          <c:val>
            <c:numRef>
              <c:f>'Chart Data'!$B$2:$B$4</c:f>
              <c:numCache>
                <c:formatCode>0</c:formatCode>
                <c:ptCount val="3"/>
                <c:pt idx="0">
                  <c:v>11.49</c:v>
                </c:pt>
                <c:pt idx="1">
                  <c:v>57.37</c:v>
                </c:pt>
                <c:pt idx="2">
                  <c:v>54.06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80"/>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Milliseconds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PIN</c:v>
          </c:tx>
          <c:spPr>
            <a:solidFill xmlns:a="http://schemas.openxmlformats.org/drawingml/2006/main">
              <a:srgbClr val="0B7F8A"/>
            </a:solidFill>
          </c:spPr>
          <c:invertIfNegative val="0"/>
          <c:cat>
            <c:strRef>
              <c:f>'Chart Data'!$A$2:$A$3</c:f>
              <c:strCache>
                <c:ptCount val="2"/>
                <c:pt idx="0">
                  <c:v>Standard</c:v>
                </c:pt>
                <c:pt idx="1">
                  <c:v>High-Security</c:v>
                </c:pt>
              </c:strCache>
            </c:strRef>
          </c:cat>
          <c:val>
            <c:numRef>
              <c:f>'Chart Data'!$B$2:$B$3</c:f>
              <c:numCache>
                <c:formatCode>0</c:formatCode>
                <c:ptCount val="2"/>
                <c:pt idx="0">
                  <c:v>2.505</c:v>
                </c:pt>
                <c:pt idx="1">
                  <c:v>2.162</c:v>
                </c:pt>
              </c:numCache>
            </c:numRef>
          </c:val>
        </c:ser>
        <c:ser>
          <c:idx val="1"/>
          <c:order val="1"/>
          <c:tx>
            <c:v>QR</c:v>
          </c:tx>
          <c:spPr>
            <a:solidFill xmlns:a="http://schemas.openxmlformats.org/drawingml/2006/main">
              <a:srgbClr val="D4872C"/>
            </a:solidFill>
          </c:spPr>
          <c:invertIfNegative val="0"/>
          <c:dLbls>
            <c:dLbl>
              <c:idx val="0"/>
              <c:showVal val="0"/>
            </c:dLbl>
          </c:dLbls>
          <c:cat>
            <c:strRef>
              <c:f>'Chart Data'!$C$2:$C$3</c:f>
              <c:strCache>
                <c:ptCount val="2"/>
                <c:pt idx="0">
                  <c:v>Standard</c:v>
                </c:pt>
                <c:pt idx="1">
                  <c:v>High-Security</c:v>
                </c:pt>
              </c:strCache>
            </c:strRef>
          </c:cat>
          <c:val>
            <c:numRef>
              <c:f>'Chart Data'!$D$2:$D$3</c:f>
              <c:numCache>
                <c:formatCode>0</c:formatCode>
                <c:ptCount val="2"/>
                <c:pt idx="0">
                  <c:v>0</c:v>
                </c:pt>
                <c:pt idx="1">
                  <c:v>3.637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7"/>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Writing observations</c:v>
          </c:tx>
          <c:spPr>
            <a:solidFill xmlns:a="http://schemas.openxmlformats.org/drawingml/2006/main">
              <a:srgbClr val="0FA3B1"/>
            </a:solidFill>
          </c:spPr>
          <c:invertIfNegative val="0"/>
          <c:cat>
            <c:strRef>
              <c:f>'Chart Data'!$A$2:$A$6</c:f>
              <c:strCache>
                <c:ptCount val="5"/>
                <c:pt idx="0">
                  <c:v>13-&lt;18</c:v>
                </c:pt>
                <c:pt idx="1">
                  <c:v>18-&lt;23</c:v>
                </c:pt>
                <c:pt idx="2">
                  <c:v>23-&lt;28</c:v>
                </c:pt>
                <c:pt idx="3">
                  <c:v>28-&lt;33</c:v>
                </c:pt>
                <c:pt idx="4">
                  <c:v>33-&lt;38</c:v>
                </c:pt>
              </c:strCache>
            </c:strRef>
          </c:cat>
          <c:val>
            <c:numRef>
              <c:f>'Chart Data'!$B$2:$B$6</c:f>
              <c:numCache>
                <c:formatCode>0</c:formatCode>
                <c:ptCount val="5"/>
                <c:pt idx="0">
                  <c:v>15</c:v>
                </c:pt>
                <c:pt idx="1">
                  <c:v>29</c:v>
                </c:pt>
                <c:pt idx="2">
                  <c:v>22</c:v>
                </c:pt>
                <c:pt idx="3">
                  <c:v>3</c:v>
                </c:pt>
                <c:pt idx="4">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Observations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n = 70</c:v>
          </c:tx>
          <c:spPr>
            <a:solidFill xmlns:a="http://schemas.openxmlformats.org/drawingml/2006/main">
              <a:srgbClr val="D4872C"/>
            </a:solidFill>
          </c:spPr>
          <c:invertIfNegative val="0"/>
          <c:cat>
            <c:strRef>
              <c:f>'Chart Data'!$A$2:$A$6</c:f>
              <c:strCache>
                <c:ptCount val="5"/>
                <c:pt idx="0">
                  <c:v>Functional
Suitability</c:v>
                </c:pt>
                <c:pt idx="1">
                  <c:v>Performance
Efficiency</c:v>
                </c:pt>
                <c:pt idx="2">
                  <c:v>Usability</c:v>
                </c:pt>
                <c:pt idx="3">
                  <c:v>Reliability</c:v>
                </c:pt>
                <c:pt idx="4">
                  <c:v>Security</c:v>
                </c:pt>
              </c:strCache>
            </c:strRef>
          </c:cat>
          <c:val>
            <c:numRef>
              <c:f>'Chart Data'!$B$2:$B$6</c:f>
              <c:numCache>
                <c:formatCode>0</c:formatCode>
                <c:ptCount val="5"/>
                <c:pt idx="0">
                  <c:v>2.483</c:v>
                </c:pt>
                <c:pt idx="1">
                  <c:v>1.932</c:v>
                </c:pt>
                <c:pt idx="2">
                  <c:v>2.637</c:v>
                </c:pt>
                <c:pt idx="3">
                  <c:v>2.183</c:v>
                </c:pt>
                <c:pt idx="4">
                  <c:v>2.183</c:v>
                </c:pt>
              </c:numCache>
            </c:numRef>
          </c:val>
        </c:ser>
        <c:ser>
          <c:idx val="1"/>
          <c:order val="1"/>
          <c:tx>
            <c:v>System, n = 70</c:v>
          </c:tx>
          <c:spPr>
            <a:solidFill xmlns:a="http://schemas.openxmlformats.org/drawingml/2006/main">
              <a:srgbClr val="0B7F8A"/>
            </a:solidFill>
          </c:spPr>
          <c:invertIfNegative val="0"/>
          <c:cat>
            <c:strRef>
              <c:f>'Chart Data'!$C$2:$C$6</c:f>
              <c:strCache>
                <c:ptCount val="5"/>
                <c:pt idx="0">
                  <c:v>Functional
Suitability</c:v>
                </c:pt>
                <c:pt idx="1">
                  <c:v>Performance
Efficiency</c:v>
                </c:pt>
                <c:pt idx="2">
                  <c:v>Usability</c:v>
                </c:pt>
                <c:pt idx="3">
                  <c:v>Reliability</c:v>
                </c:pt>
                <c:pt idx="4">
                  <c:v>Security</c:v>
                </c:pt>
              </c:strCache>
            </c:strRef>
          </c:cat>
          <c:val>
            <c:numRef>
              <c:f>'Chart Data'!$D$2:$D$6</c:f>
              <c:numCache>
                <c:formatCode>0</c:formatCode>
                <c:ptCount val="5"/>
                <c:pt idx="0">
                  <c:v>3.763</c:v>
                </c:pt>
                <c:pt idx="1">
                  <c:v>3.743</c:v>
                </c:pt>
                <c:pt idx="2">
                  <c:v>3.74</c:v>
                </c:pt>
                <c:pt idx="3">
                  <c:v>3.711</c:v>
                </c:pt>
                <c:pt idx="4">
                  <c:v>3.751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 on a 1-4 scale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Overall equal-category mean</c:v>
          </c:tx>
          <c:spPr>
            <a:solidFill xmlns:a="http://schemas.openxmlformats.org/drawingml/2006/main">
              <a:srgbClr val="0B7F8A"/>
            </a:solidFill>
          </c:spPr>
          <c:invertIfNegative val="0"/>
          <c:cat>
            <c:strRef>
              <c:f>'Chart Data'!$A$2:$A$4</c:f>
              <c:strCache>
                <c:ptCount val="3"/>
                <c:pt idx="0">
                  <c:v>Students
n = 70</c:v>
                </c:pt>
                <c:pt idx="1">
                  <c:v>Security Personnel
n = 5</c:v>
                </c:pt>
                <c:pt idx="2">
                  <c:v>Administrative Group
n = 5</c:v>
                </c:pt>
              </c:strCache>
            </c:strRef>
          </c:cat>
          <c:val>
            <c:numRef>
              <c:f>'Chart Data'!$B$2:$B$4</c:f>
              <c:numCache>
                <c:formatCode>0</c:formatCode>
                <c:ptCount val="3"/>
                <c:pt idx="0">
                  <c:v>3.742</c:v>
                </c:pt>
                <c:pt idx="1">
                  <c:v>3.634</c:v>
                </c:pt>
                <c:pt idx="2">
                  <c:v>3.81375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blipFill xmlns:a="http://schemas.openxmlformats.org/drawingml/2006/main">
          <a:blip xmlns:r="http://schemas.openxmlformats.org/officeDocument/2006/relationships" r:embed="Rd12d6f9c5d2a4e6e">
            <a:alphaModFix/>
          </a:blip>
          <a:stretch>
            <a:fillRect l="0" t="0" r="0" b="0"/>
          </a:stretch>
        </a:blipFill>
      </p:bgPr>
    </p:bg>
    <p:spTree>
      <p:nvGrpSpPr>
        <p:cNvPr id="1" name=""/>
        <p:cNvGrpSpPr/>
        <p:nvPr/>
      </p:nvGrpSpPr>
      <p:grpSpPr>
        <a:xfrm xmlns:a="http://schemas.openxmlformats.org/drawingml/2006/main"/>
      </p:grpSpPr>
      <p:sp>
        <p:nvSpPr>
          <p:cNvPr id="91" name="Google Shape;91;p6">
            <a:extLst xmlns:a="http://schemas.openxmlformats.org/drawingml/2006/main">
              <a:ext uri="{FF2B5EF4-FFF2-40B4-BE49-F238E27FC236}">
                <a16:creationId xmlns:a16="http://schemas.microsoft.com/office/drawing/2014/main" id="{184EEB63-8DB2-4A10-A4C8-385914A91E11}"/>
              </a:ext>
            </a:extLst>
          </p:cNvPr>
          <p:cNvSpPr>
            <a:spLocks xmlns:a="http://schemas.openxmlformats.org/drawingml/2006/main" noGrp="1"/>
          </p:cNvSpPr>
          <p:nvPr/>
        </p:nvSpPr>
        <p:spPr>
          <a:xfrm xmlns:a="http://schemas.openxmlformats.org/drawingml/2006/main" rot="0" flipH="0" flipV="0">
            <a:off x="5715000" y="-1905000"/>
            <a:ext cx="5715000" cy="5715000"/>
          </a:xfrm>
          <a:prstGeom xmlns:a="http://schemas.openxmlformats.org/drawingml/2006/main" prst="ellipse">
            <a:avLst/>
          </a:prstGeom>
          <a:solidFill xmlns:a="http://schemas.openxmlformats.org/drawingml/2006/main">
            <a:srgbClr val="0FA3B1">
              <a:alpha val="5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2" name="Google Shape;92;p6">
            <a:extLst xmlns:a="http://schemas.openxmlformats.org/drawingml/2006/main">
              <a:ext uri="{FF2B5EF4-FFF2-40B4-BE49-F238E27FC236}">
                <a16:creationId xmlns:a16="http://schemas.microsoft.com/office/drawing/2014/main" id="{7D3156F6-32C3-41F6-B0FB-FA188153F067}"/>
              </a:ext>
            </a:extLst>
          </p:cNvPr>
          <p:cNvSpPr>
            <a:spLocks xmlns:a="http://schemas.openxmlformats.org/drawingml/2006/main" noGrp="1"/>
          </p:cNvSpPr>
          <p:nvPr/>
        </p:nvSpPr>
        <p:spPr>
          <a:xfrm xmlns:a="http://schemas.openxmlformats.org/drawingml/2006/main" rot="0" flipH="0" flipV="0">
            <a:off x="-1428750" y="2190750"/>
            <a:ext cx="4762500" cy="4762500"/>
          </a:xfrm>
          <a:prstGeom xmlns:a="http://schemas.openxmlformats.org/drawingml/2006/main" prst="ellipse">
            <a:avLst/>
          </a:prstGeom>
          <a:solidFill xmlns:a="http://schemas.openxmlformats.org/drawingml/2006/main">
            <a:srgbClr val="0FA3B1">
              <a:alpha val="5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93" name="Google Shape;93;p6">
            <a:extLst xmlns:a="http://schemas.openxmlformats.org/drawingml/2006/main">
              <a:ext uri="{FF2B5EF4-FFF2-40B4-BE49-F238E27FC236}">
                <a16:creationId xmlns:a16="http://schemas.microsoft.com/office/drawing/2014/main" id="{1E59DE1E-552B-45D6-A338-D1D070DE18D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c5b1d93d67d43e3">
            <a:alphaModFix/>
          </a:blip>
          <a:srcRect xmlns:a="http://schemas.openxmlformats.org/drawingml/2006/main" l="0" t="0" r="0" b="0"/>
          <a:stretch xmlns:a="http://schemas.openxmlformats.org/drawingml/2006/main"/>
        </p:blipFill>
        <p:spPr>
          <a:xfrm xmlns:a="http://schemas.openxmlformats.org/drawingml/2006/main" rot="0" flipH="0" flipV="0">
            <a:off x="7138988" y="-481012"/>
            <a:ext cx="2004900" cy="2867100"/>
          </a:xfrm>
          <a:prstGeom xmlns:a="http://schemas.openxmlformats.org/drawingml/2006/main" prst="rect">
            <a:avLst/>
          </a:prstGeom>
          <a:ln xmlns:a="http://schemas.openxmlformats.org/drawingml/2006/main">
            <a:noFill/>
          </a:ln>
        </p:spPr>
      </p:pic>
      <p:pic>
        <p:nvPicPr>
          <p:cNvPr id="94" name="Google Shape;94;p6">
            <a:extLst xmlns:a="http://schemas.openxmlformats.org/drawingml/2006/main">
              <a:ext uri="{FF2B5EF4-FFF2-40B4-BE49-F238E27FC236}">
                <a16:creationId xmlns:a16="http://schemas.microsoft.com/office/drawing/2014/main" id="{7E9EAB6F-C1BD-4D73-AF7E-19D7DC1407F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2673e3b6a6d482e">
            <a:alphaModFix/>
          </a:blip>
          <a:srcRect xmlns:a="http://schemas.openxmlformats.org/drawingml/2006/main" l="0" t="0" r="0" b="0"/>
          <a:stretch xmlns:a="http://schemas.openxmlformats.org/drawingml/2006/main"/>
        </p:blipFill>
        <p:spPr>
          <a:xfrm xmlns:a="http://schemas.openxmlformats.org/drawingml/2006/main" rot="0" flipH="0" flipV="0">
            <a:off x="6467475" y="-1152525"/>
            <a:ext cx="2676600" cy="4210200"/>
          </a:xfrm>
          <a:prstGeom xmlns:a="http://schemas.openxmlformats.org/drawingml/2006/main" prst="rect">
            <a:avLst/>
          </a:prstGeom>
          <a:ln xmlns:a="http://schemas.openxmlformats.org/drawingml/2006/main">
            <a:noFill/>
          </a:ln>
        </p:spPr>
      </p:pic>
      <p:sp>
        <p:nvSpPr>
          <p:cNvPr id="95" name="Google Shape;95;p6">
            <a:extLst xmlns:a="http://schemas.openxmlformats.org/drawingml/2006/main">
              <a:ext uri="{FF2B5EF4-FFF2-40B4-BE49-F238E27FC236}">
                <a16:creationId xmlns:a16="http://schemas.microsoft.com/office/drawing/2014/main" id="{55773A59-D0B9-4FE5-80D0-8875C6E73B75}"/>
              </a:ext>
            </a:extLst>
          </p:cNvPr>
          <p:cNvSpPr>
            <a:spLocks xmlns:a="http://schemas.openxmlformats.org/drawingml/2006/main" noGrp="1"/>
          </p:cNvSpPr>
          <p:nvPr/>
        </p:nvSpPr>
        <p:spPr>
          <a:xfrm xmlns:a="http://schemas.openxmlformats.org/drawingml/2006/main">
            <a:off x="609600" y="523875"/>
            <a:ext cx="7905900" cy="285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850" b="1">
                <a:solidFill>
                  <a:srgbClr val="0FA3B1"/>
                </a:solidFill>
                <a:latin typeface="Inter"/>
                <a:ea typeface="Inter"/>
                <a:cs typeface="Inter"/>
              </a:rPr>
              <a:t>TAGUIG CITY UNIVERSITY  COLLEGE OF INFORMATION AND COMPUTING TECHNOLOGY</a:t>
            </a:r>
            <a:endParaRPr sz="850" b="1">
              <a:solidFill>
                <a:srgbClr val="0FA3B1"/>
              </a:solidFill>
              <a:latin typeface="Inter"/>
              <a:ea typeface="Inter"/>
              <a:cs typeface="Inter"/>
            </a:endParaRPr>
          </a:p>
        </p:txBody>
      </p:sp>
      <p:sp>
        <p:nvSpPr>
          <p:cNvPr id="96" name="Google Shape;96;p6">
            <a:extLst xmlns:a="http://schemas.openxmlformats.org/drawingml/2006/main">
              <a:ext uri="{FF2B5EF4-FFF2-40B4-BE49-F238E27FC236}">
                <a16:creationId xmlns:a16="http://schemas.microsoft.com/office/drawing/2014/main" id="{2AA644C8-81C6-4BCC-A812-88D53F54602A}"/>
              </a:ext>
            </a:extLst>
          </p:cNvPr>
          <p:cNvSpPr>
            <a:spLocks xmlns:a="http://schemas.openxmlformats.org/drawingml/2006/main" noGrp="1"/>
          </p:cNvSpPr>
          <p:nvPr/>
        </p:nvSpPr>
        <p:spPr>
          <a:xfrm xmlns:a="http://schemas.openxmlformats.org/drawingml/2006/main">
            <a:off x="609600" y="1095375"/>
            <a:ext cx="7905900" cy="1428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2800" b="0">
                <a:solidFill>
                  <a:srgbClr val="FFFFFF"/>
                </a:solidFill>
                <a:latin typeface="Inter ExtraBold"/>
                <a:ea typeface="Inter ExtraBold"/>
                <a:cs typeface="Inter ExtraBold"/>
              </a:rPr>
              <a:t>A Risk-Based Two-Factor Student</a:t>
            </a:r>
            <a:endParaRPr sz="2800" b="0">
              <a:solidFill>
                <a:srgbClr val="FFFFFF"/>
              </a:solidFill>
              <a:latin typeface="Inter ExtraBold"/>
              <a:ea typeface="Inter ExtraBold"/>
              <a:cs typeface="Inter ExtraBold"/>
            </a:endParaRPr>
          </a:p>
          <a:p xmlns:a="http://schemas.openxmlformats.org/drawingml/2006/main">
            <a:pPr marL="0" lvl="0" indent="0" algn="l">
              <a:spcBef>
                <a:spcPts val="375"/>
              </a:spcBef>
              <a:spcAft>
                <a:spcPts val="0"/>
              </a:spcAft>
              <a:buNone/>
            </a:pPr>
            <a:r>
              <a:rPr sz="2800" b="0">
                <a:solidFill>
                  <a:srgbClr val="FFFFFF"/>
                </a:solidFill>
                <a:latin typeface="Inter ExtraBold"/>
                <a:ea typeface="Inter ExtraBold"/>
                <a:cs typeface="Inter ExtraBold"/>
              </a:rPr>
              <a:t>Verification and Event Attendance</a:t>
            </a:r>
            <a:endParaRPr sz="2800" b="0">
              <a:solidFill>
                <a:srgbClr val="FFFFFF"/>
              </a:solidFill>
              <a:latin typeface="Inter ExtraBold"/>
              <a:ea typeface="Inter ExtraBold"/>
              <a:cs typeface="Inter ExtraBold"/>
            </a:endParaRPr>
          </a:p>
          <a:p xmlns:a="http://schemas.openxmlformats.org/drawingml/2006/main">
            <a:pPr marL="0" lvl="0" indent="0" algn="l">
              <a:spcBef>
                <a:spcPts val="375"/>
              </a:spcBef>
              <a:spcAft>
                <a:spcPts val="0"/>
              </a:spcAft>
              <a:buNone/>
            </a:pPr>
            <a:r>
              <a:rPr sz="2800" b="0">
                <a:solidFill>
                  <a:srgbClr val="FFFFFF"/>
                </a:solidFill>
                <a:latin typeface="Inter ExtraBold"/>
                <a:ea typeface="Inter ExtraBold"/>
                <a:cs typeface="Inter ExtraBold"/>
              </a:rPr>
              <a:t>Management System</a:t>
            </a:r>
            <a:endParaRPr sz="2800" b="0">
              <a:solidFill>
                <a:srgbClr val="FFFFFF"/>
              </a:solidFill>
              <a:latin typeface="Inter ExtraBold"/>
              <a:ea typeface="Inter ExtraBold"/>
              <a:cs typeface="Inter ExtraBold"/>
            </a:endParaRPr>
          </a:p>
        </p:txBody>
      </p:sp>
      <p:sp>
        <p:nvSpPr>
          <p:cNvPr id="97" name="Google Shape;97;p6">
            <a:extLst xmlns:a="http://schemas.openxmlformats.org/drawingml/2006/main">
              <a:ext uri="{FF2B5EF4-FFF2-40B4-BE49-F238E27FC236}">
                <a16:creationId xmlns:a16="http://schemas.microsoft.com/office/drawing/2014/main" id="{CE62924A-6D6B-42A1-AD23-7310B7BC9E71}"/>
              </a:ext>
            </a:extLst>
          </p:cNvPr>
          <p:cNvSpPr>
            <a:spLocks xmlns:a="http://schemas.openxmlformats.org/drawingml/2006/main" noGrp="1"/>
          </p:cNvSpPr>
          <p:nvPr/>
        </p:nvSpPr>
        <p:spPr>
          <a:xfrm xmlns:a="http://schemas.openxmlformats.org/drawingml/2006/main">
            <a:off x="609600" y="2628900"/>
            <a:ext cx="7953375" cy="647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350">
                <a:solidFill>
                  <a:srgbClr val="0FA3B1"/>
                </a:solidFill>
                <a:latin typeface="Inter"/>
                <a:ea typeface="Inter"/>
                <a:cs typeface="Inter"/>
              </a:defRPr>
            </a:defPPr>
          </a:lstStyle>
          <a:p xmlns:a="http://schemas.openxmlformats.org/drawingml/2006/main">
            <a:pPr marL="0" lvl="0" indent="0" algn="l">
              <a:spcBef>
                <a:spcPts val="0"/>
              </a:spcBef>
              <a:spcAft>
                <a:spcPts val="0"/>
              </a:spcAft>
              <a:buNone/>
              <a:defRPr sz="1350">
                <a:solidFill>
                  <a:srgbClr val="0FA3B1"/>
                </a:solidFill>
                <a:latin typeface="Inter"/>
                <a:ea typeface="Inter"/>
                <a:cs typeface="Inter"/>
              </a:defRPr>
            </a:pPr>
            <a:r>
              <a:rPr sz="1350" b="0">
                <a:solidFill>
                  <a:srgbClr val="0FA3B1"/>
                </a:solidFill>
                <a:latin typeface="Inter"/>
                <a:ea typeface="Inter"/>
                <a:cs typeface="Inter"/>
              </a:rPr>
              <a:t>Using Near Field Communication (NFC), Personal Identification Number (PIN) Authentication, and Quick Response (QR) Credential Validation</a:t>
            </a:r>
            <a:endParaRPr sz="1350" b="0">
              <a:solidFill>
                <a:srgbClr val="E2E8F0"/>
              </a:solidFill>
              <a:latin typeface="Inter"/>
              <a:ea typeface="Inter"/>
              <a:cs typeface="Inter"/>
            </a:endParaRPr>
          </a:p>
        </p:txBody>
      </p:sp>
      <p:cxnSp>
        <p:nvCxnSpPr>
          <p:cNvPr id="98" name="Google Shape;98;p6">
            <a:extLst xmlns:a="http://schemas.openxmlformats.org/drawingml/2006/main">
              <a:ext uri="{FF2B5EF4-FFF2-40B4-BE49-F238E27FC236}">
                <a16:creationId xmlns:a16="http://schemas.microsoft.com/office/drawing/2014/main" id="{264A8B26-7586-4B0B-AF68-81C5D93A6864}"/>
              </a:ext>
            </a:extLst>
          </p:cNvPr>
          <p:cNvCxnSpPr/>
          <p:nvPr/>
        </p:nvCxnSpPr>
        <p:spPr>
          <a:xfrm xmlns:a="http://schemas.openxmlformats.org/drawingml/2006/main">
            <a:off x="609600" y="3286125"/>
            <a:ext cx="1905000" cy="0"/>
          </a:xfrm>
          <a:prstGeom xmlns:a="http://schemas.openxmlformats.org/drawingml/2006/main" prst="straightConnector1">
            <a:avLst/>
          </a:prstGeom>
          <a:ln xmlns:a="http://schemas.openxmlformats.org/drawingml/2006/main" w="28575" cap="rnd">
            <a:solidFill>
              <a:srgbClr val="0FA3B1"/>
            </a:solidFill>
            <a:prstDash val="solid"/>
            <a:round/>
            <a:headEnd type="none" w="sm" len="sm"/>
            <a:tailEnd type="none" w="sm" len="sm"/>
          </a:ln>
        </p:spPr>
      </p:cxnSp>
      <p:sp>
        <p:nvSpPr>
          <p:cNvPr id="99" name="Google Shape;99;p6">
            <a:extLst xmlns:a="http://schemas.openxmlformats.org/drawingml/2006/main">
              <a:ext uri="{FF2B5EF4-FFF2-40B4-BE49-F238E27FC236}">
                <a16:creationId xmlns:a16="http://schemas.microsoft.com/office/drawing/2014/main" id="{7D00D70D-567D-4B8C-B0C2-0CDDFB04F57B}"/>
              </a:ext>
            </a:extLst>
          </p:cNvPr>
          <p:cNvSpPr>
            <a:spLocks xmlns:a="http://schemas.openxmlformats.org/drawingml/2006/main" noGrp="1"/>
          </p:cNvSpPr>
          <p:nvPr/>
        </p:nvSpPr>
        <p:spPr>
          <a:xfrm xmlns:a="http://schemas.openxmlformats.org/drawingml/2006/main">
            <a:off x="609600" y="3571875"/>
            <a:ext cx="7905900" cy="333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150" b="0">
                <a:solidFill>
                  <a:srgbClr val="FFFFFF"/>
                </a:solidFill>
                <a:latin typeface="Inter SemiBold"/>
                <a:ea typeface="Inter SemiBold"/>
                <a:cs typeface="Inter SemiBold"/>
              </a:rPr>
              <a:t>Justine G. Mendoza, Michael Daniel M. Milallos, Seanne Stiffel T. Sintay</a:t>
            </a:r>
            <a:endParaRPr sz="1150" b="0">
              <a:solidFill>
                <a:srgbClr val="FFFFFF"/>
              </a:solidFill>
              <a:latin typeface="Inter SemiBold"/>
              <a:ea typeface="Inter SemiBold"/>
              <a:cs typeface="Inter SemiBold"/>
            </a:endParaRPr>
          </a:p>
        </p:txBody>
      </p:sp>
      <p:sp>
        <p:nvSpPr>
          <p:cNvPr id="100" name="Google Shape;100;p6">
            <a:extLst xmlns:a="http://schemas.openxmlformats.org/drawingml/2006/main">
              <a:ext uri="{FF2B5EF4-FFF2-40B4-BE49-F238E27FC236}">
                <a16:creationId xmlns:a16="http://schemas.microsoft.com/office/drawing/2014/main" id="{3AAFE1A9-6907-4FD9-AA7B-522379BB79D4}"/>
              </a:ext>
            </a:extLst>
          </p:cNvPr>
          <p:cNvSpPr>
            <a:spLocks xmlns:a="http://schemas.openxmlformats.org/drawingml/2006/main" noGrp="1"/>
          </p:cNvSpPr>
          <p:nvPr/>
        </p:nvSpPr>
        <p:spPr>
          <a:xfrm xmlns:a="http://schemas.openxmlformats.org/drawingml/2006/main">
            <a:off x="609600" y="3924300"/>
            <a:ext cx="7905900" cy="285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950" b="0">
                <a:solidFill>
                  <a:srgbClr val="8FA0BE"/>
                </a:solidFill>
                <a:latin typeface="Inter"/>
                <a:ea typeface="Inter"/>
                <a:cs typeface="Inter"/>
              </a:rPr>
              <a:t>BS Computer Science   Adviser: Prof. Ferdinand Rubio</a:t>
            </a:r>
            <a:endParaRPr sz="950" b="0">
              <a:solidFill>
                <a:srgbClr val="8FA0BE"/>
              </a:solidFill>
              <a:latin typeface="Inter"/>
              <a:ea typeface="Inter"/>
              <a:cs typeface="Inter"/>
            </a:endParaRPr>
          </a:p>
        </p:txBody>
      </p:sp>
      <p:sp>
        <p:nvSpPr>
          <p:cNvPr id="101" name="Google Shape;101;p6">
            <a:extLst xmlns:a="http://schemas.openxmlformats.org/drawingml/2006/main">
              <a:ext uri="{FF2B5EF4-FFF2-40B4-BE49-F238E27FC236}">
                <a16:creationId xmlns:a16="http://schemas.microsoft.com/office/drawing/2014/main" id="{5748073E-17FE-49F8-8A2F-D60C59856B50}"/>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b="0" i="0" u="none" strike="noStrike" cap="none">
                <a:solidFill>
                  <a:srgbClr val="8FA0BE"/>
                </a:solidFill>
                <a:latin typeface="Calibri"/>
                <a:ea typeface="Calibri"/>
                <a:cs typeface="Calibri"/>
              </a:rPr>
              <a:t>01 / 24</a:t>
            </a:r>
            <a:endParaRPr sz="7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18363715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FDE798CB-18C3-4ABB-B344-CEAA41677AA3}"/>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Evidence">
            <a:extLst xmlns:a="http://schemas.openxmlformats.org/drawingml/2006/main">
              <a:ext uri="{FF2B5EF4-FFF2-40B4-BE49-F238E27FC236}">
                <a16:creationId xmlns:a16="http://schemas.microsoft.com/office/drawing/2014/main" id="{732F0525-A65A-4F0E-9504-A69B763D8F0F}"/>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Evidence</a:t>
            </a:r>
          </a:p>
        </p:txBody>
      </p:sp>
      <p:sp>
        <p:nvSpPr>
          <p:cNvPr id="3" name="02 / 24">
            <a:extLst xmlns:a="http://schemas.openxmlformats.org/drawingml/2006/main">
              <a:ext uri="{FF2B5EF4-FFF2-40B4-BE49-F238E27FC236}">
                <a16:creationId xmlns:a16="http://schemas.microsoft.com/office/drawing/2014/main" id="{412B06DF-E07A-4EDC-BB0E-5EBE6A3AC07F}"/>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02 / 24</a:t>
            </a:r>
          </a:p>
        </p:txBody>
      </p:sp>
      <p:graphicFrame>
        <p:nvGraphicFramePr>
          <p:cNvPr id="4" name="">
            <a:extLst xmlns:a="http://schemas.openxmlformats.org/drawingml/2006/main">
              <a:ext uri="{FF2B5EF4-FFF2-40B4-BE49-F238E27FC236}">
                <a16:creationId xmlns:a16="http://schemas.microsoft.com/office/drawing/2014/main" id="{07CE4F08-E9E2-41D7-8220-C10BC86382F7}"/>
              </a:ext>
            </a:extLst>
          </p:cNvPr>
          <p:cNvGraphicFramePr/>
          <p:nvPr/>
        </p:nvGraphicFramePr>
        <p:xfrm>
          <a:off xmlns:a="http://schemas.openxmlformats.org/drawingml/2006/main" x="304800" y="1285875"/>
          <a:ext xmlns:a="http://schemas.openxmlformats.org/drawingml/2006/main" cx="8524875" cy="2705100"/>
        </p:xfrm>
        <a:graphic xmlns:a="http://schemas.openxmlformats.org/drawingml/2006/main">
          <a:graphicData uri="http://schemas.openxmlformats.org/drawingml/2006/table">
            <a:tbl>
              <a:tblPr/>
              <a:tblGrid>
                <a:gridCol w="3095625"/>
                <a:gridCol w="5429250"/>
              </a:tblGrid>
              <a:tr h="541020">
                <a:tc>
                  <a:txBody>
                    <a:bodyPr lIns="85725" tIns="47625" rIns="85725" bIns="47625">
                      <a:noAutofit/>
                    </a:bodyPr>
                    <a:lstStyle/>
                    <a:p>
                      <a:pPr algn="l"/>
                      <a:r>
                        <a:rPr sz="1575" b="1">
                          <a:solidFill>
                            <a:srgbClr val="0B7F8A"/>
                          </a:solidFill>
                          <a:latin typeface="Calibri"/>
                          <a:ea typeface="Calibri"/>
                          <a:cs typeface="Calibri"/>
                        </a:rPr>
                        <a:t>Recommendation</a:t>
                      </a:r>
                    </a:p>
                  </a:txBody>
                  <a:tcPr marL="91440" marR="91440" marT="45720" marB="45720" anchor="ctr">
                    <a:solidFill>
                      <a:srgbClr val="E2E8F0"/>
                    </a:solidFill>
                  </a:tcPr>
                </a:tc>
                <a:tc>
                  <a:txBody>
                    <a:bodyPr lIns="85725" tIns="47625" rIns="85725" bIns="47625">
                      <a:noAutofit/>
                    </a:bodyPr>
                    <a:lstStyle/>
                    <a:p>
                      <a:pPr algn="l"/>
                      <a:r>
                        <a:rPr sz="1575" b="1">
                          <a:solidFill>
                            <a:srgbClr val="0B7F8A"/>
                          </a:solidFill>
                          <a:latin typeface="Calibri"/>
                          <a:ea typeface="Calibri"/>
                          <a:cs typeface="Calibri"/>
                        </a:rPr>
                        <a:t>Action and Present Status</a:t>
                      </a:r>
                    </a:p>
                  </a:txBody>
                  <a:tcPr marL="91440" marR="91440" marT="45720" marB="45720" anchor="ctr">
                    <a:solidFill>
                      <a:srgbClr val="E2E8F0"/>
                    </a:solidFill>
                  </a:tcPr>
                </a:tc>
              </a:tr>
              <a:tr h="541020">
                <a:tc>
                  <a:txBody>
                    <a:bodyPr lIns="85725" tIns="47625" rIns="85725" bIns="47625">
                      <a:noAutofit/>
                    </a:bodyPr>
                    <a:lstStyle/>
                    <a:p>
                      <a:pPr algn="l"/>
                      <a:r>
                        <a:rPr sz="1575" b="0">
                          <a:solidFill>
                            <a:srgbClr val="334155"/>
                          </a:solidFill>
                          <a:latin typeface="Calibri"/>
                          <a:ea typeface="Calibri"/>
                          <a:cs typeface="Calibri"/>
                        </a:rPr>
                        <a:t>01-02  Checklist and Chapter 4 visuals</a:t>
                      </a:r>
                    </a:p>
                  </a:txBody>
                  <a:tcPr marL="91440" marR="91440" marT="45720" marB="45720" anchor="ctr">
                    <a:solidFill>
                      <a:srgbClr val="FFFFFF"/>
                    </a:solidFill>
                  </a:tcPr>
                </a:tc>
                <a:tc>
                  <a:txBody>
                    <a:bodyPr lIns="85725" tIns="47625" rIns="85725" bIns="47625">
                      <a:noAutofit/>
                    </a:bodyPr>
                    <a:lstStyle/>
                    <a:p>
                      <a:pPr algn="l"/>
                      <a:r>
                        <a:rPr sz="1575" b="0">
                          <a:solidFill>
                            <a:srgbClr val="334155"/>
                          </a:solidFill>
                          <a:latin typeface="Calibri"/>
                          <a:ea typeface="Calibri"/>
                          <a:cs typeface="Calibri"/>
                        </a:rPr>
                        <a:t>Complete checklist, corrected results, item tables, and comparison figures.</a:t>
                      </a:r>
                    </a:p>
                  </a:txBody>
                  <a:tcPr marL="91440" marR="91440" marT="45720" marB="45720" anchor="ctr">
                    <a:solidFill>
                      <a:srgbClr val="FFFFFF"/>
                    </a:solidFill>
                  </a:tcPr>
                </a:tc>
              </a:tr>
              <a:tr h="541020">
                <a:tc>
                  <a:txBody>
                    <a:bodyPr lIns="85725" tIns="47625" rIns="85725" bIns="47625">
                      <a:noAutofit/>
                    </a:bodyPr>
                    <a:lstStyle/>
                    <a:p>
                      <a:pPr algn="l"/>
                      <a:r>
                        <a:rPr sz="1575" b="0">
                          <a:solidFill>
                            <a:srgbClr val="334155"/>
                          </a:solidFill>
                          <a:latin typeface="Calibri"/>
                          <a:ea typeface="Calibri"/>
                          <a:cs typeface="Calibri"/>
                        </a:rPr>
                        <a:t>03  Raw survey and comparison records</a:t>
                      </a:r>
                    </a:p>
                  </a:txBody>
                  <a:tcPr marL="91440" marR="91440" marT="45720" marB="45720" anchor="ctr">
                    <a:solidFill>
                      <a:srgbClr val="F8FAFC"/>
                    </a:solidFill>
                  </a:tcPr>
                </a:tc>
                <a:tc>
                  <a:txBody>
                    <a:bodyPr lIns="85725" tIns="47625" rIns="85725" bIns="47625">
                      <a:noAutofit/>
                    </a:bodyPr>
                    <a:lstStyle/>
                    <a:p>
                      <a:pPr algn="l"/>
                      <a:r>
                        <a:rPr sz="1575" b="0">
                          <a:solidFill>
                            <a:srgbClr val="334155"/>
                          </a:solidFill>
                          <a:latin typeface="Calibri"/>
                          <a:ea typeface="Calibri"/>
                          <a:cs typeface="Calibri"/>
                        </a:rPr>
                        <a:t>Student workbook and exports available. Full anonymized records still need a traceable evidence package.</a:t>
                      </a:r>
                    </a:p>
                  </a:txBody>
                  <a:tcPr marL="91440" marR="91440" marT="45720" marB="45720" anchor="ctr">
                    <a:solidFill>
                      <a:srgbClr val="F8FAFC"/>
                    </a:solidFill>
                  </a:tcPr>
                </a:tc>
              </a:tr>
              <a:tr h="541020">
                <a:tc>
                  <a:txBody>
                    <a:bodyPr lIns="85725" tIns="47625" rIns="85725" bIns="47625">
                      <a:noAutofit/>
                    </a:bodyPr>
                    <a:lstStyle/>
                    <a:p>
                      <a:pPr algn="l"/>
                      <a:r>
                        <a:rPr sz="1575" b="0">
                          <a:solidFill>
                            <a:srgbClr val="334155"/>
                          </a:solidFill>
                          <a:latin typeface="Calibri"/>
                          <a:ea typeface="Calibri"/>
                          <a:cs typeface="Calibri"/>
                        </a:rPr>
                        <a:t>04  Evidence for tests and surveys</a:t>
                      </a:r>
                    </a:p>
                  </a:txBody>
                  <a:tcPr marL="91440" marR="91440" marT="45720" marB="45720" anchor="ctr">
                    <a:solidFill>
                      <a:srgbClr val="FFFFFF"/>
                    </a:solidFill>
                  </a:tcPr>
                </a:tc>
                <a:tc>
                  <a:txBody>
                    <a:bodyPr lIns="85725" tIns="47625" rIns="85725" bIns="47625">
                      <a:noAutofit/>
                    </a:bodyPr>
                    <a:lstStyle/>
                    <a:p>
                      <a:pPr algn="l"/>
                      <a:r>
                        <a:rPr sz="1575" b="0">
                          <a:solidFill>
                            <a:srgbClr val="334155"/>
                          </a:solidFill>
                          <a:latin typeface="Calibri"/>
                          <a:ea typeface="Calibri"/>
                          <a:cs typeface="Calibri"/>
                        </a:rPr>
                        <a:t>16 listed test cases and appendix photographs. Evidence does not cover every current feature.</a:t>
                      </a:r>
                    </a:p>
                  </a:txBody>
                  <a:tcPr marL="91440" marR="91440" marT="45720" marB="45720" anchor="ctr">
                    <a:solidFill>
                      <a:srgbClr val="FFFFFF"/>
                    </a:solidFill>
                  </a:tcPr>
                </a:tc>
              </a:tr>
              <a:tr h="541020">
                <a:tc>
                  <a:txBody>
                    <a:bodyPr lIns="85725" tIns="47625" rIns="85725" bIns="47625">
                      <a:noAutofit/>
                    </a:bodyPr>
                    <a:lstStyle/>
                    <a:p>
                      <a:pPr algn="l"/>
                      <a:r>
                        <a:rPr sz="1575" b="0">
                          <a:solidFill>
                            <a:srgbClr val="334155"/>
                          </a:solidFill>
                          <a:latin typeface="Calibri"/>
                          <a:ea typeface="Calibri"/>
                          <a:cs typeface="Calibri"/>
                        </a:rPr>
                        <a:t>05  Interfaces in appendices</a:t>
                      </a:r>
                    </a:p>
                  </a:txBody>
                  <a:tcPr marL="91440" marR="91440" marT="45720" marB="45720" anchor="ctr">
                    <a:solidFill>
                      <a:srgbClr val="F8FAFC"/>
                    </a:solidFill>
                  </a:tcPr>
                </a:tc>
                <a:tc>
                  <a:txBody>
                    <a:bodyPr lIns="85725" tIns="47625" rIns="85725" bIns="47625">
                      <a:noAutofit/>
                    </a:bodyPr>
                    <a:lstStyle/>
                    <a:p>
                      <a:pPr algn="l"/>
                      <a:r>
                        <a:rPr sz="1575" b="0">
                          <a:solidFill>
                            <a:srgbClr val="334155"/>
                          </a:solidFill>
                          <a:latin typeface="Calibri"/>
                          <a:ea typeface="Calibri"/>
                          <a:cs typeface="Calibri"/>
                        </a:rPr>
                        <a:t>Appendix D includes selected interfaces. Current timestamp and maintenance screenshots remain to be added.</a:t>
                      </a:r>
                    </a:p>
                  </a:txBody>
                  <a:tcPr marL="91440" marR="91440" marT="45720" marB="45720" anchor="ctr">
                    <a:solidFill>
                      <a:srgbClr val="F8FAFC"/>
                    </a:solidFill>
                  </a:tcPr>
                </a:tc>
              </a:tr>
            </a:tbl>
          </a:graphicData>
        </a:graphic>
      </p:graphicFrame>
      <p:sp>
        <p:nvSpPr>
          <p:cNvPr id="5" name="Selected evidence appears in Appendices D and">
            <a:extLst xmlns:a="http://schemas.openxmlformats.org/drawingml/2006/main">
              <a:ext uri="{FF2B5EF4-FFF2-40B4-BE49-F238E27FC236}">
                <a16:creationId xmlns:a16="http://schemas.microsoft.com/office/drawing/2014/main" id="{31D4DC41-0B0B-4D86-B692-4DB1B232D3DF}"/>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Selected evidence appears in Appendices D and H-K. Pending evidence remains identified.</a:t>
            </a:r>
          </a:p>
        </p:txBody>
      </p:sp>
    </p:spTree>
    <p:extLst>
      <p:ext uri="{BB962C8B-B14F-4D97-AF65-F5344CB8AC3E}">
        <p14:creationId xmlns:p14="http://schemas.microsoft.com/office/powerpoint/2010/main" val="16159261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A47CEC98-EFBA-47C2-A042-B61C3211B91A}"/>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Comparison">
            <a:extLst xmlns:a="http://schemas.openxmlformats.org/drawingml/2006/main">
              <a:ext uri="{FF2B5EF4-FFF2-40B4-BE49-F238E27FC236}">
                <a16:creationId xmlns:a16="http://schemas.microsoft.com/office/drawing/2014/main" id="{2813EB2C-4E17-4324-AAE1-2B4806495802}"/>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Comparison</a:t>
            </a:r>
          </a:p>
        </p:txBody>
      </p:sp>
      <p:sp>
        <p:nvSpPr>
          <p:cNvPr id="3" name="03 / 24">
            <a:extLst xmlns:a="http://schemas.openxmlformats.org/drawingml/2006/main">
              <a:ext uri="{FF2B5EF4-FFF2-40B4-BE49-F238E27FC236}">
                <a16:creationId xmlns:a16="http://schemas.microsoft.com/office/drawing/2014/main" id="{BE46A7FC-A44F-401B-AF18-C41778CEE331}"/>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03 / 24</a:t>
            </a:r>
          </a:p>
        </p:txBody>
      </p:sp>
      <p:graphicFrame>
        <p:nvGraphicFramePr>
          <p:cNvPr id="4" name="">
            <a:extLst xmlns:a="http://schemas.openxmlformats.org/drawingml/2006/main">
              <a:ext uri="{FF2B5EF4-FFF2-40B4-BE49-F238E27FC236}">
                <a16:creationId xmlns:a16="http://schemas.microsoft.com/office/drawing/2014/main" id="{A96A06B1-75EE-493B-B393-FF8FDAD5DA83}"/>
              </a:ext>
            </a:extLst>
          </p:cNvPr>
          <p:cNvGraphicFramePr/>
          <p:nvPr/>
        </p:nvGraphicFramePr>
        <p:xfrm>
          <a:off xmlns:a="http://schemas.openxmlformats.org/drawingml/2006/main" x="304800" y="1219200"/>
          <a:ext xmlns:a="http://schemas.openxmlformats.org/drawingml/2006/main" cx="8524875" cy="2952750"/>
        </p:xfrm>
        <a:graphic xmlns:a="http://schemas.openxmlformats.org/drawingml/2006/main">
          <a:graphicData uri="http://schemas.openxmlformats.org/drawingml/2006/table">
            <a:tbl>
              <a:tblPr/>
              <a:tblGrid>
                <a:gridCol w="3095625"/>
                <a:gridCol w="5429250"/>
              </a:tblGrid>
              <a:tr h="492125">
                <a:tc>
                  <a:txBody>
                    <a:bodyPr lIns="85725" tIns="47625" rIns="85725" bIns="47625">
                      <a:noAutofit/>
                    </a:bodyPr>
                    <a:lstStyle/>
                    <a:p>
                      <a:pPr algn="l"/>
                      <a:r>
                        <a:rPr sz="1500" b="1">
                          <a:solidFill>
                            <a:srgbClr val="0B7F8A"/>
                          </a:solidFill>
                          <a:latin typeface="Calibri"/>
                          <a:ea typeface="Calibri"/>
                          <a:cs typeface="Calibri"/>
                        </a:rPr>
                        <a:t>Recommendation</a:t>
                      </a:r>
                    </a:p>
                  </a:txBody>
                  <a:tcPr marL="91440" marR="91440" marT="45720" marB="45720" anchor="ctr">
                    <a:solidFill>
                      <a:srgbClr val="E2E8F0"/>
                    </a:solidFill>
                  </a:tcPr>
                </a:tc>
                <a:tc>
                  <a:txBody>
                    <a:bodyPr lIns="85725" tIns="47625" rIns="85725" bIns="47625">
                      <a:noAutofit/>
                    </a:bodyPr>
                    <a:lstStyle/>
                    <a:p>
                      <a:pPr algn="l"/>
                      <a:r>
                        <a:rPr sz="1500" b="1">
                          <a:solidFill>
                            <a:srgbClr val="0B7F8A"/>
                          </a:solidFill>
                          <a:latin typeface="Calibri"/>
                          <a:ea typeface="Calibri"/>
                          <a:cs typeface="Calibri"/>
                        </a:rPr>
                        <a:t>Action and Present Status</a:t>
                      </a:r>
                    </a:p>
                  </a:txBody>
                  <a:tcPr marL="91440" marR="91440" marT="45720" marB="45720" anchor="ctr">
                    <a:solidFill>
                      <a:srgbClr val="E2E8F0"/>
                    </a:solidFill>
                  </a:tcPr>
                </a:tc>
              </a:tr>
              <a:tr h="492125">
                <a:tc>
                  <a:txBody>
                    <a:bodyPr lIns="85725" tIns="47625" rIns="85725" bIns="47625">
                      <a:noAutofit/>
                    </a:bodyPr>
                    <a:lstStyle/>
                    <a:p>
                      <a:pPr algn="l"/>
                      <a:r>
                        <a:rPr sz="1500" b="0">
                          <a:solidFill>
                            <a:srgbClr val="334155"/>
                          </a:solidFill>
                          <a:latin typeface="Calibri"/>
                          <a:ea typeface="Calibri"/>
                          <a:cs typeface="Calibri"/>
                        </a:rPr>
                        <a:t>06-07  Manual questionnaire and data</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Manual questionnaire, 70 writing observations, and 70 manual survey responses included.</a:t>
                      </a:r>
                    </a:p>
                  </a:txBody>
                  <a:tcPr marL="91440" marR="91440" marT="45720" marB="45720" anchor="ctr">
                    <a:solidFill>
                      <a:srgbClr val="FFFFFF"/>
                    </a:solidFill>
                  </a:tcPr>
                </a:tc>
              </a:tr>
              <a:tr h="492125">
                <a:tc>
                  <a:txBody>
                    <a:bodyPr lIns="85725" tIns="47625" rIns="85725" bIns="47625">
                      <a:noAutofit/>
                    </a:bodyPr>
                    <a:lstStyle/>
                    <a:p>
                      <a:pPr algn="l"/>
                      <a:r>
                        <a:rPr sz="1500" b="0">
                          <a:solidFill>
                            <a:srgbClr val="334155"/>
                          </a:solidFill>
                          <a:latin typeface="Calibri"/>
                          <a:ea typeface="Calibri"/>
                          <a:cs typeface="Calibri"/>
                        </a:rPr>
                        <a:t>08  Student participant counts</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70 manual students and 70 different system students. System survey also includes two groups of five.</a:t>
                      </a:r>
                    </a:p>
                  </a:txBody>
                  <a:tcPr marL="91440" marR="91440" marT="45720" marB="45720" anchor="ctr">
                    <a:solidFill>
                      <a:srgbClr val="F8FAFC"/>
                    </a:solidFill>
                  </a:tcPr>
                </a:tc>
              </a:tr>
              <a:tr h="492125">
                <a:tc>
                  <a:txBody>
                    <a:bodyPr lIns="85725" tIns="47625" rIns="85725" bIns="47625">
                      <a:noAutofit/>
                    </a:bodyPr>
                    <a:lstStyle/>
                    <a:p>
                      <a:pPr algn="l"/>
                      <a:r>
                        <a:rPr sz="1500" b="0">
                          <a:solidFill>
                            <a:srgbClr val="334155"/>
                          </a:solidFill>
                          <a:latin typeface="Calibri"/>
                          <a:ea typeface="Calibri"/>
                          <a:cs typeface="Calibri"/>
                        </a:rPr>
                        <a:t>09-10  Same students and survey sequence</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Not fulfilled as specified. Different groups require an independent-samples analysis.</a:t>
                      </a:r>
                    </a:p>
                  </a:txBody>
                  <a:tcPr marL="91440" marR="91440" marT="45720" marB="45720" anchor="ctr">
                    <a:solidFill>
                      <a:srgbClr val="FFFFFF"/>
                    </a:solidFill>
                  </a:tcPr>
                </a:tc>
              </a:tr>
              <a:tr h="492125">
                <a:tc>
                  <a:txBody>
                    <a:bodyPr lIns="85725" tIns="47625" rIns="85725" bIns="47625">
                      <a:noAutofit/>
                    </a:bodyPr>
                    <a:lstStyle/>
                    <a:p>
                      <a:pPr algn="l"/>
                      <a:r>
                        <a:rPr sz="1500" b="0">
                          <a:solidFill>
                            <a:srgbClr val="334155"/>
                          </a:solidFill>
                          <a:latin typeface="Calibri"/>
                          <a:ea typeface="Calibri"/>
                          <a:cs typeface="Calibri"/>
                        </a:rPr>
                        <a:t>16  Use case diagram</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Diagram included. Conditional PIN use still needs alignment with NFC-only Fast mode.</a:t>
                      </a:r>
                    </a:p>
                  </a:txBody>
                  <a:tcPr marL="91440" marR="91440" marT="45720" marB="45720" anchor="ctr">
                    <a:solidFill>
                      <a:srgbClr val="F8FAFC"/>
                    </a:solidFill>
                  </a:tcPr>
                </a:tc>
              </a:tr>
              <a:tr h="492125">
                <a:tc>
                  <a:txBody>
                    <a:bodyPr lIns="85725" tIns="47625" rIns="85725" bIns="47625">
                      <a:noAutofit/>
                    </a:bodyPr>
                    <a:lstStyle/>
                    <a:p>
                      <a:pPr algn="l"/>
                      <a:r>
                        <a:rPr sz="1500" b="0">
                          <a:solidFill>
                            <a:srgbClr val="334155"/>
                          </a:solidFill>
                          <a:latin typeface="Calibri"/>
                          <a:ea typeface="Calibri"/>
                          <a:cs typeface="Calibri"/>
                        </a:rPr>
                        <a:t>17  T-test of manual and system means</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Welch test compares overall survey scores. Equivalent complete-task times were unavailable.</a:t>
                      </a:r>
                    </a:p>
                  </a:txBody>
                  <a:tcPr marL="91440" marR="91440" marT="45720" marB="45720" anchor="ctr">
                    <a:solidFill>
                      <a:srgbClr val="FFFFFF"/>
                    </a:solidFill>
                  </a:tcPr>
                </a:tc>
              </a:tr>
            </a:tbl>
          </a:graphicData>
        </a:graphic>
      </p:graphicFrame>
      <p:sp>
        <p:nvSpPr>
          <p:cNvPr id="5" name="Equal group sizes do not mean the same partic">
            <a:extLst xmlns:a="http://schemas.openxmlformats.org/drawingml/2006/main">
              <a:ext uri="{FF2B5EF4-FFF2-40B4-BE49-F238E27FC236}">
                <a16:creationId xmlns:a16="http://schemas.microsoft.com/office/drawing/2014/main" id="{EA63D0A1-9607-4EE4-99AE-34896922F117}"/>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Equal group sizes do not mean the same participants or eliminate group-selection bias.</a:t>
            </a:r>
          </a:p>
        </p:txBody>
      </p:sp>
    </p:spTree>
    <p:extLst>
      <p:ext uri="{BB962C8B-B14F-4D97-AF65-F5344CB8AC3E}">
        <p14:creationId xmlns:p14="http://schemas.microsoft.com/office/powerpoint/2010/main" val="7606977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502A044B-1EB2-46CE-962F-0BB9AF2B9210}"/>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the System">
            <a:extLst xmlns:a="http://schemas.openxmlformats.org/drawingml/2006/main">
              <a:ext uri="{FF2B5EF4-FFF2-40B4-BE49-F238E27FC236}">
                <a16:creationId xmlns:a16="http://schemas.microsoft.com/office/drawing/2014/main" id="{557C2B14-C198-411D-8D45-258900A1DB8F}"/>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the System</a:t>
            </a:r>
          </a:p>
        </p:txBody>
      </p:sp>
      <p:sp>
        <p:nvSpPr>
          <p:cNvPr id="3" name="04 / 24">
            <a:extLst xmlns:a="http://schemas.openxmlformats.org/drawingml/2006/main">
              <a:ext uri="{FF2B5EF4-FFF2-40B4-BE49-F238E27FC236}">
                <a16:creationId xmlns:a16="http://schemas.microsoft.com/office/drawing/2014/main" id="{BF2D7D67-AC8E-404A-894D-EB638A94BFF0}"/>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04 / 24</a:t>
            </a:r>
          </a:p>
        </p:txBody>
      </p:sp>
      <p:graphicFrame>
        <p:nvGraphicFramePr>
          <p:cNvPr id="4" name="">
            <a:extLst xmlns:a="http://schemas.openxmlformats.org/drawingml/2006/main">
              <a:ext uri="{FF2B5EF4-FFF2-40B4-BE49-F238E27FC236}">
                <a16:creationId xmlns:a16="http://schemas.microsoft.com/office/drawing/2014/main" id="{307E6E88-18EC-4774-ACDC-E7664BA9D098}"/>
              </a:ext>
            </a:extLst>
          </p:cNvPr>
          <p:cNvGraphicFramePr/>
          <p:nvPr/>
        </p:nvGraphicFramePr>
        <p:xfrm>
          <a:off xmlns:a="http://schemas.openxmlformats.org/drawingml/2006/main" x="304800" y="1219200"/>
          <a:ext xmlns:a="http://schemas.openxmlformats.org/drawingml/2006/main" cx="8524875" cy="3048000"/>
        </p:xfrm>
        <a:graphic xmlns:a="http://schemas.openxmlformats.org/drawingml/2006/main">
          <a:graphicData uri="http://schemas.openxmlformats.org/drawingml/2006/table">
            <a:tbl>
              <a:tblPr/>
              <a:tblGrid>
                <a:gridCol w="2857500"/>
                <a:gridCol w="5667375"/>
              </a:tblGrid>
              <a:tr h="435429">
                <a:tc>
                  <a:txBody>
                    <a:bodyPr lIns="85725" tIns="47625" rIns="85725" bIns="47625">
                      <a:noAutofit/>
                    </a:bodyPr>
                    <a:lstStyle/>
                    <a:p>
                      <a:pPr algn="l"/>
                      <a:r>
                        <a:rPr sz="1500" b="1">
                          <a:solidFill>
                            <a:srgbClr val="0B7F8A"/>
                          </a:solidFill>
                          <a:latin typeface="Calibri"/>
                          <a:ea typeface="Calibri"/>
                          <a:cs typeface="Calibri"/>
                        </a:rPr>
                        <a:t>Recommendation</a:t>
                      </a:r>
                    </a:p>
                  </a:txBody>
                  <a:tcPr marL="91440" marR="91440" marT="45720" marB="45720" anchor="ctr">
                    <a:solidFill>
                      <a:srgbClr val="E2E8F0"/>
                    </a:solidFill>
                  </a:tcPr>
                </a:tc>
                <a:tc>
                  <a:txBody>
                    <a:bodyPr lIns="85725" tIns="47625" rIns="85725" bIns="47625">
                      <a:noAutofit/>
                    </a:bodyPr>
                    <a:lstStyle/>
                    <a:p>
                      <a:pPr algn="l"/>
                      <a:r>
                        <a:rPr sz="1500" b="1">
                          <a:solidFill>
                            <a:srgbClr val="0B7F8A"/>
                          </a:solidFill>
                          <a:latin typeface="Calibri"/>
                          <a:ea typeface="Calibri"/>
                          <a:cs typeface="Calibri"/>
                        </a:rPr>
                        <a:t>Current Implementation and Qualification</a:t>
                      </a:r>
                    </a:p>
                  </a:txBody>
                  <a:tcPr marL="91440" marR="91440" marT="45720" marB="45720" anchor="ctr">
                    <a:solidFill>
                      <a:srgbClr val="E2E8F0"/>
                    </a:solidFill>
                  </a:tcPr>
                </a:tc>
              </a:tr>
              <a:tr h="435429">
                <a:tc>
                  <a:txBody>
                    <a:bodyPr lIns="85725" tIns="47625" rIns="85725" bIns="47625">
                      <a:noAutofit/>
                    </a:bodyPr>
                    <a:lstStyle/>
                    <a:p>
                      <a:pPr algn="l"/>
                      <a:r>
                        <a:rPr sz="1500" b="0">
                          <a:solidFill>
                            <a:srgbClr val="334155"/>
                          </a:solidFill>
                          <a:latin typeface="Calibri"/>
                          <a:ea typeface="Calibri"/>
                          <a:cs typeface="Calibri"/>
                        </a:rPr>
                        <a:t>11  Personnel login timestamp</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Timestamped login audit events exist. A dedicated visible login-time field remains unverified.</a:t>
                      </a:r>
                    </a:p>
                  </a:txBody>
                  <a:tcPr marL="91440" marR="91440" marT="45720" marB="45720" anchor="ctr">
                    <a:solidFill>
                      <a:srgbClr val="FFFFFF"/>
                    </a:solidFill>
                  </a:tcPr>
                </a:tc>
              </a:tr>
              <a:tr h="435429">
                <a:tc>
                  <a:txBody>
                    <a:bodyPr lIns="85725" tIns="47625" rIns="85725" bIns="47625">
                      <a:noAutofit/>
                    </a:bodyPr>
                    <a:lstStyle/>
                    <a:p>
                      <a:pPr algn="l"/>
                      <a:r>
                        <a:rPr sz="1500" b="0">
                          <a:solidFill>
                            <a:srgbClr val="334155"/>
                          </a:solidFill>
                          <a:latin typeface="Calibri"/>
                          <a:ea typeface="Calibri"/>
                          <a:cs typeface="Calibri"/>
                        </a:rPr>
                        <a:t>12  Student timestamps</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Kiosk code displays scan time and applicable IN/OUT values.</a:t>
                      </a:r>
                    </a:p>
                  </a:txBody>
                  <a:tcPr marL="91440" marR="91440" marT="45720" marB="45720" anchor="ctr">
                    <a:solidFill>
                      <a:srgbClr val="F8FAFC"/>
                    </a:solidFill>
                  </a:tcPr>
                </a:tc>
              </a:tr>
              <a:tr h="435429">
                <a:tc>
                  <a:txBody>
                    <a:bodyPr lIns="85725" tIns="47625" rIns="85725" bIns="47625">
                      <a:noAutofit/>
                    </a:bodyPr>
                    <a:lstStyle/>
                    <a:p>
                      <a:pPr algn="l"/>
                      <a:r>
                        <a:rPr sz="1500" b="0">
                          <a:solidFill>
                            <a:srgbClr val="334155"/>
                          </a:solidFill>
                          <a:latin typeface="Calibri"/>
                          <a:ea typeface="Calibri"/>
                          <a:cs typeface="Calibri"/>
                        </a:rPr>
                        <a:t>13  Retain student result</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Configured 10-second result display. Persistent last-log display after idle remains a separate request.</a:t>
                      </a:r>
                    </a:p>
                  </a:txBody>
                  <a:tcPr marL="91440" marR="91440" marT="45720" marB="45720" anchor="ctr">
                    <a:solidFill>
                      <a:srgbClr val="FFFFFF"/>
                    </a:solidFill>
                  </a:tcPr>
                </a:tc>
              </a:tr>
              <a:tr h="435429">
                <a:tc>
                  <a:txBody>
                    <a:bodyPr lIns="85725" tIns="47625" rIns="85725" bIns="47625">
                      <a:noAutofit/>
                    </a:bodyPr>
                    <a:lstStyle/>
                    <a:p>
                      <a:pPr algn="l"/>
                      <a:r>
                        <a:rPr sz="1500" b="0">
                          <a:solidFill>
                            <a:srgbClr val="334155"/>
                          </a:solidFill>
                          <a:latin typeface="Calibri"/>
                          <a:ea typeface="Calibri"/>
                          <a:cs typeface="Calibri"/>
                        </a:rPr>
                        <a:t>14  Administrator purge</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Authorized, confirmed active cleanup of eligible cloud-backed local logs.</a:t>
                      </a:r>
                    </a:p>
                  </a:txBody>
                  <a:tcPr marL="91440" marR="91440" marT="45720" marB="45720" anchor="ctr">
                    <a:solidFill>
                      <a:srgbClr val="F8FAFC"/>
                    </a:solidFill>
                  </a:tcPr>
                </a:tc>
              </a:tr>
              <a:tr h="435429">
                <a:tc>
                  <a:txBody>
                    <a:bodyPr lIns="85725" tIns="47625" rIns="85725" bIns="47625">
                      <a:noAutofit/>
                    </a:bodyPr>
                    <a:lstStyle/>
                    <a:p>
                      <a:pPr algn="l"/>
                      <a:r>
                        <a:rPr sz="1500" b="0">
                          <a:solidFill>
                            <a:srgbClr val="334155"/>
                          </a:solidFill>
                          <a:latin typeface="Calibri"/>
                          <a:ea typeface="Calibri"/>
                          <a:cs typeface="Calibri"/>
                        </a:rPr>
                        <a:t>15  Data destruction</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Partial. Local cleanup retains cloud history. Complete disposal across copies is not established.</a:t>
                      </a:r>
                    </a:p>
                  </a:txBody>
                  <a:tcPr marL="91440" marR="91440" marT="45720" marB="45720" anchor="ctr">
                    <a:solidFill>
                      <a:srgbClr val="FFFFFF"/>
                    </a:solidFill>
                  </a:tcPr>
                </a:tc>
              </a:tr>
              <a:tr h="435429">
                <a:tc>
                  <a:txBody>
                    <a:bodyPr lIns="85725" tIns="47625" rIns="85725" bIns="47625">
                      <a:noAutofit/>
                    </a:bodyPr>
                    <a:lstStyle/>
                    <a:p>
                      <a:pPr algn="l"/>
                      <a:r>
                        <a:rPr sz="1500" b="0">
                          <a:solidFill>
                            <a:srgbClr val="334155"/>
                          </a:solidFill>
                          <a:latin typeface="Calibri"/>
                          <a:ea typeface="Calibri"/>
                          <a:cs typeface="Calibri"/>
                        </a:rPr>
                        <a:t>18  Spell out NFC in the title</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Latest title spells out Near Field Communication and the PIN/QR terms.</a:t>
                      </a:r>
                    </a:p>
                  </a:txBody>
                  <a:tcPr marL="91440" marR="91440" marT="45720" marB="45720" anchor="ctr">
                    <a:solidFill>
                      <a:srgbClr val="F8FAFC"/>
                    </a:solidFill>
                  </a:tcPr>
                </a:tc>
              </a:tr>
            </a:tbl>
          </a:graphicData>
        </a:graphic>
      </p:graphicFrame>
      <p:sp>
        <p:nvSpPr>
          <p:cNvPr id="5" name="Current code confirms implementation details.">
            <a:extLst xmlns:a="http://schemas.openxmlformats.org/drawingml/2006/main">
              <a:ext uri="{FF2B5EF4-FFF2-40B4-BE49-F238E27FC236}">
                <a16:creationId xmlns:a16="http://schemas.microsoft.com/office/drawing/2014/main" id="{C51D5163-598E-4519-9530-BA38447743D3}"/>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Current code confirms implementation details. Dated UI and deletion tests are still needed.</a:t>
            </a:r>
          </a:p>
        </p:txBody>
      </p:sp>
    </p:spTree>
    <p:extLst>
      <p:ext uri="{BB962C8B-B14F-4D97-AF65-F5344CB8AC3E}">
        <p14:creationId xmlns:p14="http://schemas.microsoft.com/office/powerpoint/2010/main" val="15999736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 INTRODUCTION">
            <a:extLst xmlns:a="http://schemas.openxmlformats.org/drawingml/2006/main">
              <a:ext uri="{FF2B5EF4-FFF2-40B4-BE49-F238E27FC236}">
                <a16:creationId xmlns:a16="http://schemas.microsoft.com/office/drawing/2014/main" id="{75F211AA-8550-42F5-9C3F-1F00B1B6781F}"/>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 INTRODUCTION</a:t>
            </a:r>
          </a:p>
        </p:txBody>
      </p:sp>
      <p:sp>
        <p:nvSpPr>
          <p:cNvPr id="2" name="Problem and Research Objectives">
            <a:extLst xmlns:a="http://schemas.openxmlformats.org/drawingml/2006/main">
              <a:ext uri="{FF2B5EF4-FFF2-40B4-BE49-F238E27FC236}">
                <a16:creationId xmlns:a16="http://schemas.microsoft.com/office/drawing/2014/main" id="{AD281664-06D1-4EFE-8897-1D46068C1C42}"/>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Problem and Research Objectives</a:t>
            </a:r>
          </a:p>
        </p:txBody>
      </p:sp>
      <p:sp>
        <p:nvSpPr>
          <p:cNvPr id="3" name="05 / 24">
            <a:extLst xmlns:a="http://schemas.openxmlformats.org/drawingml/2006/main">
              <a:ext uri="{FF2B5EF4-FFF2-40B4-BE49-F238E27FC236}">
                <a16:creationId xmlns:a16="http://schemas.microsoft.com/office/drawing/2014/main" id="{71CF8CCC-29A3-4F76-B397-BE2E0455CF71}"/>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05 / 24</a:t>
            </a:r>
          </a:p>
        </p:txBody>
      </p:sp>
      <p:sp>
        <p:nvSpPr>
          <p:cNvPr id="4" name="Problem">
            <a:extLst xmlns:a="http://schemas.openxmlformats.org/drawingml/2006/main">
              <a:ext uri="{FF2B5EF4-FFF2-40B4-BE49-F238E27FC236}">
                <a16:creationId xmlns:a16="http://schemas.microsoft.com/office/drawing/2014/main" id="{B5639C32-1CAE-4ED0-9617-558ED5575B83}"/>
              </a:ext>
            </a:extLst>
          </p:cNvPr>
          <p:cNvSpPr>
            <a:spLocks xmlns:a="http://schemas.openxmlformats.org/drawingml/2006/main" noGrp="1"/>
          </p:cNvSpPr>
          <p:nvPr/>
        </p:nvSpPr>
        <p:spPr>
          <a:xfrm xmlns:a="http://schemas.openxmlformats.org/drawingml/2006/main">
            <a:off x="361950" y="1285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Problem</a:t>
            </a:r>
          </a:p>
        </p:txBody>
      </p:sp>
      <p:sp>
        <p:nvSpPr>
          <p:cNvPr id="5" name="Campus verification and event attendance requ">
            <a:extLst xmlns:a="http://schemas.openxmlformats.org/drawingml/2006/main">
              <a:ext uri="{FF2B5EF4-FFF2-40B4-BE49-F238E27FC236}">
                <a16:creationId xmlns:a16="http://schemas.microsoft.com/office/drawing/2014/main" id="{82DDEC9F-0172-45F0-88C4-3E74C95FF4E3}"/>
              </a:ext>
            </a:extLst>
          </p:cNvPr>
          <p:cNvSpPr>
            <a:spLocks xmlns:a="http://schemas.openxmlformats.org/drawingml/2006/main" noGrp="1"/>
          </p:cNvSpPr>
          <p:nvPr/>
        </p:nvSpPr>
        <p:spPr>
          <a:xfrm xmlns:a="http://schemas.openxmlformats.org/drawingml/2006/main">
            <a:off x="361950" y="15811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Campus verification and event attendance require credential checks, eligibility decisions, and traceable records. Paper sign-in alone does not perform these checks.</a:t>
            </a:r>
          </a:p>
        </p:txBody>
      </p:sp>
      <p:sp>
        <p:nvSpPr>
          <p:cNvPr id="6" name="Development objective">
            <a:extLst xmlns:a="http://schemas.openxmlformats.org/drawingml/2006/main">
              <a:ext uri="{FF2B5EF4-FFF2-40B4-BE49-F238E27FC236}">
                <a16:creationId xmlns:a16="http://schemas.microsoft.com/office/drawing/2014/main" id="{A00317B6-63A8-491D-B644-47C9D9BAC6B9}"/>
              </a:ext>
            </a:extLst>
          </p:cNvPr>
          <p:cNvSpPr>
            <a:spLocks xmlns:a="http://schemas.openxmlformats.org/drawingml/2006/main" noGrp="1"/>
          </p:cNvSpPr>
          <p:nvPr/>
        </p:nvSpPr>
        <p:spPr>
          <a:xfrm xmlns:a="http://schemas.openxmlformats.org/drawingml/2006/main">
            <a:off x="361950" y="22955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Development objective</a:t>
            </a:r>
          </a:p>
        </p:txBody>
      </p:sp>
      <p:sp>
        <p:nvSpPr>
          <p:cNvPr id="7" name="Develop a prototype that combines configurabl">
            <a:extLst xmlns:a="http://schemas.openxmlformats.org/drawingml/2006/main">
              <a:ext uri="{FF2B5EF4-FFF2-40B4-BE49-F238E27FC236}">
                <a16:creationId xmlns:a16="http://schemas.microsoft.com/office/drawing/2014/main" id="{B5B8248B-B0AA-46AE-874D-0AA3123C1BB9}"/>
              </a:ext>
            </a:extLst>
          </p:cNvPr>
          <p:cNvSpPr>
            <a:spLocks xmlns:a="http://schemas.openxmlformats.org/drawingml/2006/main" noGrp="1"/>
          </p:cNvSpPr>
          <p:nvPr/>
        </p:nvSpPr>
        <p:spPr>
          <a:xfrm xmlns:a="http://schemas.openxmlformats.org/drawingml/2006/main">
            <a:off x="361950" y="259080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Develop a prototype that combines configurable credential validation with entry/exit handling, event attendance, and role-based monitoring.</a:t>
            </a:r>
          </a:p>
        </p:txBody>
      </p:sp>
      <p:sp>
        <p:nvSpPr>
          <p:cNvPr id="8" name="Evaluation objective">
            <a:extLst xmlns:a="http://schemas.openxmlformats.org/drawingml/2006/main">
              <a:ext uri="{FF2B5EF4-FFF2-40B4-BE49-F238E27FC236}">
                <a16:creationId xmlns:a16="http://schemas.microsoft.com/office/drawing/2014/main" id="{DF04728B-5E5C-4DD3-AF3A-B64BB1978B9C}"/>
              </a:ext>
            </a:extLst>
          </p:cNvPr>
          <p:cNvSpPr>
            <a:spLocks xmlns:a="http://schemas.openxmlformats.org/drawingml/2006/main" noGrp="1"/>
          </p:cNvSpPr>
          <p:nvPr/>
        </p:nvSpPr>
        <p:spPr>
          <a:xfrm xmlns:a="http://schemas.openxmlformats.org/drawingml/2006/main">
            <a:off x="361950" y="33051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Evaluation objective</a:t>
            </a:r>
          </a:p>
        </p:txBody>
      </p:sp>
      <p:sp>
        <p:nvSpPr>
          <p:cNvPr id="9" name="Describe system metrics and perceived quality">
            <a:extLst xmlns:a="http://schemas.openxmlformats.org/drawingml/2006/main">
              <a:ext uri="{FF2B5EF4-FFF2-40B4-BE49-F238E27FC236}">
                <a16:creationId xmlns:a16="http://schemas.microsoft.com/office/drawing/2014/main" id="{D731ADB7-138E-4735-BBEC-775E27CC66D7}"/>
              </a:ext>
            </a:extLst>
          </p:cNvPr>
          <p:cNvSpPr>
            <a:spLocks xmlns:a="http://schemas.openxmlformats.org/drawingml/2006/main" noGrp="1"/>
          </p:cNvSpPr>
          <p:nvPr/>
        </p:nvSpPr>
        <p:spPr>
          <a:xfrm xmlns:a="http://schemas.openxmlformats.org/drawingml/2006/main">
            <a:off x="361950" y="36004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Describe system metrics and perceived quality. Compare manual and system survey ratings while preserving the limits of the timing data.</a:t>
            </a:r>
          </a:p>
        </p:txBody>
      </p:sp>
    </p:spTree>
    <p:extLst>
      <p:ext uri="{BB962C8B-B14F-4D97-AF65-F5344CB8AC3E}">
        <p14:creationId xmlns:p14="http://schemas.microsoft.com/office/powerpoint/2010/main" val="15212811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 INTRODUCTION">
            <a:extLst xmlns:a="http://schemas.openxmlformats.org/drawingml/2006/main">
              <a:ext uri="{FF2B5EF4-FFF2-40B4-BE49-F238E27FC236}">
                <a16:creationId xmlns:a16="http://schemas.microsoft.com/office/drawing/2014/main" id="{ACDC5C7E-6398-4A07-9315-D2B4EDE71918}"/>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 INTRODUCTION</a:t>
            </a:r>
          </a:p>
        </p:txBody>
      </p:sp>
      <p:sp>
        <p:nvSpPr>
          <p:cNvPr id="2" name="Scope and Configured Verification Modes">
            <a:extLst xmlns:a="http://schemas.openxmlformats.org/drawingml/2006/main">
              <a:ext uri="{FF2B5EF4-FFF2-40B4-BE49-F238E27FC236}">
                <a16:creationId xmlns:a16="http://schemas.microsoft.com/office/drawing/2014/main" id="{06A835E3-92C3-4CDE-8FC6-C1B1690E4ADC}"/>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Scope and Configured Verification Modes</a:t>
            </a:r>
          </a:p>
        </p:txBody>
      </p:sp>
      <p:sp>
        <p:nvSpPr>
          <p:cNvPr id="3" name="06 / 24">
            <a:extLst xmlns:a="http://schemas.openxmlformats.org/drawingml/2006/main">
              <a:ext uri="{FF2B5EF4-FFF2-40B4-BE49-F238E27FC236}">
                <a16:creationId xmlns:a16="http://schemas.microsoft.com/office/drawing/2014/main" id="{E5EEDE29-1B28-4470-A15A-40EF4F1DA6D8}"/>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06 / 24</a:t>
            </a:r>
          </a:p>
        </p:txBody>
      </p:sp>
      <p:graphicFrame>
        <p:nvGraphicFramePr>
          <p:cNvPr id="4" name="">
            <a:extLst xmlns:a="http://schemas.openxmlformats.org/drawingml/2006/main">
              <a:ext uri="{FF2B5EF4-FFF2-40B4-BE49-F238E27FC236}">
                <a16:creationId xmlns:a16="http://schemas.microsoft.com/office/drawing/2014/main" id="{CD0FF692-C6CB-4634-826D-443EB9F2D1BB}"/>
              </a:ext>
            </a:extLst>
          </p:cNvPr>
          <p:cNvGraphicFramePr/>
          <p:nvPr/>
        </p:nvGraphicFramePr>
        <p:xfrm>
          <a:off xmlns:a="http://schemas.openxmlformats.org/drawingml/2006/main" x="304800" y="1314450"/>
          <a:ext xmlns:a="http://schemas.openxmlformats.org/drawingml/2006/main" cx="8524875" cy="1847850"/>
        </p:xfrm>
        <a:graphic xmlns:a="http://schemas.openxmlformats.org/drawingml/2006/main">
          <a:graphicData uri="http://schemas.openxmlformats.org/drawingml/2006/table">
            <a:tbl>
              <a:tblPr/>
              <a:tblGrid>
                <a:gridCol w="1952625"/>
                <a:gridCol w="3524250"/>
                <a:gridCol w="3048000"/>
              </a:tblGrid>
              <a:tr h="461963">
                <a:tc>
                  <a:txBody>
                    <a:bodyPr lIns="85725" tIns="47625" rIns="85725" bIns="47625">
                      <a:noAutofit/>
                    </a:bodyPr>
                    <a:lstStyle/>
                    <a:p>
                      <a:pPr algn="l"/>
                      <a:r>
                        <a:rPr sz="1725" b="1">
                          <a:solidFill>
                            <a:srgbClr val="0B7F8A"/>
                          </a:solidFill>
                          <a:latin typeface="Calibri"/>
                          <a:ea typeface="Calibri"/>
                          <a:cs typeface="Calibri"/>
                        </a:rPr>
                        <a:t>Mode</a:t>
                      </a:r>
                    </a:p>
                  </a:txBody>
                  <a:tcPr marL="91440" marR="91440" marT="45720" marB="45720" anchor="ctr">
                    <a:solidFill>
                      <a:srgbClr val="E2E8F0"/>
                    </a:solidFill>
                  </a:tcPr>
                </a:tc>
                <a:tc>
                  <a:txBody>
                    <a:bodyPr lIns="85725" tIns="47625" rIns="85725" bIns="47625">
                      <a:noAutofit/>
                    </a:bodyPr>
                    <a:lstStyle/>
                    <a:p>
                      <a:pPr algn="l"/>
                      <a:r>
                        <a:rPr sz="1725" b="1">
                          <a:solidFill>
                            <a:srgbClr val="0B7F8A"/>
                          </a:solidFill>
                          <a:latin typeface="Calibri"/>
                          <a:ea typeface="Calibri"/>
                          <a:cs typeface="Calibri"/>
                        </a:rPr>
                        <a:t>Required Credentials</a:t>
                      </a:r>
                    </a:p>
                  </a:txBody>
                  <a:tcPr marL="91440" marR="91440" marT="45720" marB="45720" anchor="ctr">
                    <a:solidFill>
                      <a:srgbClr val="E2E8F0"/>
                    </a:solidFill>
                  </a:tcPr>
                </a:tc>
                <a:tc>
                  <a:txBody>
                    <a:bodyPr lIns="85725" tIns="47625" rIns="85725" bIns="47625">
                      <a:noAutofit/>
                    </a:bodyPr>
                    <a:lstStyle/>
                    <a:p>
                      <a:pPr algn="l"/>
                      <a:r>
                        <a:rPr sz="1725" b="1">
                          <a:solidFill>
                            <a:srgbClr val="0B7F8A"/>
                          </a:solidFill>
                          <a:latin typeface="Calibri"/>
                          <a:ea typeface="Calibri"/>
                          <a:cs typeface="Calibri"/>
                        </a:rPr>
                        <a:t>Selection</a:t>
                      </a:r>
                    </a:p>
                  </a:txBody>
                  <a:tcPr marL="91440" marR="91440" marT="45720" marB="45720" anchor="ctr">
                    <a:solidFill>
                      <a:srgbClr val="E2E8F0"/>
                    </a:solidFill>
                  </a:tcPr>
                </a:tc>
              </a:tr>
              <a:tr h="461963">
                <a:tc>
                  <a:txBody>
                    <a:bodyPr lIns="85725" tIns="47625" rIns="85725" bIns="47625">
                      <a:noAutofit/>
                    </a:bodyPr>
                    <a:lstStyle/>
                    <a:p>
                      <a:pPr algn="l"/>
                      <a:r>
                        <a:rPr sz="1725" b="0">
                          <a:solidFill>
                            <a:srgbClr val="334155"/>
                          </a:solidFill>
                          <a:latin typeface="Calibri"/>
                          <a:ea typeface="Calibri"/>
                          <a:cs typeface="Calibri"/>
                        </a:rPr>
                        <a:t>Fast</a:t>
                      </a:r>
                    </a:p>
                  </a:txBody>
                  <a:tcPr marL="91440" marR="91440" marT="45720" marB="45720" anchor="ctr">
                    <a:solidFill>
                      <a:srgbClr val="FFFFFF"/>
                    </a:solidFill>
                  </a:tcPr>
                </a:tc>
                <a:tc>
                  <a:txBody>
                    <a:bodyPr lIns="85725" tIns="47625" rIns="85725" bIns="47625">
                      <a:noAutofit/>
                    </a:bodyPr>
                    <a:lstStyle/>
                    <a:p>
                      <a:pPr algn="l"/>
                      <a:r>
                        <a:rPr sz="1725" b="0">
                          <a:solidFill>
                            <a:srgbClr val="334155"/>
                          </a:solidFill>
                          <a:latin typeface="Calibri"/>
                          <a:ea typeface="Calibri"/>
                          <a:cs typeface="Calibri"/>
                        </a:rPr>
                        <a:t>NFC only</a:t>
                      </a:r>
                    </a:p>
                  </a:txBody>
                  <a:tcPr marL="91440" marR="91440" marT="45720" marB="45720" anchor="ctr">
                    <a:solidFill>
                      <a:srgbClr val="FFFFFF"/>
                    </a:solidFill>
                  </a:tcPr>
                </a:tc>
                <a:tc>
                  <a:txBody>
                    <a:bodyPr lIns="85725" tIns="47625" rIns="85725" bIns="47625">
                      <a:noAutofit/>
                    </a:bodyPr>
                    <a:lstStyle/>
                    <a:p>
                      <a:pPr algn="l"/>
                      <a:r>
                        <a:rPr sz="1725" b="0">
                          <a:solidFill>
                            <a:srgbClr val="334155"/>
                          </a:solidFill>
                          <a:latin typeface="Calibri"/>
                          <a:ea typeface="Calibri"/>
                          <a:cs typeface="Calibri"/>
                        </a:rPr>
                        <a:t>Operator or event configuration</a:t>
                      </a:r>
                    </a:p>
                  </a:txBody>
                  <a:tcPr marL="91440" marR="91440" marT="45720" marB="45720" anchor="ctr">
                    <a:solidFill>
                      <a:srgbClr val="FFFFFF"/>
                    </a:solidFill>
                  </a:tcPr>
                </a:tc>
              </a:tr>
              <a:tr h="461963">
                <a:tc>
                  <a:txBody>
                    <a:bodyPr lIns="85725" tIns="47625" rIns="85725" bIns="47625">
                      <a:noAutofit/>
                    </a:bodyPr>
                    <a:lstStyle/>
                    <a:p>
                      <a:pPr algn="l"/>
                      <a:r>
                        <a:rPr sz="1725" b="0">
                          <a:solidFill>
                            <a:srgbClr val="334155"/>
                          </a:solidFill>
                          <a:latin typeface="Calibri"/>
                          <a:ea typeface="Calibri"/>
                          <a:cs typeface="Calibri"/>
                        </a:rPr>
                        <a:t>Standard</a:t>
                      </a:r>
                    </a:p>
                  </a:txBody>
                  <a:tcPr marL="91440" marR="91440" marT="45720" marB="45720" anchor="ctr">
                    <a:solidFill>
                      <a:srgbClr val="F8FAFC"/>
                    </a:solidFill>
                  </a:tcPr>
                </a:tc>
                <a:tc>
                  <a:txBody>
                    <a:bodyPr lIns="85725" tIns="47625" rIns="85725" bIns="47625">
                      <a:noAutofit/>
                    </a:bodyPr>
                    <a:lstStyle/>
                    <a:p>
                      <a:pPr algn="l"/>
                      <a:r>
                        <a:rPr sz="1725" b="0">
                          <a:solidFill>
                            <a:srgbClr val="334155"/>
                          </a:solidFill>
                          <a:latin typeface="Calibri"/>
                          <a:ea typeface="Calibri"/>
                          <a:cs typeface="Calibri"/>
                        </a:rPr>
                        <a:t>NFC and PIN</a:t>
                      </a:r>
                    </a:p>
                  </a:txBody>
                  <a:tcPr marL="91440" marR="91440" marT="45720" marB="45720" anchor="ctr">
                    <a:solidFill>
                      <a:srgbClr val="F8FAFC"/>
                    </a:solidFill>
                  </a:tcPr>
                </a:tc>
                <a:tc>
                  <a:txBody>
                    <a:bodyPr lIns="85725" tIns="47625" rIns="85725" bIns="47625">
                      <a:noAutofit/>
                    </a:bodyPr>
                    <a:lstStyle/>
                    <a:p>
                      <a:pPr algn="l"/>
                      <a:r>
                        <a:rPr sz="1725" b="0">
                          <a:solidFill>
                            <a:srgbClr val="334155"/>
                          </a:solidFill>
                          <a:latin typeface="Calibri"/>
                          <a:ea typeface="Calibri"/>
                          <a:cs typeface="Calibri"/>
                        </a:rPr>
                        <a:t>Operator or event configuration</a:t>
                      </a:r>
                    </a:p>
                  </a:txBody>
                  <a:tcPr marL="91440" marR="91440" marT="45720" marB="45720" anchor="ctr">
                    <a:solidFill>
                      <a:srgbClr val="F8FAFC"/>
                    </a:solidFill>
                  </a:tcPr>
                </a:tc>
              </a:tr>
              <a:tr h="461963">
                <a:tc>
                  <a:txBody>
                    <a:bodyPr lIns="85725" tIns="47625" rIns="85725" bIns="47625">
                      <a:noAutofit/>
                    </a:bodyPr>
                    <a:lstStyle/>
                    <a:p>
                      <a:pPr algn="l"/>
                      <a:r>
                        <a:rPr sz="1725" b="0">
                          <a:solidFill>
                            <a:srgbClr val="334155"/>
                          </a:solidFill>
                          <a:latin typeface="Calibri"/>
                          <a:ea typeface="Calibri"/>
                          <a:cs typeface="Calibri"/>
                        </a:rPr>
                        <a:t>High-Security</a:t>
                      </a:r>
                    </a:p>
                  </a:txBody>
                  <a:tcPr marL="91440" marR="91440" marT="45720" marB="45720" anchor="ctr">
                    <a:solidFill>
                      <a:srgbClr val="FFFFFF"/>
                    </a:solidFill>
                  </a:tcPr>
                </a:tc>
                <a:tc>
                  <a:txBody>
                    <a:bodyPr lIns="85725" tIns="47625" rIns="85725" bIns="47625">
                      <a:noAutofit/>
                    </a:bodyPr>
                    <a:lstStyle/>
                    <a:p>
                      <a:pPr algn="l"/>
                      <a:r>
                        <a:rPr sz="1725" b="0">
                          <a:solidFill>
                            <a:srgbClr val="334155"/>
                          </a:solidFill>
                          <a:latin typeface="Calibri"/>
                          <a:ea typeface="Calibri"/>
                          <a:cs typeface="Calibri"/>
                        </a:rPr>
                        <a:t>NFC, PIN, and QR validation</a:t>
                      </a:r>
                    </a:p>
                  </a:txBody>
                  <a:tcPr marL="91440" marR="91440" marT="45720" marB="45720" anchor="ctr">
                    <a:solidFill>
                      <a:srgbClr val="FFFFFF"/>
                    </a:solidFill>
                  </a:tcPr>
                </a:tc>
                <a:tc>
                  <a:txBody>
                    <a:bodyPr lIns="85725" tIns="47625" rIns="85725" bIns="47625">
                      <a:noAutofit/>
                    </a:bodyPr>
                    <a:lstStyle/>
                    <a:p>
                      <a:pPr algn="l"/>
                      <a:r>
                        <a:rPr sz="1725" b="0">
                          <a:solidFill>
                            <a:srgbClr val="334155"/>
                          </a:solidFill>
                          <a:latin typeface="Calibri"/>
                          <a:ea typeface="Calibri"/>
                          <a:cs typeface="Calibri"/>
                        </a:rPr>
                        <a:t>Operator or event configuration</a:t>
                      </a:r>
                    </a:p>
                  </a:txBody>
                  <a:tcPr marL="91440" marR="91440" marT="45720" marB="45720" anchor="ctr">
                    <a:solidFill>
                      <a:srgbClr val="FFFFFF"/>
                    </a:solidFill>
                  </a:tcPr>
                </a:tc>
              </a:tr>
            </a:tbl>
          </a:graphicData>
        </a:graphic>
      </p:graphicFrame>
      <p:sp>
        <p:nvSpPr>
          <p:cNvPr id="5" name="QR checks consistency with the NFC-linked cre">
            <a:extLst xmlns:a="http://schemas.openxmlformats.org/drawingml/2006/main">
              <a:ext uri="{FF2B5EF4-FFF2-40B4-BE49-F238E27FC236}">
                <a16:creationId xmlns:a16="http://schemas.microsoft.com/office/drawing/2014/main" id="{891C9627-E8F0-4E3A-A7CE-10A827B201C2}"/>
              </a:ext>
            </a:extLst>
          </p:cNvPr>
          <p:cNvSpPr>
            <a:spLocks xmlns:a="http://schemas.openxmlformats.org/drawingml/2006/main" noGrp="1"/>
          </p:cNvSpPr>
          <p:nvPr/>
        </p:nvSpPr>
        <p:spPr>
          <a:xfrm xmlns:a="http://schemas.openxmlformats.org/drawingml/2006/main">
            <a:off x="361950" y="3390900"/>
            <a:ext cx="838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QR checks consistency with the NFC-linked credential record. It does not independently prove physical identity.</a:t>
            </a:r>
          </a:p>
        </p:txBody>
      </p:sp>
      <p:sp>
        <p:nvSpPr>
          <p:cNvPr id="6" name="The evaluated prototype used configured modes">
            <a:extLst xmlns:a="http://schemas.openxmlformats.org/drawingml/2006/main">
              <a:ext uri="{FF2B5EF4-FFF2-40B4-BE49-F238E27FC236}">
                <a16:creationId xmlns:a16="http://schemas.microsoft.com/office/drawing/2014/main" id="{EE40AA22-8EA2-4B8B-A31F-367CA18AC989}"/>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The evaluated prototype used configured modes rather than a per-student automatic risk score.</a:t>
            </a:r>
          </a:p>
        </p:txBody>
      </p:sp>
    </p:spTree>
    <p:extLst>
      <p:ext uri="{BB962C8B-B14F-4D97-AF65-F5344CB8AC3E}">
        <p14:creationId xmlns:p14="http://schemas.microsoft.com/office/powerpoint/2010/main" val="17406025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 METHODOLOGY">
            <a:extLst xmlns:a="http://schemas.openxmlformats.org/drawingml/2006/main">
              <a:ext uri="{FF2B5EF4-FFF2-40B4-BE49-F238E27FC236}">
                <a16:creationId xmlns:a16="http://schemas.microsoft.com/office/drawing/2014/main" id="{8856D6A6-75A6-41B3-AC1A-5FA5D3F2E636}"/>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Research Design and Respondents">
            <a:extLst xmlns:a="http://schemas.openxmlformats.org/drawingml/2006/main">
              <a:ext uri="{FF2B5EF4-FFF2-40B4-BE49-F238E27FC236}">
                <a16:creationId xmlns:a16="http://schemas.microsoft.com/office/drawing/2014/main" id="{6F12DCEB-0380-4FEE-87D8-51E641F89E34}"/>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Research Design and Respondents</a:t>
            </a:r>
          </a:p>
        </p:txBody>
      </p:sp>
      <p:sp>
        <p:nvSpPr>
          <p:cNvPr id="3" name="07 / 24">
            <a:extLst xmlns:a="http://schemas.openxmlformats.org/drawingml/2006/main">
              <a:ext uri="{FF2B5EF4-FFF2-40B4-BE49-F238E27FC236}">
                <a16:creationId xmlns:a16="http://schemas.microsoft.com/office/drawing/2014/main" id="{B7BC5453-C84C-4AB4-82CC-398D078D889B}"/>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07 / 24</a:t>
            </a:r>
          </a:p>
        </p:txBody>
      </p:sp>
      <p:sp>
        <p:nvSpPr>
          <p:cNvPr id="4" name="Quantitative developmental and descriptive-ev">
            <a:extLst xmlns:a="http://schemas.openxmlformats.org/drawingml/2006/main">
              <a:ext uri="{FF2B5EF4-FFF2-40B4-BE49-F238E27FC236}">
                <a16:creationId xmlns:a16="http://schemas.microsoft.com/office/drawing/2014/main" id="{E2EAE2F1-7C72-400E-926E-F11163AD4CD6}"/>
              </a:ext>
            </a:extLst>
          </p:cNvPr>
          <p:cNvSpPr>
            <a:spLocks xmlns:a="http://schemas.openxmlformats.org/drawingml/2006/main" noGrp="1"/>
          </p:cNvSpPr>
          <p:nvPr/>
        </p:nvSpPr>
        <p:spPr>
          <a:xfrm xmlns:a="http://schemas.openxmlformats.org/drawingml/2006/main">
            <a:off x="361950" y="1266825"/>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Quantitative developmental and descriptive-evaluative design</a:t>
            </a:r>
          </a:p>
        </p:txBody>
      </p:sp>
      <p:sp>
        <p:nvSpPr>
          <p:cNvPr id="5" name="Iterative Waterfall development with controll">
            <a:extLst xmlns:a="http://schemas.openxmlformats.org/drawingml/2006/main">
              <a:ext uri="{FF2B5EF4-FFF2-40B4-BE49-F238E27FC236}">
                <a16:creationId xmlns:a16="http://schemas.microsoft.com/office/drawing/2014/main" id="{B577C1EA-E03B-4518-ACAD-344C3C7D6314}"/>
              </a:ext>
            </a:extLst>
          </p:cNvPr>
          <p:cNvSpPr>
            <a:spLocks xmlns:a="http://schemas.openxmlformats.org/drawingml/2006/main" noGrp="1"/>
          </p:cNvSpPr>
          <p:nvPr/>
        </p:nvSpPr>
        <p:spPr>
          <a:xfrm xmlns:a="http://schemas.openxmlformats.org/drawingml/2006/main">
            <a:off x="361950" y="16859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Iterative Waterfall development with controlled observation and ISO/IEC 25010-based questionnaires. Purposive and convenience sampling.</a:t>
            </a:r>
          </a:p>
        </p:txBody>
      </p:sp>
      <p:graphicFrame>
        <p:nvGraphicFramePr>
          <p:cNvPr id="6" name="">
            <a:extLst xmlns:a="http://schemas.openxmlformats.org/drawingml/2006/main">
              <a:ext uri="{FF2B5EF4-FFF2-40B4-BE49-F238E27FC236}">
                <a16:creationId xmlns:a16="http://schemas.microsoft.com/office/drawing/2014/main" id="{07D97938-B318-4EBE-8763-132843DD8903}"/>
              </a:ext>
            </a:extLst>
          </p:cNvPr>
          <p:cNvGraphicFramePr/>
          <p:nvPr/>
        </p:nvGraphicFramePr>
        <p:xfrm>
          <a:off xmlns:a="http://schemas.openxmlformats.org/drawingml/2006/main" x="304800" y="2505075"/>
          <a:ext xmlns:a="http://schemas.openxmlformats.org/drawingml/2006/main" cx="8524875" cy="1743075"/>
        </p:xfrm>
        <a:graphic xmlns:a="http://schemas.openxmlformats.org/drawingml/2006/main">
          <a:graphicData uri="http://schemas.openxmlformats.org/drawingml/2006/table">
            <a:tbl>
              <a:tblPr/>
              <a:tblGrid>
                <a:gridCol w="4524375"/>
                <a:gridCol w="666750"/>
                <a:gridCol w="3333750"/>
              </a:tblGrid>
              <a:tr h="348615">
                <a:tc>
                  <a:txBody>
                    <a:bodyPr lIns="85725" tIns="47625" rIns="85725" bIns="47625">
                      <a:noAutofit/>
                    </a:bodyPr>
                    <a:lstStyle/>
                    <a:p>
                      <a:pPr algn="l"/>
                      <a:r>
                        <a:rPr sz="1500" b="1">
                          <a:solidFill>
                            <a:srgbClr val="0B7F8A"/>
                          </a:solidFill>
                          <a:latin typeface="Calibri"/>
                          <a:ea typeface="Calibri"/>
                          <a:cs typeface="Calibri"/>
                        </a:rPr>
                        <a:t>Survey Group</a:t>
                      </a:r>
                    </a:p>
                  </a:txBody>
                  <a:tcPr marL="91440" marR="91440" marT="45720" marB="45720" anchor="ctr">
                    <a:solidFill>
                      <a:srgbClr val="E2E8F0"/>
                    </a:solidFill>
                  </a:tcPr>
                </a:tc>
                <a:tc>
                  <a:txBody>
                    <a:bodyPr lIns="85725" tIns="47625" rIns="85725" bIns="47625">
                      <a:noAutofit/>
                    </a:bodyPr>
                    <a:lstStyle/>
                    <a:p>
                      <a:pPr algn="l"/>
                      <a:r>
                        <a:rPr sz="1500" b="1">
                          <a:solidFill>
                            <a:srgbClr val="0B7F8A"/>
                          </a:solidFill>
                          <a:latin typeface="Calibri"/>
                          <a:ea typeface="Calibri"/>
                          <a:cs typeface="Calibri"/>
                        </a:rPr>
                        <a:t>n</a:t>
                      </a:r>
                    </a:p>
                  </a:txBody>
                  <a:tcPr marL="91440" marR="91440" marT="45720" marB="45720" anchor="ctr">
                    <a:solidFill>
                      <a:srgbClr val="E2E8F0"/>
                    </a:solidFill>
                  </a:tcPr>
                </a:tc>
                <a:tc>
                  <a:txBody>
                    <a:bodyPr lIns="85725" tIns="47625" rIns="85725" bIns="47625">
                      <a:noAutofit/>
                    </a:bodyPr>
                    <a:lstStyle/>
                    <a:p>
                      <a:pPr algn="l"/>
                      <a:r>
                        <a:rPr sz="1500" b="1">
                          <a:solidFill>
                            <a:srgbClr val="0B7F8A"/>
                          </a:solidFill>
                          <a:latin typeface="Calibri"/>
                          <a:ea typeface="Calibri"/>
                          <a:cs typeface="Calibri"/>
                        </a:rPr>
                        <a:t>Evaluation</a:t>
                      </a:r>
                    </a:p>
                  </a:txBody>
                  <a:tcPr marL="91440" marR="91440" marT="45720" marB="45720" anchor="ctr">
                    <a:solidFill>
                      <a:srgbClr val="E2E8F0"/>
                    </a:solidFill>
                  </a:tcPr>
                </a:tc>
              </a:tr>
              <a:tr h="348615">
                <a:tc>
                  <a:txBody>
                    <a:bodyPr lIns="85725" tIns="47625" rIns="85725" bIns="47625">
                      <a:noAutofit/>
                    </a:bodyPr>
                    <a:lstStyle/>
                    <a:p>
                      <a:pPr algn="l"/>
                      <a:r>
                        <a:rPr sz="1500" b="0">
                          <a:solidFill>
                            <a:srgbClr val="334155"/>
                          </a:solidFill>
                          <a:latin typeface="Calibri"/>
                          <a:ea typeface="Calibri"/>
                          <a:cs typeface="Calibri"/>
                        </a:rPr>
                        <a:t>Students, proposed system</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70</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Five common quality categories</a:t>
                      </a:r>
                    </a:p>
                  </a:txBody>
                  <a:tcPr marL="91440" marR="91440" marT="45720" marB="45720" anchor="ctr">
                    <a:solidFill>
                      <a:srgbClr val="FFFFFF"/>
                    </a:solidFill>
                  </a:tcPr>
                </a:tc>
              </a:tr>
              <a:tr h="348615">
                <a:tc>
                  <a:txBody>
                    <a:bodyPr lIns="85725" tIns="47625" rIns="85725" bIns="47625">
                      <a:noAutofit/>
                    </a:bodyPr>
                    <a:lstStyle/>
                    <a:p>
                      <a:pPr algn="l"/>
                      <a:r>
                        <a:rPr sz="1500" b="0">
                          <a:solidFill>
                            <a:srgbClr val="334155"/>
                          </a:solidFill>
                          <a:latin typeface="Calibri"/>
                          <a:ea typeface="Calibri"/>
                          <a:cs typeface="Calibri"/>
                        </a:rPr>
                        <a:t>Students, manual process</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70</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Corresponding five-category questionnaire</a:t>
                      </a:r>
                    </a:p>
                  </a:txBody>
                  <a:tcPr marL="91440" marR="91440" marT="45720" marB="45720" anchor="ctr">
                    <a:solidFill>
                      <a:srgbClr val="F8FAFC"/>
                    </a:solidFill>
                  </a:tcPr>
                </a:tc>
              </a:tr>
              <a:tr h="348615">
                <a:tc>
                  <a:txBody>
                    <a:bodyPr lIns="85725" tIns="47625" rIns="85725" bIns="47625">
                      <a:noAutofit/>
                    </a:bodyPr>
                    <a:lstStyle/>
                    <a:p>
                      <a:pPr algn="l"/>
                      <a:r>
                        <a:rPr sz="1500" b="0">
                          <a:solidFill>
                            <a:srgbClr val="334155"/>
                          </a:solidFill>
                          <a:latin typeface="Calibri"/>
                          <a:ea typeface="Calibri"/>
                          <a:cs typeface="Calibri"/>
                        </a:rPr>
                        <a:t>Security personnel</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5</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Five quality categories</a:t>
                      </a:r>
                    </a:p>
                  </a:txBody>
                  <a:tcPr marL="91440" marR="91440" marT="45720" marB="45720" anchor="ctr">
                    <a:solidFill>
                      <a:srgbClr val="FFFFFF"/>
                    </a:solidFill>
                  </a:tcPr>
                </a:tc>
              </a:tr>
              <a:tr h="348615">
                <a:tc>
                  <a:txBody>
                    <a:bodyPr lIns="85725" tIns="47625" rIns="85725" bIns="47625">
                      <a:noAutofit/>
                    </a:bodyPr>
                    <a:lstStyle/>
                    <a:p>
                      <a:pPr algn="l"/>
                      <a:r>
                        <a:rPr sz="1500" b="0">
                          <a:solidFill>
                            <a:srgbClr val="334155"/>
                          </a:solidFill>
                          <a:latin typeface="Calibri"/>
                          <a:ea typeface="Calibri"/>
                          <a:cs typeface="Calibri"/>
                        </a:rPr>
                        <a:t>Faculty, event organizer, administrators</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5</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Eight quality categories</a:t>
                      </a:r>
                    </a:p>
                  </a:txBody>
                  <a:tcPr marL="91440" marR="91440" marT="45720" marB="45720" anchor="ctr">
                    <a:solidFill>
                      <a:srgbClr val="F8FAFC"/>
                    </a:solidFill>
                  </a:tcPr>
                </a:tc>
              </a:tr>
            </a:tbl>
          </a:graphicData>
        </a:graphic>
      </p:graphicFrame>
      <p:sp>
        <p:nvSpPr>
          <p:cNvPr id="7" name="150 survey respondents in total. The two stud">
            <a:extLst xmlns:a="http://schemas.openxmlformats.org/drawingml/2006/main">
              <a:ext uri="{FF2B5EF4-FFF2-40B4-BE49-F238E27FC236}">
                <a16:creationId xmlns:a16="http://schemas.microsoft.com/office/drawing/2014/main" id="{7D26AAF7-8EA1-4681-A4D0-6F38638A6AA7}"/>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150 survey respondents in total. The two student survey groups contain different people.</a:t>
            </a:r>
          </a:p>
        </p:txBody>
      </p:sp>
    </p:spTree>
    <p:extLst>
      <p:ext uri="{BB962C8B-B14F-4D97-AF65-F5344CB8AC3E}">
        <p14:creationId xmlns:p14="http://schemas.microsoft.com/office/powerpoint/2010/main" val="2457723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 METHODOLOGY">
            <a:extLst xmlns:a="http://schemas.openxmlformats.org/drawingml/2006/main">
              <a:ext uri="{FF2B5EF4-FFF2-40B4-BE49-F238E27FC236}">
                <a16:creationId xmlns:a16="http://schemas.microsoft.com/office/drawing/2014/main" id="{8586C8EB-9195-48F8-AA4F-0069F5009336}"/>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Controlled Observation Procedure">
            <a:extLst xmlns:a="http://schemas.openxmlformats.org/drawingml/2006/main">
              <a:ext uri="{FF2B5EF4-FFF2-40B4-BE49-F238E27FC236}">
                <a16:creationId xmlns:a16="http://schemas.microsoft.com/office/drawing/2014/main" id="{A3271F09-BE7B-4806-AA94-9C18F5F3B2E0}"/>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Controlled Observation Procedure</a:t>
            </a:r>
          </a:p>
        </p:txBody>
      </p:sp>
      <p:sp>
        <p:nvSpPr>
          <p:cNvPr id="3" name="08 / 24">
            <a:extLst xmlns:a="http://schemas.openxmlformats.org/drawingml/2006/main">
              <a:ext uri="{FF2B5EF4-FFF2-40B4-BE49-F238E27FC236}">
                <a16:creationId xmlns:a16="http://schemas.microsoft.com/office/drawing/2014/main" id="{BB0C4608-BD04-47F7-90A3-AD9F7F8F5ABF}"/>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08 / 24</a:t>
            </a:r>
          </a:p>
        </p:txBody>
      </p:sp>
      <p:graphicFrame>
        <p:nvGraphicFramePr>
          <p:cNvPr id="4" name="">
            <a:extLst xmlns:a="http://schemas.openxmlformats.org/drawingml/2006/main">
              <a:ext uri="{FF2B5EF4-FFF2-40B4-BE49-F238E27FC236}">
                <a16:creationId xmlns:a16="http://schemas.microsoft.com/office/drawing/2014/main" id="{D68F951B-F10B-4594-9A84-4FA94B72E98B}"/>
              </a:ext>
            </a:extLst>
          </p:cNvPr>
          <p:cNvGraphicFramePr/>
          <p:nvPr/>
        </p:nvGraphicFramePr>
        <p:xfrm>
          <a:off xmlns:a="http://schemas.openxmlformats.org/drawingml/2006/main" x="304800" y="1295400"/>
          <a:ext xmlns:a="http://schemas.openxmlformats.org/drawingml/2006/main" cx="8524875" cy="1428750"/>
        </p:xfrm>
        <a:graphic xmlns:a="http://schemas.openxmlformats.org/drawingml/2006/main">
          <a:graphicData uri="http://schemas.openxmlformats.org/drawingml/2006/table">
            <a:tbl>
              <a:tblPr/>
              <a:tblGrid>
                <a:gridCol w="2286000"/>
                <a:gridCol w="1381125"/>
                <a:gridCol w="4857750"/>
              </a:tblGrid>
              <a:tr h="476250">
                <a:tc>
                  <a:txBody>
                    <a:bodyPr lIns="85725" tIns="47625" rIns="85725" bIns="47625">
                      <a:noAutofit/>
                    </a:bodyPr>
                    <a:lstStyle/>
                    <a:p>
                      <a:pPr algn="l"/>
                      <a:r>
                        <a:rPr sz="1725" b="1">
                          <a:solidFill>
                            <a:srgbClr val="0B7F8A"/>
                          </a:solidFill>
                          <a:latin typeface="Calibri"/>
                          <a:ea typeface="Calibri"/>
                          <a:cs typeface="Calibri"/>
                        </a:rPr>
                        <a:t>Session</a:t>
                      </a:r>
                    </a:p>
                  </a:txBody>
                  <a:tcPr marL="91440" marR="91440" marT="45720" marB="45720" anchor="ctr">
                    <a:solidFill>
                      <a:srgbClr val="E2E8F0"/>
                    </a:solidFill>
                  </a:tcPr>
                </a:tc>
                <a:tc>
                  <a:txBody>
                    <a:bodyPr lIns="85725" tIns="47625" rIns="85725" bIns="47625">
                      <a:noAutofit/>
                    </a:bodyPr>
                    <a:lstStyle/>
                    <a:p>
                      <a:pPr algn="l"/>
                      <a:r>
                        <a:rPr sz="1725" b="1">
                          <a:solidFill>
                            <a:srgbClr val="0B7F8A"/>
                          </a:solidFill>
                          <a:latin typeface="Calibri"/>
                          <a:ea typeface="Calibri"/>
                          <a:cs typeface="Calibri"/>
                        </a:rPr>
                        <a:t>Participants</a:t>
                      </a:r>
                    </a:p>
                  </a:txBody>
                  <a:tcPr marL="91440" marR="91440" marT="45720" marB="45720" anchor="ctr">
                    <a:solidFill>
                      <a:srgbClr val="E2E8F0"/>
                    </a:solidFill>
                  </a:tcPr>
                </a:tc>
                <a:tc>
                  <a:txBody>
                    <a:bodyPr lIns="85725" tIns="47625" rIns="85725" bIns="47625">
                      <a:noAutofit/>
                    </a:bodyPr>
                    <a:lstStyle/>
                    <a:p>
                      <a:pPr algn="l"/>
                      <a:r>
                        <a:rPr sz="1725" b="1">
                          <a:solidFill>
                            <a:srgbClr val="0B7F8A"/>
                          </a:solidFill>
                          <a:latin typeface="Calibri"/>
                          <a:ea typeface="Calibri"/>
                          <a:cs typeface="Calibri"/>
                        </a:rPr>
                        <a:t>Entry Rounds per Mode</a:t>
                      </a:r>
                    </a:p>
                  </a:txBody>
                  <a:tcPr marL="91440" marR="91440" marT="45720" marB="45720" anchor="ctr">
                    <a:solidFill>
                      <a:srgbClr val="E2E8F0"/>
                    </a:solidFill>
                  </a:tcPr>
                </a:tc>
              </a:tr>
              <a:tr h="476250">
                <a:tc>
                  <a:txBody>
                    <a:bodyPr lIns="85725" tIns="47625" rIns="85725" bIns="47625">
                      <a:noAutofit/>
                    </a:bodyPr>
                    <a:lstStyle/>
                    <a:p>
                      <a:pPr algn="l"/>
                      <a:r>
                        <a:rPr sz="1725" b="0">
                          <a:solidFill>
                            <a:srgbClr val="334155"/>
                          </a:solidFill>
                          <a:latin typeface="Calibri"/>
                          <a:ea typeface="Calibri"/>
                          <a:cs typeface="Calibri"/>
                        </a:rPr>
                        <a:t>August 12, 2026</a:t>
                      </a:r>
                    </a:p>
                  </a:txBody>
                  <a:tcPr marL="91440" marR="91440" marT="45720" marB="45720" anchor="ctr">
                    <a:solidFill>
                      <a:srgbClr val="FFFFFF"/>
                    </a:solidFill>
                  </a:tcPr>
                </a:tc>
                <a:tc>
                  <a:txBody>
                    <a:bodyPr lIns="85725" tIns="47625" rIns="85725" bIns="47625">
                      <a:noAutofit/>
                    </a:bodyPr>
                    <a:lstStyle/>
                    <a:p>
                      <a:pPr algn="l"/>
                      <a:r>
                        <a:rPr sz="1725" b="0">
                          <a:solidFill>
                            <a:srgbClr val="334155"/>
                          </a:solidFill>
                          <a:latin typeface="Calibri"/>
                          <a:ea typeface="Calibri"/>
                          <a:cs typeface="Calibri"/>
                        </a:rPr>
                        <a:t>40</a:t>
                      </a:r>
                    </a:p>
                  </a:txBody>
                  <a:tcPr marL="91440" marR="91440" marT="45720" marB="45720" anchor="ctr">
                    <a:solidFill>
                      <a:srgbClr val="FFFFFF"/>
                    </a:solidFill>
                  </a:tcPr>
                </a:tc>
                <a:tc>
                  <a:txBody>
                    <a:bodyPr lIns="85725" tIns="47625" rIns="85725" bIns="47625">
                      <a:noAutofit/>
                    </a:bodyPr>
                    <a:lstStyle/>
                    <a:p>
                      <a:pPr algn="l"/>
                      <a:r>
                        <a:rPr sz="1725" b="0">
                          <a:solidFill>
                            <a:srgbClr val="334155"/>
                          </a:solidFill>
                          <a:latin typeface="Calibri"/>
                          <a:ea typeface="Calibri"/>
                          <a:cs typeface="Calibri"/>
                        </a:rPr>
                        <a:t>20 entries, reset exits, then 20 entries</a:t>
                      </a:r>
                    </a:p>
                  </a:txBody>
                  <a:tcPr marL="91440" marR="91440" marT="45720" marB="45720" anchor="ctr">
                    <a:solidFill>
                      <a:srgbClr val="FFFFFF"/>
                    </a:solidFill>
                  </a:tcPr>
                </a:tc>
              </a:tr>
              <a:tr h="476250">
                <a:tc>
                  <a:txBody>
                    <a:bodyPr lIns="85725" tIns="47625" rIns="85725" bIns="47625">
                      <a:noAutofit/>
                    </a:bodyPr>
                    <a:lstStyle/>
                    <a:p>
                      <a:pPr algn="l"/>
                      <a:r>
                        <a:rPr sz="1725" b="0">
                          <a:solidFill>
                            <a:srgbClr val="334155"/>
                          </a:solidFill>
                          <a:latin typeface="Calibri"/>
                          <a:ea typeface="Calibri"/>
                          <a:cs typeface="Calibri"/>
                        </a:rPr>
                        <a:t>August 13, 2026</a:t>
                      </a:r>
                    </a:p>
                  </a:txBody>
                  <a:tcPr marL="91440" marR="91440" marT="45720" marB="45720" anchor="ctr">
                    <a:solidFill>
                      <a:srgbClr val="F8FAFC"/>
                    </a:solidFill>
                  </a:tcPr>
                </a:tc>
                <a:tc>
                  <a:txBody>
                    <a:bodyPr lIns="85725" tIns="47625" rIns="85725" bIns="47625">
                      <a:noAutofit/>
                    </a:bodyPr>
                    <a:lstStyle/>
                    <a:p>
                      <a:pPr algn="l"/>
                      <a:r>
                        <a:rPr sz="1725" b="0">
                          <a:solidFill>
                            <a:srgbClr val="334155"/>
                          </a:solidFill>
                          <a:latin typeface="Calibri"/>
                          <a:ea typeface="Calibri"/>
                          <a:cs typeface="Calibri"/>
                        </a:rPr>
                        <a:t>30</a:t>
                      </a:r>
                    </a:p>
                  </a:txBody>
                  <a:tcPr marL="91440" marR="91440" marT="45720" marB="45720" anchor="ctr">
                    <a:solidFill>
                      <a:srgbClr val="F8FAFC"/>
                    </a:solidFill>
                  </a:tcPr>
                </a:tc>
                <a:tc>
                  <a:txBody>
                    <a:bodyPr lIns="85725" tIns="47625" rIns="85725" bIns="47625">
                      <a:noAutofit/>
                    </a:bodyPr>
                    <a:lstStyle/>
                    <a:p>
                      <a:pPr algn="l"/>
                      <a:r>
                        <a:rPr sz="1725" b="0">
                          <a:solidFill>
                            <a:srgbClr val="334155"/>
                          </a:solidFill>
                          <a:latin typeface="Calibri"/>
                          <a:ea typeface="Calibri"/>
                          <a:cs typeface="Calibri"/>
                        </a:rPr>
                        <a:t>20 entries, reset exits, then 10 entries</a:t>
                      </a:r>
                    </a:p>
                  </a:txBody>
                  <a:tcPr marL="91440" marR="91440" marT="45720" marB="45720" anchor="ctr">
                    <a:solidFill>
                      <a:srgbClr val="F8FAFC"/>
                    </a:solidFill>
                  </a:tcPr>
                </a:tc>
              </a:tr>
            </a:tbl>
          </a:graphicData>
        </a:graphic>
      </p:graphicFrame>
      <p:sp>
        <p:nvSpPr>
          <p:cNvPr id="5" name="Same participants across modes">
            <a:extLst xmlns:a="http://schemas.openxmlformats.org/drawingml/2006/main">
              <a:ext uri="{FF2B5EF4-FFF2-40B4-BE49-F238E27FC236}">
                <a16:creationId xmlns:a16="http://schemas.microsoft.com/office/drawing/2014/main" id="{BE99B536-82D1-4AF0-8C12-122CED353E2F}"/>
              </a:ext>
            </a:extLst>
          </p:cNvPr>
          <p:cNvSpPr>
            <a:spLocks xmlns:a="http://schemas.openxmlformats.org/drawingml/2006/main" noGrp="1"/>
          </p:cNvSpPr>
          <p:nvPr/>
        </p:nvSpPr>
        <p:spPr>
          <a:xfrm xmlns:a="http://schemas.openxmlformats.org/drawingml/2006/main">
            <a:off x="361950" y="29337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Same participants across modes</a:t>
            </a:r>
          </a:p>
        </p:txBody>
      </p:sp>
      <p:sp>
        <p:nvSpPr>
          <p:cNvPr id="6" name="70 participants completed Fast, Standard, the">
            <a:extLst xmlns:a="http://schemas.openxmlformats.org/drawingml/2006/main">
              <a:ext uri="{FF2B5EF4-FFF2-40B4-BE49-F238E27FC236}">
                <a16:creationId xmlns:a16="http://schemas.microsoft.com/office/drawing/2014/main" id="{03C35612-C06F-4E31-A5AC-6C7CE211B2A8}"/>
              </a:ext>
            </a:extLst>
          </p:cNvPr>
          <p:cNvSpPr>
            <a:spLocks xmlns:a="http://schemas.openxmlformats.org/drawingml/2006/main" noGrp="1"/>
          </p:cNvSpPr>
          <p:nvPr/>
        </p:nvSpPr>
        <p:spPr>
          <a:xfrm xmlns:a="http://schemas.openxmlformats.org/drawingml/2006/main">
            <a:off x="361950" y="3228975"/>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70 participants completed Fast, Standard, then High-Security in that fixed order. Each mode contains 70 successful entries.</a:t>
            </a:r>
          </a:p>
        </p:txBody>
      </p:sp>
      <p:sp>
        <p:nvSpPr>
          <p:cNvPr id="7" name="Shared test credentials">
            <a:extLst xmlns:a="http://schemas.openxmlformats.org/drawingml/2006/main">
              <a:ext uri="{FF2B5EF4-FFF2-40B4-BE49-F238E27FC236}">
                <a16:creationId xmlns:a16="http://schemas.microsoft.com/office/drawing/2014/main" id="{561173CC-A06B-48B9-BDFB-60CA2D5003BA}"/>
              </a:ext>
            </a:extLst>
          </p:cNvPr>
          <p:cNvSpPr>
            <a:spLocks xmlns:a="http://schemas.openxmlformats.org/drawingml/2006/main" noGrp="1"/>
          </p:cNvSpPr>
          <p:nvPr/>
        </p:nvSpPr>
        <p:spPr>
          <a:xfrm xmlns:a="http://schemas.openxmlformats.org/drawingml/2006/main">
            <a:off x="361950" y="3733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Shared test credentials</a:t>
            </a:r>
          </a:p>
        </p:txBody>
      </p:sp>
      <p:sp>
        <p:nvSpPr>
          <p:cNvPr id="8" name="20 preconfigured NFC cards with PIN and QR we">
            <a:extLst xmlns:a="http://schemas.openxmlformats.org/drawingml/2006/main">
              <a:ext uri="{FF2B5EF4-FFF2-40B4-BE49-F238E27FC236}">
                <a16:creationId xmlns:a16="http://schemas.microsoft.com/office/drawing/2014/main" id="{78205310-6DD8-4745-B538-601755039E17}"/>
              </a:ext>
            </a:extLst>
          </p:cNvPr>
          <p:cNvSpPr>
            <a:spLocks xmlns:a="http://schemas.openxmlformats.org/drawingml/2006/main" noGrp="1"/>
          </p:cNvSpPr>
          <p:nvPr/>
        </p:nvSpPr>
        <p:spPr>
          <a:xfrm xmlns:a="http://schemas.openxmlformats.org/drawingml/2006/main">
            <a:off x="361950" y="4029075"/>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20 preconfigured NFC cards with PIN and QR were reused. Team exit transactions reset the profiles between rounds.</a:t>
            </a:r>
          </a:p>
        </p:txBody>
      </p:sp>
    </p:spTree>
    <p:extLst>
      <p:ext uri="{BB962C8B-B14F-4D97-AF65-F5344CB8AC3E}">
        <p14:creationId xmlns:p14="http://schemas.microsoft.com/office/powerpoint/2010/main" val="207532445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 METHODOLOGY">
            <a:extLst xmlns:a="http://schemas.openxmlformats.org/drawingml/2006/main">
              <a:ext uri="{FF2B5EF4-FFF2-40B4-BE49-F238E27FC236}">
                <a16:creationId xmlns:a16="http://schemas.microsoft.com/office/drawing/2014/main" id="{6412BE75-5F52-4FA1-B94E-3872A7A1BF43}"/>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System Architecture and Evaluation Scope">
            <a:extLst xmlns:a="http://schemas.openxmlformats.org/drawingml/2006/main">
              <a:ext uri="{FF2B5EF4-FFF2-40B4-BE49-F238E27FC236}">
                <a16:creationId xmlns:a16="http://schemas.microsoft.com/office/drawing/2014/main" id="{81798109-B341-45A6-B4B3-3B1404BECCEC}"/>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System Architecture and Evaluation Scope</a:t>
            </a:r>
          </a:p>
        </p:txBody>
      </p:sp>
      <p:sp>
        <p:nvSpPr>
          <p:cNvPr id="3" name="09 / 24">
            <a:extLst xmlns:a="http://schemas.openxmlformats.org/drawingml/2006/main">
              <a:ext uri="{FF2B5EF4-FFF2-40B4-BE49-F238E27FC236}">
                <a16:creationId xmlns:a16="http://schemas.microsoft.com/office/drawing/2014/main" id="{92960F06-2035-4ADC-A85F-497248EB3AB6}"/>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09 / 24</a:t>
            </a:r>
          </a:p>
        </p:txBody>
      </p:sp>
      <p:graphicFrame>
        <p:nvGraphicFramePr>
          <p:cNvPr id="4" name="">
            <a:extLst xmlns:a="http://schemas.openxmlformats.org/drawingml/2006/main">
              <a:ext uri="{FF2B5EF4-FFF2-40B4-BE49-F238E27FC236}">
                <a16:creationId xmlns:a16="http://schemas.microsoft.com/office/drawing/2014/main" id="{3EFD23BB-9A9F-49AD-9967-F0CFE4FC6965}"/>
              </a:ext>
            </a:extLst>
          </p:cNvPr>
          <p:cNvGraphicFramePr/>
          <p:nvPr/>
        </p:nvGraphicFramePr>
        <p:xfrm>
          <a:off xmlns:a="http://schemas.openxmlformats.org/drawingml/2006/main" x="304800" y="1266825"/>
          <a:ext xmlns:a="http://schemas.openxmlformats.org/drawingml/2006/main" cx="8524875" cy="2143125"/>
        </p:xfrm>
        <a:graphic xmlns:a="http://schemas.openxmlformats.org/drawingml/2006/main">
          <a:graphicData uri="http://schemas.openxmlformats.org/drawingml/2006/table">
            <a:tbl>
              <a:tblPr/>
              <a:tblGrid>
                <a:gridCol w="2381250"/>
                <a:gridCol w="6143625"/>
              </a:tblGrid>
              <a:tr h="428625">
                <a:tc>
                  <a:txBody>
                    <a:bodyPr lIns="85725" tIns="47625" rIns="85725" bIns="47625">
                      <a:noAutofit/>
                    </a:bodyPr>
                    <a:lstStyle/>
                    <a:p>
                      <a:pPr algn="l"/>
                      <a:r>
                        <a:rPr sz="1650" b="1">
                          <a:solidFill>
                            <a:srgbClr val="0B7F8A"/>
                          </a:solidFill>
                          <a:latin typeface="Calibri"/>
                          <a:ea typeface="Calibri"/>
                          <a:cs typeface="Calibri"/>
                        </a:rPr>
                        <a:t>Layer</a:t>
                      </a:r>
                    </a:p>
                  </a:txBody>
                  <a:tcPr marL="91440" marR="91440" marT="45720" marB="45720" anchor="ctr">
                    <a:solidFill>
                      <a:srgbClr val="E2E8F0"/>
                    </a:solidFill>
                  </a:tcPr>
                </a:tc>
                <a:tc>
                  <a:txBody>
                    <a:bodyPr lIns="85725" tIns="47625" rIns="85725" bIns="47625">
                      <a:noAutofit/>
                    </a:bodyPr>
                    <a:lstStyle/>
                    <a:p>
                      <a:pPr algn="l"/>
                      <a:r>
                        <a:rPr sz="1650" b="1">
                          <a:solidFill>
                            <a:srgbClr val="0B7F8A"/>
                          </a:solidFill>
                          <a:latin typeface="Calibri"/>
                          <a:ea typeface="Calibri"/>
                          <a:cs typeface="Calibri"/>
                        </a:rPr>
                        <a:t>Role</a:t>
                      </a:r>
                    </a:p>
                  </a:txBody>
                  <a:tcPr marL="91440" marR="91440" marT="45720" marB="45720" anchor="ctr">
                    <a:solidFill>
                      <a:srgbClr val="E2E8F0"/>
                    </a:solidFill>
                  </a:tcPr>
                </a:tc>
              </a:tr>
              <a:tr h="428625">
                <a:tc>
                  <a:txBody>
                    <a:bodyPr lIns="85725" tIns="47625" rIns="85725" bIns="47625">
                      <a:noAutofit/>
                    </a:bodyPr>
                    <a:lstStyle/>
                    <a:p>
                      <a:pPr algn="l"/>
                      <a:r>
                        <a:rPr sz="1650" b="0">
                          <a:solidFill>
                            <a:srgbClr val="334155"/>
                          </a:solidFill>
                          <a:latin typeface="Calibri"/>
                          <a:ea typeface="Calibri"/>
                          <a:cs typeface="Calibri"/>
                        </a:rPr>
                        <a:t>ESP32 and PN532</a:t>
                      </a:r>
                    </a:p>
                  </a:txBody>
                  <a:tcPr marL="91440" marR="91440" marT="45720" marB="45720" anchor="ctr">
                    <a:solidFill>
                      <a:srgbClr val="FFFFFF"/>
                    </a:solidFill>
                  </a:tcPr>
                </a:tc>
                <a:tc>
                  <a:txBody>
                    <a:bodyPr lIns="85725" tIns="47625" rIns="85725" bIns="47625">
                      <a:noAutofit/>
                    </a:bodyPr>
                    <a:lstStyle/>
                    <a:p>
                      <a:pPr algn="l"/>
                      <a:r>
                        <a:rPr sz="1650" b="0">
                          <a:solidFill>
                            <a:srgbClr val="334155"/>
                          </a:solidFill>
                          <a:latin typeface="Calibri"/>
                          <a:ea typeface="Calibri"/>
                          <a:cs typeface="Calibri"/>
                        </a:rPr>
                        <a:t>Read NFC UID and transmit it to the Windows application through USB serial.</a:t>
                      </a:r>
                    </a:p>
                  </a:txBody>
                  <a:tcPr marL="91440" marR="91440" marT="45720" marB="45720" anchor="ctr">
                    <a:solidFill>
                      <a:srgbClr val="FFFFFF"/>
                    </a:solidFill>
                  </a:tcPr>
                </a:tc>
              </a:tr>
              <a:tr h="428625">
                <a:tc>
                  <a:txBody>
                    <a:bodyPr lIns="85725" tIns="47625" rIns="85725" bIns="47625">
                      <a:noAutofit/>
                    </a:bodyPr>
                    <a:lstStyle/>
                    <a:p>
                      <a:pPr algn="l"/>
                      <a:r>
                        <a:rPr sz="1650" b="0">
                          <a:solidFill>
                            <a:srgbClr val="334155"/>
                          </a:solidFill>
                          <a:latin typeface="Calibri"/>
                          <a:ea typeface="Calibri"/>
                          <a:cs typeface="Calibri"/>
                        </a:rPr>
                        <a:t>WinUI 3 application</a:t>
                      </a:r>
                    </a:p>
                  </a:txBody>
                  <a:tcPr marL="91440" marR="91440" marT="45720" marB="45720" anchor="ctr">
                    <a:solidFill>
                      <a:srgbClr val="F8FAFC"/>
                    </a:solidFill>
                  </a:tcPr>
                </a:tc>
                <a:tc>
                  <a:txBody>
                    <a:bodyPr lIns="85725" tIns="47625" rIns="85725" bIns="47625">
                      <a:noAutofit/>
                    </a:bodyPr>
                    <a:lstStyle/>
                    <a:p>
                      <a:pPr algn="l"/>
                      <a:r>
                        <a:rPr sz="1650" b="0">
                          <a:solidFill>
                            <a:srgbClr val="334155"/>
                          </a:solidFill>
                          <a:latin typeface="Calibri"/>
                          <a:ea typeface="Calibri"/>
                          <a:cs typeface="Calibri"/>
                        </a:rPr>
                        <a:t>Apply configured rules, validate PIN/QR, assign timestamps, and update displays and records.</a:t>
                      </a:r>
                    </a:p>
                  </a:txBody>
                  <a:tcPr marL="91440" marR="91440" marT="45720" marB="45720" anchor="ctr">
                    <a:solidFill>
                      <a:srgbClr val="F8FAFC"/>
                    </a:solidFill>
                  </a:tcPr>
                </a:tc>
              </a:tr>
              <a:tr h="428625">
                <a:tc>
                  <a:txBody>
                    <a:bodyPr lIns="85725" tIns="47625" rIns="85725" bIns="47625">
                      <a:noAutofit/>
                    </a:bodyPr>
                    <a:lstStyle/>
                    <a:p>
                      <a:pPr algn="l"/>
                      <a:r>
                        <a:rPr sz="1650" b="0">
                          <a:solidFill>
                            <a:srgbClr val="334155"/>
                          </a:solidFill>
                          <a:latin typeface="Calibri"/>
                          <a:ea typeface="Calibri"/>
                          <a:cs typeface="Calibri"/>
                        </a:rPr>
                        <a:t>Local MySQL</a:t>
                      </a:r>
                    </a:p>
                  </a:txBody>
                  <a:tcPr marL="91440" marR="91440" marT="45720" marB="45720" anchor="ctr">
                    <a:solidFill>
                      <a:srgbClr val="FFFFFF"/>
                    </a:solidFill>
                  </a:tcPr>
                </a:tc>
                <a:tc>
                  <a:txBody>
                    <a:bodyPr lIns="85725" tIns="47625" rIns="85725" bIns="47625">
                      <a:noAutofit/>
                    </a:bodyPr>
                    <a:lstStyle/>
                    <a:p>
                      <a:pPr algn="l"/>
                      <a:r>
                        <a:rPr sz="1650" b="0">
                          <a:solidFill>
                            <a:srgbClr val="334155"/>
                          </a:solidFill>
                          <a:latin typeface="Calibri"/>
                          <a:ea typeface="Calibri"/>
                          <a:cs typeface="Calibri"/>
                        </a:rPr>
                        <a:t>Store operational student, event, attendance, and security records.</a:t>
                      </a:r>
                    </a:p>
                  </a:txBody>
                  <a:tcPr marL="91440" marR="91440" marT="45720" marB="45720" anchor="ctr">
                    <a:solidFill>
                      <a:srgbClr val="FFFFFF"/>
                    </a:solidFill>
                  </a:tcPr>
                </a:tc>
              </a:tr>
              <a:tr h="428625">
                <a:tc>
                  <a:txBody>
                    <a:bodyPr lIns="85725" tIns="47625" rIns="85725" bIns="47625">
                      <a:noAutofit/>
                    </a:bodyPr>
                    <a:lstStyle/>
                    <a:p>
                      <a:pPr algn="l"/>
                      <a:r>
                        <a:rPr sz="1650" b="0">
                          <a:solidFill>
                            <a:srgbClr val="334155"/>
                          </a:solidFill>
                          <a:latin typeface="Calibri"/>
                          <a:ea typeface="Calibri"/>
                          <a:cs typeface="Calibri"/>
                        </a:rPr>
                        <a:t>Firebase Firestore</a:t>
                      </a:r>
                    </a:p>
                  </a:txBody>
                  <a:tcPr marL="91440" marR="91440" marT="45720" marB="45720" anchor="ctr">
                    <a:solidFill>
                      <a:srgbClr val="F8FAFC"/>
                    </a:solidFill>
                  </a:tcPr>
                </a:tc>
                <a:tc>
                  <a:txBody>
                    <a:bodyPr lIns="85725" tIns="47625" rIns="85725" bIns="47625">
                      <a:noAutofit/>
                    </a:bodyPr>
                    <a:lstStyle/>
                    <a:p>
                      <a:pPr algn="l"/>
                      <a:r>
                        <a:rPr sz="1650" b="0">
                          <a:solidFill>
                            <a:srgbClr val="334155"/>
                          </a:solidFill>
                          <a:latin typeface="Calibri"/>
                          <a:ea typeface="Calibri"/>
                          <a:cs typeface="Calibri"/>
                        </a:rPr>
                        <a:t>Support cloud synchronization and backup.</a:t>
                      </a:r>
                    </a:p>
                  </a:txBody>
                  <a:tcPr marL="91440" marR="91440" marT="45720" marB="45720" anchor="ctr">
                    <a:solidFill>
                      <a:srgbClr val="F8FAFC"/>
                    </a:solidFill>
                  </a:tcPr>
                </a:tc>
              </a:tr>
            </a:tbl>
          </a:graphicData>
        </a:graphic>
      </p:graphicFrame>
      <p:sp>
        <p:nvSpPr>
          <p:cNvPr id="5" name="Added after the August observation">
            <a:extLst xmlns:a="http://schemas.openxmlformats.org/drawingml/2006/main">
              <a:ext uri="{FF2B5EF4-FFF2-40B4-BE49-F238E27FC236}">
                <a16:creationId xmlns:a16="http://schemas.microsoft.com/office/drawing/2014/main" id="{50C89B4B-E1F0-48DB-92AE-F93666E3D64F}"/>
              </a:ext>
            </a:extLst>
          </p:cNvPr>
          <p:cNvSpPr>
            <a:spLocks xmlns:a="http://schemas.openxmlformats.org/drawingml/2006/main" noGrp="1"/>
          </p:cNvSpPr>
          <p:nvPr/>
        </p:nvSpPr>
        <p:spPr>
          <a:xfrm xmlns:a="http://schemas.openxmlformats.org/drawingml/2006/main">
            <a:off x="361950" y="3629025"/>
            <a:ext cx="838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Added after the August observation</a:t>
            </a:r>
          </a:p>
        </p:txBody>
      </p:sp>
      <p:sp>
        <p:nvSpPr>
          <p:cNvPr id="6" name="Signed QR credentials, durable offline queues">
            <a:extLst xmlns:a="http://schemas.openxmlformats.org/drawingml/2006/main">
              <a:ext uri="{FF2B5EF4-FFF2-40B4-BE49-F238E27FC236}">
                <a16:creationId xmlns:a16="http://schemas.microsoft.com/office/drawing/2014/main" id="{4D751E67-9AC6-4E03-B7F7-8C0D38219C2F}"/>
              </a:ext>
            </a:extLst>
          </p:cNvPr>
          <p:cNvSpPr>
            <a:spLocks xmlns:a="http://schemas.openxmlformats.org/drawingml/2006/main" noGrp="1"/>
          </p:cNvSpPr>
          <p:nvPr/>
        </p:nvSpPr>
        <p:spPr>
          <a:xfrm xmlns:a="http://schemas.openxmlformats.org/drawingml/2006/main">
            <a:off x="361950" y="3990975"/>
            <a:ext cx="833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Signed QR credentials, durable offline queues, event-completion rules, and graduation clearance require separate evaluation evidence.</a:t>
            </a:r>
          </a:p>
        </p:txBody>
      </p:sp>
    </p:spTree>
    <p:extLst>
      <p:ext uri="{BB962C8B-B14F-4D97-AF65-F5344CB8AC3E}">
        <p14:creationId xmlns:p14="http://schemas.microsoft.com/office/powerpoint/2010/main" val="2083726097"/>
      </p:ext>
    </p:extLst>
  </p:cSld>
</p:sld>
</file>

<file path=ppt/slides/slide10.xml><?xml version="1.0" encoding="utf-8"?>
<p:sld xmlns:p="http://schemas.openxmlformats.org/presentationml/2006/main" show="0">
  <p:cSld>
    <p:spTree>
      <p:nvGrpSpPr>
        <p:cNvPr id="1" name=""/>
        <p:cNvGrpSpPr/>
        <p:nvPr/>
      </p:nvGrpSpPr>
      <p:grpSpPr>
        <a:xfrm xmlns:a="http://schemas.openxmlformats.org/drawingml/2006/main"/>
      </p:grpSpPr>
      <p:sp>
        <p:nvSpPr>
          <p:cNvPr id="295" name="Google Shape;295;p13">
            <a:extLst xmlns:a="http://schemas.openxmlformats.org/drawingml/2006/main">
              <a:ext uri="{FF2B5EF4-FFF2-40B4-BE49-F238E27FC236}">
                <a16:creationId xmlns:a16="http://schemas.microsoft.com/office/drawing/2014/main" id="{FFC3EF3D-1222-4241-A7A2-282CC4304DFE}"/>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4F7F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6" name="Google Shape;296;p13">
            <a:extLst xmlns:a="http://schemas.openxmlformats.org/drawingml/2006/main">
              <a:ext uri="{FF2B5EF4-FFF2-40B4-BE49-F238E27FC236}">
                <a16:creationId xmlns:a16="http://schemas.microsoft.com/office/drawing/2014/main" id="{3A57EC0F-C96D-4DD5-9A38-30C0927792B3}"/>
              </a:ext>
            </a:extLst>
          </p:cNvPr>
          <p:cNvSpPr>
            <a:spLocks xmlns:a="http://schemas.openxmlformats.org/drawingml/2006/main" noGrp="1"/>
          </p:cNvSpPr>
          <p:nvPr/>
        </p:nvSpPr>
        <p:spPr>
          <a:xfrm xmlns:a="http://schemas.openxmlformats.org/drawingml/2006/main">
            <a:off x="447675" y="285750"/>
            <a:ext cx="342900" cy="342900"/>
          </a:xfrm>
          <a:prstGeom xmlns:a="http://schemas.openxmlformats.org/drawingml/2006/main" prst="ellipse">
            <a:avLst/>
          </a:prstGeom>
          <a:solidFill xmlns:a="http://schemas.openxmlformats.org/drawingml/2006/main">
            <a:srgbClr val="E8EDF5"/>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97" name="Google Shape;297;p13">
            <a:extLst xmlns:a="http://schemas.openxmlformats.org/drawingml/2006/main">
              <a:ext uri="{FF2B5EF4-FFF2-40B4-BE49-F238E27FC236}">
                <a16:creationId xmlns:a16="http://schemas.microsoft.com/office/drawing/2014/main" id="{1EE3DD83-7A3E-40E2-A29C-FF886956CAF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1ea68f1bbb64573">
            <a:alphaModFix/>
          </a:blip>
          <a:srcRect xmlns:a="http://schemas.openxmlformats.org/drawingml/2006/main" l="0" t="0" r="0" b="0"/>
          <a:stretch xmlns:a="http://schemas.openxmlformats.org/drawingml/2006/main"/>
        </p:blipFill>
        <p:spPr>
          <a:xfrm xmlns:a="http://schemas.openxmlformats.org/drawingml/2006/main">
            <a:off x="533400" y="371475"/>
            <a:ext cx="171600" cy="171600"/>
          </a:xfrm>
          <a:prstGeom xmlns:a="http://schemas.openxmlformats.org/drawingml/2006/main" prst="rect">
            <a:avLst/>
          </a:prstGeom>
          <a:ln xmlns:a="http://schemas.openxmlformats.org/drawingml/2006/main">
            <a:noFill/>
          </a:ln>
        </p:spPr>
      </p:pic>
      <p:sp>
        <p:nvSpPr>
          <p:cNvPr id="298" name="Google Shape;298;p13">
            <a:extLst xmlns:a="http://schemas.openxmlformats.org/drawingml/2006/main">
              <a:ext uri="{FF2B5EF4-FFF2-40B4-BE49-F238E27FC236}">
                <a16:creationId xmlns:a16="http://schemas.microsoft.com/office/drawing/2014/main" id="{37B98EEF-6A16-4534-A507-C90A4D88F124}"/>
              </a:ext>
            </a:extLst>
          </p:cNvPr>
          <p:cNvSpPr>
            <a:spLocks xmlns:a="http://schemas.openxmlformats.org/drawingml/2006/main" noGrp="1"/>
          </p:cNvSpPr>
          <p:nvPr/>
        </p:nvSpPr>
        <p:spPr>
          <a:xfrm xmlns:a="http://schemas.openxmlformats.org/drawingml/2006/main">
            <a:off x="952500" y="266700"/>
            <a:ext cx="54864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000" b="1">
                <a:solidFill>
                  <a:srgbClr val="0B7F8A"/>
                </a:solidFill>
                <a:latin typeface="Calibri"/>
                <a:ea typeface="Calibri"/>
                <a:cs typeface="Calibri"/>
              </a:rPr>
              <a:t>II. METHODOLOGY  SYSTEM IMPLEMENTATION</a:t>
            </a:r>
            <a:endParaRPr sz="1000" b="1">
              <a:solidFill>
                <a:srgbClr val="0B7F8A"/>
              </a:solidFill>
              <a:latin typeface="Calibri"/>
              <a:ea typeface="Calibri"/>
              <a:cs typeface="Calibri"/>
            </a:endParaRPr>
          </a:p>
        </p:txBody>
      </p:sp>
      <p:sp>
        <p:nvSpPr>
          <p:cNvPr id="299" name="Google Shape;299;p13">
            <a:extLst xmlns:a="http://schemas.openxmlformats.org/drawingml/2006/main">
              <a:ext uri="{FF2B5EF4-FFF2-40B4-BE49-F238E27FC236}">
                <a16:creationId xmlns:a16="http://schemas.microsoft.com/office/drawing/2014/main" id="{734C065B-70E2-479D-A4DC-E0B8F88B2ED6}"/>
              </a:ext>
            </a:extLst>
          </p:cNvPr>
          <p:cNvSpPr>
            <a:spLocks xmlns:a="http://schemas.openxmlformats.org/drawingml/2006/main" noGrp="1"/>
          </p:cNvSpPr>
          <p:nvPr/>
        </p:nvSpPr>
        <p:spPr>
          <a:xfrm xmlns:a="http://schemas.openxmlformats.org/drawingml/2006/main">
            <a:off x="952500" y="457200"/>
            <a:ext cx="7620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2400" b="1">
                <a:solidFill>
                  <a:srgbClr val="1B2A4A"/>
                </a:solidFill>
                <a:latin typeface="Cambria"/>
                <a:ea typeface="Cambria"/>
                <a:cs typeface="Cambria"/>
              </a:rPr>
              <a:t>Prototype Interfaces</a:t>
            </a:r>
            <a:endParaRPr sz="2400" b="1">
              <a:solidFill>
                <a:srgbClr val="1B2A4A"/>
              </a:solidFill>
              <a:latin typeface="Cambria"/>
              <a:ea typeface="Cambria"/>
              <a:cs typeface="Cambria"/>
            </a:endParaRPr>
          </a:p>
        </p:txBody>
      </p:sp>
      <p:sp>
        <p:nvSpPr>
          <p:cNvPr id="300" name="Google Shape;300;p13">
            <a:extLst xmlns:a="http://schemas.openxmlformats.org/drawingml/2006/main">
              <a:ext uri="{FF2B5EF4-FFF2-40B4-BE49-F238E27FC236}">
                <a16:creationId xmlns:a16="http://schemas.microsoft.com/office/drawing/2014/main" id="{2CC4A8C5-4BBA-46B5-AD9B-B7033459E02A}"/>
              </a:ext>
            </a:extLst>
          </p:cNvPr>
          <p:cNvSpPr>
            <a:spLocks xmlns:a="http://schemas.openxmlformats.org/drawingml/2006/main" noGrp="1"/>
          </p:cNvSpPr>
          <p:nvPr/>
        </p:nvSpPr>
        <p:spPr>
          <a:xfrm xmlns:a="http://schemas.openxmlformats.org/drawingml/2006/main">
            <a:off x="476250"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1" name="Google Shape;301;p13">
            <a:extLst xmlns:a="http://schemas.openxmlformats.org/drawingml/2006/main">
              <a:ext uri="{FF2B5EF4-FFF2-40B4-BE49-F238E27FC236}">
                <a16:creationId xmlns:a16="http://schemas.microsoft.com/office/drawing/2014/main" id="{C2DB7052-2602-4341-9243-EED658E27B75}"/>
              </a:ext>
            </a:extLst>
          </p:cNvPr>
          <p:cNvSpPr>
            <a:spLocks xmlns:a="http://schemas.openxmlformats.org/drawingml/2006/main" noGrp="1"/>
          </p:cNvSpPr>
          <p:nvPr/>
        </p:nvSpPr>
        <p:spPr>
          <a:xfrm xmlns:a="http://schemas.openxmlformats.org/drawingml/2006/main">
            <a:off x="619125"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1. Authentication Window</a:t>
            </a:r>
            <a:endParaRPr sz="1200" b="1">
              <a:solidFill>
                <a:srgbClr val="1B2A4A"/>
              </a:solidFill>
              <a:latin typeface="Calibri"/>
              <a:ea typeface="Calibri"/>
              <a:cs typeface="Calibri"/>
            </a:endParaRPr>
          </a:p>
        </p:txBody>
      </p:sp>
      <p:sp>
        <p:nvSpPr>
          <p:cNvPr id="303" name="Google Shape;303;p13">
            <a:extLst xmlns:a="http://schemas.openxmlformats.org/drawingml/2006/main">
              <a:ext uri="{FF2B5EF4-FFF2-40B4-BE49-F238E27FC236}">
                <a16:creationId xmlns:a16="http://schemas.microsoft.com/office/drawing/2014/main" id="{D3E57368-0750-4F8B-83CA-93056BCDBC2F}"/>
              </a:ext>
            </a:extLst>
          </p:cNvPr>
          <p:cNvSpPr>
            <a:spLocks xmlns:a="http://schemas.openxmlformats.org/drawingml/2006/main" noGrp="1"/>
          </p:cNvSpPr>
          <p:nvPr/>
        </p:nvSpPr>
        <p:spPr>
          <a:xfrm xmlns:a="http://schemas.openxmlformats.org/drawingml/2006/main" rot="0" flipH="0" flipV="0">
            <a:off x="3267075"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4" name="Google Shape;304;p13">
            <a:extLst xmlns:a="http://schemas.openxmlformats.org/drawingml/2006/main">
              <a:ext uri="{FF2B5EF4-FFF2-40B4-BE49-F238E27FC236}">
                <a16:creationId xmlns:a16="http://schemas.microsoft.com/office/drawing/2014/main" id="{86A469DB-1DA6-4E84-AB04-E6BBFF1BC3D4}"/>
              </a:ext>
            </a:extLst>
          </p:cNvPr>
          <p:cNvSpPr>
            <a:spLocks xmlns:a="http://schemas.openxmlformats.org/drawingml/2006/main" noGrp="1"/>
          </p:cNvSpPr>
          <p:nvPr/>
        </p:nvSpPr>
        <p:spPr>
          <a:xfrm xmlns:a="http://schemas.openxmlformats.org/drawingml/2006/main" rot="0" flipH="0" flipV="0">
            <a:off x="3409950"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2. Admin Dashboard</a:t>
            </a:r>
            <a:endParaRPr sz="1200" b="1">
              <a:solidFill>
                <a:srgbClr val="1B2A4A"/>
              </a:solidFill>
              <a:latin typeface="Calibri"/>
              <a:ea typeface="Calibri"/>
              <a:cs typeface="Calibri"/>
            </a:endParaRPr>
          </a:p>
        </p:txBody>
      </p:sp>
      <p:sp>
        <p:nvSpPr>
          <p:cNvPr id="306" name="Google Shape;306;p13">
            <a:extLst xmlns:a="http://schemas.openxmlformats.org/drawingml/2006/main">
              <a:ext uri="{FF2B5EF4-FFF2-40B4-BE49-F238E27FC236}">
                <a16:creationId xmlns:a16="http://schemas.microsoft.com/office/drawing/2014/main" id="{6A850E78-3A8F-4DE7-9FA0-D628EBBF6C63}"/>
              </a:ext>
            </a:extLst>
          </p:cNvPr>
          <p:cNvSpPr>
            <a:spLocks xmlns:a="http://schemas.openxmlformats.org/drawingml/2006/main" noGrp="1"/>
          </p:cNvSpPr>
          <p:nvPr/>
        </p:nvSpPr>
        <p:spPr>
          <a:xfrm xmlns:a="http://schemas.openxmlformats.org/drawingml/2006/main" rot="0" flipH="0" flipV="0">
            <a:off x="6067425"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7" name="Google Shape;307;p13">
            <a:extLst xmlns:a="http://schemas.openxmlformats.org/drawingml/2006/main">
              <a:ext uri="{FF2B5EF4-FFF2-40B4-BE49-F238E27FC236}">
                <a16:creationId xmlns:a16="http://schemas.microsoft.com/office/drawing/2014/main" id="{1B4E5536-64B2-4DB8-A9F2-3767738C1EBA}"/>
              </a:ext>
            </a:extLst>
          </p:cNvPr>
          <p:cNvSpPr>
            <a:spLocks xmlns:a="http://schemas.openxmlformats.org/drawingml/2006/main" noGrp="1"/>
          </p:cNvSpPr>
          <p:nvPr/>
        </p:nvSpPr>
        <p:spPr>
          <a:xfrm xmlns:a="http://schemas.openxmlformats.org/drawingml/2006/main" rot="0" flipH="0" flipV="0">
            <a:off x="6210300"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3. Security Personnel Dashboard</a:t>
            </a:r>
            <a:endParaRPr sz="1200" b="1">
              <a:solidFill>
                <a:srgbClr val="1B2A4A"/>
              </a:solidFill>
              <a:latin typeface="Calibri"/>
              <a:ea typeface="Calibri"/>
              <a:cs typeface="Calibri"/>
            </a:endParaRPr>
          </a:p>
        </p:txBody>
      </p:sp>
      <p:sp>
        <p:nvSpPr>
          <p:cNvPr id="309" name="Google Shape;309;p13">
            <a:extLst xmlns:a="http://schemas.openxmlformats.org/drawingml/2006/main">
              <a:ext uri="{FF2B5EF4-FFF2-40B4-BE49-F238E27FC236}">
                <a16:creationId xmlns:a16="http://schemas.microsoft.com/office/drawing/2014/main" id="{755DE246-C823-496F-915C-D8D3A006F0CD}"/>
              </a:ext>
            </a:extLst>
          </p:cNvPr>
          <p:cNvSpPr>
            <a:spLocks xmlns:a="http://schemas.openxmlformats.org/drawingml/2006/main" noGrp="1"/>
          </p:cNvSpPr>
          <p:nvPr/>
        </p:nvSpPr>
        <p:spPr>
          <a:xfrm xmlns:a="http://schemas.openxmlformats.org/drawingml/2006/main" rot="0" flipH="0" flipV="0">
            <a:off x="476250"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0" name="Google Shape;310;p13">
            <a:extLst xmlns:a="http://schemas.openxmlformats.org/drawingml/2006/main">
              <a:ext uri="{FF2B5EF4-FFF2-40B4-BE49-F238E27FC236}">
                <a16:creationId xmlns:a16="http://schemas.microsoft.com/office/drawing/2014/main" id="{441B5F2D-E206-408E-BE5D-29683E844F84}"/>
              </a:ext>
            </a:extLst>
          </p:cNvPr>
          <p:cNvSpPr>
            <a:spLocks xmlns:a="http://schemas.openxmlformats.org/drawingml/2006/main" noGrp="1"/>
          </p:cNvSpPr>
          <p:nvPr/>
        </p:nvSpPr>
        <p:spPr>
          <a:xfrm xmlns:a="http://schemas.openxmlformats.org/drawingml/2006/main" rot="0" flipH="0" flipV="0">
            <a:off x="619125"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4. Event Organizer Dashboard</a:t>
            </a:r>
            <a:endParaRPr sz="1200" b="1">
              <a:solidFill>
                <a:srgbClr val="1B2A4A"/>
              </a:solidFill>
              <a:latin typeface="Calibri"/>
              <a:ea typeface="Calibri"/>
              <a:cs typeface="Calibri"/>
            </a:endParaRPr>
          </a:p>
        </p:txBody>
      </p:sp>
      <p:sp>
        <p:nvSpPr>
          <p:cNvPr id="312" name="Google Shape;312;p13">
            <a:extLst xmlns:a="http://schemas.openxmlformats.org/drawingml/2006/main">
              <a:ext uri="{FF2B5EF4-FFF2-40B4-BE49-F238E27FC236}">
                <a16:creationId xmlns:a16="http://schemas.microsoft.com/office/drawing/2014/main" id="{57169A53-2016-4EDF-8D47-39D8652B8ACE}"/>
              </a:ext>
            </a:extLst>
          </p:cNvPr>
          <p:cNvSpPr>
            <a:spLocks xmlns:a="http://schemas.openxmlformats.org/drawingml/2006/main" noGrp="1"/>
          </p:cNvSpPr>
          <p:nvPr/>
        </p:nvSpPr>
        <p:spPr>
          <a:xfrm xmlns:a="http://schemas.openxmlformats.org/drawingml/2006/main" rot="0" flipH="0" flipV="0">
            <a:off x="3267075"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3" name="Google Shape;313;p13">
            <a:extLst xmlns:a="http://schemas.openxmlformats.org/drawingml/2006/main">
              <a:ext uri="{FF2B5EF4-FFF2-40B4-BE49-F238E27FC236}">
                <a16:creationId xmlns:a16="http://schemas.microsoft.com/office/drawing/2014/main" id="{66295826-646F-489A-842F-2B4B4613E3C5}"/>
              </a:ext>
            </a:extLst>
          </p:cNvPr>
          <p:cNvSpPr>
            <a:spLocks xmlns:a="http://schemas.openxmlformats.org/drawingml/2006/main" noGrp="1"/>
          </p:cNvSpPr>
          <p:nvPr/>
        </p:nvSpPr>
        <p:spPr>
          <a:xfrm xmlns:a="http://schemas.openxmlformats.org/drawingml/2006/main" rot="0" flipH="0" flipV="0">
            <a:off x="3409950"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5. Active Monitoring Console</a:t>
            </a:r>
            <a:endParaRPr sz="1200" b="1">
              <a:solidFill>
                <a:srgbClr val="1B2A4A"/>
              </a:solidFill>
              <a:latin typeface="Calibri"/>
              <a:ea typeface="Calibri"/>
              <a:cs typeface="Calibri"/>
            </a:endParaRPr>
          </a:p>
        </p:txBody>
      </p:sp>
      <p:sp>
        <p:nvSpPr>
          <p:cNvPr id="315" name="Google Shape;315;p13">
            <a:extLst xmlns:a="http://schemas.openxmlformats.org/drawingml/2006/main">
              <a:ext uri="{FF2B5EF4-FFF2-40B4-BE49-F238E27FC236}">
                <a16:creationId xmlns:a16="http://schemas.microsoft.com/office/drawing/2014/main" id="{AC1D3031-04C6-4DEA-ADB3-C0177DFD397E}"/>
              </a:ext>
            </a:extLst>
          </p:cNvPr>
          <p:cNvSpPr>
            <a:spLocks xmlns:a="http://schemas.openxmlformats.org/drawingml/2006/main" noGrp="1"/>
          </p:cNvSpPr>
          <p:nvPr/>
        </p:nvSpPr>
        <p:spPr>
          <a:xfrm xmlns:a="http://schemas.openxmlformats.org/drawingml/2006/main" rot="0" flipH="0" flipV="0">
            <a:off x="6067425"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6" name="Google Shape;316;p13">
            <a:extLst xmlns:a="http://schemas.openxmlformats.org/drawingml/2006/main">
              <a:ext uri="{FF2B5EF4-FFF2-40B4-BE49-F238E27FC236}">
                <a16:creationId xmlns:a16="http://schemas.microsoft.com/office/drawing/2014/main" id="{83190EFD-2257-49A0-9090-E3848AAA90BC}"/>
              </a:ext>
            </a:extLst>
          </p:cNvPr>
          <p:cNvSpPr>
            <a:spLocks xmlns:a="http://schemas.openxmlformats.org/drawingml/2006/main" noGrp="1"/>
          </p:cNvSpPr>
          <p:nvPr/>
        </p:nvSpPr>
        <p:spPr>
          <a:xfrm xmlns:a="http://schemas.openxmlformats.org/drawingml/2006/main" rot="0" flipH="0" flipV="0">
            <a:off x="6210300"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6. Student-Facing Kiosk</a:t>
            </a:r>
            <a:endParaRPr sz="1200" b="1">
              <a:solidFill>
                <a:srgbClr val="1B2A4A"/>
              </a:solidFill>
              <a:latin typeface="Calibri"/>
              <a:ea typeface="Calibri"/>
              <a:cs typeface="Calibri"/>
            </a:endParaRPr>
          </a:p>
        </p:txBody>
      </p:sp>
      <p:sp>
        <p:nvSpPr>
          <p:cNvPr id="317" name="Google Shape;317;p13">
            <a:extLst xmlns:a="http://schemas.openxmlformats.org/drawingml/2006/main">
              <a:ext uri="{FF2B5EF4-FFF2-40B4-BE49-F238E27FC236}">
                <a16:creationId xmlns:a16="http://schemas.microsoft.com/office/drawing/2014/main" id="{ACA3127D-F113-4330-9429-FD88ABEF193F}"/>
              </a:ext>
            </a:extLst>
          </p:cNvPr>
          <p:cNvSpPr>
            <a:spLocks xmlns:a="http://schemas.openxmlformats.org/drawingml/2006/main" noGrp="1"/>
          </p:cNvSpPr>
          <p:nvPr/>
        </p:nvSpPr>
        <p:spPr>
          <a:xfrm xmlns:a="http://schemas.openxmlformats.org/drawingml/2006/main">
            <a:off x="476250" y="4619625"/>
            <a:ext cx="8191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100" b="0" i="1">
                <a:solidFill>
                  <a:srgbClr val="516385"/>
                </a:solidFill>
                <a:latin typeface="Calibri"/>
                <a:ea typeface="Calibri"/>
                <a:cs typeface="Calibri"/>
              </a:rPr>
              <a:t>Selected prototype screenshots. The live demonstration shows the current build.</a:t>
            </a:r>
            <a:endParaRPr sz="1100" b="0" i="1">
              <a:solidFill>
                <a:srgbClr val="516385"/>
              </a:solidFill>
              <a:latin typeface="Calibri"/>
              <a:ea typeface="Calibri"/>
              <a:cs typeface="Calibri"/>
            </a:endParaRPr>
          </a:p>
        </p:txBody>
      </p:sp>
      <p:pic>
        <p:nvPicPr>
          <p:cNvPr id="318" name="Google Shape;318;p13">
            <a:extLst xmlns:a="http://schemas.openxmlformats.org/drawingml/2006/main">
              <a:ext uri="{FF2B5EF4-FFF2-40B4-BE49-F238E27FC236}">
                <a16:creationId xmlns:a16="http://schemas.microsoft.com/office/drawing/2014/main" id="{517216AA-CF26-4AEC-8591-49D161E114A2}"/>
              </a:ext>
            </a:extLst>
          </p:cNvPr>
          <p:cNvPicPr>
            <a:picLocks xmlns:a="http://schemas.openxmlformats.org/drawingml/2006/main" noChangeAspect="1"/>
          </p:cNvPicPr>
          <p:nvPr/>
        </p:nvPicPr>
        <p:blipFill>
          <a:blip xmlns:r="http://schemas.openxmlformats.org/officeDocument/2006/relationships" xmlns:a="http://schemas.openxmlformats.org/drawingml/2006/main" r:embed="R3a1d8a4900d44671">
            <a:alphaModFix/>
          </a:blip>
          <a:stretch xmlns:a="http://schemas.openxmlformats.org/drawingml/2006/main">
            <a:fillRect l="0" t="0" r="0" b="0"/>
          </a:stretch>
        </p:blipFill>
        <p:spPr>
          <a:xfrm xmlns:a="http://schemas.openxmlformats.org/drawingml/2006/main">
            <a:off x="771123" y="1333575"/>
            <a:ext cx="2010492" cy="1238176"/>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19" name="Google Shape;319;p13">
            <a:extLst xmlns:a="http://schemas.openxmlformats.org/drawingml/2006/main">
              <a:ext uri="{FF2B5EF4-FFF2-40B4-BE49-F238E27FC236}">
                <a16:creationId xmlns:a16="http://schemas.microsoft.com/office/drawing/2014/main" id="{E7553C20-FE62-447B-AE00-9CC173FA44D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a35ac286e31448a">
            <a:alphaModFix/>
          </a:blip>
          <a:srcRect xmlns:a="http://schemas.openxmlformats.org/drawingml/2006/main" l="0" t="30" r="0" b="30"/>
          <a:stretch xmlns:a="http://schemas.openxmlformats.org/drawingml/2006/main"/>
        </p:blipFill>
        <p:spPr>
          <a:xfrm xmlns:a="http://schemas.openxmlformats.org/drawingml/2006/main">
            <a:off x="3566789" y="1333575"/>
            <a:ext cx="2010491"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0" name="Google Shape;320;p13">
            <a:extLst xmlns:a="http://schemas.openxmlformats.org/drawingml/2006/main">
              <a:ext uri="{FF2B5EF4-FFF2-40B4-BE49-F238E27FC236}">
                <a16:creationId xmlns:a16="http://schemas.microsoft.com/office/drawing/2014/main" id="{37C82A5E-1059-4AB7-9243-B66981E4B35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98cf5ed4d824b3d">
            <a:alphaModFix/>
          </a:blip>
          <a:srcRect xmlns:a="http://schemas.openxmlformats.org/drawingml/2006/main" l="0" t="239" r="0" b="239"/>
          <a:stretch xmlns:a="http://schemas.openxmlformats.org/drawingml/2006/main"/>
        </p:blipFill>
        <p:spPr>
          <a:xfrm xmlns:a="http://schemas.openxmlformats.org/drawingml/2006/main">
            <a:off x="6149300" y="1333575"/>
            <a:ext cx="2436649"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1" name="Google Shape;321;p13">
            <a:extLst xmlns:a="http://schemas.openxmlformats.org/drawingml/2006/main">
              <a:ext uri="{FF2B5EF4-FFF2-40B4-BE49-F238E27FC236}">
                <a16:creationId xmlns:a16="http://schemas.microsoft.com/office/drawing/2014/main" id="{8D2E2B06-53FC-46E2-85EA-EB8C00F0EBD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98cf5ed4d824b3d">
            <a:alphaModFix/>
          </a:blip>
          <a:srcRect xmlns:a="http://schemas.openxmlformats.org/drawingml/2006/main" l="0" t="239" r="0" b="239"/>
          <a:stretch xmlns:a="http://schemas.openxmlformats.org/drawingml/2006/main"/>
        </p:blipFill>
        <p:spPr>
          <a:xfrm xmlns:a="http://schemas.openxmlformats.org/drawingml/2006/main">
            <a:off x="558048" y="3162150"/>
            <a:ext cx="2436653"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2" name="Google Shape;322;p13">
            <a:extLst xmlns:a="http://schemas.openxmlformats.org/drawingml/2006/main">
              <a:ext uri="{FF2B5EF4-FFF2-40B4-BE49-F238E27FC236}">
                <a16:creationId xmlns:a16="http://schemas.microsoft.com/office/drawing/2014/main" id="{41B6B131-1D0A-48F0-9F90-F419C73637F0}"/>
              </a:ext>
            </a:extLst>
          </p:cNvPr>
          <p:cNvPicPr>
            <a:picLocks xmlns:a="http://schemas.openxmlformats.org/drawingml/2006/main" noChangeAspect="1"/>
          </p:cNvPicPr>
          <p:nvPr/>
        </p:nvPicPr>
        <p:blipFill>
          <a:blip xmlns:r="http://schemas.openxmlformats.org/officeDocument/2006/relationships" xmlns:a="http://schemas.openxmlformats.org/drawingml/2006/main" r:embed="Rc10b197e25ad4f78">
            <a:alphaModFix/>
          </a:blip>
          <a:stretch xmlns:a="http://schemas.openxmlformats.org/drawingml/2006/main">
            <a:fillRect l="0" t="0" r="0" b="0"/>
          </a:stretch>
        </p:blipFill>
        <p:spPr>
          <a:xfrm xmlns:a="http://schemas.openxmlformats.org/drawingml/2006/main">
            <a:off x="3427400" y="3162150"/>
            <a:ext cx="2289284" cy="1238175"/>
          </a:xfrm>
          <a:prstGeom xmlns:a="http://schemas.openxmlformats.org/drawingml/2006/main" prst="rect">
            <a:avLst/>
          </a:prstGeom>
          <a:ln xmlns:a="http://schemas.openxmlformats.org/drawingml/2006/main">
            <a:noFill/>
          </a:ln>
        </p:spPr>
      </p:pic>
      <p:pic>
        <p:nvPicPr>
          <p:cNvPr id="323" name="Google Shape;323;p13">
            <a:extLst xmlns:a="http://schemas.openxmlformats.org/drawingml/2006/main">
              <a:ext uri="{FF2B5EF4-FFF2-40B4-BE49-F238E27FC236}">
                <a16:creationId xmlns:a16="http://schemas.microsoft.com/office/drawing/2014/main" id="{E13CD5B9-E656-4E0B-A7D1-5043166445E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be820d43ebe4866">
            <a:alphaModFix/>
          </a:blip>
          <a:srcRect xmlns:a="http://schemas.openxmlformats.org/drawingml/2006/main" l="0" t="1923" r="0" b="1923"/>
          <a:stretch xmlns:a="http://schemas.openxmlformats.org/drawingml/2006/main"/>
        </p:blipFill>
        <p:spPr>
          <a:xfrm xmlns:a="http://schemas.openxmlformats.org/drawingml/2006/main">
            <a:off x="6222975" y="3162150"/>
            <a:ext cx="2289298" cy="1238174"/>
          </a:xfrm>
          <a:prstGeom xmlns:a="http://schemas.openxmlformats.org/drawingml/2006/main" prst="rect">
            <a:avLst/>
          </a:prstGeom>
          <a:ln xmlns:a="http://schemas.openxmlformats.org/drawingml/2006/main">
            <a:noFill/>
          </a:ln>
        </p:spPr>
      </p:pic>
      <p:sp>
        <p:nvSpPr>
          <p:cNvPr id="324" name="Google Shape;324;p13">
            <a:extLst xmlns:a="http://schemas.openxmlformats.org/drawingml/2006/main">
              <a:ext uri="{FF2B5EF4-FFF2-40B4-BE49-F238E27FC236}">
                <a16:creationId xmlns:a16="http://schemas.microsoft.com/office/drawing/2014/main" id="{35CE3915-5B98-427B-A757-6E33D516E7A9}"/>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a:solidFill>
                  <a:srgbClr val="8FA0BE"/>
                </a:solidFill>
                <a:latin typeface="Calibri"/>
                <a:ea typeface="Calibri"/>
                <a:cs typeface="Calibri"/>
              </a:rPr>
              <a:t>10 / 24</a:t>
            </a:r>
            <a:endParaRPr sz="7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10599984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II. METHODOLOGY">
            <a:extLst xmlns:a="http://schemas.openxmlformats.org/drawingml/2006/main">
              <a:ext uri="{FF2B5EF4-FFF2-40B4-BE49-F238E27FC236}">
                <a16:creationId xmlns:a16="http://schemas.microsoft.com/office/drawing/2014/main" id="{E263EF52-1F19-4F12-BD4C-13D44815EED2}"/>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Statistical Treatment and Hypotheses">
            <a:extLst xmlns:a="http://schemas.openxmlformats.org/drawingml/2006/main">
              <a:ext uri="{FF2B5EF4-FFF2-40B4-BE49-F238E27FC236}">
                <a16:creationId xmlns:a16="http://schemas.microsoft.com/office/drawing/2014/main" id="{1FC52352-8414-47CF-B9AC-4C385BCBA2C5}"/>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Statistical Treatment and Hypotheses</a:t>
            </a:r>
          </a:p>
        </p:txBody>
      </p:sp>
      <p:sp>
        <p:nvSpPr>
          <p:cNvPr id="3" name="11 / 24">
            <a:extLst xmlns:a="http://schemas.openxmlformats.org/drawingml/2006/main">
              <a:ext uri="{FF2B5EF4-FFF2-40B4-BE49-F238E27FC236}">
                <a16:creationId xmlns:a16="http://schemas.microsoft.com/office/drawing/2014/main" id="{90ABA4FE-96E5-4A7D-81FC-3720B67B0077}"/>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11 / 24</a:t>
            </a:r>
          </a:p>
        </p:txBody>
      </p:sp>
      <p:sp>
        <p:nvSpPr>
          <p:cNvPr id="4" name="Descriptive analysis">
            <a:extLst xmlns:a="http://schemas.openxmlformats.org/drawingml/2006/main">
              <a:ext uri="{FF2B5EF4-FFF2-40B4-BE49-F238E27FC236}">
                <a16:creationId xmlns:a16="http://schemas.microsoft.com/office/drawing/2014/main" id="{B024722E-1FE2-4B35-BEE7-3F7232A12748}"/>
              </a:ext>
            </a:extLst>
          </p:cNvPr>
          <p:cNvSpPr>
            <a:spLocks xmlns:a="http://schemas.openxmlformats.org/drawingml/2006/main" noGrp="1"/>
          </p:cNvSpPr>
          <p:nvPr/>
        </p:nvSpPr>
        <p:spPr>
          <a:xfrm xmlns:a="http://schemas.openxmlformats.org/drawingml/2006/main">
            <a:off x="361950" y="12668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Descriptive analysis</a:t>
            </a:r>
          </a:p>
        </p:txBody>
      </p:sp>
      <p:sp>
        <p:nvSpPr>
          <p:cNvPr id="5" name="Frequency, mean, and sample SD use applicable">
            <a:extLst xmlns:a="http://schemas.openxmlformats.org/drawingml/2006/main">
              <a:ext uri="{FF2B5EF4-FFF2-40B4-BE49-F238E27FC236}">
                <a16:creationId xmlns:a16="http://schemas.microsoft.com/office/drawing/2014/main" id="{D2A652D2-B420-4CD1-964F-43700184408B}"/>
              </a:ext>
            </a:extLst>
          </p:cNvPr>
          <p:cNvSpPr>
            <a:spLocks xmlns:a="http://schemas.openxmlformats.org/drawingml/2006/main" noGrp="1"/>
          </p:cNvSpPr>
          <p:nvPr/>
        </p:nvSpPr>
        <p:spPr>
          <a:xfrm xmlns:a="http://schemas.openxmlformats.org/drawingml/2006/main">
            <a:off x="361950" y="15621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Frequency, mean, and sample SD use applicable observations. Respondent category scores produce the category and overall composite SDs.</a:t>
            </a:r>
          </a:p>
        </p:txBody>
      </p:sp>
      <p:sp>
        <p:nvSpPr>
          <p:cNvPr id="6" name="Welch independent-samples t-test">
            <a:extLst xmlns:a="http://schemas.openxmlformats.org/drawingml/2006/main">
              <a:ext uri="{FF2B5EF4-FFF2-40B4-BE49-F238E27FC236}">
                <a16:creationId xmlns:a16="http://schemas.microsoft.com/office/drawing/2014/main" id="{F6E12DB0-D212-44AE-846A-61460827C0CE}"/>
              </a:ext>
            </a:extLst>
          </p:cNvPr>
          <p:cNvSpPr>
            <a:spLocks xmlns:a="http://schemas.openxmlformats.org/drawingml/2006/main" noGrp="1"/>
          </p:cNvSpPr>
          <p:nvPr/>
        </p:nvSpPr>
        <p:spPr>
          <a:xfrm xmlns:a="http://schemas.openxmlformats.org/drawingml/2006/main">
            <a:off x="361950" y="2181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Welch independent-samples t-test</a:t>
            </a:r>
          </a:p>
        </p:txBody>
      </p:sp>
      <p:sp>
        <p:nvSpPr>
          <p:cNvPr id="7" name="Two-tailed test of overall student survey sco">
            <a:extLst xmlns:a="http://schemas.openxmlformats.org/drawingml/2006/main">
              <a:ext uri="{FF2B5EF4-FFF2-40B4-BE49-F238E27FC236}">
                <a16:creationId xmlns:a16="http://schemas.microsoft.com/office/drawing/2014/main" id="{CB313BF4-DF86-418A-B657-757CEF7174A5}"/>
              </a:ext>
            </a:extLst>
          </p:cNvPr>
          <p:cNvSpPr>
            <a:spLocks xmlns:a="http://schemas.openxmlformats.org/drawingml/2006/main" noGrp="1"/>
          </p:cNvSpPr>
          <p:nvPr/>
        </p:nvSpPr>
        <p:spPr>
          <a:xfrm xmlns:a="http://schemas.openxmlformats.org/drawingml/2006/main">
            <a:off x="361950" y="24765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Two-tailed test of overall student survey scores at alpha = 0.05. Different students form the manual and proposed-system groups.</a:t>
            </a:r>
          </a:p>
        </p:txBody>
      </p:sp>
      <p:sp>
        <p:nvSpPr>
          <p:cNvPr id="8" name="H0: No significant difference in mean overall">
            <a:extLst xmlns:a="http://schemas.openxmlformats.org/drawingml/2006/main">
              <a:ext uri="{FF2B5EF4-FFF2-40B4-BE49-F238E27FC236}">
                <a16:creationId xmlns:a16="http://schemas.microsoft.com/office/drawing/2014/main" id="{B0F5E819-9EA2-4A53-A302-B2AC254DC85E}"/>
              </a:ext>
            </a:extLst>
          </p:cNvPr>
          <p:cNvSpPr>
            <a:spLocks xmlns:a="http://schemas.openxmlformats.org/drawingml/2006/main" noGrp="1"/>
          </p:cNvSpPr>
          <p:nvPr/>
        </p:nvSpPr>
        <p:spPr>
          <a:xfrm xmlns:a="http://schemas.openxmlformats.org/drawingml/2006/main">
            <a:off x="361950" y="32004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34155"/>
                </a:solidFill>
                <a:latin typeface="Calibri"/>
                <a:ea typeface="Calibri"/>
                <a:cs typeface="Calibri"/>
              </a:defRPr>
            </a:defPPr>
          </a:lstStyle>
          <a:p xmlns:a="http://schemas.openxmlformats.org/drawingml/2006/main">
            <a:pPr algn="l">
              <a:defRPr sz="1725" b="1">
                <a:solidFill>
                  <a:srgbClr val="334155"/>
                </a:solidFill>
                <a:latin typeface="Calibri"/>
                <a:ea typeface="Calibri"/>
                <a:cs typeface="Calibri"/>
              </a:defRPr>
            </a:pPr>
            <a:r>
              <a:rPr sz="1725" b="1">
                <a:solidFill>
                  <a:srgbClr val="334155"/>
                </a:solidFill>
                <a:latin typeface="Calibri"/>
                <a:ea typeface="Calibri"/>
                <a:cs typeface="Calibri"/>
              </a:rPr>
              <a:t>H0: No significant difference in mean overall survey ratings.</a:t>
            </a:r>
          </a:p>
        </p:txBody>
      </p:sp>
      <p:sp>
        <p:nvSpPr>
          <p:cNvPr id="9" name="H1: A significant difference exists in mean o">
            <a:extLst xmlns:a="http://schemas.openxmlformats.org/drawingml/2006/main">
              <a:ext uri="{FF2B5EF4-FFF2-40B4-BE49-F238E27FC236}">
                <a16:creationId xmlns:a16="http://schemas.microsoft.com/office/drawing/2014/main" id="{02933206-AFF0-4343-9BD7-1D243B0A81FD}"/>
              </a:ext>
            </a:extLst>
          </p:cNvPr>
          <p:cNvSpPr>
            <a:spLocks xmlns:a="http://schemas.openxmlformats.org/drawingml/2006/main" noGrp="1"/>
          </p:cNvSpPr>
          <p:nvPr/>
        </p:nvSpPr>
        <p:spPr>
          <a:xfrm xmlns:a="http://schemas.openxmlformats.org/drawingml/2006/main">
            <a:off x="361950" y="36195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H1: A significant difference exists in mean overall survey ratings.</a:t>
            </a:r>
          </a:p>
        </p:txBody>
      </p:sp>
      <p:sp>
        <p:nvSpPr>
          <p:cNvPr id="10" name="t = (mean System - mean Manual) / sqrt(SD Sys">
            <a:extLst xmlns:a="http://schemas.openxmlformats.org/drawingml/2006/main">
              <a:ext uri="{FF2B5EF4-FFF2-40B4-BE49-F238E27FC236}">
                <a16:creationId xmlns:a16="http://schemas.microsoft.com/office/drawing/2014/main" id="{720BB655-89EA-4946-AE32-7953CF5438F9}"/>
              </a:ext>
            </a:extLst>
          </p:cNvPr>
          <p:cNvSpPr>
            <a:spLocks xmlns:a="http://schemas.openxmlformats.org/drawingml/2006/main" noGrp="1"/>
          </p:cNvSpPr>
          <p:nvPr/>
        </p:nvSpPr>
        <p:spPr>
          <a:xfrm xmlns:a="http://schemas.openxmlformats.org/drawingml/2006/main">
            <a:off x="361950" y="4143375"/>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B7F8A"/>
                </a:solidFill>
                <a:latin typeface="Calibri"/>
                <a:ea typeface="Calibri"/>
                <a:cs typeface="Calibri"/>
              </a:defRPr>
            </a:defPPr>
          </a:lstStyle>
          <a:p xmlns:a="http://schemas.openxmlformats.org/drawingml/2006/main">
            <a:pPr algn="l">
              <a:defRPr sz="1575" b="0">
                <a:solidFill>
                  <a:srgbClr val="0B7F8A"/>
                </a:solidFill>
                <a:latin typeface="Calibri"/>
                <a:ea typeface="Calibri"/>
                <a:cs typeface="Calibri"/>
              </a:defRPr>
            </a:pPr>
            <a:r>
              <a:rPr sz="1575" b="0">
                <a:solidFill>
                  <a:srgbClr val="0B7F8A"/>
                </a:solidFill>
                <a:latin typeface="Calibri"/>
                <a:ea typeface="Calibri"/>
                <a:cs typeface="Calibri"/>
              </a:rPr>
              <a:t>t = (mean System - mean Manual) / sqrt(SD System^2 / n System + SD Manual^2 / n Manual)</a:t>
            </a:r>
          </a:p>
        </p:txBody>
      </p:sp>
    </p:spTree>
    <p:extLst>
      <p:ext uri="{BB962C8B-B14F-4D97-AF65-F5344CB8AC3E}">
        <p14:creationId xmlns:p14="http://schemas.microsoft.com/office/powerpoint/2010/main" val="10057890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I. RESULTS">
            <a:extLst xmlns:a="http://schemas.openxmlformats.org/drawingml/2006/main">
              <a:ext uri="{FF2B5EF4-FFF2-40B4-BE49-F238E27FC236}">
                <a16:creationId xmlns:a16="http://schemas.microsoft.com/office/drawing/2014/main" id="{C46F0EDE-212A-4FA6-9CE6-0469EDF92659}"/>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a:t>
            </a:r>
          </a:p>
        </p:txBody>
      </p:sp>
      <p:sp>
        <p:nvSpPr>
          <p:cNvPr id="2" name="Observation Records and Functionality Cases">
            <a:extLst xmlns:a="http://schemas.openxmlformats.org/drawingml/2006/main">
              <a:ext uri="{FF2B5EF4-FFF2-40B4-BE49-F238E27FC236}">
                <a16:creationId xmlns:a16="http://schemas.microsoft.com/office/drawing/2014/main" id="{BADFA7F5-E6B5-41DB-96A9-286CDD2F96A1}"/>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Observation Records and Functionality Cases</a:t>
            </a:r>
          </a:p>
        </p:txBody>
      </p:sp>
      <p:sp>
        <p:nvSpPr>
          <p:cNvPr id="3" name="12 / 24">
            <a:extLst xmlns:a="http://schemas.openxmlformats.org/drawingml/2006/main">
              <a:ext uri="{FF2B5EF4-FFF2-40B4-BE49-F238E27FC236}">
                <a16:creationId xmlns:a16="http://schemas.microsoft.com/office/drawing/2014/main" id="{59BEFEFD-30CA-48F7-94A2-03F81EB558E9}"/>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12 / 24</a:t>
            </a:r>
          </a:p>
        </p:txBody>
      </p:sp>
      <p:graphicFrame>
        <p:nvGraphicFramePr>
          <p:cNvPr id="4" name="">
            <a:extLst xmlns:a="http://schemas.openxmlformats.org/drawingml/2006/main">
              <a:ext uri="{FF2B5EF4-FFF2-40B4-BE49-F238E27FC236}">
                <a16:creationId xmlns:a16="http://schemas.microsoft.com/office/drawing/2014/main" id="{9AF22FA5-4F34-4FAC-8F9C-8515339D041B}"/>
              </a:ext>
            </a:extLst>
          </p:cNvPr>
          <p:cNvGraphicFramePr/>
          <p:nvPr/>
        </p:nvGraphicFramePr>
        <p:xfrm>
          <a:off xmlns:a="http://schemas.openxmlformats.org/drawingml/2006/main" x="304800" y="1257300"/>
          <a:ext xmlns:a="http://schemas.openxmlformats.org/drawingml/2006/main" cx="8524875" cy="2114550"/>
        </p:xfrm>
        <a:graphic xmlns:a="http://schemas.openxmlformats.org/drawingml/2006/main">
          <a:graphicData uri="http://schemas.openxmlformats.org/drawingml/2006/table">
            <a:tbl>
              <a:tblPr/>
              <a:tblGrid>
                <a:gridCol w="2238375"/>
                <a:gridCol w="1809750"/>
                <a:gridCol w="1381125"/>
                <a:gridCol w="1619250"/>
                <a:gridCol w="1476375"/>
              </a:tblGrid>
              <a:tr h="422910">
                <a:tc>
                  <a:txBody>
                    <a:bodyPr lIns="85725" tIns="47625" rIns="85725" bIns="47625">
                      <a:noAutofit/>
                    </a:bodyPr>
                    <a:lstStyle/>
                    <a:p>
                      <a:pPr algn="l"/>
                      <a:r>
                        <a:rPr sz="1650" b="1">
                          <a:solidFill>
                            <a:srgbClr val="0B7F8A"/>
                          </a:solidFill>
                          <a:latin typeface="Calibri"/>
                          <a:ea typeface="Calibri"/>
                          <a:cs typeface="Calibri"/>
                        </a:rPr>
                        <a:t>Mode</a:t>
                      </a:r>
                    </a:p>
                  </a:txBody>
                  <a:tcPr marL="91440" marR="91440" marT="45720" marB="45720" anchor="ctr">
                    <a:solidFill>
                      <a:srgbClr val="E2E8F0"/>
                    </a:solidFill>
                  </a:tcPr>
                </a:tc>
                <a:tc>
                  <a:txBody>
                    <a:bodyPr lIns="85725" tIns="47625" rIns="85725" bIns="47625">
                      <a:noAutofit/>
                    </a:bodyPr>
                    <a:lstStyle/>
                    <a:p>
                      <a:pPr algn="ctr"/>
                      <a:r>
                        <a:rPr sz="1650" b="1">
                          <a:solidFill>
                            <a:srgbClr val="0B7F8A"/>
                          </a:solidFill>
                          <a:latin typeface="Calibri"/>
                          <a:ea typeface="Calibri"/>
                          <a:cs typeface="Calibri"/>
                        </a:rPr>
                        <a:t>Successful Entries</a:t>
                      </a:r>
                    </a:p>
                  </a:txBody>
                  <a:tcPr marL="91440" marR="91440" marT="45720" marB="45720" anchor="ctr">
                    <a:solidFill>
                      <a:srgbClr val="E2E8F0"/>
                    </a:solidFill>
                  </a:tcPr>
                </a:tc>
                <a:tc>
                  <a:txBody>
                    <a:bodyPr lIns="85725" tIns="47625" rIns="85725" bIns="47625">
                      <a:noAutofit/>
                    </a:bodyPr>
                    <a:lstStyle/>
                    <a:p>
                      <a:pPr algn="ctr"/>
                      <a:r>
                        <a:rPr sz="1650" b="1">
                          <a:solidFill>
                            <a:srgbClr val="0B7F8A"/>
                          </a:solidFill>
                          <a:latin typeface="Calibri"/>
                          <a:ea typeface="Calibri"/>
                          <a:cs typeface="Calibri"/>
                        </a:rPr>
                        <a:t>Reset Exits</a:t>
                      </a:r>
                    </a:p>
                  </a:txBody>
                  <a:tcPr marL="91440" marR="91440" marT="45720" marB="45720" anchor="ctr">
                    <a:solidFill>
                      <a:srgbClr val="E2E8F0"/>
                    </a:solidFill>
                  </a:tcPr>
                </a:tc>
                <a:tc>
                  <a:txBody>
                    <a:bodyPr lIns="85725" tIns="47625" rIns="85725" bIns="47625">
                      <a:noAutofit/>
                    </a:bodyPr>
                    <a:lstStyle/>
                    <a:p>
                      <a:pPr algn="ctr"/>
                      <a:r>
                        <a:rPr sz="1650" b="1">
                          <a:solidFill>
                            <a:srgbClr val="0B7F8A"/>
                          </a:solidFill>
                          <a:latin typeface="Calibri"/>
                          <a:ea typeface="Calibri"/>
                          <a:cs typeface="Calibri"/>
                        </a:rPr>
                        <a:t>Denied Records</a:t>
                      </a:r>
                    </a:p>
                  </a:txBody>
                  <a:tcPr marL="91440" marR="91440" marT="45720" marB="45720" anchor="ctr">
                    <a:solidFill>
                      <a:srgbClr val="E2E8F0"/>
                    </a:solidFill>
                  </a:tcPr>
                </a:tc>
                <a:tc>
                  <a:txBody>
                    <a:bodyPr lIns="85725" tIns="47625" rIns="85725" bIns="47625">
                      <a:noAutofit/>
                    </a:bodyPr>
                    <a:lstStyle/>
                    <a:p>
                      <a:pPr algn="ctr"/>
                      <a:r>
                        <a:rPr sz="1650" b="1">
                          <a:solidFill>
                            <a:srgbClr val="0B7F8A"/>
                          </a:solidFill>
                          <a:latin typeface="Calibri"/>
                          <a:ea typeface="Calibri"/>
                          <a:cs typeface="Calibri"/>
                        </a:rPr>
                        <a:t>Total</a:t>
                      </a:r>
                    </a:p>
                  </a:txBody>
                  <a:tcPr marL="91440" marR="91440" marT="45720" marB="45720" anchor="ctr">
                    <a:solidFill>
                      <a:srgbClr val="E2E8F0"/>
                    </a:solidFill>
                  </a:tcPr>
                </a:tc>
              </a:tr>
              <a:tr h="422910">
                <a:tc>
                  <a:txBody>
                    <a:bodyPr lIns="85725" tIns="47625" rIns="85725" bIns="47625">
                      <a:noAutofit/>
                    </a:bodyPr>
                    <a:lstStyle/>
                    <a:p>
                      <a:pPr algn="l"/>
                      <a:r>
                        <a:rPr sz="1650" b="0">
                          <a:solidFill>
                            <a:srgbClr val="334155"/>
                          </a:solidFill>
                          <a:latin typeface="Calibri"/>
                          <a:ea typeface="Calibri"/>
                          <a:cs typeface="Calibri"/>
                        </a:rPr>
                        <a:t>Fast</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70</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70</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2</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142</a:t>
                      </a:r>
                    </a:p>
                  </a:txBody>
                  <a:tcPr marL="91440" marR="91440" marT="45720" marB="45720" anchor="ctr">
                    <a:solidFill>
                      <a:srgbClr val="FFFFFF"/>
                    </a:solidFill>
                  </a:tcPr>
                </a:tc>
              </a:tr>
              <a:tr h="422910">
                <a:tc>
                  <a:txBody>
                    <a:bodyPr lIns="85725" tIns="47625" rIns="85725" bIns="47625">
                      <a:noAutofit/>
                    </a:bodyPr>
                    <a:lstStyle/>
                    <a:p>
                      <a:pPr algn="l"/>
                      <a:r>
                        <a:rPr sz="1650" b="0">
                          <a:solidFill>
                            <a:srgbClr val="334155"/>
                          </a:solidFill>
                          <a:latin typeface="Calibri"/>
                          <a:ea typeface="Calibri"/>
                          <a:cs typeface="Calibri"/>
                        </a:rPr>
                        <a:t>Standard</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70</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70</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12</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152</a:t>
                      </a:r>
                    </a:p>
                  </a:txBody>
                  <a:tcPr marL="91440" marR="91440" marT="45720" marB="45720" anchor="ctr">
                    <a:solidFill>
                      <a:srgbClr val="F8FAFC"/>
                    </a:solidFill>
                  </a:tcPr>
                </a:tc>
              </a:tr>
              <a:tr h="422910">
                <a:tc>
                  <a:txBody>
                    <a:bodyPr lIns="85725" tIns="47625" rIns="85725" bIns="47625">
                      <a:noAutofit/>
                    </a:bodyPr>
                    <a:lstStyle/>
                    <a:p>
                      <a:pPr algn="l"/>
                      <a:r>
                        <a:rPr sz="1650" b="0">
                          <a:solidFill>
                            <a:srgbClr val="334155"/>
                          </a:solidFill>
                          <a:latin typeface="Calibri"/>
                          <a:ea typeface="Calibri"/>
                          <a:cs typeface="Calibri"/>
                        </a:rPr>
                        <a:t>High-Security</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70</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70</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4</a:t>
                      </a:r>
                    </a:p>
                  </a:txBody>
                  <a:tcPr marL="91440" marR="91440" marT="45720" marB="45720" anchor="ctr">
                    <a:solidFill>
                      <a:srgbClr val="FFFFFF"/>
                    </a:solidFill>
                  </a:tcPr>
                </a:tc>
                <a:tc>
                  <a:txBody>
                    <a:bodyPr lIns="85725" tIns="47625" rIns="85725" bIns="47625">
                      <a:noAutofit/>
                    </a:bodyPr>
                    <a:lstStyle/>
                    <a:p>
                      <a:pPr algn="ctr"/>
                      <a:r>
                        <a:rPr sz="1650" b="0">
                          <a:solidFill>
                            <a:srgbClr val="334155"/>
                          </a:solidFill>
                          <a:latin typeface="Calibri"/>
                          <a:ea typeface="Calibri"/>
                          <a:cs typeface="Calibri"/>
                        </a:rPr>
                        <a:t>144</a:t>
                      </a:r>
                    </a:p>
                  </a:txBody>
                  <a:tcPr marL="91440" marR="91440" marT="45720" marB="45720" anchor="ctr">
                    <a:solidFill>
                      <a:srgbClr val="FFFFFF"/>
                    </a:solidFill>
                  </a:tcPr>
                </a:tc>
              </a:tr>
              <a:tr h="422910">
                <a:tc>
                  <a:txBody>
                    <a:bodyPr lIns="85725" tIns="47625" rIns="85725" bIns="47625">
                      <a:noAutofit/>
                    </a:bodyPr>
                    <a:lstStyle/>
                    <a:p>
                      <a:pPr algn="l"/>
                      <a:r>
                        <a:rPr sz="1650" b="0">
                          <a:solidFill>
                            <a:srgbClr val="334155"/>
                          </a:solidFill>
                          <a:latin typeface="Calibri"/>
                          <a:ea typeface="Calibri"/>
                          <a:cs typeface="Calibri"/>
                        </a:rPr>
                        <a:t>Total</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210</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210</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18</a:t>
                      </a:r>
                    </a:p>
                  </a:txBody>
                  <a:tcPr marL="91440" marR="91440" marT="45720" marB="45720" anchor="ctr">
                    <a:solidFill>
                      <a:srgbClr val="F8FAFC"/>
                    </a:solidFill>
                  </a:tcPr>
                </a:tc>
                <a:tc>
                  <a:txBody>
                    <a:bodyPr lIns="85725" tIns="47625" rIns="85725" bIns="47625">
                      <a:noAutofit/>
                    </a:bodyPr>
                    <a:lstStyle/>
                    <a:p>
                      <a:pPr algn="ctr"/>
                      <a:r>
                        <a:rPr sz="1650" b="0">
                          <a:solidFill>
                            <a:srgbClr val="334155"/>
                          </a:solidFill>
                          <a:latin typeface="Calibri"/>
                          <a:ea typeface="Calibri"/>
                          <a:cs typeface="Calibri"/>
                        </a:rPr>
                        <a:t>438</a:t>
                      </a:r>
                    </a:p>
                  </a:txBody>
                  <a:tcPr marL="91440" marR="91440" marT="45720" marB="45720" anchor="ctr">
                    <a:solidFill>
                      <a:srgbClr val="F8FAFC"/>
                    </a:solidFill>
                  </a:tcPr>
                </a:tc>
              </a:tr>
            </a:tbl>
          </a:graphicData>
        </a:graphic>
      </p:graphicFrame>
      <p:sp>
        <p:nvSpPr>
          <p:cNvPr id="5" name="Recorded challenges">
            <a:extLst xmlns:a="http://schemas.openxmlformats.org/drawingml/2006/main">
              <a:ext uri="{FF2B5EF4-FFF2-40B4-BE49-F238E27FC236}">
                <a16:creationId xmlns:a16="http://schemas.microsoft.com/office/drawing/2014/main" id="{BDD9139F-D5A9-4F42-A8A4-383AF191481B}"/>
              </a:ext>
            </a:extLst>
          </p:cNvPr>
          <p:cNvSpPr>
            <a:spLocks xmlns:a="http://schemas.openxmlformats.org/drawingml/2006/main" noGrp="1"/>
          </p:cNvSpPr>
          <p:nvPr/>
        </p:nvSpPr>
        <p:spPr>
          <a:xfrm xmlns:a="http://schemas.openxmlformats.org/drawingml/2006/main">
            <a:off x="361950" y="3571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B7F8A"/>
                </a:solidFill>
                <a:latin typeface="Calibri"/>
                <a:ea typeface="Calibri"/>
                <a:cs typeface="Calibri"/>
              </a:defRPr>
            </a:defPPr>
          </a:lstStyle>
          <a:p xmlns:a="http://schemas.openxmlformats.org/drawingml/2006/main">
            <a:pPr algn="l">
              <a:defRPr sz="1650" b="1">
                <a:solidFill>
                  <a:srgbClr val="0B7F8A"/>
                </a:solidFill>
                <a:latin typeface="Calibri"/>
                <a:ea typeface="Calibri"/>
                <a:cs typeface="Calibri"/>
              </a:defRPr>
            </a:pPr>
            <a:r>
              <a:rPr sz="1650" b="1">
                <a:solidFill>
                  <a:srgbClr val="0B7F8A"/>
                </a:solidFill>
                <a:latin typeface="Calibri"/>
                <a:ea typeface="Calibri"/>
                <a:cs typeface="Calibri"/>
              </a:rPr>
              <a:t>Recorded challenges</a:t>
            </a:r>
          </a:p>
        </p:txBody>
      </p:sp>
      <p:sp>
        <p:nvSpPr>
          <p:cNvPr id="6" name="Denials include deliberate PIN/lockout, QR mi">
            <a:extLst xmlns:a="http://schemas.openxmlformats.org/drawingml/2006/main">
              <a:ext uri="{FF2B5EF4-FFF2-40B4-BE49-F238E27FC236}">
                <a16:creationId xmlns:a16="http://schemas.microsoft.com/office/drawing/2014/main" id="{A031F9FC-5878-4AE7-8CEE-630E93C915E1}"/>
              </a:ext>
            </a:extLst>
          </p:cNvPr>
          <p:cNvSpPr>
            <a:spLocks xmlns:a="http://schemas.openxmlformats.org/drawingml/2006/main" noGrp="1"/>
          </p:cNvSpPr>
          <p:nvPr/>
        </p:nvSpPr>
        <p:spPr>
          <a:xfrm xmlns:a="http://schemas.openxmlformats.org/drawingml/2006/main">
            <a:off x="361950" y="38671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Denials include deliberate PIN/lockout, QR mismatch, and entry/exit state tests.</a:t>
            </a:r>
          </a:p>
        </p:txBody>
      </p:sp>
      <p:sp>
        <p:nvSpPr>
          <p:cNvPr id="7" name="Documented functionality">
            <a:extLst xmlns:a="http://schemas.openxmlformats.org/drawingml/2006/main">
              <a:ext uri="{FF2B5EF4-FFF2-40B4-BE49-F238E27FC236}">
                <a16:creationId xmlns:a16="http://schemas.microsoft.com/office/drawing/2014/main" id="{546E5406-0FBF-4464-A47D-366D7CE7D128}"/>
              </a:ext>
            </a:extLst>
          </p:cNvPr>
          <p:cNvSpPr>
            <a:spLocks xmlns:a="http://schemas.openxmlformats.org/drawingml/2006/main" noGrp="1"/>
          </p:cNvSpPr>
          <p:nvPr/>
        </p:nvSpPr>
        <p:spPr>
          <a:xfrm xmlns:a="http://schemas.openxmlformats.org/drawingml/2006/main">
            <a:off x="361950" y="4171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B7F8A"/>
                </a:solidFill>
                <a:latin typeface="Calibri"/>
                <a:ea typeface="Calibri"/>
                <a:cs typeface="Calibri"/>
              </a:defRPr>
            </a:defPPr>
          </a:lstStyle>
          <a:p xmlns:a="http://schemas.openxmlformats.org/drawingml/2006/main">
            <a:pPr algn="l">
              <a:defRPr sz="1650" b="1">
                <a:solidFill>
                  <a:srgbClr val="0B7F8A"/>
                </a:solidFill>
                <a:latin typeface="Calibri"/>
                <a:ea typeface="Calibri"/>
                <a:cs typeface="Calibri"/>
              </a:defRPr>
            </a:pPr>
            <a:r>
              <a:rPr sz="1650" b="1">
                <a:solidFill>
                  <a:srgbClr val="0B7F8A"/>
                </a:solidFill>
                <a:latin typeface="Calibri"/>
                <a:ea typeface="Calibri"/>
                <a:cs typeface="Calibri"/>
              </a:rPr>
              <a:t>Documented functionality</a:t>
            </a:r>
          </a:p>
        </p:txBody>
      </p:sp>
      <p:sp>
        <p:nvSpPr>
          <p:cNvPr id="8" name="Appendix H lists 16 PASS cases. These do not ">
            <a:extLst xmlns:a="http://schemas.openxmlformats.org/drawingml/2006/main">
              <a:ext uri="{FF2B5EF4-FFF2-40B4-BE49-F238E27FC236}">
                <a16:creationId xmlns:a16="http://schemas.microsoft.com/office/drawing/2014/main" id="{66D85D6C-6B5D-4446-A0C0-A97EE65862C5}"/>
              </a:ext>
            </a:extLst>
          </p:cNvPr>
          <p:cNvSpPr>
            <a:spLocks xmlns:a="http://schemas.openxmlformats.org/drawingml/2006/main" noGrp="1"/>
          </p:cNvSpPr>
          <p:nvPr/>
        </p:nvSpPr>
        <p:spPr>
          <a:xfrm xmlns:a="http://schemas.openxmlformats.org/drawingml/2006/main">
            <a:off x="361950" y="4467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Appendix H lists 16 PASS cases. These do not validate every feature or later addition.</a:t>
            </a:r>
          </a:p>
        </p:txBody>
      </p:sp>
    </p:spTree>
    <p:extLst>
      <p:ext uri="{BB962C8B-B14F-4D97-AF65-F5344CB8AC3E}">
        <p14:creationId xmlns:p14="http://schemas.microsoft.com/office/powerpoint/2010/main" val="13963210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CCESSFUL ENTRIES">
            <a:extLst xmlns:a="http://schemas.openxmlformats.org/drawingml/2006/main">
              <a:ext uri="{FF2B5EF4-FFF2-40B4-BE49-F238E27FC236}">
                <a16:creationId xmlns:a16="http://schemas.microsoft.com/office/drawing/2014/main" id="{CC28E7AF-43B8-4FF6-BD72-779C7BD9CB30}"/>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SUCCESSFUL ENTRIES</a:t>
            </a:r>
          </a:p>
        </p:txBody>
      </p:sp>
      <p:sp>
        <p:nvSpPr>
          <p:cNvPr id="2" name="Internal System Latency">
            <a:extLst xmlns:a="http://schemas.openxmlformats.org/drawingml/2006/main">
              <a:ext uri="{FF2B5EF4-FFF2-40B4-BE49-F238E27FC236}">
                <a16:creationId xmlns:a16="http://schemas.microsoft.com/office/drawing/2014/main" id="{EF9E07E9-87EB-44A3-BFE0-A510DD7006B0}"/>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Internal System Latency</a:t>
            </a:r>
          </a:p>
        </p:txBody>
      </p:sp>
      <p:sp>
        <p:nvSpPr>
          <p:cNvPr id="3" name="13 / 24">
            <a:extLst xmlns:a="http://schemas.openxmlformats.org/drawingml/2006/main">
              <a:ext uri="{FF2B5EF4-FFF2-40B4-BE49-F238E27FC236}">
                <a16:creationId xmlns:a16="http://schemas.microsoft.com/office/drawing/2014/main" id="{0D5F5803-3A60-4563-96BF-73E1B08183C8}"/>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13 / 24</a:t>
            </a:r>
          </a:p>
        </p:txBody>
      </p:sp>
      <p:graphicFrame>
        <p:nvGraphicFramePr>
          <p:cNvPr id="4" name="">
            <a:extLst xmlns:a="http://schemas.openxmlformats.org/drawingml/2006/main">
              <a:ext uri="{FF2B5EF4-FFF2-40B4-BE49-F238E27FC236}">
                <a16:creationId xmlns:a16="http://schemas.microsoft.com/office/drawing/2014/main" id="{15DE3B7D-8F88-4E9C-A8E1-FE9789D18DD6}"/>
              </a:ext>
            </a:extLst>
          </p:cNvPr>
          <p:cNvGraphicFramePr/>
          <p:nvPr/>
        </p:nvGraphicFramePr>
        <p:xfrm>
          <a:off xmlns:a="http://schemas.openxmlformats.org/drawingml/2006/main" x="304800" y="1400175"/>
          <a:ext xmlns:a="http://schemas.openxmlformats.org/drawingml/2006/main" cx="4524375" cy="2162175"/>
        </p:xfrm>
        <a:graphic xmlns:a="http://schemas.openxmlformats.org/drawingml/2006/main">
          <a:graphicData uri="http://schemas.openxmlformats.org/drawingml/2006/table">
            <a:tbl>
              <a:tblPr/>
              <a:tblGrid>
                <a:gridCol w="1571625"/>
                <a:gridCol w="857250"/>
                <a:gridCol w="1143000"/>
                <a:gridCol w="952500"/>
              </a:tblGrid>
              <a:tr h="540544">
                <a:tc>
                  <a:txBody>
                    <a:bodyPr lIns="85725" tIns="47625" rIns="85725" bIns="47625">
                      <a:noAutofit/>
                    </a:bodyPr>
                    <a:lstStyle/>
                    <a:p>
                      <a:pPr algn="l"/>
                      <a:r>
                        <a:rPr sz="1575" b="1">
                          <a:solidFill>
                            <a:srgbClr val="0B7F8A"/>
                          </a:solidFill>
                          <a:latin typeface="Calibri"/>
                          <a:ea typeface="Calibri"/>
                          <a:cs typeface="Calibri"/>
                        </a:rPr>
                        <a:t>Mode</a:t>
                      </a:r>
                    </a:p>
                  </a:txBody>
                  <a:tcPr marL="91440" marR="91440" marT="45720" marB="45720" anchor="ctr">
                    <a:solidFill>
                      <a:srgbClr val="E2E8F0"/>
                    </a:solidFill>
                  </a:tcPr>
                </a:tc>
                <a:tc>
                  <a:txBody>
                    <a:bodyPr lIns="85725" tIns="47625" rIns="85725" bIns="47625">
                      <a:noAutofit/>
                    </a:bodyPr>
                    <a:lstStyle/>
                    <a:p>
                      <a:pPr algn="ctr"/>
                      <a:r>
                        <a:rPr sz="1575" b="1">
                          <a:solidFill>
                            <a:srgbClr val="0B7F8A"/>
                          </a:solidFill>
                          <a:latin typeface="Calibri"/>
                          <a:ea typeface="Calibri"/>
                          <a:cs typeface="Calibri"/>
                        </a:rPr>
                        <a:t>Mean ms</a:t>
                      </a:r>
                    </a:p>
                  </a:txBody>
                  <a:tcPr marL="91440" marR="91440" marT="45720" marB="45720" anchor="ctr">
                    <a:solidFill>
                      <a:srgbClr val="E2E8F0"/>
                    </a:solidFill>
                  </a:tcPr>
                </a:tc>
                <a:tc>
                  <a:txBody>
                    <a:bodyPr lIns="85725" tIns="47625" rIns="85725" bIns="47625">
                      <a:noAutofit/>
                    </a:bodyPr>
                    <a:lstStyle/>
                    <a:p>
                      <a:pPr algn="ctr"/>
                      <a:r>
                        <a:rPr sz="1575" b="1">
                          <a:solidFill>
                            <a:srgbClr val="0B7F8A"/>
                          </a:solidFill>
                          <a:latin typeface="Calibri"/>
                          <a:ea typeface="Calibri"/>
                          <a:cs typeface="Calibri"/>
                        </a:rPr>
                        <a:t>Sample SD ms</a:t>
                      </a:r>
                    </a:p>
                  </a:txBody>
                  <a:tcPr marL="91440" marR="91440" marT="45720" marB="45720" anchor="ctr">
                    <a:solidFill>
                      <a:srgbClr val="E2E8F0"/>
                    </a:solidFill>
                  </a:tcPr>
                </a:tc>
                <a:tc>
                  <a:txBody>
                    <a:bodyPr lIns="85725" tIns="47625" rIns="85725" bIns="47625">
                      <a:noAutofit/>
                    </a:bodyPr>
                    <a:lstStyle/>
                    <a:p>
                      <a:pPr algn="ctr"/>
                      <a:r>
                        <a:rPr sz="1575" b="1">
                          <a:solidFill>
                            <a:srgbClr val="0B7F8A"/>
                          </a:solidFill>
                          <a:latin typeface="Calibri"/>
                          <a:ea typeface="Calibri"/>
                          <a:cs typeface="Calibri"/>
                        </a:rPr>
                        <a:t>DB Mean ms</a:t>
                      </a:r>
                    </a:p>
                  </a:txBody>
                  <a:tcPr marL="91440" marR="91440" marT="45720" marB="45720" anchor="ctr">
                    <a:solidFill>
                      <a:srgbClr val="E2E8F0"/>
                    </a:solidFill>
                  </a:tcPr>
                </a:tc>
              </a:tr>
              <a:tr h="540544">
                <a:tc>
                  <a:txBody>
                    <a:bodyPr lIns="85725" tIns="47625" rIns="85725" bIns="47625">
                      <a:noAutofit/>
                    </a:bodyPr>
                    <a:lstStyle/>
                    <a:p>
                      <a:pPr algn="l"/>
                      <a:r>
                        <a:rPr sz="1575" b="0">
                          <a:solidFill>
                            <a:srgbClr val="334155"/>
                          </a:solidFill>
                          <a:latin typeface="Calibri"/>
                          <a:ea typeface="Calibri"/>
                          <a:cs typeface="Calibri"/>
                        </a:rPr>
                        <a:t>Fast</a:t>
                      </a:r>
                    </a:p>
                  </a:txBody>
                  <a:tcPr marL="91440" marR="91440" marT="45720" marB="45720" anchor="ctr">
                    <a:solidFill>
                      <a:srgbClr val="FFFFFF"/>
                    </a:solidFill>
                  </a:tcPr>
                </a:tc>
                <a:tc>
                  <a:txBody>
                    <a:bodyPr lIns="85725" tIns="47625" rIns="85725" bIns="47625">
                      <a:noAutofit/>
                    </a:bodyPr>
                    <a:lstStyle/>
                    <a:p>
                      <a:pPr algn="ctr"/>
                      <a:r>
                        <a:rPr sz="1575" b="0">
                          <a:solidFill>
                            <a:srgbClr val="334155"/>
                          </a:solidFill>
                          <a:latin typeface="Calibri"/>
                          <a:ea typeface="Calibri"/>
                          <a:cs typeface="Calibri"/>
                        </a:rPr>
                        <a:t>11.49</a:t>
                      </a:r>
                    </a:p>
                  </a:txBody>
                  <a:tcPr marL="91440" marR="91440" marT="45720" marB="45720" anchor="ctr">
                    <a:solidFill>
                      <a:srgbClr val="FFFFFF"/>
                    </a:solidFill>
                  </a:tcPr>
                </a:tc>
                <a:tc>
                  <a:txBody>
                    <a:bodyPr lIns="85725" tIns="47625" rIns="85725" bIns="47625">
                      <a:noAutofit/>
                    </a:bodyPr>
                    <a:lstStyle/>
                    <a:p>
                      <a:pPr algn="ctr"/>
                      <a:r>
                        <a:rPr sz="1575" b="0">
                          <a:solidFill>
                            <a:srgbClr val="334155"/>
                          </a:solidFill>
                          <a:latin typeface="Calibri"/>
                          <a:ea typeface="Calibri"/>
                          <a:cs typeface="Calibri"/>
                        </a:rPr>
                        <a:t>2.20</a:t>
                      </a:r>
                    </a:p>
                  </a:txBody>
                  <a:tcPr marL="91440" marR="91440" marT="45720" marB="45720" anchor="ctr">
                    <a:solidFill>
                      <a:srgbClr val="FFFFFF"/>
                    </a:solidFill>
                  </a:tcPr>
                </a:tc>
                <a:tc>
                  <a:txBody>
                    <a:bodyPr lIns="85725" tIns="47625" rIns="85725" bIns="47625">
                      <a:noAutofit/>
                    </a:bodyPr>
                    <a:lstStyle/>
                    <a:p>
                      <a:pPr algn="ctr"/>
                      <a:r>
                        <a:rPr sz="1575" b="0">
                          <a:solidFill>
                            <a:srgbClr val="334155"/>
                          </a:solidFill>
                          <a:latin typeface="Calibri"/>
                          <a:ea typeface="Calibri"/>
                          <a:cs typeface="Calibri"/>
                        </a:rPr>
                        <a:t>2.88</a:t>
                      </a:r>
                    </a:p>
                  </a:txBody>
                  <a:tcPr marL="91440" marR="91440" marT="45720" marB="45720" anchor="ctr">
                    <a:solidFill>
                      <a:srgbClr val="FFFFFF"/>
                    </a:solidFill>
                  </a:tcPr>
                </a:tc>
              </a:tr>
              <a:tr h="540544">
                <a:tc>
                  <a:txBody>
                    <a:bodyPr lIns="85725" tIns="47625" rIns="85725" bIns="47625">
                      <a:noAutofit/>
                    </a:bodyPr>
                    <a:lstStyle/>
                    <a:p>
                      <a:pPr algn="l"/>
                      <a:r>
                        <a:rPr sz="1575" b="0">
                          <a:solidFill>
                            <a:srgbClr val="334155"/>
                          </a:solidFill>
                          <a:latin typeface="Calibri"/>
                          <a:ea typeface="Calibri"/>
                          <a:cs typeface="Calibri"/>
                        </a:rPr>
                        <a:t>Standard</a:t>
                      </a:r>
                    </a:p>
                  </a:txBody>
                  <a:tcPr marL="91440" marR="91440" marT="45720" marB="45720" anchor="ctr">
                    <a:solidFill>
                      <a:srgbClr val="F8FAFC"/>
                    </a:solidFill>
                  </a:tcPr>
                </a:tc>
                <a:tc>
                  <a:txBody>
                    <a:bodyPr lIns="85725" tIns="47625" rIns="85725" bIns="47625">
                      <a:noAutofit/>
                    </a:bodyPr>
                    <a:lstStyle/>
                    <a:p>
                      <a:pPr algn="ctr"/>
                      <a:r>
                        <a:rPr sz="1575" b="0">
                          <a:solidFill>
                            <a:srgbClr val="334155"/>
                          </a:solidFill>
                          <a:latin typeface="Calibri"/>
                          <a:ea typeface="Calibri"/>
                          <a:cs typeface="Calibri"/>
                        </a:rPr>
                        <a:t>57.37</a:t>
                      </a:r>
                    </a:p>
                  </a:txBody>
                  <a:tcPr marL="91440" marR="91440" marT="45720" marB="45720" anchor="ctr">
                    <a:solidFill>
                      <a:srgbClr val="F8FAFC"/>
                    </a:solidFill>
                  </a:tcPr>
                </a:tc>
                <a:tc>
                  <a:txBody>
                    <a:bodyPr lIns="85725" tIns="47625" rIns="85725" bIns="47625">
                      <a:noAutofit/>
                    </a:bodyPr>
                    <a:lstStyle/>
                    <a:p>
                      <a:pPr algn="ctr"/>
                      <a:r>
                        <a:rPr sz="1575" b="0">
                          <a:solidFill>
                            <a:srgbClr val="334155"/>
                          </a:solidFill>
                          <a:latin typeface="Calibri"/>
                          <a:ea typeface="Calibri"/>
                          <a:cs typeface="Calibri"/>
                        </a:rPr>
                        <a:t>17.46</a:t>
                      </a:r>
                    </a:p>
                  </a:txBody>
                  <a:tcPr marL="91440" marR="91440" marT="45720" marB="45720" anchor="ctr">
                    <a:solidFill>
                      <a:srgbClr val="F8FAFC"/>
                    </a:solidFill>
                  </a:tcPr>
                </a:tc>
                <a:tc>
                  <a:txBody>
                    <a:bodyPr lIns="85725" tIns="47625" rIns="85725" bIns="47625">
                      <a:noAutofit/>
                    </a:bodyPr>
                    <a:lstStyle/>
                    <a:p>
                      <a:pPr algn="ctr"/>
                      <a:r>
                        <a:rPr sz="1575" b="0">
                          <a:solidFill>
                            <a:srgbClr val="334155"/>
                          </a:solidFill>
                          <a:latin typeface="Calibri"/>
                          <a:ea typeface="Calibri"/>
                          <a:cs typeface="Calibri"/>
                        </a:rPr>
                        <a:t>47.95</a:t>
                      </a:r>
                    </a:p>
                  </a:txBody>
                  <a:tcPr marL="91440" marR="91440" marT="45720" marB="45720" anchor="ctr">
                    <a:solidFill>
                      <a:srgbClr val="F8FAFC"/>
                    </a:solidFill>
                  </a:tcPr>
                </a:tc>
              </a:tr>
              <a:tr h="540544">
                <a:tc>
                  <a:txBody>
                    <a:bodyPr lIns="85725" tIns="47625" rIns="85725" bIns="47625">
                      <a:noAutofit/>
                    </a:bodyPr>
                    <a:lstStyle/>
                    <a:p>
                      <a:pPr algn="l"/>
                      <a:r>
                        <a:rPr sz="1575" b="0">
                          <a:solidFill>
                            <a:srgbClr val="334155"/>
                          </a:solidFill>
                          <a:latin typeface="Calibri"/>
                          <a:ea typeface="Calibri"/>
                          <a:cs typeface="Calibri"/>
                        </a:rPr>
                        <a:t>High-Security</a:t>
                      </a:r>
                    </a:p>
                  </a:txBody>
                  <a:tcPr marL="91440" marR="91440" marT="45720" marB="45720" anchor="ctr">
                    <a:solidFill>
                      <a:srgbClr val="FFFFFF"/>
                    </a:solidFill>
                  </a:tcPr>
                </a:tc>
                <a:tc>
                  <a:txBody>
                    <a:bodyPr lIns="85725" tIns="47625" rIns="85725" bIns="47625">
                      <a:noAutofit/>
                    </a:bodyPr>
                    <a:lstStyle/>
                    <a:p>
                      <a:pPr algn="ctr"/>
                      <a:r>
                        <a:rPr sz="1575" b="0">
                          <a:solidFill>
                            <a:srgbClr val="334155"/>
                          </a:solidFill>
                          <a:latin typeface="Calibri"/>
                          <a:ea typeface="Calibri"/>
                          <a:cs typeface="Calibri"/>
                        </a:rPr>
                        <a:t>54.06</a:t>
                      </a:r>
                    </a:p>
                  </a:txBody>
                  <a:tcPr marL="91440" marR="91440" marT="45720" marB="45720" anchor="ctr">
                    <a:solidFill>
                      <a:srgbClr val="FFFFFF"/>
                    </a:solidFill>
                  </a:tcPr>
                </a:tc>
                <a:tc>
                  <a:txBody>
                    <a:bodyPr lIns="85725" tIns="47625" rIns="85725" bIns="47625">
                      <a:noAutofit/>
                    </a:bodyPr>
                    <a:lstStyle/>
                    <a:p>
                      <a:pPr algn="ctr"/>
                      <a:r>
                        <a:rPr sz="1575" b="0">
                          <a:solidFill>
                            <a:srgbClr val="334155"/>
                          </a:solidFill>
                          <a:latin typeface="Calibri"/>
                          <a:ea typeface="Calibri"/>
                          <a:cs typeface="Calibri"/>
                        </a:rPr>
                        <a:t>6.34</a:t>
                      </a:r>
                    </a:p>
                  </a:txBody>
                  <a:tcPr marL="91440" marR="91440" marT="45720" marB="45720" anchor="ctr">
                    <a:solidFill>
                      <a:srgbClr val="FFFFFF"/>
                    </a:solidFill>
                  </a:tcPr>
                </a:tc>
                <a:tc>
                  <a:txBody>
                    <a:bodyPr lIns="85725" tIns="47625" rIns="85725" bIns="47625">
                      <a:noAutofit/>
                    </a:bodyPr>
                    <a:lstStyle/>
                    <a:p>
                      <a:pPr algn="ctr"/>
                      <a:r>
                        <a:rPr sz="1575" b="0">
                          <a:solidFill>
                            <a:srgbClr val="334155"/>
                          </a:solidFill>
                          <a:latin typeface="Calibri"/>
                          <a:ea typeface="Calibri"/>
                          <a:cs typeface="Calibri"/>
                        </a:rPr>
                        <a:t>44.90</a:t>
                      </a:r>
                    </a:p>
                  </a:txBody>
                  <a:tcPr marL="91440" marR="91440" marT="45720" marB="45720" anchor="ctr">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AE3E8FBC-0DB4-43A9-91FD-540278C89EB9}"/>
              </a:ext>
            </a:extLst>
          </p:cNvPr>
          <p:cNvGraphicFramePr/>
          <p:nvPr/>
        </p:nvGraphicFramePr>
        <p:xfrm>
          <a:off xmlns:a="http://schemas.openxmlformats.org/drawingml/2006/main" x="5067300" y="1304925"/>
          <a:ext xmlns:a="http://schemas.openxmlformats.org/drawingml/2006/main" cx="3743325" cy="2743200"/>
        </p:xfrm>
        <a:graphic xmlns:a="http://schemas.openxmlformats.org/drawingml/2006/main">
          <a:graphicData uri="http://schemas.openxmlformats.org/drawingml/2006/chart">
            <c:chart xmlns:r="http://schemas.openxmlformats.org/officeDocument/2006/relationships" xmlns:c="http://schemas.openxmlformats.org/drawingml/2006/chart" r:id="Re3ac93e6a7ba403c"/>
          </a:graphicData>
        </a:graphic>
      </p:graphicFrame>
      <p:sp>
        <p:nvSpPr>
          <p:cNvPr id="6" name="70 successful entries per mode">
            <a:extLst xmlns:a="http://schemas.openxmlformats.org/drawingml/2006/main">
              <a:ext uri="{FF2B5EF4-FFF2-40B4-BE49-F238E27FC236}">
                <a16:creationId xmlns:a16="http://schemas.microsoft.com/office/drawing/2014/main" id="{04EA3A97-4091-43FA-AD73-8CD2419863F9}"/>
              </a:ext>
            </a:extLst>
          </p:cNvPr>
          <p:cNvSpPr>
            <a:spLocks xmlns:a="http://schemas.openxmlformats.org/drawingml/2006/main" noGrp="1"/>
          </p:cNvSpPr>
          <p:nvPr/>
        </p:nvSpPr>
        <p:spPr>
          <a:xfrm xmlns:a="http://schemas.openxmlformats.org/drawingml/2006/main">
            <a:off x="361950" y="378142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70 successful entries per mode</a:t>
            </a:r>
          </a:p>
        </p:txBody>
      </p:sp>
      <p:sp>
        <p:nvSpPr>
          <p:cNvPr id="7" name="Database-query time overlaps internal latency">
            <a:extLst xmlns:a="http://schemas.openxmlformats.org/drawingml/2006/main">
              <a:ext uri="{FF2B5EF4-FFF2-40B4-BE49-F238E27FC236}">
                <a16:creationId xmlns:a16="http://schemas.microsoft.com/office/drawing/2014/main" id="{19E334EF-0F2A-4596-A8EC-BC701F2FAD28}"/>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Database-query time overlaps internal latency. Adding it again would double-count time.</a:t>
            </a:r>
          </a:p>
        </p:txBody>
      </p:sp>
    </p:spTree>
    <p:extLst>
      <p:ext uri="{BB962C8B-B14F-4D97-AF65-F5344CB8AC3E}">
        <p14:creationId xmlns:p14="http://schemas.microsoft.com/office/powerpoint/2010/main" val="21442125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SUCCESSFUL ENTRIES">
            <a:extLst xmlns:a="http://schemas.openxmlformats.org/drawingml/2006/main">
              <a:ext uri="{FF2B5EF4-FFF2-40B4-BE49-F238E27FC236}">
                <a16:creationId xmlns:a16="http://schemas.microsoft.com/office/drawing/2014/main" id="{3993CA60-231A-4FE4-96F0-A878CEE22119}"/>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SUCCESSFUL ENTRIES</a:t>
            </a:r>
          </a:p>
        </p:txBody>
      </p:sp>
      <p:sp>
        <p:nvSpPr>
          <p:cNvPr id="2" name="Recorded PIN and QR Interaction">
            <a:extLst xmlns:a="http://schemas.openxmlformats.org/drawingml/2006/main">
              <a:ext uri="{FF2B5EF4-FFF2-40B4-BE49-F238E27FC236}">
                <a16:creationId xmlns:a16="http://schemas.microsoft.com/office/drawing/2014/main" id="{5426AD3C-D5DD-48C5-AC9F-A86DC8255C82}"/>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Recorded PIN and QR Interaction</a:t>
            </a:r>
          </a:p>
        </p:txBody>
      </p:sp>
      <p:sp>
        <p:nvSpPr>
          <p:cNvPr id="3" name="14 / 24">
            <a:extLst xmlns:a="http://schemas.openxmlformats.org/drawingml/2006/main">
              <a:ext uri="{FF2B5EF4-FFF2-40B4-BE49-F238E27FC236}">
                <a16:creationId xmlns:a16="http://schemas.microsoft.com/office/drawing/2014/main" id="{D2797F81-AAFE-42CC-BAEA-20F09F63003E}"/>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14 / 24</a:t>
            </a:r>
          </a:p>
        </p:txBody>
      </p:sp>
      <p:graphicFrame>
        <p:nvGraphicFramePr>
          <p:cNvPr id="4" name="Chart">
            <a:extLst xmlns:a="http://schemas.openxmlformats.org/drawingml/2006/main">
              <a:ext uri="{FF2B5EF4-FFF2-40B4-BE49-F238E27FC236}">
                <a16:creationId xmlns:a16="http://schemas.microsoft.com/office/drawing/2014/main" id="{D2E82EB2-2F28-43BB-94BE-F31517109B10}"/>
              </a:ext>
            </a:extLst>
          </p:cNvPr>
          <p:cNvGraphicFramePr/>
          <p:nvPr/>
        </p:nvGraphicFramePr>
        <p:xfrm>
          <a:off xmlns:a="http://schemas.openxmlformats.org/drawingml/2006/main" x="304800" y="1228725"/>
          <a:ext xmlns:a="http://schemas.openxmlformats.org/drawingml/2006/main" cx="4762500" cy="2752725"/>
        </p:xfrm>
        <a:graphic xmlns:a="http://schemas.openxmlformats.org/drawingml/2006/main">
          <a:graphicData uri="http://schemas.openxmlformats.org/drawingml/2006/chart">
            <c:chart xmlns:r="http://schemas.openxmlformats.org/officeDocument/2006/relationships" xmlns:c="http://schemas.openxmlformats.org/drawingml/2006/chart" r:id="Rbd7b417a2bd84e59"/>
          </a:graphicData>
        </a:graphic>
      </p:graphicFrame>
      <p:graphicFrame>
        <p:nvGraphicFramePr>
          <p:cNvPr id="5" name="">
            <a:extLst xmlns:a="http://schemas.openxmlformats.org/drawingml/2006/main">
              <a:ext uri="{FF2B5EF4-FFF2-40B4-BE49-F238E27FC236}">
                <a16:creationId xmlns:a16="http://schemas.microsoft.com/office/drawing/2014/main" id="{E31DD3AA-DD39-4AD9-BE04-C5019730273A}"/>
              </a:ext>
            </a:extLst>
          </p:cNvPr>
          <p:cNvGraphicFramePr/>
          <p:nvPr/>
        </p:nvGraphicFramePr>
        <p:xfrm>
          <a:off xmlns:a="http://schemas.openxmlformats.org/drawingml/2006/main" x="5305425" y="1457325"/>
          <a:ext xmlns:a="http://schemas.openxmlformats.org/drawingml/2006/main" cx="3524250" cy="2095500"/>
        </p:xfrm>
        <a:graphic xmlns:a="http://schemas.openxmlformats.org/drawingml/2006/main">
          <a:graphicData uri="http://schemas.openxmlformats.org/drawingml/2006/table">
            <a:tbl>
              <a:tblPr/>
              <a:tblGrid>
                <a:gridCol w="1571625"/>
                <a:gridCol w="914400"/>
                <a:gridCol w="1038225"/>
              </a:tblGrid>
              <a:tr h="419100">
                <a:tc>
                  <a:txBody>
                    <a:bodyPr lIns="85725" tIns="47625" rIns="85725" bIns="47625">
                      <a:noAutofit/>
                    </a:bodyPr>
                    <a:lstStyle/>
                    <a:p>
                      <a:pPr algn="l"/>
                      <a:r>
                        <a:rPr sz="1425" b="1">
                          <a:solidFill>
                            <a:srgbClr val="0B7F8A"/>
                          </a:solidFill>
                          <a:latin typeface="Calibri"/>
                          <a:ea typeface="Calibri"/>
                          <a:cs typeface="Calibri"/>
                        </a:rPr>
                        <a:t>Total Stage Duration</a:t>
                      </a:r>
                    </a:p>
                  </a:txBody>
                  <a:tcPr marL="91440" marR="91440" marT="45720" marB="45720" anchor="ctr">
                    <a:solidFill>
                      <a:srgbClr val="E2E8F0"/>
                    </a:solidFill>
                  </a:tcPr>
                </a:tc>
                <a:tc>
                  <a:txBody>
                    <a:bodyPr lIns="85725" tIns="47625" rIns="85725" bIns="47625">
                      <a:noAutofit/>
                    </a:bodyPr>
                    <a:lstStyle/>
                    <a:p>
                      <a:pPr algn="l"/>
                      <a:r>
                        <a:rPr sz="1425" b="1">
                          <a:solidFill>
                            <a:srgbClr val="0B7F8A"/>
                          </a:solidFill>
                          <a:latin typeface="Calibri"/>
                          <a:ea typeface="Calibri"/>
                          <a:cs typeface="Calibri"/>
                        </a:rPr>
                        <a:t>Standard</a:t>
                      </a:r>
                    </a:p>
                  </a:txBody>
                  <a:tcPr marL="91440" marR="91440" marT="45720" marB="45720" anchor="ctr">
                    <a:solidFill>
                      <a:srgbClr val="E2E8F0"/>
                    </a:solidFill>
                  </a:tcPr>
                </a:tc>
                <a:tc>
                  <a:txBody>
                    <a:bodyPr lIns="85725" tIns="47625" rIns="85725" bIns="47625">
                      <a:noAutofit/>
                    </a:bodyPr>
                    <a:lstStyle/>
                    <a:p>
                      <a:pPr algn="l"/>
                      <a:r>
                        <a:rPr sz="1425" b="1">
                          <a:solidFill>
                            <a:srgbClr val="0B7F8A"/>
                          </a:solidFill>
                          <a:latin typeface="Calibri"/>
                          <a:ea typeface="Calibri"/>
                          <a:cs typeface="Calibri"/>
                        </a:rPr>
                        <a:t>High-Security</a:t>
                      </a:r>
                    </a:p>
                  </a:txBody>
                  <a:tcPr marL="91440" marR="91440" marT="45720" marB="45720" anchor="ctr">
                    <a:solidFill>
                      <a:srgbClr val="E2E8F0"/>
                    </a:solidFill>
                  </a:tcPr>
                </a:tc>
              </a:tr>
              <a:tr h="419100">
                <a:tc>
                  <a:txBody>
                    <a:bodyPr lIns="85725" tIns="47625" rIns="85725" bIns="47625">
                      <a:noAutofit/>
                    </a:bodyPr>
                    <a:lstStyle/>
                    <a:p>
                      <a:pPr algn="l"/>
                      <a:r>
                        <a:rPr sz="1425" b="0">
                          <a:solidFill>
                            <a:srgbClr val="334155"/>
                          </a:solidFill>
                          <a:latin typeface="Calibri"/>
                          <a:ea typeface="Calibri"/>
                          <a:cs typeface="Calibri"/>
                        </a:rPr>
                        <a:t>Mean (s)</a:t>
                      </a:r>
                    </a:p>
                  </a:txBody>
                  <a:tcPr marL="91440" marR="91440" marT="45720" marB="45720" anchor="ctr">
                    <a:solidFill>
                      <a:srgbClr val="FFFFFF"/>
                    </a:solidFill>
                  </a:tcPr>
                </a:tc>
                <a:tc>
                  <a:txBody>
                    <a:bodyPr lIns="85725" tIns="47625" rIns="85725" bIns="47625">
                      <a:noAutofit/>
                    </a:bodyPr>
                    <a:lstStyle/>
                    <a:p>
                      <a:pPr algn="l"/>
                      <a:r>
                        <a:rPr sz="1425" b="0">
                          <a:solidFill>
                            <a:srgbClr val="334155"/>
                          </a:solidFill>
                          <a:latin typeface="Calibri"/>
                          <a:ea typeface="Calibri"/>
                          <a:cs typeface="Calibri"/>
                        </a:rPr>
                        <a:t>2.505</a:t>
                      </a:r>
                    </a:p>
                  </a:txBody>
                  <a:tcPr marL="91440" marR="91440" marT="45720" marB="45720" anchor="ctr">
                    <a:solidFill>
                      <a:srgbClr val="FFFFFF"/>
                    </a:solidFill>
                  </a:tcPr>
                </a:tc>
                <a:tc>
                  <a:txBody>
                    <a:bodyPr lIns="85725" tIns="47625" rIns="85725" bIns="47625">
                      <a:noAutofit/>
                    </a:bodyPr>
                    <a:lstStyle/>
                    <a:p>
                      <a:pPr algn="l"/>
                      <a:r>
                        <a:rPr sz="1425" b="0">
                          <a:solidFill>
                            <a:srgbClr val="334155"/>
                          </a:solidFill>
                          <a:latin typeface="Calibri"/>
                          <a:ea typeface="Calibri"/>
                          <a:cs typeface="Calibri"/>
                        </a:rPr>
                        <a:t>5.799</a:t>
                      </a:r>
                    </a:p>
                  </a:txBody>
                  <a:tcPr marL="91440" marR="91440" marT="45720" marB="45720" anchor="ctr">
                    <a:solidFill>
                      <a:srgbClr val="FFFFFF"/>
                    </a:solidFill>
                  </a:tcPr>
                </a:tc>
              </a:tr>
              <a:tr h="419100">
                <a:tc>
                  <a:txBody>
                    <a:bodyPr lIns="85725" tIns="47625" rIns="85725" bIns="47625">
                      <a:noAutofit/>
                    </a:bodyPr>
                    <a:lstStyle/>
                    <a:p>
                      <a:pPr algn="l"/>
                      <a:r>
                        <a:rPr sz="1425" b="0">
                          <a:solidFill>
                            <a:srgbClr val="334155"/>
                          </a:solidFill>
                          <a:latin typeface="Calibri"/>
                          <a:ea typeface="Calibri"/>
                          <a:cs typeface="Calibri"/>
                        </a:rPr>
                        <a:t>Median (s)</a:t>
                      </a:r>
                    </a:p>
                  </a:txBody>
                  <a:tcPr marL="91440" marR="91440" marT="45720" marB="45720" anchor="ctr">
                    <a:solidFill>
                      <a:srgbClr val="F8FAFC"/>
                    </a:solidFill>
                  </a:tcPr>
                </a:tc>
                <a:tc>
                  <a:txBody>
                    <a:bodyPr lIns="85725" tIns="47625" rIns="85725" bIns="47625">
                      <a:noAutofit/>
                    </a:bodyPr>
                    <a:lstStyle/>
                    <a:p>
                      <a:pPr algn="l"/>
                      <a:r>
                        <a:rPr sz="1425" b="0">
                          <a:solidFill>
                            <a:srgbClr val="334155"/>
                          </a:solidFill>
                          <a:latin typeface="Calibri"/>
                          <a:ea typeface="Calibri"/>
                          <a:cs typeface="Calibri"/>
                        </a:rPr>
                        <a:t>2.035</a:t>
                      </a:r>
                    </a:p>
                  </a:txBody>
                  <a:tcPr marL="91440" marR="91440" marT="45720" marB="45720" anchor="ctr">
                    <a:solidFill>
                      <a:srgbClr val="F8FAFC"/>
                    </a:solidFill>
                  </a:tcPr>
                </a:tc>
                <a:tc>
                  <a:txBody>
                    <a:bodyPr lIns="85725" tIns="47625" rIns="85725" bIns="47625">
                      <a:noAutofit/>
                    </a:bodyPr>
                    <a:lstStyle/>
                    <a:p>
                      <a:pPr algn="l"/>
                      <a:r>
                        <a:rPr sz="1425" b="0">
                          <a:solidFill>
                            <a:srgbClr val="334155"/>
                          </a:solidFill>
                          <a:latin typeface="Calibri"/>
                          <a:ea typeface="Calibri"/>
                          <a:cs typeface="Calibri"/>
                        </a:rPr>
                        <a:t>4.348</a:t>
                      </a:r>
                    </a:p>
                  </a:txBody>
                  <a:tcPr marL="91440" marR="91440" marT="45720" marB="45720" anchor="ctr">
                    <a:solidFill>
                      <a:srgbClr val="F8FAFC"/>
                    </a:solidFill>
                  </a:tcPr>
                </a:tc>
              </a:tr>
              <a:tr h="419100">
                <a:tc>
                  <a:txBody>
                    <a:bodyPr lIns="85725" tIns="47625" rIns="85725" bIns="47625">
                      <a:noAutofit/>
                    </a:bodyPr>
                    <a:lstStyle/>
                    <a:p>
                      <a:pPr algn="l"/>
                      <a:r>
                        <a:rPr sz="1425" b="0">
                          <a:solidFill>
                            <a:srgbClr val="334155"/>
                          </a:solidFill>
                          <a:latin typeface="Calibri"/>
                          <a:ea typeface="Calibri"/>
                          <a:cs typeface="Calibri"/>
                        </a:rPr>
                        <a:t>Sample SD (s)</a:t>
                      </a:r>
                    </a:p>
                  </a:txBody>
                  <a:tcPr marL="91440" marR="91440" marT="45720" marB="45720" anchor="ctr">
                    <a:solidFill>
                      <a:srgbClr val="FFFFFF"/>
                    </a:solidFill>
                  </a:tcPr>
                </a:tc>
                <a:tc>
                  <a:txBody>
                    <a:bodyPr lIns="85725" tIns="47625" rIns="85725" bIns="47625">
                      <a:noAutofit/>
                    </a:bodyPr>
                    <a:lstStyle/>
                    <a:p>
                      <a:pPr algn="l"/>
                      <a:r>
                        <a:rPr sz="1425" b="0">
                          <a:solidFill>
                            <a:srgbClr val="334155"/>
                          </a:solidFill>
                          <a:latin typeface="Calibri"/>
                          <a:ea typeface="Calibri"/>
                          <a:cs typeface="Calibri"/>
                        </a:rPr>
                        <a:t>1.152</a:t>
                      </a:r>
                    </a:p>
                  </a:txBody>
                  <a:tcPr marL="91440" marR="91440" marT="45720" marB="45720" anchor="ctr">
                    <a:solidFill>
                      <a:srgbClr val="FFFFFF"/>
                    </a:solidFill>
                  </a:tcPr>
                </a:tc>
                <a:tc>
                  <a:txBody>
                    <a:bodyPr lIns="85725" tIns="47625" rIns="85725" bIns="47625">
                      <a:noAutofit/>
                    </a:bodyPr>
                    <a:lstStyle/>
                    <a:p>
                      <a:pPr algn="l"/>
                      <a:r>
                        <a:rPr sz="1425" b="0">
                          <a:solidFill>
                            <a:srgbClr val="334155"/>
                          </a:solidFill>
                          <a:latin typeface="Calibri"/>
                          <a:ea typeface="Calibri"/>
                          <a:cs typeface="Calibri"/>
                        </a:rPr>
                        <a:t>3.878</a:t>
                      </a:r>
                    </a:p>
                  </a:txBody>
                  <a:tcPr marL="91440" marR="91440" marT="45720" marB="45720" anchor="ctr">
                    <a:solidFill>
                      <a:srgbClr val="FFFFFF"/>
                    </a:solidFill>
                  </a:tcPr>
                </a:tc>
              </a:tr>
              <a:tr h="419100">
                <a:tc>
                  <a:txBody>
                    <a:bodyPr lIns="85725" tIns="47625" rIns="85725" bIns="47625">
                      <a:noAutofit/>
                    </a:bodyPr>
                    <a:lstStyle/>
                    <a:p>
                      <a:pPr algn="l"/>
                      <a:r>
                        <a:rPr sz="1425" b="0">
                          <a:solidFill>
                            <a:srgbClr val="334155"/>
                          </a:solidFill>
                          <a:latin typeface="Calibri"/>
                          <a:ea typeface="Calibri"/>
                          <a:cs typeface="Calibri"/>
                        </a:rPr>
                        <a:t>Maximum (s)</a:t>
                      </a:r>
                    </a:p>
                  </a:txBody>
                  <a:tcPr marL="91440" marR="91440" marT="45720" marB="45720" anchor="ctr">
                    <a:solidFill>
                      <a:srgbClr val="F8FAFC"/>
                    </a:solidFill>
                  </a:tcPr>
                </a:tc>
                <a:tc>
                  <a:txBody>
                    <a:bodyPr lIns="85725" tIns="47625" rIns="85725" bIns="47625">
                      <a:noAutofit/>
                    </a:bodyPr>
                    <a:lstStyle/>
                    <a:p>
                      <a:pPr algn="l"/>
                      <a:r>
                        <a:rPr sz="1425" b="0">
                          <a:solidFill>
                            <a:srgbClr val="334155"/>
                          </a:solidFill>
                          <a:latin typeface="Calibri"/>
                          <a:ea typeface="Calibri"/>
                          <a:cs typeface="Calibri"/>
                        </a:rPr>
                        <a:t>6.875</a:t>
                      </a:r>
                    </a:p>
                  </a:txBody>
                  <a:tcPr marL="91440" marR="91440" marT="45720" marB="45720" anchor="ctr">
                    <a:solidFill>
                      <a:srgbClr val="F8FAFC"/>
                    </a:solidFill>
                  </a:tcPr>
                </a:tc>
                <a:tc>
                  <a:txBody>
                    <a:bodyPr lIns="85725" tIns="47625" rIns="85725" bIns="47625">
                      <a:noAutofit/>
                    </a:bodyPr>
                    <a:lstStyle/>
                    <a:p>
                      <a:pPr algn="l"/>
                      <a:r>
                        <a:rPr sz="1425" b="0">
                          <a:solidFill>
                            <a:srgbClr val="334155"/>
                          </a:solidFill>
                          <a:latin typeface="Calibri"/>
                          <a:ea typeface="Calibri"/>
                          <a:cs typeface="Calibri"/>
                        </a:rPr>
                        <a:t>22.604</a:t>
                      </a:r>
                    </a:p>
                  </a:txBody>
                  <a:tcPr marL="91440" marR="91440" marT="45720" marB="45720" anchor="ctr">
                    <a:solidFill>
                      <a:srgbClr val="F8FAFC"/>
                    </a:solidFill>
                  </a:tcPr>
                </a:tc>
              </a:tr>
            </a:tbl>
          </a:graphicData>
        </a:graphic>
      </p:graphicFrame>
      <p:sp>
        <p:nvSpPr>
          <p:cNvPr id="6" name="n = 70 per mode. Fast bypasses PIN/QR. Its in">
            <a:extLst xmlns:a="http://schemas.openxmlformats.org/drawingml/2006/main">
              <a:ext uri="{FF2B5EF4-FFF2-40B4-BE49-F238E27FC236}">
                <a16:creationId xmlns:a16="http://schemas.microsoft.com/office/drawing/2014/main" id="{74068A84-B0F0-4FBD-B4AA-D89CD45BCB9B}"/>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n = 70 per mode. Fast bypasses PIN/QR. Its interaction stage is N/A, not a zero-second full task.</a:t>
            </a:r>
          </a:p>
        </p:txBody>
      </p:sp>
    </p:spTree>
    <p:extLst>
      <p:ext uri="{BB962C8B-B14F-4D97-AF65-F5344CB8AC3E}">
        <p14:creationId xmlns:p14="http://schemas.microsoft.com/office/powerpoint/2010/main" val="18441061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OBSERVATION">
            <a:extLst xmlns:a="http://schemas.openxmlformats.org/drawingml/2006/main">
              <a:ext uri="{FF2B5EF4-FFF2-40B4-BE49-F238E27FC236}">
                <a16:creationId xmlns:a16="http://schemas.microsoft.com/office/drawing/2014/main" id="{29CDE4AC-469E-4010-BB63-4F353822CF65}"/>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MANUAL OBSERVATION</a:t>
            </a:r>
          </a:p>
        </p:txBody>
      </p:sp>
      <p:sp>
        <p:nvSpPr>
          <p:cNvPr id="2" name="Manual Paper Attendance Baseline">
            <a:extLst xmlns:a="http://schemas.openxmlformats.org/drawingml/2006/main">
              <a:ext uri="{FF2B5EF4-FFF2-40B4-BE49-F238E27FC236}">
                <a16:creationId xmlns:a16="http://schemas.microsoft.com/office/drawing/2014/main" id="{791D4EFE-A44E-4A60-AAD3-08FBE8839D7B}"/>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Manual Paper Attendance Baseline</a:t>
            </a:r>
          </a:p>
        </p:txBody>
      </p:sp>
      <p:sp>
        <p:nvSpPr>
          <p:cNvPr id="3" name="15 / 24">
            <a:extLst xmlns:a="http://schemas.openxmlformats.org/drawingml/2006/main">
              <a:ext uri="{FF2B5EF4-FFF2-40B4-BE49-F238E27FC236}">
                <a16:creationId xmlns:a16="http://schemas.microsoft.com/office/drawing/2014/main" id="{DFF84456-8E01-4549-854A-0DEDDE6C779B}"/>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15 / 24</a:t>
            </a:r>
          </a:p>
        </p:txBody>
      </p:sp>
      <p:sp>
        <p:nvSpPr>
          <p:cNvPr id="4" name="21.803 seconds">
            <a:extLst xmlns:a="http://schemas.openxmlformats.org/drawingml/2006/main">
              <a:ext uri="{FF2B5EF4-FFF2-40B4-BE49-F238E27FC236}">
                <a16:creationId xmlns:a16="http://schemas.microsoft.com/office/drawing/2014/main" id="{2EC58479-FFA4-487F-91A9-6432E919D137}"/>
              </a:ext>
            </a:extLst>
          </p:cNvPr>
          <p:cNvSpPr>
            <a:spLocks xmlns:a="http://schemas.openxmlformats.org/drawingml/2006/main" noGrp="1"/>
          </p:cNvSpPr>
          <p:nvPr/>
        </p:nvSpPr>
        <p:spPr>
          <a:xfrm xmlns:a="http://schemas.openxmlformats.org/drawingml/2006/main">
            <a:off x="361950" y="1352550"/>
            <a:ext cx="423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7F8A"/>
                </a:solidFill>
                <a:latin typeface="Calibri"/>
                <a:ea typeface="Calibri"/>
                <a:cs typeface="Calibri"/>
              </a:defRPr>
            </a:defPPr>
          </a:lstStyle>
          <a:p xmlns:a="http://schemas.openxmlformats.org/drawingml/2006/main">
            <a:pPr algn="l">
              <a:defRPr sz="3000" b="1">
                <a:solidFill>
                  <a:srgbClr val="0B7F8A"/>
                </a:solidFill>
                <a:latin typeface="Calibri"/>
                <a:ea typeface="Calibri"/>
                <a:cs typeface="Calibri"/>
              </a:defRPr>
            </a:pPr>
            <a:r>
              <a:rPr sz="3000" b="1">
                <a:solidFill>
                  <a:srgbClr val="0B7F8A"/>
                </a:solidFill>
                <a:latin typeface="Calibri"/>
                <a:ea typeface="Calibri"/>
                <a:cs typeface="Calibri"/>
              </a:rPr>
              <a:t>21.803 seconds</a:t>
            </a:r>
          </a:p>
        </p:txBody>
      </p:sp>
      <p:sp>
        <p:nvSpPr>
          <p:cNvPr id="5" name="Mean active writing duration, n = 70">
            <a:extLst xmlns:a="http://schemas.openxmlformats.org/drawingml/2006/main">
              <a:ext uri="{FF2B5EF4-FFF2-40B4-BE49-F238E27FC236}">
                <a16:creationId xmlns:a16="http://schemas.microsoft.com/office/drawing/2014/main" id="{4B0CE2E0-56B0-4CC5-A05E-2B99C42DA8EE}"/>
              </a:ext>
            </a:extLst>
          </p:cNvPr>
          <p:cNvSpPr>
            <a:spLocks xmlns:a="http://schemas.openxmlformats.org/drawingml/2006/main" noGrp="1"/>
          </p:cNvSpPr>
          <p:nvPr/>
        </p:nvSpPr>
        <p:spPr>
          <a:xfrm xmlns:a="http://schemas.openxmlformats.org/drawingml/2006/main">
            <a:off x="361950" y="1943100"/>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Mean active writing duration, n = 70</a:t>
            </a:r>
          </a:p>
        </p:txBody>
      </p:sp>
      <p:sp>
        <p:nvSpPr>
          <p:cNvPr id="6" name="Sample SD 4.436 s&#10;Median 21.135 s&#10;Range 13.21">
            <a:extLst xmlns:a="http://schemas.openxmlformats.org/drawingml/2006/main">
              <a:ext uri="{FF2B5EF4-FFF2-40B4-BE49-F238E27FC236}">
                <a16:creationId xmlns:a16="http://schemas.microsoft.com/office/drawing/2014/main" id="{2396E2BC-92CD-4129-ABD1-B6D1F1452F2E}"/>
              </a:ext>
            </a:extLst>
          </p:cNvPr>
          <p:cNvSpPr>
            <a:spLocks xmlns:a="http://schemas.openxmlformats.org/drawingml/2006/main" noGrp="1"/>
          </p:cNvSpPr>
          <p:nvPr/>
        </p:nvSpPr>
        <p:spPr>
          <a:xfrm xmlns:a="http://schemas.openxmlformats.org/drawingml/2006/main">
            <a:off x="361950" y="2447925"/>
            <a:ext cx="4191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Sample SD 4.436 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Median 21.135 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Range 13.21-37.63 s</a:t>
            </a:r>
          </a:p>
        </p:txBody>
      </p:sp>
      <p:graphicFrame>
        <p:nvGraphicFramePr>
          <p:cNvPr id="7" name="Chart">
            <a:extLst xmlns:a="http://schemas.openxmlformats.org/drawingml/2006/main">
              <a:ext uri="{FF2B5EF4-FFF2-40B4-BE49-F238E27FC236}">
                <a16:creationId xmlns:a16="http://schemas.microsoft.com/office/drawing/2014/main" id="{B2CCA5A3-02AA-4242-9016-567A8C6C0739}"/>
              </a:ext>
            </a:extLst>
          </p:cNvPr>
          <p:cNvGraphicFramePr/>
          <p:nvPr/>
        </p:nvGraphicFramePr>
        <p:xfrm>
          <a:off xmlns:a="http://schemas.openxmlformats.org/drawingml/2006/main" x="4686300" y="1247775"/>
          <a:ext xmlns:a="http://schemas.openxmlformats.org/drawingml/2006/main" cx="4105275" cy="2571750"/>
        </p:xfrm>
        <a:graphic xmlns:a="http://schemas.openxmlformats.org/drawingml/2006/main">
          <a:graphicData uri="http://schemas.openxmlformats.org/drawingml/2006/chart">
            <c:chart xmlns:r="http://schemas.openxmlformats.org/officeDocument/2006/relationships" xmlns:c="http://schemas.openxmlformats.org/drawingml/2006/chart" r:id="Reeedb4e52acc4812"/>
          </a:graphicData>
        </a:graphic>
      </p:graphicFrame>
      <p:sp>
        <p:nvSpPr>
          <p:cNvPr id="8" name="Duration bins in seconds">
            <a:extLst xmlns:a="http://schemas.openxmlformats.org/drawingml/2006/main">
              <a:ext uri="{FF2B5EF4-FFF2-40B4-BE49-F238E27FC236}">
                <a16:creationId xmlns:a16="http://schemas.microsoft.com/office/drawing/2014/main" id="{83C99952-1F6D-43FA-AE4D-7DB00DDC2DED}"/>
              </a:ext>
            </a:extLst>
          </p:cNvPr>
          <p:cNvSpPr>
            <a:spLocks xmlns:a="http://schemas.openxmlformats.org/drawingml/2006/main" noGrp="1"/>
          </p:cNvSpPr>
          <p:nvPr/>
        </p:nvSpPr>
        <p:spPr>
          <a:xfrm xmlns:a="http://schemas.openxmlformats.org/drawingml/2006/main">
            <a:off x="5715000" y="39052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516385"/>
                </a:solidFill>
                <a:latin typeface="Calibri"/>
                <a:ea typeface="Calibri"/>
                <a:cs typeface="Calibri"/>
              </a:defRPr>
            </a:defPPr>
          </a:lstStyle>
          <a:p xmlns:a="http://schemas.openxmlformats.org/drawingml/2006/main">
            <a:pPr algn="ctr">
              <a:defRPr sz="1425" b="0">
                <a:solidFill>
                  <a:srgbClr val="516385"/>
                </a:solidFill>
                <a:latin typeface="Calibri"/>
                <a:ea typeface="Calibri"/>
                <a:cs typeface="Calibri"/>
              </a:defRPr>
            </a:pPr>
            <a:r>
              <a:rPr sz="1425" b="0">
                <a:solidFill>
                  <a:srgbClr val="516385"/>
                </a:solidFill>
                <a:latin typeface="Calibri"/>
                <a:ea typeface="Calibri"/>
                <a:cs typeface="Calibri"/>
              </a:rPr>
              <a:t>Duration bins in seconds</a:t>
            </a:r>
          </a:p>
        </p:txBody>
      </p:sp>
      <p:sp>
        <p:nvSpPr>
          <p:cNvPr id="9" name="Stopwatch: first written character to complet">
            <a:extLst xmlns:a="http://schemas.openxmlformats.org/drawingml/2006/main">
              <a:ext uri="{FF2B5EF4-FFF2-40B4-BE49-F238E27FC236}">
                <a16:creationId xmlns:a16="http://schemas.microsoft.com/office/drawing/2014/main" id="{5C983368-7EAE-44FB-96B0-3CD7C1A84D02}"/>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Stopwatch: first written character to completed name, course/section, student ID, and signature.</a:t>
            </a:r>
          </a:p>
        </p:txBody>
      </p:sp>
    </p:spTree>
    <p:extLst>
      <p:ext uri="{BB962C8B-B14F-4D97-AF65-F5344CB8AC3E}">
        <p14:creationId xmlns:p14="http://schemas.microsoft.com/office/powerpoint/2010/main" val="71824625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PPLEMENTARY MEASURE">
            <a:extLst xmlns:a="http://schemas.openxmlformats.org/drawingml/2006/main">
              <a:ext uri="{FF2B5EF4-FFF2-40B4-BE49-F238E27FC236}">
                <a16:creationId xmlns:a16="http://schemas.microsoft.com/office/drawing/2014/main" id="{CD558AA0-0205-4E3A-9F01-9511F12AD176}"/>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SUPPLEMENTARY MEASURE</a:t>
            </a:r>
          </a:p>
        </p:txBody>
      </p:sp>
      <p:sp>
        <p:nvSpPr>
          <p:cNvPr id="2" name="Recorded Entry Spacing and Rate">
            <a:extLst xmlns:a="http://schemas.openxmlformats.org/drawingml/2006/main">
              <a:ext uri="{FF2B5EF4-FFF2-40B4-BE49-F238E27FC236}">
                <a16:creationId xmlns:a16="http://schemas.microsoft.com/office/drawing/2014/main" id="{11623065-A6E0-4B1A-BDD1-B976DD4DC17F}"/>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Recorded Entry Spacing and Rate</a:t>
            </a:r>
          </a:p>
        </p:txBody>
      </p:sp>
      <p:sp>
        <p:nvSpPr>
          <p:cNvPr id="3" name="16 / 24">
            <a:extLst xmlns:a="http://schemas.openxmlformats.org/drawingml/2006/main">
              <a:ext uri="{FF2B5EF4-FFF2-40B4-BE49-F238E27FC236}">
                <a16:creationId xmlns:a16="http://schemas.microsoft.com/office/drawing/2014/main" id="{D27ED26F-E1E6-4A21-BD74-A5A737D96B9A}"/>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16 / 24</a:t>
            </a:r>
          </a:p>
        </p:txBody>
      </p:sp>
      <p:graphicFrame>
        <p:nvGraphicFramePr>
          <p:cNvPr id="4" name="">
            <a:extLst xmlns:a="http://schemas.openxmlformats.org/drawingml/2006/main">
              <a:ext uri="{FF2B5EF4-FFF2-40B4-BE49-F238E27FC236}">
                <a16:creationId xmlns:a16="http://schemas.microsoft.com/office/drawing/2014/main" id="{EAF7695B-5DD3-4ADC-8683-B9A0276A33EB}"/>
              </a:ext>
            </a:extLst>
          </p:cNvPr>
          <p:cNvGraphicFramePr/>
          <p:nvPr/>
        </p:nvGraphicFramePr>
        <p:xfrm>
          <a:off xmlns:a="http://schemas.openxmlformats.org/drawingml/2006/main" x="304800" y="1266825"/>
          <a:ext xmlns:a="http://schemas.openxmlformats.org/drawingml/2006/main" cx="8524875" cy="1876425"/>
        </p:xfrm>
        <a:graphic xmlns:a="http://schemas.openxmlformats.org/drawingml/2006/main">
          <a:graphicData uri="http://schemas.openxmlformats.org/drawingml/2006/table">
            <a:tbl>
              <a:tblPr/>
              <a:tblGrid>
                <a:gridCol w="2143125"/>
                <a:gridCol w="1285875"/>
                <a:gridCol w="2428875"/>
                <a:gridCol w="2667000"/>
              </a:tblGrid>
              <a:tr h="469106">
                <a:tc>
                  <a:txBody>
                    <a:bodyPr lIns="85725" tIns="47625" rIns="85725" bIns="47625">
                      <a:noAutofit/>
                    </a:bodyPr>
                    <a:lstStyle/>
                    <a:p>
                      <a:pPr algn="l"/>
                      <a:r>
                        <a:rPr sz="1725" b="1">
                          <a:solidFill>
                            <a:srgbClr val="0B7F8A"/>
                          </a:solidFill>
                          <a:latin typeface="Calibri"/>
                          <a:ea typeface="Calibri"/>
                          <a:cs typeface="Calibri"/>
                        </a:rPr>
                        <a:t>Mode</a:t>
                      </a:r>
                    </a:p>
                  </a:txBody>
                  <a:tcPr marL="91440" marR="91440" marT="45720" marB="45720" anchor="ctr">
                    <a:solidFill>
                      <a:srgbClr val="E2E8F0"/>
                    </a:solidFill>
                  </a:tcPr>
                </a:tc>
                <a:tc>
                  <a:txBody>
                    <a:bodyPr lIns="85725" tIns="47625" rIns="85725" bIns="47625">
                      <a:noAutofit/>
                    </a:bodyPr>
                    <a:lstStyle/>
                    <a:p>
                      <a:pPr algn="ctr"/>
                      <a:r>
                        <a:rPr sz="1725" b="1">
                          <a:solidFill>
                            <a:srgbClr val="0B7F8A"/>
                          </a:solidFill>
                          <a:latin typeface="Calibri"/>
                          <a:ea typeface="Calibri"/>
                          <a:cs typeface="Calibri"/>
                        </a:rPr>
                        <a:t>Intervals</a:t>
                      </a:r>
                    </a:p>
                  </a:txBody>
                  <a:tcPr marL="91440" marR="91440" marT="45720" marB="45720" anchor="ctr">
                    <a:solidFill>
                      <a:srgbClr val="E2E8F0"/>
                    </a:solidFill>
                  </a:tcPr>
                </a:tc>
                <a:tc>
                  <a:txBody>
                    <a:bodyPr lIns="85725" tIns="47625" rIns="85725" bIns="47625">
                      <a:noAutofit/>
                    </a:bodyPr>
                    <a:lstStyle/>
                    <a:p>
                      <a:pPr algn="ctr"/>
                      <a:r>
                        <a:rPr sz="1725" b="1">
                          <a:solidFill>
                            <a:srgbClr val="0B7F8A"/>
                          </a:solidFill>
                          <a:latin typeface="Calibri"/>
                          <a:ea typeface="Calibri"/>
                          <a:cs typeface="Calibri"/>
                        </a:rPr>
                        <a:t>Mean Spacing s</a:t>
                      </a:r>
                    </a:p>
                  </a:txBody>
                  <a:tcPr marL="91440" marR="91440" marT="45720" marB="45720" anchor="ctr">
                    <a:solidFill>
                      <a:srgbClr val="E2E8F0"/>
                    </a:solidFill>
                  </a:tcPr>
                </a:tc>
                <a:tc>
                  <a:txBody>
                    <a:bodyPr lIns="85725" tIns="47625" rIns="85725" bIns="47625">
                      <a:noAutofit/>
                    </a:bodyPr>
                    <a:lstStyle/>
                    <a:p>
                      <a:pPr algn="ctr"/>
                      <a:r>
                        <a:rPr sz="1725" b="1">
                          <a:solidFill>
                            <a:srgbClr val="0B7F8A"/>
                          </a:solidFill>
                          <a:latin typeface="Calibri"/>
                          <a:ea typeface="Calibri"/>
                          <a:cs typeface="Calibri"/>
                        </a:rPr>
                        <a:t>Recorded Rate / min</a:t>
                      </a:r>
                    </a:p>
                  </a:txBody>
                  <a:tcPr marL="91440" marR="91440" marT="45720" marB="45720" anchor="ctr">
                    <a:solidFill>
                      <a:srgbClr val="E2E8F0"/>
                    </a:solidFill>
                  </a:tcPr>
                </a:tc>
              </a:tr>
              <a:tr h="469106">
                <a:tc>
                  <a:txBody>
                    <a:bodyPr lIns="85725" tIns="47625" rIns="85725" bIns="47625">
                      <a:noAutofit/>
                    </a:bodyPr>
                    <a:lstStyle/>
                    <a:p>
                      <a:pPr algn="l"/>
                      <a:r>
                        <a:rPr sz="1725" b="0">
                          <a:solidFill>
                            <a:srgbClr val="334155"/>
                          </a:solidFill>
                          <a:latin typeface="Calibri"/>
                          <a:ea typeface="Calibri"/>
                          <a:cs typeface="Calibri"/>
                        </a:rPr>
                        <a:t>Fast</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66</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2.730</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21.98</a:t>
                      </a:r>
                    </a:p>
                  </a:txBody>
                  <a:tcPr marL="91440" marR="91440" marT="45720" marB="45720" anchor="ctr">
                    <a:solidFill>
                      <a:srgbClr val="FFFFFF"/>
                    </a:solidFill>
                  </a:tcPr>
                </a:tc>
              </a:tr>
              <a:tr h="469106">
                <a:tc>
                  <a:txBody>
                    <a:bodyPr lIns="85725" tIns="47625" rIns="85725" bIns="47625">
                      <a:noAutofit/>
                    </a:bodyPr>
                    <a:lstStyle/>
                    <a:p>
                      <a:pPr algn="l"/>
                      <a:r>
                        <a:rPr sz="1725" b="0">
                          <a:solidFill>
                            <a:srgbClr val="334155"/>
                          </a:solidFill>
                          <a:latin typeface="Calibri"/>
                          <a:ea typeface="Calibri"/>
                          <a:cs typeface="Calibri"/>
                        </a:rPr>
                        <a:t>Standard</a:t>
                      </a:r>
                    </a:p>
                  </a:txBody>
                  <a:tcPr marL="91440" marR="91440" marT="45720" marB="45720" anchor="ctr">
                    <a:solidFill>
                      <a:srgbClr val="F8FAFC"/>
                    </a:solidFill>
                  </a:tcPr>
                </a:tc>
                <a:tc>
                  <a:txBody>
                    <a:bodyPr lIns="85725" tIns="47625" rIns="85725" bIns="47625">
                      <a:noAutofit/>
                    </a:bodyPr>
                    <a:lstStyle/>
                    <a:p>
                      <a:pPr algn="ctr"/>
                      <a:r>
                        <a:rPr sz="1725" b="0">
                          <a:solidFill>
                            <a:srgbClr val="334155"/>
                          </a:solidFill>
                          <a:latin typeface="Calibri"/>
                          <a:ea typeface="Calibri"/>
                          <a:cs typeface="Calibri"/>
                        </a:rPr>
                        <a:t>66</a:t>
                      </a:r>
                    </a:p>
                  </a:txBody>
                  <a:tcPr marL="91440" marR="91440" marT="45720" marB="45720" anchor="ctr">
                    <a:solidFill>
                      <a:srgbClr val="F8FAFC"/>
                    </a:solidFill>
                  </a:tcPr>
                </a:tc>
                <a:tc>
                  <a:txBody>
                    <a:bodyPr lIns="85725" tIns="47625" rIns="85725" bIns="47625">
                      <a:noAutofit/>
                    </a:bodyPr>
                    <a:lstStyle/>
                    <a:p>
                      <a:pPr algn="ctr"/>
                      <a:r>
                        <a:rPr sz="1725" b="0">
                          <a:solidFill>
                            <a:srgbClr val="334155"/>
                          </a:solidFill>
                          <a:latin typeface="Calibri"/>
                          <a:ea typeface="Calibri"/>
                          <a:cs typeface="Calibri"/>
                        </a:rPr>
                        <a:t>8.048</a:t>
                      </a:r>
                    </a:p>
                  </a:txBody>
                  <a:tcPr marL="91440" marR="91440" marT="45720" marB="45720" anchor="ctr">
                    <a:solidFill>
                      <a:srgbClr val="F8FAFC"/>
                    </a:solidFill>
                  </a:tcPr>
                </a:tc>
                <a:tc>
                  <a:txBody>
                    <a:bodyPr lIns="85725" tIns="47625" rIns="85725" bIns="47625">
                      <a:noAutofit/>
                    </a:bodyPr>
                    <a:lstStyle/>
                    <a:p>
                      <a:pPr algn="ctr"/>
                      <a:r>
                        <a:rPr sz="1725" b="0">
                          <a:solidFill>
                            <a:srgbClr val="334155"/>
                          </a:solidFill>
                          <a:latin typeface="Calibri"/>
                          <a:ea typeface="Calibri"/>
                          <a:cs typeface="Calibri"/>
                        </a:rPr>
                        <a:t>7.46</a:t>
                      </a:r>
                    </a:p>
                  </a:txBody>
                  <a:tcPr marL="91440" marR="91440" marT="45720" marB="45720" anchor="ctr">
                    <a:solidFill>
                      <a:srgbClr val="F8FAFC"/>
                    </a:solidFill>
                  </a:tcPr>
                </a:tc>
              </a:tr>
              <a:tr h="469106">
                <a:tc>
                  <a:txBody>
                    <a:bodyPr lIns="85725" tIns="47625" rIns="85725" bIns="47625">
                      <a:noAutofit/>
                    </a:bodyPr>
                    <a:lstStyle/>
                    <a:p>
                      <a:pPr algn="l"/>
                      <a:r>
                        <a:rPr sz="1725" b="0">
                          <a:solidFill>
                            <a:srgbClr val="334155"/>
                          </a:solidFill>
                          <a:latin typeface="Calibri"/>
                          <a:ea typeface="Calibri"/>
                          <a:cs typeface="Calibri"/>
                        </a:rPr>
                        <a:t>High-Security</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66</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12.129</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4.95</a:t>
                      </a:r>
                    </a:p>
                  </a:txBody>
                  <a:tcPr marL="91440" marR="91440" marT="45720" marB="45720" anchor="ctr">
                    <a:solidFill>
                      <a:srgbClr val="FFFFFF"/>
                    </a:solidFill>
                  </a:tcPr>
                </a:tc>
              </a:tr>
            </a:tbl>
          </a:graphicData>
        </a:graphic>
      </p:graphicFrame>
      <p:sp>
        <p:nvSpPr>
          <p:cNvPr id="5" name="Why 66 intervals?">
            <a:extLst xmlns:a="http://schemas.openxmlformats.org/drawingml/2006/main">
              <a:ext uri="{FF2B5EF4-FFF2-40B4-BE49-F238E27FC236}">
                <a16:creationId xmlns:a16="http://schemas.microsoft.com/office/drawing/2014/main" id="{759B7BD2-CD2F-4250-9B37-C0AEFF66E317}"/>
              </a:ext>
            </a:extLst>
          </p:cNvPr>
          <p:cNvSpPr>
            <a:spLocks xmlns:a="http://schemas.openxmlformats.org/drawingml/2006/main" noGrp="1"/>
          </p:cNvSpPr>
          <p:nvPr/>
        </p:nvSpPr>
        <p:spPr>
          <a:xfrm xmlns:a="http://schemas.openxmlformats.org/drawingml/2006/main">
            <a:off x="361950" y="3362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Why 66 intervals?</a:t>
            </a:r>
          </a:p>
        </p:txBody>
      </p:sp>
      <p:sp>
        <p:nvSpPr>
          <p:cNvPr id="6" name="Rounds of 20, 20, 20, and 10 entries produce ">
            <a:extLst xmlns:a="http://schemas.openxmlformats.org/drawingml/2006/main">
              <a:ext uri="{FF2B5EF4-FFF2-40B4-BE49-F238E27FC236}">
                <a16:creationId xmlns:a16="http://schemas.microsoft.com/office/drawing/2014/main" id="{8EB3487C-B0EF-4367-B221-08663AEF658E}"/>
              </a:ext>
            </a:extLst>
          </p:cNvPr>
          <p:cNvSpPr>
            <a:spLocks xmlns:a="http://schemas.openxmlformats.org/drawingml/2006/main" noGrp="1"/>
          </p:cNvSpPr>
          <p:nvPr/>
        </p:nvSpPr>
        <p:spPr>
          <a:xfrm xmlns:a="http://schemas.openxmlformats.org/drawingml/2006/main">
            <a:off x="361950" y="3733800"/>
            <a:ext cx="819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Rounds of 20, 20, 20, and 10 entries produce 19 + 19 + 19 + 9 gaps between consecutive entries.</a:t>
            </a:r>
          </a:p>
        </p:txBody>
      </p:sp>
      <p:sp>
        <p:nvSpPr>
          <p:cNvPr id="7" name="These rates do not establish full-round capac">
            <a:extLst xmlns:a="http://schemas.openxmlformats.org/drawingml/2006/main">
              <a:ext uri="{FF2B5EF4-FFF2-40B4-BE49-F238E27FC236}">
                <a16:creationId xmlns:a16="http://schemas.microsoft.com/office/drawing/2014/main" id="{10827CCC-56FD-409C-B827-6696377CA136}"/>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These rates do not establish full-round capacity or a matched throughput advantage over manual attendance.</a:t>
            </a:r>
          </a:p>
        </p:txBody>
      </p:sp>
    </p:spTree>
    <p:extLst>
      <p:ext uri="{BB962C8B-B14F-4D97-AF65-F5344CB8AC3E}">
        <p14:creationId xmlns:p14="http://schemas.microsoft.com/office/powerpoint/2010/main" val="4426458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III. RESULTS">
            <a:extLst xmlns:a="http://schemas.openxmlformats.org/drawingml/2006/main">
              <a:ext uri="{FF2B5EF4-FFF2-40B4-BE49-F238E27FC236}">
                <a16:creationId xmlns:a16="http://schemas.microsoft.com/office/drawing/2014/main" id="{3F0BDF50-D353-4921-A124-BE76FDB5F06C}"/>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a:t>
            </a:r>
          </a:p>
        </p:txBody>
      </p:sp>
      <p:sp>
        <p:nvSpPr>
          <p:cNvPr id="2" name="Credential Decisions and Security Conditions">
            <a:extLst xmlns:a="http://schemas.openxmlformats.org/drawingml/2006/main">
              <a:ext uri="{FF2B5EF4-FFF2-40B4-BE49-F238E27FC236}">
                <a16:creationId xmlns:a16="http://schemas.microsoft.com/office/drawing/2014/main" id="{E159F13B-C5B8-4B29-8BD7-BB61EB0C16D5}"/>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Credential Decisions and Security Conditions</a:t>
            </a:r>
          </a:p>
        </p:txBody>
      </p:sp>
      <p:sp>
        <p:nvSpPr>
          <p:cNvPr id="3" name="17 / 24">
            <a:extLst xmlns:a="http://schemas.openxmlformats.org/drawingml/2006/main">
              <a:ext uri="{FF2B5EF4-FFF2-40B4-BE49-F238E27FC236}">
                <a16:creationId xmlns:a16="http://schemas.microsoft.com/office/drawing/2014/main" id="{D0ED7F96-2069-4257-B6A6-F1D227FA80FE}"/>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17 / 24</a:t>
            </a:r>
          </a:p>
        </p:txBody>
      </p:sp>
      <p:sp>
        <p:nvSpPr>
          <p:cNvPr id="4" name="100.00%">
            <a:extLst xmlns:a="http://schemas.openxmlformats.org/drawingml/2006/main">
              <a:ext uri="{FF2B5EF4-FFF2-40B4-BE49-F238E27FC236}">
                <a16:creationId xmlns:a16="http://schemas.microsoft.com/office/drawing/2014/main" id="{AFA4538A-9CAF-4363-95C3-282BBF9E3E6C}"/>
              </a:ext>
            </a:extLst>
          </p:cNvPr>
          <p:cNvSpPr>
            <a:spLocks xmlns:a="http://schemas.openxmlformats.org/drawingml/2006/main" noGrp="1"/>
          </p:cNvSpPr>
          <p:nvPr/>
        </p:nvSpPr>
        <p:spPr>
          <a:xfrm xmlns:a="http://schemas.openxmlformats.org/drawingml/2006/main">
            <a:off x="361950" y="128587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100.00%</a:t>
            </a:r>
          </a:p>
        </p:txBody>
      </p:sp>
      <p:sp>
        <p:nvSpPr>
          <p:cNvPr id="5" name="222 / 222 correct applicable&#10;credential decis">
            <a:extLst xmlns:a="http://schemas.openxmlformats.org/drawingml/2006/main">
              <a:ext uri="{FF2B5EF4-FFF2-40B4-BE49-F238E27FC236}">
                <a16:creationId xmlns:a16="http://schemas.microsoft.com/office/drawing/2014/main" id="{2C54326A-8EB9-4072-841F-43659F125B61}"/>
              </a:ext>
            </a:extLst>
          </p:cNvPr>
          <p:cNvSpPr>
            <a:spLocks xmlns:a="http://schemas.openxmlformats.org/drawingml/2006/main" noGrp="1"/>
          </p:cNvSpPr>
          <p:nvPr/>
        </p:nvSpPr>
        <p:spPr>
          <a:xfrm xmlns:a="http://schemas.openxmlformats.org/drawingml/2006/main">
            <a:off x="361950" y="1857375"/>
            <a:ext cx="266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222 / 222 correct applicable</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credential decisions</a:t>
            </a:r>
          </a:p>
        </p:txBody>
      </p:sp>
      <p:sp>
        <p:nvSpPr>
          <p:cNvPr id="6" name="4.11%">
            <a:extLst xmlns:a="http://schemas.openxmlformats.org/drawingml/2006/main">
              <a:ext uri="{FF2B5EF4-FFF2-40B4-BE49-F238E27FC236}">
                <a16:creationId xmlns:a16="http://schemas.microsoft.com/office/drawing/2014/main" id="{ED1EF15C-D995-4725-B0EA-BD0186A5F3E3}"/>
              </a:ext>
            </a:extLst>
          </p:cNvPr>
          <p:cNvSpPr>
            <a:spLocks xmlns:a="http://schemas.openxmlformats.org/drawingml/2006/main" noGrp="1"/>
          </p:cNvSpPr>
          <p:nvPr/>
        </p:nvSpPr>
        <p:spPr>
          <a:xfrm xmlns:a="http://schemas.openxmlformats.org/drawingml/2006/main">
            <a:off x="3333750" y="128587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4.11%</a:t>
            </a:r>
          </a:p>
        </p:txBody>
      </p:sp>
      <p:sp>
        <p:nvSpPr>
          <p:cNvPr id="7" name="18 / 438 denied&#10;exported records">
            <a:extLst xmlns:a="http://schemas.openxmlformats.org/drawingml/2006/main">
              <a:ext uri="{FF2B5EF4-FFF2-40B4-BE49-F238E27FC236}">
                <a16:creationId xmlns:a16="http://schemas.microsoft.com/office/drawing/2014/main" id="{4D1E9FA5-3167-4516-9B60-C00F36373B60}"/>
              </a:ext>
            </a:extLst>
          </p:cNvPr>
          <p:cNvSpPr>
            <a:spLocks xmlns:a="http://schemas.openxmlformats.org/drawingml/2006/main" noGrp="1"/>
          </p:cNvSpPr>
          <p:nvPr/>
        </p:nvSpPr>
        <p:spPr>
          <a:xfrm xmlns:a="http://schemas.openxmlformats.org/drawingml/2006/main">
            <a:off x="3333750" y="1857375"/>
            <a:ext cx="266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18 / 438 denied</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exported records</a:t>
            </a:r>
          </a:p>
        </p:txBody>
      </p:sp>
      <p:sp>
        <p:nvSpPr>
          <p:cNvPr id="8" name="1.32%">
            <a:extLst xmlns:a="http://schemas.openxmlformats.org/drawingml/2006/main">
              <a:ext uri="{FF2B5EF4-FFF2-40B4-BE49-F238E27FC236}">
                <a16:creationId xmlns:a16="http://schemas.microsoft.com/office/drawing/2014/main" id="{FBB85FCF-B4FD-448B-AEB6-49703907D4C0}"/>
              </a:ext>
            </a:extLst>
          </p:cNvPr>
          <p:cNvSpPr>
            <a:spLocks xmlns:a="http://schemas.openxmlformats.org/drawingml/2006/main" noGrp="1"/>
          </p:cNvSpPr>
          <p:nvPr/>
        </p:nvSpPr>
        <p:spPr>
          <a:xfrm xmlns:a="http://schemas.openxmlformats.org/drawingml/2006/main">
            <a:off x="6305550" y="128587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1.32%</a:t>
            </a:r>
          </a:p>
        </p:txBody>
      </p:sp>
      <p:sp>
        <p:nvSpPr>
          <p:cNvPr id="9" name="2 / 152 newly triggered&#10;PIN lockouts">
            <a:extLst xmlns:a="http://schemas.openxmlformats.org/drawingml/2006/main">
              <a:ext uri="{FF2B5EF4-FFF2-40B4-BE49-F238E27FC236}">
                <a16:creationId xmlns:a16="http://schemas.microsoft.com/office/drawing/2014/main" id="{EB5A9F56-F688-4DDD-BE56-B05E17E66CF5}"/>
              </a:ext>
            </a:extLst>
          </p:cNvPr>
          <p:cNvSpPr>
            <a:spLocks xmlns:a="http://schemas.openxmlformats.org/drawingml/2006/main" noGrp="1"/>
          </p:cNvSpPr>
          <p:nvPr/>
        </p:nvSpPr>
        <p:spPr>
          <a:xfrm xmlns:a="http://schemas.openxmlformats.org/drawingml/2006/main">
            <a:off x="6305550" y="1857375"/>
            <a:ext cx="238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2 / 152 newly triggered</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PIN lockouts</a:t>
            </a:r>
          </a:p>
        </p:txBody>
      </p:sp>
      <p:graphicFrame>
        <p:nvGraphicFramePr>
          <p:cNvPr id="10" name="">
            <a:extLst xmlns:a="http://schemas.openxmlformats.org/drawingml/2006/main">
              <a:ext uri="{FF2B5EF4-FFF2-40B4-BE49-F238E27FC236}">
                <a16:creationId xmlns:a16="http://schemas.microsoft.com/office/drawing/2014/main" id="{83D7FAE9-876D-45C0-A87B-EFB6E365FD80}"/>
              </a:ext>
            </a:extLst>
          </p:cNvPr>
          <p:cNvGraphicFramePr/>
          <p:nvPr/>
        </p:nvGraphicFramePr>
        <p:xfrm>
          <a:off xmlns:a="http://schemas.openxmlformats.org/drawingml/2006/main" x="304800" y="2657475"/>
          <a:ext xmlns:a="http://schemas.openxmlformats.org/drawingml/2006/main" cx="4953000" cy="1571625"/>
        </p:xfrm>
        <a:graphic xmlns:a="http://schemas.openxmlformats.org/drawingml/2006/main">
          <a:graphicData uri="http://schemas.openxmlformats.org/drawingml/2006/table">
            <a:tbl>
              <a:tblPr/>
              <a:tblGrid>
                <a:gridCol w="4238625"/>
                <a:gridCol w="714375"/>
              </a:tblGrid>
              <a:tr h="261938">
                <a:tc>
                  <a:txBody>
                    <a:bodyPr lIns="85725" tIns="47625" rIns="85725" bIns="47625">
                      <a:noAutofit/>
                    </a:bodyPr>
                    <a:lstStyle/>
                    <a:p>
                      <a:pPr algn="l"/>
                      <a:r>
                        <a:rPr sz="1500" b="1">
                          <a:solidFill>
                            <a:srgbClr val="0B7F8A"/>
                          </a:solidFill>
                          <a:latin typeface="Calibri"/>
                          <a:ea typeface="Calibri"/>
                          <a:cs typeface="Calibri"/>
                        </a:rPr>
                        <a:t>Recorded Denial Condition</a:t>
                      </a:r>
                    </a:p>
                  </a:txBody>
                  <a:tcPr marL="91440" marR="91440" marT="45720" marB="45720" anchor="ctr">
                    <a:solidFill>
                      <a:srgbClr val="E2E8F0"/>
                    </a:solidFill>
                  </a:tcPr>
                </a:tc>
                <a:tc>
                  <a:txBody>
                    <a:bodyPr lIns="85725" tIns="47625" rIns="85725" bIns="47625">
                      <a:noAutofit/>
                    </a:bodyPr>
                    <a:lstStyle/>
                    <a:p>
                      <a:pPr algn="l"/>
                      <a:r>
                        <a:rPr sz="1500" b="1">
                          <a:solidFill>
                            <a:srgbClr val="0B7F8A"/>
                          </a:solidFill>
                          <a:latin typeface="Calibri"/>
                          <a:ea typeface="Calibri"/>
                          <a:cs typeface="Calibri"/>
                        </a:rPr>
                        <a:t>Count</a:t>
                      </a:r>
                    </a:p>
                  </a:txBody>
                  <a:tcPr marL="91440" marR="91440" marT="45720" marB="45720" anchor="ctr">
                    <a:solidFill>
                      <a:srgbClr val="E2E8F0"/>
                    </a:solidFill>
                  </a:tcPr>
                </a:tc>
              </a:tr>
              <a:tr h="261938">
                <a:tc>
                  <a:txBody>
                    <a:bodyPr lIns="85725" tIns="47625" rIns="85725" bIns="47625">
                      <a:noAutofit/>
                    </a:bodyPr>
                    <a:lstStyle/>
                    <a:p>
                      <a:pPr algn="l"/>
                      <a:r>
                        <a:rPr sz="1500" b="0">
                          <a:solidFill>
                            <a:srgbClr val="334155"/>
                          </a:solidFill>
                          <a:latin typeface="Calibri"/>
                          <a:ea typeface="Calibri"/>
                          <a:cs typeface="Calibri"/>
                        </a:rPr>
                        <a:t>Incorrect PIN</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8</a:t>
                      </a:r>
                    </a:p>
                  </a:txBody>
                  <a:tcPr marL="91440" marR="91440" marT="45720" marB="45720" anchor="ctr">
                    <a:solidFill>
                      <a:srgbClr val="FFFFFF"/>
                    </a:solidFill>
                  </a:tcPr>
                </a:tc>
              </a:tr>
              <a:tr h="261938">
                <a:tc>
                  <a:txBody>
                    <a:bodyPr lIns="85725" tIns="47625" rIns="85725" bIns="47625">
                      <a:noAutofit/>
                    </a:bodyPr>
                    <a:lstStyle/>
                    <a:p>
                      <a:pPr algn="l"/>
                      <a:r>
                        <a:rPr sz="1500" b="0">
                          <a:solidFill>
                            <a:srgbClr val="334155"/>
                          </a:solidFill>
                          <a:latin typeface="Calibri"/>
                          <a:ea typeface="Calibri"/>
                          <a:cs typeface="Calibri"/>
                        </a:rPr>
                        <a:t>Consecutive-entry state violation</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5</a:t>
                      </a:r>
                    </a:p>
                  </a:txBody>
                  <a:tcPr marL="91440" marR="91440" marT="45720" marB="45720" anchor="ctr">
                    <a:solidFill>
                      <a:srgbClr val="F8FAFC"/>
                    </a:solidFill>
                  </a:tcPr>
                </a:tc>
              </a:tr>
              <a:tr h="261938">
                <a:tc>
                  <a:txBody>
                    <a:bodyPr lIns="85725" tIns="47625" rIns="85725" bIns="47625">
                      <a:noAutofit/>
                    </a:bodyPr>
                    <a:lstStyle/>
                    <a:p>
                      <a:pPr algn="l"/>
                      <a:r>
                        <a:rPr sz="1500" b="0">
                          <a:solidFill>
                            <a:srgbClr val="334155"/>
                          </a:solidFill>
                          <a:latin typeface="Calibri"/>
                          <a:ea typeface="Calibri"/>
                          <a:cs typeface="Calibri"/>
                        </a:rPr>
                        <a:t>New PIN lockout</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2</a:t>
                      </a:r>
                    </a:p>
                  </a:txBody>
                  <a:tcPr marL="91440" marR="91440" marT="45720" marB="45720" anchor="ctr">
                    <a:solidFill>
                      <a:srgbClr val="FFFFFF"/>
                    </a:solidFill>
                  </a:tcPr>
                </a:tc>
              </a:tr>
              <a:tr h="261938">
                <a:tc>
                  <a:txBody>
                    <a:bodyPr lIns="85725" tIns="47625" rIns="85725" bIns="47625">
                      <a:noAutofit/>
                    </a:bodyPr>
                    <a:lstStyle/>
                    <a:p>
                      <a:pPr algn="l"/>
                      <a:r>
                        <a:rPr sz="1500" b="0">
                          <a:solidFill>
                            <a:srgbClr val="334155"/>
                          </a:solidFill>
                          <a:latin typeface="Calibri"/>
                          <a:ea typeface="Calibri"/>
                          <a:cs typeface="Calibri"/>
                        </a:rPr>
                        <a:t>QR mismatch</a:t>
                      </a:r>
                    </a:p>
                  </a:txBody>
                  <a:tcPr marL="91440" marR="91440" marT="45720" marB="45720" anchor="ctr">
                    <a:solidFill>
                      <a:srgbClr val="F8FAFC"/>
                    </a:solidFill>
                  </a:tcPr>
                </a:tc>
                <a:tc>
                  <a:txBody>
                    <a:bodyPr lIns="85725" tIns="47625" rIns="85725" bIns="47625">
                      <a:noAutofit/>
                    </a:bodyPr>
                    <a:lstStyle/>
                    <a:p>
                      <a:pPr algn="l"/>
                      <a:r>
                        <a:rPr sz="1500" b="0">
                          <a:solidFill>
                            <a:srgbClr val="334155"/>
                          </a:solidFill>
                          <a:latin typeface="Calibri"/>
                          <a:ea typeface="Calibri"/>
                          <a:cs typeface="Calibri"/>
                        </a:rPr>
                        <a:t>2</a:t>
                      </a:r>
                    </a:p>
                  </a:txBody>
                  <a:tcPr marL="91440" marR="91440" marT="45720" marB="45720" anchor="ctr">
                    <a:solidFill>
                      <a:srgbClr val="F8FAFC"/>
                    </a:solidFill>
                  </a:tcPr>
                </a:tc>
              </a:tr>
              <a:tr h="261938">
                <a:tc>
                  <a:txBody>
                    <a:bodyPr lIns="85725" tIns="47625" rIns="85725" bIns="47625">
                      <a:noAutofit/>
                    </a:bodyPr>
                    <a:lstStyle/>
                    <a:p>
                      <a:pPr algn="l"/>
                      <a:r>
                        <a:rPr sz="1500" b="0">
                          <a:solidFill>
                            <a:srgbClr val="334155"/>
                          </a:solidFill>
                          <a:latin typeface="Calibri"/>
                          <a:ea typeface="Calibri"/>
                          <a:cs typeface="Calibri"/>
                        </a:rPr>
                        <a:t>Irregular exit state</a:t>
                      </a:r>
                    </a:p>
                  </a:txBody>
                  <a:tcPr marL="91440" marR="91440" marT="45720" marB="45720" anchor="ctr">
                    <a:solidFill>
                      <a:srgbClr val="FFFFFF"/>
                    </a:solidFill>
                  </a:tcPr>
                </a:tc>
                <a:tc>
                  <a:txBody>
                    <a:bodyPr lIns="85725" tIns="47625" rIns="85725" bIns="47625">
                      <a:noAutofit/>
                    </a:bodyPr>
                    <a:lstStyle/>
                    <a:p>
                      <a:pPr algn="l"/>
                      <a:r>
                        <a:rPr sz="1500" b="0">
                          <a:solidFill>
                            <a:srgbClr val="334155"/>
                          </a:solidFill>
                          <a:latin typeface="Calibri"/>
                          <a:ea typeface="Calibri"/>
                          <a:cs typeface="Calibri"/>
                        </a:rPr>
                        <a:t>1</a:t>
                      </a:r>
                    </a:p>
                  </a:txBody>
                  <a:tcPr marL="91440" marR="91440" marT="45720" marB="45720" anchor="ctr">
                    <a:solidFill>
                      <a:srgbClr val="FFFFFF"/>
                    </a:solidFill>
                  </a:tcPr>
                </a:tc>
              </a:tr>
            </a:tbl>
          </a:graphicData>
        </a:graphic>
      </p:graphicFrame>
      <p:sp>
        <p:nvSpPr>
          <p:cNvPr id="11" name="Expected outcomes came from the researcher. D">
            <a:extLst xmlns:a="http://schemas.openxmlformats.org/drawingml/2006/main">
              <a:ext uri="{FF2B5EF4-FFF2-40B4-BE49-F238E27FC236}">
                <a16:creationId xmlns:a16="http://schemas.microsoft.com/office/drawing/2014/main" id="{753A2A7D-8E44-4057-A4C3-94B9A13EC39F}"/>
              </a:ext>
            </a:extLst>
          </p:cNvPr>
          <p:cNvSpPr>
            <a:spLocks xmlns:a="http://schemas.openxmlformats.org/drawingml/2006/main" noGrp="1"/>
          </p:cNvSpPr>
          <p:nvPr/>
        </p:nvSpPr>
        <p:spPr>
          <a:xfrm xmlns:a="http://schemas.openxmlformats.org/drawingml/2006/main">
            <a:off x="5543550" y="271462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Expected outcomes came from the researcher. Demonstrations contribute to denial and lockout counts.</a:t>
            </a:r>
          </a:p>
        </p:txBody>
      </p:sp>
      <p:sp>
        <p:nvSpPr>
          <p:cNvPr id="12" name="Controlled credential decisions do not establ">
            <a:extLst xmlns:a="http://schemas.openxmlformats.org/drawingml/2006/main">
              <a:ext uri="{FF2B5EF4-FFF2-40B4-BE49-F238E27FC236}">
                <a16:creationId xmlns:a16="http://schemas.microsoft.com/office/drawing/2014/main" id="{2F70F8D9-1988-4E3B-BD63-009EEE27A02A}"/>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Controlled credential decisions do not establish physical identity or universal attack resistance.</a:t>
            </a:r>
          </a:p>
        </p:txBody>
      </p:sp>
    </p:spTree>
    <p:extLst>
      <p:ext uri="{BB962C8B-B14F-4D97-AF65-F5344CB8AC3E}">
        <p14:creationId xmlns:p14="http://schemas.microsoft.com/office/powerpoint/2010/main" val="4698950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ISO/IEC 25010">
            <a:extLst xmlns:a="http://schemas.openxmlformats.org/drawingml/2006/main">
              <a:ext uri="{FF2B5EF4-FFF2-40B4-BE49-F238E27FC236}">
                <a16:creationId xmlns:a16="http://schemas.microsoft.com/office/drawing/2014/main" id="{951626E3-6B02-41CB-9B17-5E35AB5A3379}"/>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ISO/IEC 25010</a:t>
            </a:r>
          </a:p>
        </p:txBody>
      </p:sp>
      <p:sp>
        <p:nvSpPr>
          <p:cNvPr id="2" name="Manual and System Student Survey Ratings">
            <a:extLst xmlns:a="http://schemas.openxmlformats.org/drawingml/2006/main">
              <a:ext uri="{FF2B5EF4-FFF2-40B4-BE49-F238E27FC236}">
                <a16:creationId xmlns:a16="http://schemas.microsoft.com/office/drawing/2014/main" id="{9270DB0C-89BB-4509-96B7-A45685AE16B4}"/>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Manual and System Student Survey Ratings</a:t>
            </a:r>
          </a:p>
        </p:txBody>
      </p:sp>
      <p:sp>
        <p:nvSpPr>
          <p:cNvPr id="3" name="18 / 24">
            <a:extLst xmlns:a="http://schemas.openxmlformats.org/drawingml/2006/main">
              <a:ext uri="{FF2B5EF4-FFF2-40B4-BE49-F238E27FC236}">
                <a16:creationId xmlns:a16="http://schemas.microsoft.com/office/drawing/2014/main" id="{1A47960D-7D28-4F1C-8FA8-62CBEB8A9C7D}"/>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18 / 24</a:t>
            </a:r>
          </a:p>
        </p:txBody>
      </p:sp>
      <p:graphicFrame>
        <p:nvGraphicFramePr>
          <p:cNvPr id="4" name="Chart">
            <a:extLst xmlns:a="http://schemas.openxmlformats.org/drawingml/2006/main">
              <a:ext uri="{FF2B5EF4-FFF2-40B4-BE49-F238E27FC236}">
                <a16:creationId xmlns:a16="http://schemas.microsoft.com/office/drawing/2014/main" id="{7D13B513-BAF7-4D03-883B-5B199B4B2BD3}"/>
              </a:ext>
            </a:extLst>
          </p:cNvPr>
          <p:cNvGraphicFramePr/>
          <p:nvPr/>
        </p:nvGraphicFramePr>
        <p:xfrm>
          <a:off xmlns:a="http://schemas.openxmlformats.org/drawingml/2006/main" x="304800" y="1238250"/>
          <a:ext xmlns:a="http://schemas.openxmlformats.org/drawingml/2006/main" cx="8524875" cy="2781300"/>
        </p:xfrm>
        <a:graphic xmlns:a="http://schemas.openxmlformats.org/drawingml/2006/main">
          <a:graphicData uri="http://schemas.openxmlformats.org/drawingml/2006/chart">
            <c:chart xmlns:r="http://schemas.openxmlformats.org/officeDocument/2006/relationships" xmlns:c="http://schemas.openxmlformats.org/drawingml/2006/chart" r:id="R2979c727046041d5"/>
          </a:graphicData>
        </a:graphic>
      </p:graphicFrame>
      <p:sp>
        <p:nvSpPr>
          <p:cNvPr id="5" name="Largest descriptive difference: Performance E">
            <a:extLst xmlns:a="http://schemas.openxmlformats.org/drawingml/2006/main">
              <a:ext uri="{FF2B5EF4-FFF2-40B4-BE49-F238E27FC236}">
                <a16:creationId xmlns:a16="http://schemas.microsoft.com/office/drawing/2014/main" id="{9753C1A9-42A3-4130-A7F6-5FCB5829B310}"/>
              </a:ext>
            </a:extLst>
          </p:cNvPr>
          <p:cNvSpPr>
            <a:spLocks xmlns:a="http://schemas.openxmlformats.org/drawingml/2006/main" noGrp="1"/>
          </p:cNvSpPr>
          <p:nvPr/>
        </p:nvSpPr>
        <p:spPr>
          <a:xfrm xmlns:a="http://schemas.openxmlformats.org/drawingml/2006/main">
            <a:off x="361950" y="4133850"/>
            <a:ext cx="823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Largest descriptive difference: Performance Efficiency, 1.811 points.</a:t>
            </a:r>
          </a:p>
        </p:txBody>
      </p:sp>
      <p:sp>
        <p:nvSpPr>
          <p:cNvPr id="6" name="Different student groups. Category means are ">
            <a:extLst xmlns:a="http://schemas.openxmlformats.org/drawingml/2006/main">
              <a:ext uri="{FF2B5EF4-FFF2-40B4-BE49-F238E27FC236}">
                <a16:creationId xmlns:a16="http://schemas.microsoft.com/office/drawing/2014/main" id="{3FA07138-F5AD-4EAB-BC19-971C839F9D4A}"/>
              </a:ext>
            </a:extLst>
          </p:cNvPr>
          <p:cNvSpPr>
            <a:spLocks xmlns:a="http://schemas.openxmlformats.org/drawingml/2006/main" noGrp="1"/>
          </p:cNvSpPr>
          <p:nvPr/>
        </p:nvSpPr>
        <p:spPr>
          <a:xfrm xmlns:a="http://schemas.openxmlformats.org/drawingml/2006/main">
            <a:off x="304800" y="4524375"/>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Different student groups. Category means are descriptive. Only the overall score received a t-test.</a:t>
            </a:r>
          </a:p>
        </p:txBody>
      </p:sp>
    </p:spTree>
    <p:extLst>
      <p:ext uri="{BB962C8B-B14F-4D97-AF65-F5344CB8AC3E}">
        <p14:creationId xmlns:p14="http://schemas.microsoft.com/office/powerpoint/2010/main" val="47612979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ISO/IEC 25010">
            <a:extLst xmlns:a="http://schemas.openxmlformats.org/drawingml/2006/main">
              <a:ext uri="{FF2B5EF4-FFF2-40B4-BE49-F238E27FC236}">
                <a16:creationId xmlns:a16="http://schemas.microsoft.com/office/drawing/2014/main" id="{35A583BF-08F2-4E3C-A227-E30652A15823}"/>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ISO/IEC 25010</a:t>
            </a:r>
          </a:p>
        </p:txBody>
      </p:sp>
      <p:sp>
        <p:nvSpPr>
          <p:cNvPr id="2" name="Proposed-System Evaluation by Group">
            <a:extLst xmlns:a="http://schemas.openxmlformats.org/drawingml/2006/main">
              <a:ext uri="{FF2B5EF4-FFF2-40B4-BE49-F238E27FC236}">
                <a16:creationId xmlns:a16="http://schemas.microsoft.com/office/drawing/2014/main" id="{7BAFA5A7-F55F-4A52-AE70-00FB0D43964E}"/>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Proposed-System Evaluation by Group</a:t>
            </a:r>
          </a:p>
        </p:txBody>
      </p:sp>
      <p:sp>
        <p:nvSpPr>
          <p:cNvPr id="3" name="19 / 24">
            <a:extLst xmlns:a="http://schemas.openxmlformats.org/drawingml/2006/main">
              <a:ext uri="{FF2B5EF4-FFF2-40B4-BE49-F238E27FC236}">
                <a16:creationId xmlns:a16="http://schemas.microsoft.com/office/drawing/2014/main" id="{8C2F8443-0972-428F-8485-42819FC9D34E}"/>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19 / 24</a:t>
            </a:r>
          </a:p>
        </p:txBody>
      </p:sp>
      <p:graphicFrame>
        <p:nvGraphicFramePr>
          <p:cNvPr id="4" name="Chart">
            <a:extLst xmlns:a="http://schemas.openxmlformats.org/drawingml/2006/main">
              <a:ext uri="{FF2B5EF4-FFF2-40B4-BE49-F238E27FC236}">
                <a16:creationId xmlns:a16="http://schemas.microsoft.com/office/drawing/2014/main" id="{1DDC25CF-AEB3-4568-AFDE-0774DBDD3C7D}"/>
              </a:ext>
            </a:extLst>
          </p:cNvPr>
          <p:cNvGraphicFramePr/>
          <p:nvPr/>
        </p:nvGraphicFramePr>
        <p:xfrm>
          <a:off xmlns:a="http://schemas.openxmlformats.org/drawingml/2006/main" x="304800" y="1285875"/>
          <a:ext xmlns:a="http://schemas.openxmlformats.org/drawingml/2006/main" cx="4810125" cy="2743200"/>
        </p:xfrm>
        <a:graphic xmlns:a="http://schemas.openxmlformats.org/drawingml/2006/main">
          <a:graphicData uri="http://schemas.openxmlformats.org/drawingml/2006/chart">
            <c:chart xmlns:r="http://schemas.openxmlformats.org/officeDocument/2006/relationships" xmlns:c="http://schemas.openxmlformats.org/drawingml/2006/chart" r:id="R53aeb6e94c6c4524"/>
          </a:graphicData>
        </a:graphic>
      </p:graphicFrame>
      <p:sp>
        <p:nvSpPr>
          <p:cNvPr id="5" name="Highly Satisfactory">
            <a:extLst xmlns:a="http://schemas.openxmlformats.org/drawingml/2006/main">
              <a:ext uri="{FF2B5EF4-FFF2-40B4-BE49-F238E27FC236}">
                <a16:creationId xmlns:a16="http://schemas.microsoft.com/office/drawing/2014/main" id="{F43FEE94-8EB9-4798-BDE3-1DD724E41CD2}"/>
              </a:ext>
            </a:extLst>
          </p:cNvPr>
          <p:cNvSpPr>
            <a:spLocks xmlns:a="http://schemas.openxmlformats.org/drawingml/2006/main" noGrp="1"/>
          </p:cNvSpPr>
          <p:nvPr/>
        </p:nvSpPr>
        <p:spPr>
          <a:xfrm xmlns:a="http://schemas.openxmlformats.org/drawingml/2006/main">
            <a:off x="5467350" y="13716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B7F8A"/>
                </a:solidFill>
                <a:latin typeface="Calibri"/>
                <a:ea typeface="Calibri"/>
                <a:cs typeface="Calibri"/>
              </a:defRPr>
            </a:defPPr>
          </a:lstStyle>
          <a:p xmlns:a="http://schemas.openxmlformats.org/drawingml/2006/main">
            <a:pPr algn="l">
              <a:defRPr sz="1950" b="1">
                <a:solidFill>
                  <a:srgbClr val="0B7F8A"/>
                </a:solidFill>
                <a:latin typeface="Calibri"/>
                <a:ea typeface="Calibri"/>
                <a:cs typeface="Calibri"/>
              </a:defRPr>
            </a:pPr>
            <a:r>
              <a:rPr sz="1950" b="1">
                <a:solidFill>
                  <a:srgbClr val="0B7F8A"/>
                </a:solidFill>
                <a:latin typeface="Calibri"/>
                <a:ea typeface="Calibri"/>
                <a:cs typeface="Calibri"/>
              </a:rPr>
              <a:t>Highly Satisfactory</a:t>
            </a:r>
          </a:p>
        </p:txBody>
      </p:sp>
      <p:sp>
        <p:nvSpPr>
          <p:cNvPr id="6" name="All three overall means fall in the 3.26-4.00">
            <a:extLst xmlns:a="http://schemas.openxmlformats.org/drawingml/2006/main">
              <a:ext uri="{FF2B5EF4-FFF2-40B4-BE49-F238E27FC236}">
                <a16:creationId xmlns:a16="http://schemas.microsoft.com/office/drawing/2014/main" id="{7412964C-1FA0-4C4D-A424-1EEF931B111D}"/>
              </a:ext>
            </a:extLst>
          </p:cNvPr>
          <p:cNvSpPr>
            <a:spLocks xmlns:a="http://schemas.openxmlformats.org/drawingml/2006/main" noGrp="1"/>
          </p:cNvSpPr>
          <p:nvPr/>
        </p:nvSpPr>
        <p:spPr>
          <a:xfrm xmlns:a="http://schemas.openxmlformats.org/drawingml/2006/main">
            <a:off x="5467350" y="1790700"/>
            <a:ext cx="319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All three overall means fall in the 3.26-4.00 interpretation range.</a:t>
            </a:r>
          </a:p>
        </p:txBody>
      </p:sp>
      <p:sp>
        <p:nvSpPr>
          <p:cNvPr id="7" name="Security personnel: five categories&#10;Lowest ca">
            <a:extLst xmlns:a="http://schemas.openxmlformats.org/drawingml/2006/main">
              <a:ext uri="{FF2B5EF4-FFF2-40B4-BE49-F238E27FC236}">
                <a16:creationId xmlns:a16="http://schemas.microsoft.com/office/drawing/2014/main" id="{2FB8B9C4-BE1B-42FA-BA6B-ACDA82596DAD}"/>
              </a:ext>
            </a:extLst>
          </p:cNvPr>
          <p:cNvSpPr>
            <a:spLocks xmlns:a="http://schemas.openxmlformats.org/drawingml/2006/main" noGrp="1"/>
          </p:cNvSpPr>
          <p:nvPr/>
        </p:nvSpPr>
        <p:spPr>
          <a:xfrm xmlns:a="http://schemas.openxmlformats.org/drawingml/2006/main">
            <a:off x="5467350" y="2571750"/>
            <a:ext cx="319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Security personnel: five categories</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Lowest category mean: Performance Efficiency, 3.45.</a:t>
            </a:r>
          </a:p>
        </p:txBody>
      </p:sp>
      <p:sp>
        <p:nvSpPr>
          <p:cNvPr id="8" name="Administrative group: eight categories&#10;Portab">
            <a:extLst xmlns:a="http://schemas.openxmlformats.org/drawingml/2006/main">
              <a:ext uri="{FF2B5EF4-FFF2-40B4-BE49-F238E27FC236}">
                <a16:creationId xmlns:a16="http://schemas.microsoft.com/office/drawing/2014/main" id="{99473E4D-B56F-46D6-A612-7E714D4075CF}"/>
              </a:ext>
            </a:extLst>
          </p:cNvPr>
          <p:cNvSpPr>
            <a:spLocks xmlns:a="http://schemas.openxmlformats.org/drawingml/2006/main" noGrp="1"/>
          </p:cNvSpPr>
          <p:nvPr/>
        </p:nvSpPr>
        <p:spPr>
          <a:xfrm xmlns:a="http://schemas.openxmlformats.org/drawingml/2006/main">
            <a:off x="5467350" y="3476625"/>
            <a:ext cx="319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Administrative group: eight categories</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Portability 3.92, Performance Efficiency 3.68.</a:t>
            </a:r>
          </a:p>
        </p:txBody>
      </p:sp>
      <p:sp>
        <p:nvSpPr>
          <p:cNvPr id="9" name="Role-specific instruments remain separate. No">
            <a:extLst xmlns:a="http://schemas.openxmlformats.org/drawingml/2006/main">
              <a:ext uri="{FF2B5EF4-FFF2-40B4-BE49-F238E27FC236}">
                <a16:creationId xmlns:a16="http://schemas.microsoft.com/office/drawing/2014/main" id="{59244461-92A6-4E72-AB90-A03D06D16C0F}"/>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Role-specific instruments remain separate. No pooled system-wide mean or composite SD for the five-person groups.</a:t>
            </a:r>
          </a:p>
        </p:txBody>
      </p:sp>
    </p:spTree>
    <p:extLst>
      <p:ext uri="{BB962C8B-B14F-4D97-AF65-F5344CB8AC3E}">
        <p14:creationId xmlns:p14="http://schemas.microsoft.com/office/powerpoint/2010/main" val="210098559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AND SYSTEM COMPARISON">
            <a:extLst xmlns:a="http://schemas.openxmlformats.org/drawingml/2006/main">
              <a:ext uri="{FF2B5EF4-FFF2-40B4-BE49-F238E27FC236}">
                <a16:creationId xmlns:a16="http://schemas.microsoft.com/office/drawing/2014/main" id="{8B2F7BF4-6235-4121-946F-0A6DE19F81C9}"/>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MANUAL AND SYSTEM COMPARISON</a:t>
            </a:r>
          </a:p>
        </p:txBody>
      </p:sp>
      <p:sp>
        <p:nvSpPr>
          <p:cNvPr id="2" name="Welch Test of Overall Survey Scores">
            <a:extLst xmlns:a="http://schemas.openxmlformats.org/drawingml/2006/main">
              <a:ext uri="{FF2B5EF4-FFF2-40B4-BE49-F238E27FC236}">
                <a16:creationId xmlns:a16="http://schemas.microsoft.com/office/drawing/2014/main" id="{24D06A81-254A-48B2-A821-27D74B4D5CD2}"/>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Welch Test of Overall Survey Scores</a:t>
            </a:r>
          </a:p>
        </p:txBody>
      </p:sp>
      <p:sp>
        <p:nvSpPr>
          <p:cNvPr id="3" name="20 / 24">
            <a:extLst xmlns:a="http://schemas.openxmlformats.org/drawingml/2006/main">
              <a:ext uri="{FF2B5EF4-FFF2-40B4-BE49-F238E27FC236}">
                <a16:creationId xmlns:a16="http://schemas.microsoft.com/office/drawing/2014/main" id="{CCADAA5D-8577-4E05-B8D2-25E3324FABBC}"/>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20 / 24</a:t>
            </a:r>
          </a:p>
        </p:txBody>
      </p:sp>
      <p:graphicFrame>
        <p:nvGraphicFramePr>
          <p:cNvPr id="4" name="">
            <a:extLst xmlns:a="http://schemas.openxmlformats.org/drawingml/2006/main">
              <a:ext uri="{FF2B5EF4-FFF2-40B4-BE49-F238E27FC236}">
                <a16:creationId xmlns:a16="http://schemas.microsoft.com/office/drawing/2014/main" id="{49116838-9338-48D3-AF58-FCF7DDDE1E63}"/>
              </a:ext>
            </a:extLst>
          </p:cNvPr>
          <p:cNvGraphicFramePr/>
          <p:nvPr/>
        </p:nvGraphicFramePr>
        <p:xfrm>
          <a:off xmlns:a="http://schemas.openxmlformats.org/drawingml/2006/main" x="304800" y="1209675"/>
          <a:ext xmlns:a="http://schemas.openxmlformats.org/drawingml/2006/main" cx="8524875" cy="1266825"/>
        </p:xfrm>
        <a:graphic xmlns:a="http://schemas.openxmlformats.org/drawingml/2006/main">
          <a:graphicData uri="http://schemas.openxmlformats.org/drawingml/2006/table">
            <a:tbl>
              <a:tblPr/>
              <a:tblGrid>
                <a:gridCol w="3048000"/>
                <a:gridCol w="809625"/>
                <a:gridCol w="2095500"/>
                <a:gridCol w="2571750"/>
              </a:tblGrid>
              <a:tr h="422275">
                <a:tc>
                  <a:txBody>
                    <a:bodyPr lIns="85725" tIns="47625" rIns="85725" bIns="47625">
                      <a:noAutofit/>
                    </a:bodyPr>
                    <a:lstStyle/>
                    <a:p>
                      <a:pPr algn="l"/>
                      <a:r>
                        <a:rPr sz="1725" b="1">
                          <a:solidFill>
                            <a:srgbClr val="0B7F8A"/>
                          </a:solidFill>
                          <a:latin typeface="Calibri"/>
                          <a:ea typeface="Calibri"/>
                          <a:cs typeface="Calibri"/>
                        </a:rPr>
                        <a:t>Group</a:t>
                      </a:r>
                    </a:p>
                  </a:txBody>
                  <a:tcPr marL="91440" marR="91440" marT="45720" marB="45720" anchor="ctr">
                    <a:solidFill>
                      <a:srgbClr val="E2E8F0"/>
                    </a:solidFill>
                  </a:tcPr>
                </a:tc>
                <a:tc>
                  <a:txBody>
                    <a:bodyPr lIns="85725" tIns="47625" rIns="85725" bIns="47625">
                      <a:noAutofit/>
                    </a:bodyPr>
                    <a:lstStyle/>
                    <a:p>
                      <a:pPr algn="ctr"/>
                      <a:r>
                        <a:rPr sz="1725" b="1">
                          <a:solidFill>
                            <a:srgbClr val="0B7F8A"/>
                          </a:solidFill>
                          <a:latin typeface="Calibri"/>
                          <a:ea typeface="Calibri"/>
                          <a:cs typeface="Calibri"/>
                        </a:rPr>
                        <a:t>n</a:t>
                      </a:r>
                    </a:p>
                  </a:txBody>
                  <a:tcPr marL="91440" marR="91440" marT="45720" marB="45720" anchor="ctr">
                    <a:solidFill>
                      <a:srgbClr val="E2E8F0"/>
                    </a:solidFill>
                  </a:tcPr>
                </a:tc>
                <a:tc>
                  <a:txBody>
                    <a:bodyPr lIns="85725" tIns="47625" rIns="85725" bIns="47625">
                      <a:noAutofit/>
                    </a:bodyPr>
                    <a:lstStyle/>
                    <a:p>
                      <a:pPr algn="ctr"/>
                      <a:r>
                        <a:rPr sz="1725" b="1">
                          <a:solidFill>
                            <a:srgbClr val="0B7F8A"/>
                          </a:solidFill>
                          <a:latin typeface="Calibri"/>
                          <a:ea typeface="Calibri"/>
                          <a:cs typeface="Calibri"/>
                        </a:rPr>
                        <a:t>Overall Mean</a:t>
                      </a:r>
                    </a:p>
                  </a:txBody>
                  <a:tcPr marL="91440" marR="91440" marT="45720" marB="45720" anchor="ctr">
                    <a:solidFill>
                      <a:srgbClr val="E2E8F0"/>
                    </a:solidFill>
                  </a:tcPr>
                </a:tc>
                <a:tc>
                  <a:txBody>
                    <a:bodyPr lIns="85725" tIns="47625" rIns="85725" bIns="47625">
                      <a:noAutofit/>
                    </a:bodyPr>
                    <a:lstStyle/>
                    <a:p>
                      <a:pPr algn="ctr"/>
                      <a:r>
                        <a:rPr sz="1725" b="1">
                          <a:solidFill>
                            <a:srgbClr val="0B7F8A"/>
                          </a:solidFill>
                          <a:latin typeface="Calibri"/>
                          <a:ea typeface="Calibri"/>
                          <a:cs typeface="Calibri"/>
                        </a:rPr>
                        <a:t>Composite Sample SD</a:t>
                      </a:r>
                    </a:p>
                  </a:txBody>
                  <a:tcPr marL="91440" marR="91440" marT="45720" marB="45720" anchor="ctr">
                    <a:solidFill>
                      <a:srgbClr val="E2E8F0"/>
                    </a:solidFill>
                  </a:tcPr>
                </a:tc>
              </a:tr>
              <a:tr h="422275">
                <a:tc>
                  <a:txBody>
                    <a:bodyPr lIns="85725" tIns="47625" rIns="85725" bIns="47625">
                      <a:noAutofit/>
                    </a:bodyPr>
                    <a:lstStyle/>
                    <a:p>
                      <a:pPr algn="l"/>
                      <a:r>
                        <a:rPr sz="1725" b="0">
                          <a:solidFill>
                            <a:srgbClr val="334155"/>
                          </a:solidFill>
                          <a:latin typeface="Calibri"/>
                          <a:ea typeface="Calibri"/>
                          <a:cs typeface="Calibri"/>
                        </a:rPr>
                        <a:t>Manual process</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70</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2.284</a:t>
                      </a:r>
                    </a:p>
                  </a:txBody>
                  <a:tcPr marL="91440" marR="91440" marT="45720" marB="45720" anchor="ctr">
                    <a:solidFill>
                      <a:srgbClr val="FFFFFF"/>
                    </a:solidFill>
                  </a:tcPr>
                </a:tc>
                <a:tc>
                  <a:txBody>
                    <a:bodyPr lIns="85725" tIns="47625" rIns="85725" bIns="47625">
                      <a:noAutofit/>
                    </a:bodyPr>
                    <a:lstStyle/>
                    <a:p>
                      <a:pPr algn="ctr"/>
                      <a:r>
                        <a:rPr sz="1725" b="0">
                          <a:solidFill>
                            <a:srgbClr val="334155"/>
                          </a:solidFill>
                          <a:latin typeface="Calibri"/>
                          <a:ea typeface="Calibri"/>
                          <a:cs typeface="Calibri"/>
                        </a:rPr>
                        <a:t>0.753</a:t>
                      </a:r>
                    </a:p>
                  </a:txBody>
                  <a:tcPr marL="91440" marR="91440" marT="45720" marB="45720" anchor="ctr">
                    <a:solidFill>
                      <a:srgbClr val="FFFFFF"/>
                    </a:solidFill>
                  </a:tcPr>
                </a:tc>
              </a:tr>
              <a:tr h="422275">
                <a:tc>
                  <a:txBody>
                    <a:bodyPr lIns="85725" tIns="47625" rIns="85725" bIns="47625">
                      <a:noAutofit/>
                    </a:bodyPr>
                    <a:lstStyle/>
                    <a:p>
                      <a:pPr algn="l"/>
                      <a:r>
                        <a:rPr sz="1725" b="0">
                          <a:solidFill>
                            <a:srgbClr val="334155"/>
                          </a:solidFill>
                          <a:latin typeface="Calibri"/>
                          <a:ea typeface="Calibri"/>
                          <a:cs typeface="Calibri"/>
                        </a:rPr>
                        <a:t>Proposed system</a:t>
                      </a:r>
                    </a:p>
                  </a:txBody>
                  <a:tcPr marL="91440" marR="91440" marT="45720" marB="45720" anchor="ctr">
                    <a:solidFill>
                      <a:srgbClr val="F8FAFC"/>
                    </a:solidFill>
                  </a:tcPr>
                </a:tc>
                <a:tc>
                  <a:txBody>
                    <a:bodyPr lIns="85725" tIns="47625" rIns="85725" bIns="47625">
                      <a:noAutofit/>
                    </a:bodyPr>
                    <a:lstStyle/>
                    <a:p>
                      <a:pPr algn="ctr"/>
                      <a:r>
                        <a:rPr sz="1725" b="0">
                          <a:solidFill>
                            <a:srgbClr val="334155"/>
                          </a:solidFill>
                          <a:latin typeface="Calibri"/>
                          <a:ea typeface="Calibri"/>
                          <a:cs typeface="Calibri"/>
                        </a:rPr>
                        <a:t>70</a:t>
                      </a:r>
                    </a:p>
                  </a:txBody>
                  <a:tcPr marL="91440" marR="91440" marT="45720" marB="45720" anchor="ctr">
                    <a:solidFill>
                      <a:srgbClr val="F8FAFC"/>
                    </a:solidFill>
                  </a:tcPr>
                </a:tc>
                <a:tc>
                  <a:txBody>
                    <a:bodyPr lIns="85725" tIns="47625" rIns="85725" bIns="47625">
                      <a:noAutofit/>
                    </a:bodyPr>
                    <a:lstStyle/>
                    <a:p>
                      <a:pPr algn="ctr"/>
                      <a:r>
                        <a:rPr sz="1725" b="0">
                          <a:solidFill>
                            <a:srgbClr val="334155"/>
                          </a:solidFill>
                          <a:latin typeface="Calibri"/>
                          <a:ea typeface="Calibri"/>
                          <a:cs typeface="Calibri"/>
                        </a:rPr>
                        <a:t>3.742</a:t>
                      </a:r>
                    </a:p>
                  </a:txBody>
                  <a:tcPr marL="91440" marR="91440" marT="45720" marB="45720" anchor="ctr">
                    <a:solidFill>
                      <a:srgbClr val="F8FAFC"/>
                    </a:solidFill>
                  </a:tcPr>
                </a:tc>
                <a:tc>
                  <a:txBody>
                    <a:bodyPr lIns="85725" tIns="47625" rIns="85725" bIns="47625">
                      <a:noAutofit/>
                    </a:bodyPr>
                    <a:lstStyle/>
                    <a:p>
                      <a:pPr algn="ctr"/>
                      <a:r>
                        <a:rPr sz="1725" b="0">
                          <a:solidFill>
                            <a:srgbClr val="334155"/>
                          </a:solidFill>
                          <a:latin typeface="Calibri"/>
                          <a:ea typeface="Calibri"/>
                          <a:cs typeface="Calibri"/>
                        </a:rPr>
                        <a:t>0.290</a:t>
                      </a:r>
                    </a:p>
                  </a:txBody>
                  <a:tcPr marL="91440" marR="91440" marT="45720" marB="45720" anchor="ctr">
                    <a:solidFill>
                      <a:srgbClr val="F8FAFC"/>
                    </a:solidFill>
                  </a:tcPr>
                </a:tc>
              </a:tr>
            </a:tbl>
          </a:graphicData>
        </a:graphic>
      </p:graphicFrame>
      <p:sp>
        <p:nvSpPr>
          <p:cNvPr id="5" name="Rounded demonstration">
            <a:extLst xmlns:a="http://schemas.openxmlformats.org/drawingml/2006/main">
              <a:ext uri="{FF2B5EF4-FFF2-40B4-BE49-F238E27FC236}">
                <a16:creationId xmlns:a16="http://schemas.microsoft.com/office/drawing/2014/main" id="{CADDEBE1-357C-4685-B976-8B9B4B13E709}"/>
              </a:ext>
            </a:extLst>
          </p:cNvPr>
          <p:cNvSpPr>
            <a:spLocks xmlns:a="http://schemas.openxmlformats.org/drawingml/2006/main" noGrp="1"/>
          </p:cNvSpPr>
          <p:nvPr/>
        </p:nvSpPr>
        <p:spPr>
          <a:xfrm xmlns:a="http://schemas.openxmlformats.org/drawingml/2006/main">
            <a:off x="361950" y="2686050"/>
            <a:ext cx="4953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Rounded demonstration</a:t>
            </a:r>
          </a:p>
        </p:txBody>
      </p:sp>
      <p:sp>
        <p:nvSpPr>
          <p:cNvPr id="6" name="SE = sqrt(0.290^2 / 70 + 0.753^2 / 70) = 0.09">
            <a:extLst xmlns:a="http://schemas.openxmlformats.org/drawingml/2006/main">
              <a:ext uri="{FF2B5EF4-FFF2-40B4-BE49-F238E27FC236}">
                <a16:creationId xmlns:a16="http://schemas.microsoft.com/office/drawing/2014/main" id="{D5132E8C-FE34-4CBA-9104-2BBEFA0579BD}"/>
              </a:ext>
            </a:extLst>
          </p:cNvPr>
          <p:cNvSpPr>
            <a:spLocks xmlns:a="http://schemas.openxmlformats.org/drawingml/2006/main" noGrp="1"/>
          </p:cNvSpPr>
          <p:nvPr/>
        </p:nvSpPr>
        <p:spPr>
          <a:xfrm xmlns:a="http://schemas.openxmlformats.org/drawingml/2006/main">
            <a:off x="361950" y="3095625"/>
            <a:ext cx="823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SE = sqrt(0.290^2 / 70 + 0.753^2 / 70) = 0.096445</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 = (3.742 - 2.284) / 0.096445 = 15.12</a:t>
            </a:r>
          </a:p>
        </p:txBody>
      </p:sp>
      <p:sp>
        <p:nvSpPr>
          <p:cNvPr id="7" name="t(89.076) = 15.124, p &lt; .001">
            <a:extLst xmlns:a="http://schemas.openxmlformats.org/drawingml/2006/main">
              <a:ext uri="{FF2B5EF4-FFF2-40B4-BE49-F238E27FC236}">
                <a16:creationId xmlns:a16="http://schemas.microsoft.com/office/drawing/2014/main" id="{B47924AC-D4A3-4D01-A036-B86F6C623CBB}"/>
              </a:ext>
            </a:extLst>
          </p:cNvPr>
          <p:cNvSpPr>
            <a:spLocks xmlns:a="http://schemas.openxmlformats.org/drawingml/2006/main" noGrp="1"/>
          </p:cNvSpPr>
          <p:nvPr/>
        </p:nvSpPr>
        <p:spPr>
          <a:xfrm xmlns:a="http://schemas.openxmlformats.org/drawingml/2006/main">
            <a:off x="361950" y="384810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7F8A"/>
                </a:solidFill>
                <a:latin typeface="Calibri"/>
                <a:ea typeface="Calibri"/>
                <a:cs typeface="Calibri"/>
              </a:defRPr>
            </a:defPPr>
          </a:lstStyle>
          <a:p xmlns:a="http://schemas.openxmlformats.org/drawingml/2006/main">
            <a:pPr algn="l">
              <a:defRPr sz="2175" b="1">
                <a:solidFill>
                  <a:srgbClr val="0B7F8A"/>
                </a:solidFill>
                <a:latin typeface="Calibri"/>
                <a:ea typeface="Calibri"/>
                <a:cs typeface="Calibri"/>
              </a:defRPr>
            </a:pPr>
            <a:r>
              <a:rPr sz="2175" b="1">
                <a:solidFill>
                  <a:srgbClr val="0B7F8A"/>
                </a:solidFill>
                <a:latin typeface="Calibri"/>
                <a:ea typeface="Calibri"/>
                <a:cs typeface="Calibri"/>
              </a:rPr>
              <a:t>t(89.076) = 15.124, p &lt; .001</a:t>
            </a:r>
          </a:p>
        </p:txBody>
      </p:sp>
      <p:sp>
        <p:nvSpPr>
          <p:cNvPr id="8" name="Difference 1.458 points&#10;95% CI [1.267, 1.650]">
            <a:extLst xmlns:a="http://schemas.openxmlformats.org/drawingml/2006/main">
              <a:ext uri="{FF2B5EF4-FFF2-40B4-BE49-F238E27FC236}">
                <a16:creationId xmlns:a16="http://schemas.microsoft.com/office/drawing/2014/main" id="{1FC9AA08-5593-4D51-AC22-3D93C8546F64}"/>
              </a:ext>
            </a:extLst>
          </p:cNvPr>
          <p:cNvSpPr>
            <a:spLocks xmlns:a="http://schemas.openxmlformats.org/drawingml/2006/main" noGrp="1"/>
          </p:cNvSpPr>
          <p:nvPr/>
        </p:nvSpPr>
        <p:spPr>
          <a:xfrm xmlns:a="http://schemas.openxmlformats.org/drawingml/2006/main">
            <a:off x="5286375" y="38004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Difference 1.458 points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95% CI [1.267, 1.650]</a:t>
            </a:r>
          </a:p>
        </p:txBody>
      </p:sp>
      <p:sp>
        <p:nvSpPr>
          <p:cNvPr id="9" name="Reject H0 at alpha = .05. The result concerns">
            <a:extLst xmlns:a="http://schemas.openxmlformats.org/drawingml/2006/main">
              <a:ext uri="{FF2B5EF4-FFF2-40B4-BE49-F238E27FC236}">
                <a16:creationId xmlns:a16="http://schemas.microsoft.com/office/drawing/2014/main" id="{14B384CA-B9F4-4297-A0C2-77BAFEB1FC70}"/>
              </a:ext>
            </a:extLst>
          </p:cNvPr>
          <p:cNvSpPr>
            <a:spLocks xmlns:a="http://schemas.openxmlformats.org/drawingml/2006/main" noGrp="1"/>
          </p:cNvSpPr>
          <p:nvPr/>
        </p:nvSpPr>
        <p:spPr>
          <a:xfrm xmlns:a="http://schemas.openxmlformats.org/drawingml/2006/main">
            <a:off x="304800" y="45529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Reject H0 at alpha = .05. The result concerns overall survey ratings, not processing speed.</a:t>
            </a:r>
          </a:p>
        </p:txBody>
      </p:sp>
    </p:spTree>
    <p:extLst>
      <p:ext uri="{BB962C8B-B14F-4D97-AF65-F5344CB8AC3E}">
        <p14:creationId xmlns:p14="http://schemas.microsoft.com/office/powerpoint/2010/main" val="42822193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5F91FD6C-CB56-4FF8-B451-AF3B179AAF71}"/>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IV. DISCUSSION</a:t>
            </a:r>
          </a:p>
        </p:txBody>
      </p:sp>
      <p:sp>
        <p:nvSpPr>
          <p:cNvPr id="2" name="Discussion and Study Limitations">
            <a:extLst xmlns:a="http://schemas.openxmlformats.org/drawingml/2006/main">
              <a:ext uri="{FF2B5EF4-FFF2-40B4-BE49-F238E27FC236}">
                <a16:creationId xmlns:a16="http://schemas.microsoft.com/office/drawing/2014/main" id="{3CBD0EA8-BA98-440F-AD4B-BB565BC9457A}"/>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Discussion and Study Limitations</a:t>
            </a:r>
          </a:p>
        </p:txBody>
      </p:sp>
      <p:sp>
        <p:nvSpPr>
          <p:cNvPr id="3" name="21 / 24">
            <a:extLst xmlns:a="http://schemas.openxmlformats.org/drawingml/2006/main">
              <a:ext uri="{FF2B5EF4-FFF2-40B4-BE49-F238E27FC236}">
                <a16:creationId xmlns:a16="http://schemas.microsoft.com/office/drawing/2014/main" id="{06DE7B69-F2E9-4A00-AFEE-A286A204BB60}"/>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21 / 24</a:t>
            </a:r>
          </a:p>
        </p:txBody>
      </p:sp>
      <p:sp>
        <p:nvSpPr>
          <p:cNvPr id="4" name="Recorded capability">
            <a:extLst xmlns:a="http://schemas.openxmlformats.org/drawingml/2006/main">
              <a:ext uri="{FF2B5EF4-FFF2-40B4-BE49-F238E27FC236}">
                <a16:creationId xmlns:a16="http://schemas.microsoft.com/office/drawing/2014/main" id="{3A0502D0-9FD7-4EBF-B4B7-09DB65D15795}"/>
              </a:ext>
            </a:extLst>
          </p:cNvPr>
          <p:cNvSpPr>
            <a:spLocks xmlns:a="http://schemas.openxmlformats.org/drawingml/2006/main" noGrp="1"/>
          </p:cNvSpPr>
          <p:nvPr/>
        </p:nvSpPr>
        <p:spPr>
          <a:xfrm xmlns:a="http://schemas.openxmlformats.org/drawingml/2006/main">
            <a:off x="361950" y="12573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Recorded capability</a:t>
            </a:r>
          </a:p>
        </p:txBody>
      </p:sp>
      <p:sp>
        <p:nvSpPr>
          <p:cNvPr id="5" name="The prototype applied the configured credenti">
            <a:extLst xmlns:a="http://schemas.openxmlformats.org/drawingml/2006/main">
              <a:ext uri="{FF2B5EF4-FFF2-40B4-BE49-F238E27FC236}">
                <a16:creationId xmlns:a16="http://schemas.microsoft.com/office/drawing/2014/main" id="{9AE2919B-2676-4F0C-BDE0-AB10D8045F24}"/>
              </a:ext>
            </a:extLst>
          </p:cNvPr>
          <p:cNvSpPr>
            <a:spLocks xmlns:a="http://schemas.openxmlformats.org/drawingml/2006/main" noGrp="1"/>
          </p:cNvSpPr>
          <p:nvPr/>
        </p:nvSpPr>
        <p:spPr>
          <a:xfrm xmlns:a="http://schemas.openxmlformats.org/drawingml/2006/main">
            <a:off x="361950" y="15525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The prototype applied the configured credential and state rules in the recorded controlled tests. Logical re-entry rejection does not prove physical tailgating prevention.</a:t>
            </a:r>
          </a:p>
        </p:txBody>
      </p:sp>
      <p:sp>
        <p:nvSpPr>
          <p:cNvPr id="6" name="Timing interpretation">
            <a:extLst xmlns:a="http://schemas.openxmlformats.org/drawingml/2006/main">
              <a:ext uri="{FF2B5EF4-FFF2-40B4-BE49-F238E27FC236}">
                <a16:creationId xmlns:a16="http://schemas.microsoft.com/office/drawing/2014/main" id="{6C9BA75C-1CAE-42EC-A08A-5C2A97E86EB1}"/>
              </a:ext>
            </a:extLst>
          </p:cNvPr>
          <p:cNvSpPr>
            <a:spLocks xmlns:a="http://schemas.openxmlformats.org/drawingml/2006/main" noGrp="1"/>
          </p:cNvSpPr>
          <p:nvPr/>
        </p:nvSpPr>
        <p:spPr>
          <a:xfrm xmlns:a="http://schemas.openxmlformats.org/drawingml/2006/main">
            <a:off x="361950" y="23050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Timing interpretation</a:t>
            </a:r>
          </a:p>
        </p:txBody>
      </p:sp>
      <p:sp>
        <p:nvSpPr>
          <p:cNvPr id="7" name="Millisecond internal latency and seconds of P">
            <a:extLst xmlns:a="http://schemas.openxmlformats.org/drawingml/2006/main">
              <a:ext uri="{FF2B5EF4-FFF2-40B4-BE49-F238E27FC236}">
                <a16:creationId xmlns:a16="http://schemas.microsoft.com/office/drawing/2014/main" id="{05886BC3-7C4B-4AA1-AF39-D6CEF50356BE}"/>
              </a:ext>
            </a:extLst>
          </p:cNvPr>
          <p:cNvSpPr>
            <a:spLocks xmlns:a="http://schemas.openxmlformats.org/drawingml/2006/main" noGrp="1"/>
          </p:cNvSpPr>
          <p:nvPr/>
        </p:nvSpPr>
        <p:spPr>
          <a:xfrm xmlns:a="http://schemas.openxmlformats.org/drawingml/2006/main">
            <a:off x="361950" y="26003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Millisecond internal latency and seconds of PIN/QR interaction describe different components. Complete-task speed and matched throughput remain unmeasured.</a:t>
            </a:r>
          </a:p>
        </p:txBody>
      </p:sp>
      <p:sp>
        <p:nvSpPr>
          <p:cNvPr id="8" name="Evaluation limits">
            <a:extLst xmlns:a="http://schemas.openxmlformats.org/drawingml/2006/main">
              <a:ext uri="{FF2B5EF4-FFF2-40B4-BE49-F238E27FC236}">
                <a16:creationId xmlns:a16="http://schemas.microsoft.com/office/drawing/2014/main" id="{168901EF-146B-4C4F-A257-369CBB92F32D}"/>
              </a:ext>
            </a:extLst>
          </p:cNvPr>
          <p:cNvSpPr>
            <a:spLocks xmlns:a="http://schemas.openxmlformats.org/drawingml/2006/main" noGrp="1"/>
          </p:cNvSpPr>
          <p:nvPr/>
        </p:nvSpPr>
        <p:spPr>
          <a:xfrm xmlns:a="http://schemas.openxmlformats.org/drawingml/2006/main">
            <a:off x="361950" y="3352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Evaluation limits</a:t>
            </a:r>
          </a:p>
        </p:txBody>
      </p:sp>
      <p:sp>
        <p:nvSpPr>
          <p:cNvPr id="9" name="Shared cards, fixed mode order, non-probabili">
            <a:extLst xmlns:a="http://schemas.openxmlformats.org/drawingml/2006/main">
              <a:ext uri="{FF2B5EF4-FFF2-40B4-BE49-F238E27FC236}">
                <a16:creationId xmlns:a16="http://schemas.microsoft.com/office/drawing/2014/main" id="{C32C84A8-4AE7-4CB1-AF8F-CEC8500C14C5}"/>
              </a:ext>
            </a:extLst>
          </p:cNvPr>
          <p:cNvSpPr>
            <a:spLocks xmlns:a="http://schemas.openxmlformats.org/drawingml/2006/main" noGrp="1"/>
          </p:cNvSpPr>
          <p:nvPr/>
        </p:nvSpPr>
        <p:spPr>
          <a:xfrm xmlns:a="http://schemas.openxmlformats.org/drawingml/2006/main">
            <a:off x="361950" y="36480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Shared cards, fixed mode order, non-probability sampling, small staff groups, and different student survey groups limit generalization and causal interpretation.</a:t>
            </a:r>
          </a:p>
        </p:txBody>
      </p:sp>
    </p:spTree>
    <p:extLst>
      <p:ext uri="{BB962C8B-B14F-4D97-AF65-F5344CB8AC3E}">
        <p14:creationId xmlns:p14="http://schemas.microsoft.com/office/powerpoint/2010/main" val="1998801702"/>
      </p:ext>
    </p:extLst>
  </p:cSld>
</p:sld>
</file>

<file path=ppt/slides/slide22.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975EC4F7-F3DA-4004-9FC5-004406A97E2F}"/>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EC4CE"/>
                </a:solidFill>
                <a:latin typeface="Calibri"/>
                <a:ea typeface="Calibri"/>
                <a:cs typeface="Calibri"/>
              </a:defRPr>
            </a:defPPr>
          </a:lstStyle>
          <a:p xmlns:a="http://schemas.openxmlformats.org/drawingml/2006/main">
            <a:pPr algn="l">
              <a:defRPr sz="1050" b="1">
                <a:solidFill>
                  <a:srgbClr val="5EC4CE"/>
                </a:solidFill>
                <a:latin typeface="Calibri"/>
                <a:ea typeface="Calibri"/>
                <a:cs typeface="Calibri"/>
              </a:defRPr>
            </a:pPr>
            <a:r>
              <a:rPr sz="1050" b="1">
                <a:solidFill>
                  <a:srgbClr val="5EC4CE"/>
                </a:solidFill>
                <a:latin typeface="Calibri"/>
                <a:ea typeface="Calibri"/>
                <a:cs typeface="Calibri"/>
              </a:rPr>
              <a:t>IV. DISCUSSION</a:t>
            </a:r>
          </a:p>
        </p:txBody>
      </p:sp>
      <p:sp>
        <p:nvSpPr>
          <p:cNvPr id="2" name="Conclusion">
            <a:extLst xmlns:a="http://schemas.openxmlformats.org/drawingml/2006/main">
              <a:ext uri="{FF2B5EF4-FFF2-40B4-BE49-F238E27FC236}">
                <a16:creationId xmlns:a16="http://schemas.microsoft.com/office/drawing/2014/main" id="{77616D42-5CD5-4D28-9BC4-7F3E3DBFC1B6}"/>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Cambria"/>
                <a:ea typeface="Cambria"/>
                <a:cs typeface="Cambria"/>
              </a:defRPr>
            </a:defPPr>
          </a:lstStyle>
          <a:p xmlns:a="http://schemas.openxmlformats.org/drawingml/2006/main">
            <a:pPr algn="l">
              <a:defRPr sz="2400" b="1">
                <a:solidFill>
                  <a:srgbClr val="FFFFFF"/>
                </a:solidFill>
                <a:latin typeface="Cambria"/>
                <a:ea typeface="Cambria"/>
                <a:cs typeface="Cambria"/>
              </a:defRPr>
            </a:pPr>
            <a:r>
              <a:rPr sz="2400" b="1">
                <a:solidFill>
                  <a:srgbClr val="FFFFFF"/>
                </a:solidFill>
                <a:latin typeface="Cambria"/>
                <a:ea typeface="Cambria"/>
                <a:cs typeface="Cambria"/>
              </a:rPr>
              <a:t>Conclusion</a:t>
            </a:r>
          </a:p>
        </p:txBody>
      </p:sp>
      <p:sp>
        <p:nvSpPr>
          <p:cNvPr id="3" name="22 / 24">
            <a:extLst xmlns:a="http://schemas.openxmlformats.org/drawingml/2006/main">
              <a:ext uri="{FF2B5EF4-FFF2-40B4-BE49-F238E27FC236}">
                <a16:creationId xmlns:a16="http://schemas.microsoft.com/office/drawing/2014/main" id="{3237EB94-3FAB-4C67-882E-451F7F9CCE61}"/>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5B7D5"/>
                </a:solidFill>
                <a:latin typeface="Calibri"/>
                <a:ea typeface="Calibri"/>
                <a:cs typeface="Calibri"/>
              </a:defRPr>
            </a:defPPr>
          </a:lstStyle>
          <a:p xmlns:a="http://schemas.openxmlformats.org/drawingml/2006/main">
            <a:pPr algn="r">
              <a:defRPr sz="825" b="0">
                <a:solidFill>
                  <a:srgbClr val="A5B7D5"/>
                </a:solidFill>
                <a:latin typeface="Calibri"/>
                <a:ea typeface="Calibri"/>
                <a:cs typeface="Calibri"/>
              </a:defRPr>
            </a:pPr>
            <a:r>
              <a:rPr sz="825" b="0">
                <a:solidFill>
                  <a:srgbClr val="A5B7D5"/>
                </a:solidFill>
                <a:latin typeface="Calibri"/>
                <a:ea typeface="Calibri"/>
                <a:cs typeface="Calibri"/>
              </a:rPr>
              <a:t>22 / 24</a:t>
            </a:r>
          </a:p>
        </p:txBody>
      </p:sp>
      <p:sp>
        <p:nvSpPr>
          <p:cNvPr id="4" name="Developed prototype">
            <a:extLst xmlns:a="http://schemas.openxmlformats.org/drawingml/2006/main">
              <a:ext uri="{FF2B5EF4-FFF2-40B4-BE49-F238E27FC236}">
                <a16:creationId xmlns:a16="http://schemas.microsoft.com/office/drawing/2014/main" id="{3B8C06BF-FAAA-43D7-A6CF-6B8DE26C0242}"/>
              </a:ext>
            </a:extLst>
          </p:cNvPr>
          <p:cNvSpPr>
            <a:spLocks xmlns:a="http://schemas.openxmlformats.org/drawingml/2006/main" noGrp="1"/>
          </p:cNvSpPr>
          <p:nvPr/>
        </p:nvSpPr>
        <p:spPr>
          <a:xfrm xmlns:a="http://schemas.openxmlformats.org/drawingml/2006/main">
            <a:off x="36195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Developed prototype</a:t>
            </a:r>
          </a:p>
        </p:txBody>
      </p:sp>
      <p:sp>
        <p:nvSpPr>
          <p:cNvPr id="5" name="The system combines configured NFC/PIN/QR wor">
            <a:extLst xmlns:a="http://schemas.openxmlformats.org/drawingml/2006/main">
              <a:ext uri="{FF2B5EF4-FFF2-40B4-BE49-F238E27FC236}">
                <a16:creationId xmlns:a16="http://schemas.microsoft.com/office/drawing/2014/main" id="{460A7CE0-4E3D-4B14-B08D-BCCD9A8956DE}"/>
              </a:ext>
            </a:extLst>
          </p:cNvPr>
          <p:cNvSpPr>
            <a:spLocks xmlns:a="http://schemas.openxmlformats.org/drawingml/2006/main" noGrp="1"/>
          </p:cNvSpPr>
          <p:nvPr/>
        </p:nvSpPr>
        <p:spPr>
          <a:xfrm xmlns:a="http://schemas.openxmlformats.org/drawingml/2006/main">
            <a:off x="36195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The system combines configured NFC/PIN/QR workflows, eligibility checks, attendance records, and role-based monitoring.</a:t>
            </a:r>
          </a:p>
        </p:txBody>
      </p:sp>
      <p:sp>
        <p:nvSpPr>
          <p:cNvPr id="6" name="Supported findings">
            <a:extLst xmlns:a="http://schemas.openxmlformats.org/drawingml/2006/main">
              <a:ext uri="{FF2B5EF4-FFF2-40B4-BE49-F238E27FC236}">
                <a16:creationId xmlns:a16="http://schemas.microsoft.com/office/drawing/2014/main" id="{00BCC79B-6010-4E71-B608-4EBB709C8E78}"/>
              </a:ext>
            </a:extLst>
          </p:cNvPr>
          <p:cNvSpPr>
            <a:spLocks xmlns:a="http://schemas.openxmlformats.org/drawingml/2006/main" noGrp="1"/>
          </p:cNvSpPr>
          <p:nvPr/>
        </p:nvSpPr>
        <p:spPr>
          <a:xfrm xmlns:a="http://schemas.openxmlformats.org/drawingml/2006/main">
            <a:off x="36195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Supported findings</a:t>
            </a:r>
          </a:p>
        </p:txBody>
      </p:sp>
      <p:sp>
        <p:nvSpPr>
          <p:cNvPr id="7" name="Recorded credential decisions matched expecte">
            <a:extLst xmlns:a="http://schemas.openxmlformats.org/drawingml/2006/main">
              <a:ext uri="{FF2B5EF4-FFF2-40B4-BE49-F238E27FC236}">
                <a16:creationId xmlns:a16="http://schemas.microsoft.com/office/drawing/2014/main" id="{5F4FA2AE-5839-42C4-B021-008F9C4C7F67}"/>
              </a:ext>
            </a:extLst>
          </p:cNvPr>
          <p:cNvSpPr>
            <a:spLocks xmlns:a="http://schemas.openxmlformats.org/drawingml/2006/main" noGrp="1"/>
          </p:cNvSpPr>
          <p:nvPr/>
        </p:nvSpPr>
        <p:spPr>
          <a:xfrm xmlns:a="http://schemas.openxmlformats.org/drawingml/2006/main">
            <a:off x="36195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Recorded credential decisions matched expected outcomes in the controlled tests. Respondents reported favorable perceived quality, with higher overall student ratings for the system group.</a:t>
            </a:r>
          </a:p>
        </p:txBody>
      </p:sp>
      <p:sp>
        <p:nvSpPr>
          <p:cNvPr id="8" name="Scope of the conclusion">
            <a:extLst xmlns:a="http://schemas.openxmlformats.org/drawingml/2006/main">
              <a:ext uri="{FF2B5EF4-FFF2-40B4-BE49-F238E27FC236}">
                <a16:creationId xmlns:a16="http://schemas.microsoft.com/office/drawing/2014/main" id="{E92F18DF-7D7F-4689-81BB-1030BABF547F}"/>
              </a:ext>
            </a:extLst>
          </p:cNvPr>
          <p:cNvSpPr>
            <a:spLocks xmlns:a="http://schemas.openxmlformats.org/drawingml/2006/main" noGrp="1"/>
          </p:cNvSpPr>
          <p:nvPr/>
        </p:nvSpPr>
        <p:spPr>
          <a:xfrm xmlns:a="http://schemas.openxmlformats.org/drawingml/2006/main">
            <a:off x="36195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Scope of the conclusion</a:t>
            </a:r>
          </a:p>
        </p:txBody>
      </p:sp>
      <p:sp>
        <p:nvSpPr>
          <p:cNvPr id="9" name="The study supports demonstrated prototype fun">
            <a:extLst xmlns:a="http://schemas.openxmlformats.org/drawingml/2006/main">
              <a:ext uri="{FF2B5EF4-FFF2-40B4-BE49-F238E27FC236}">
                <a16:creationId xmlns:a16="http://schemas.microsoft.com/office/drawing/2014/main" id="{AEDE1817-A58C-4500-BABF-3263BF014CE6}"/>
              </a:ext>
            </a:extLst>
          </p:cNvPr>
          <p:cNvSpPr>
            <a:spLocks xmlns:a="http://schemas.openxmlformats.org/drawingml/2006/main" noGrp="1"/>
          </p:cNvSpPr>
          <p:nvPr/>
        </p:nvSpPr>
        <p:spPr>
          <a:xfrm xmlns:a="http://schemas.openxmlformats.org/drawingml/2006/main">
            <a:off x="36195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The study supports demonstrated prototype functionality and the survey comparison. Deployment-scale performance and broader security effectiveness require further testing.</a:t>
            </a:r>
          </a:p>
        </p:txBody>
      </p:sp>
    </p:spTree>
    <p:extLst>
      <p:ext uri="{BB962C8B-B14F-4D97-AF65-F5344CB8AC3E}">
        <p14:creationId xmlns:p14="http://schemas.microsoft.com/office/powerpoint/2010/main" val="1211520332"/>
      </p:ext>
    </p:extLst>
  </p:cSld>
</p:sld>
</file>

<file path=ppt/slides/slide23.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A2C20921-25F7-42F0-8D7C-1DB82D0BB120}"/>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EC4CE"/>
                </a:solidFill>
                <a:latin typeface="Calibri"/>
                <a:ea typeface="Calibri"/>
                <a:cs typeface="Calibri"/>
              </a:defRPr>
            </a:defPPr>
          </a:lstStyle>
          <a:p xmlns:a="http://schemas.openxmlformats.org/drawingml/2006/main">
            <a:pPr algn="l">
              <a:defRPr sz="1050" b="1">
                <a:solidFill>
                  <a:srgbClr val="5EC4CE"/>
                </a:solidFill>
                <a:latin typeface="Calibri"/>
                <a:ea typeface="Calibri"/>
                <a:cs typeface="Calibri"/>
              </a:defRPr>
            </a:pPr>
            <a:r>
              <a:rPr sz="1050" b="1">
                <a:solidFill>
                  <a:srgbClr val="5EC4CE"/>
                </a:solidFill>
                <a:latin typeface="Calibri"/>
                <a:ea typeface="Calibri"/>
                <a:cs typeface="Calibri"/>
              </a:rPr>
              <a:t>IV. DISCUSSION</a:t>
            </a:r>
          </a:p>
        </p:txBody>
      </p:sp>
      <p:sp>
        <p:nvSpPr>
          <p:cNvPr id="2" name="Recommendations for Further Evaluation">
            <a:extLst xmlns:a="http://schemas.openxmlformats.org/drawingml/2006/main">
              <a:ext uri="{FF2B5EF4-FFF2-40B4-BE49-F238E27FC236}">
                <a16:creationId xmlns:a16="http://schemas.microsoft.com/office/drawing/2014/main" id="{76DEDFEC-6308-4DDA-B199-8E558B4A16CF}"/>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Cambria"/>
                <a:ea typeface="Cambria"/>
                <a:cs typeface="Cambria"/>
              </a:defRPr>
            </a:defPPr>
          </a:lstStyle>
          <a:p xmlns:a="http://schemas.openxmlformats.org/drawingml/2006/main">
            <a:pPr algn="l">
              <a:defRPr sz="2400" b="1">
                <a:solidFill>
                  <a:srgbClr val="FFFFFF"/>
                </a:solidFill>
                <a:latin typeface="Cambria"/>
                <a:ea typeface="Cambria"/>
                <a:cs typeface="Cambria"/>
              </a:defRPr>
            </a:pPr>
            <a:r>
              <a:rPr sz="2400" b="1">
                <a:solidFill>
                  <a:srgbClr val="FFFFFF"/>
                </a:solidFill>
                <a:latin typeface="Cambria"/>
                <a:ea typeface="Cambria"/>
                <a:cs typeface="Cambria"/>
              </a:rPr>
              <a:t>Recommendations for Further Evaluation</a:t>
            </a:r>
          </a:p>
        </p:txBody>
      </p:sp>
      <p:sp>
        <p:nvSpPr>
          <p:cNvPr id="3" name="23 / 24">
            <a:extLst xmlns:a="http://schemas.openxmlformats.org/drawingml/2006/main">
              <a:ext uri="{FF2B5EF4-FFF2-40B4-BE49-F238E27FC236}">
                <a16:creationId xmlns:a16="http://schemas.microsoft.com/office/drawing/2014/main" id="{37A32A4D-6CA3-4D7C-8493-15065AAD53BF}"/>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5B7D5"/>
                </a:solidFill>
                <a:latin typeface="Calibri"/>
                <a:ea typeface="Calibri"/>
                <a:cs typeface="Calibri"/>
              </a:defRPr>
            </a:defPPr>
          </a:lstStyle>
          <a:p xmlns:a="http://schemas.openxmlformats.org/drawingml/2006/main">
            <a:pPr algn="r">
              <a:defRPr sz="825" b="0">
                <a:solidFill>
                  <a:srgbClr val="A5B7D5"/>
                </a:solidFill>
                <a:latin typeface="Calibri"/>
                <a:ea typeface="Calibri"/>
                <a:cs typeface="Calibri"/>
              </a:defRPr>
            </a:pPr>
            <a:r>
              <a:rPr sz="825" b="0">
                <a:solidFill>
                  <a:srgbClr val="A5B7D5"/>
                </a:solidFill>
                <a:latin typeface="Calibri"/>
                <a:ea typeface="Calibri"/>
                <a:cs typeface="Calibri"/>
              </a:rPr>
              <a:t>23 / 24</a:t>
            </a:r>
          </a:p>
        </p:txBody>
      </p:sp>
      <p:sp>
        <p:nvSpPr>
          <p:cNvPr id="4" name="Equivalent timing and larger studies">
            <a:extLst xmlns:a="http://schemas.openxmlformats.org/drawingml/2006/main">
              <a:ext uri="{FF2B5EF4-FFF2-40B4-BE49-F238E27FC236}">
                <a16:creationId xmlns:a16="http://schemas.microsoft.com/office/drawing/2014/main" id="{AF47B194-0CF6-47BF-8E7A-6409FD43546F}"/>
              </a:ext>
            </a:extLst>
          </p:cNvPr>
          <p:cNvSpPr>
            <a:spLocks xmlns:a="http://schemas.openxmlformats.org/drawingml/2006/main" noGrp="1"/>
          </p:cNvSpPr>
          <p:nvPr/>
        </p:nvSpPr>
        <p:spPr>
          <a:xfrm xmlns:a="http://schemas.openxmlformats.org/drawingml/2006/main">
            <a:off x="36195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Equivalent timing and larger studies</a:t>
            </a:r>
          </a:p>
        </p:txBody>
      </p:sp>
      <p:sp>
        <p:nvSpPr>
          <p:cNvPr id="5" name="Measure full tasks and sustained throughput w">
            <a:extLst xmlns:a="http://schemas.openxmlformats.org/drawingml/2006/main">
              <a:ext uri="{FF2B5EF4-FFF2-40B4-BE49-F238E27FC236}">
                <a16:creationId xmlns:a16="http://schemas.microsoft.com/office/drawing/2014/main" id="{261D94B3-085B-49D7-8C1B-97BBED2E2810}"/>
              </a:ext>
            </a:extLst>
          </p:cNvPr>
          <p:cNvSpPr>
            <a:spLocks xmlns:a="http://schemas.openxmlformats.org/drawingml/2006/main" noGrp="1"/>
          </p:cNvSpPr>
          <p:nvPr/>
        </p:nvSpPr>
        <p:spPr>
          <a:xfrm xmlns:a="http://schemas.openxmlformats.org/drawingml/2006/main">
            <a:off x="36195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Measure full tasks and sustained throughput with common boundaries. Use matched or clearly independent groups and counterbalance mode order.</a:t>
            </a:r>
          </a:p>
        </p:txBody>
      </p:sp>
      <p:sp>
        <p:nvSpPr>
          <p:cNvPr id="6" name="Security, recovery, and personnel workflows">
            <a:extLst xmlns:a="http://schemas.openxmlformats.org/drawingml/2006/main">
              <a:ext uri="{FF2B5EF4-FFF2-40B4-BE49-F238E27FC236}">
                <a16:creationId xmlns:a16="http://schemas.microsoft.com/office/drawing/2014/main" id="{FD828E3F-1B81-4111-B0A2-08DE808BE58C}"/>
              </a:ext>
            </a:extLst>
          </p:cNvPr>
          <p:cNvSpPr>
            <a:spLocks xmlns:a="http://schemas.openxmlformats.org/drawingml/2006/main" noGrp="1"/>
          </p:cNvSpPr>
          <p:nvPr/>
        </p:nvSpPr>
        <p:spPr>
          <a:xfrm xmlns:a="http://schemas.openxmlformats.org/drawingml/2006/main">
            <a:off x="36195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Security, recovery, and personnel workflows</a:t>
            </a:r>
          </a:p>
        </p:txBody>
      </p:sp>
      <p:sp>
        <p:nvSpPr>
          <p:cNvPr id="7" name="Test credential sharing and copied payloads, ">
            <a:extLst xmlns:a="http://schemas.openxmlformats.org/drawingml/2006/main">
              <a:ext uri="{FF2B5EF4-FFF2-40B4-BE49-F238E27FC236}">
                <a16:creationId xmlns:a16="http://schemas.microsoft.com/office/drawing/2014/main" id="{2B778A1A-AAE4-4710-B954-792A54BC35B2}"/>
              </a:ext>
            </a:extLst>
          </p:cNvPr>
          <p:cNvSpPr>
            <a:spLocks xmlns:a="http://schemas.openxmlformats.org/drawingml/2006/main" noGrp="1"/>
          </p:cNvSpPr>
          <p:nvPr/>
        </p:nvSpPr>
        <p:spPr>
          <a:xfrm xmlns:a="http://schemas.openxmlformats.org/drawingml/2006/main">
            <a:off x="36195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Test credential sharing and copied payloads, outages and power recovery, alert workload, and routine PIN usability separately from demonstrations.</a:t>
            </a:r>
          </a:p>
        </p:txBody>
      </p:sp>
      <p:sp>
        <p:nvSpPr>
          <p:cNvPr id="8" name="Documentation and deployment readiness">
            <a:extLst xmlns:a="http://schemas.openxmlformats.org/drawingml/2006/main">
              <a:ext uri="{FF2B5EF4-FFF2-40B4-BE49-F238E27FC236}">
                <a16:creationId xmlns:a16="http://schemas.microsoft.com/office/drawing/2014/main" id="{A0F47AB4-BC9B-4B61-A20A-3359A358A69C}"/>
              </a:ext>
            </a:extLst>
          </p:cNvPr>
          <p:cNvSpPr>
            <a:spLocks xmlns:a="http://schemas.openxmlformats.org/drawingml/2006/main" noGrp="1"/>
          </p:cNvSpPr>
          <p:nvPr/>
        </p:nvSpPr>
        <p:spPr>
          <a:xfrm xmlns:a="http://schemas.openxmlformats.org/drawingml/2006/main">
            <a:off x="36195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Documentation and deployment readiness</a:t>
            </a:r>
          </a:p>
        </p:txBody>
      </p:sp>
      <p:sp>
        <p:nvSpPr>
          <p:cNvPr id="9" name="Retain anonymized raw responses, complete dat">
            <a:extLst xmlns:a="http://schemas.openxmlformats.org/drawingml/2006/main">
              <a:ext uri="{FF2B5EF4-FFF2-40B4-BE49-F238E27FC236}">
                <a16:creationId xmlns:a16="http://schemas.microsoft.com/office/drawing/2014/main" id="{F7DCA517-8B97-4643-8A9C-75A176BC3EEA}"/>
              </a:ext>
            </a:extLst>
          </p:cNvPr>
          <p:cNvSpPr>
            <a:spLocks xmlns:a="http://schemas.openxmlformats.org/drawingml/2006/main" noGrp="1"/>
          </p:cNvSpPr>
          <p:nvPr/>
        </p:nvSpPr>
        <p:spPr>
          <a:xfrm xmlns:a="http://schemas.openxmlformats.org/drawingml/2006/main">
            <a:off x="36195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Retain anonymized raw responses, complete dated evidence, and current interface screenshots. Resolve retention/destruction scope before wider deployment.</a:t>
            </a:r>
          </a:p>
        </p:txBody>
      </p:sp>
    </p:spTree>
    <p:extLst>
      <p:ext uri="{BB962C8B-B14F-4D97-AF65-F5344CB8AC3E}">
        <p14:creationId xmlns:p14="http://schemas.microsoft.com/office/powerpoint/2010/main" val="276371806"/>
      </p:ext>
    </p:extLst>
  </p:cSld>
</p:sld>
</file>

<file path=ppt/slides/slide24.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pic>
        <p:nvPicPr>
          <p:cNvPr id="543" name="Google Shape;543;p21">
            <a:extLst xmlns:a="http://schemas.openxmlformats.org/drawingml/2006/main">
              <a:ext uri="{FF2B5EF4-FFF2-40B4-BE49-F238E27FC236}">
                <a16:creationId xmlns:a16="http://schemas.microsoft.com/office/drawing/2014/main" id="{BCEE3087-1668-497E-8FD2-3B8331FE181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cf5413abcd1463a">
            <a:alphaModFix/>
          </a:blip>
          <a:srcRect xmlns:a="http://schemas.openxmlformats.org/drawingml/2006/main" l="0" t="0" r="0" b="0"/>
          <a:stretch xmlns:a="http://schemas.openxmlformats.org/drawingml/2006/main"/>
        </p:blipFill>
        <p:spPr>
          <a:xfrm xmlns:a="http://schemas.openxmlformats.org/drawingml/2006/main">
            <a:off x="2081213" y="1128713"/>
            <a:ext cx="4981500" cy="2886000"/>
          </a:xfrm>
          <a:prstGeom xmlns:a="http://schemas.openxmlformats.org/drawingml/2006/main" prst="rect">
            <a:avLst/>
          </a:prstGeom>
          <a:ln xmlns:a="http://schemas.openxmlformats.org/drawingml/2006/main">
            <a:noFill/>
          </a:ln>
        </p:spPr>
      </p:pic>
      <p:sp>
        <p:nvSpPr>
          <p:cNvPr id="545" name="Google Shape;545;p21">
            <a:extLst xmlns:a="http://schemas.openxmlformats.org/drawingml/2006/main">
              <a:ext uri="{FF2B5EF4-FFF2-40B4-BE49-F238E27FC236}">
                <a16:creationId xmlns:a16="http://schemas.microsoft.com/office/drawing/2014/main" id="{56F29D1E-0774-4947-991D-5FB9BA94BEFB}"/>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a:solidFill>
                  <a:srgbClr val="8FA0BE"/>
                </a:solidFill>
                <a:latin typeface="Calibri"/>
                <a:ea typeface="Calibri"/>
                <a:cs typeface="Calibri"/>
              </a:rPr>
              <a:t>24 / 24</a:t>
            </a:r>
            <a:endParaRPr sz="700" b="0" i="0" u="none" strike="noStrike" cap="none">
              <a:solidFill>
                <a:schemeClr val="dk1"/>
              </a:solidFill>
              <a:latin typeface="Calibri"/>
              <a:ea typeface="Calibri"/>
              <a:cs typeface="Calibri"/>
            </a:endParaRPr>
          </a:p>
        </p:txBody>
      </p:sp>
      <p:sp>
        <p:nvSpPr>
          <p:cNvPr id="546" name="SYSTEM DEMONSTRATION">
            <a:extLst xmlns:a="http://schemas.openxmlformats.org/drawingml/2006/main">
              <a:ext uri="{FF2B5EF4-FFF2-40B4-BE49-F238E27FC236}">
                <a16:creationId xmlns:a16="http://schemas.microsoft.com/office/drawing/2014/main" id="{2E7FF9AB-90E9-40F6-AD23-35CF52F5EB6A}"/>
              </a:ext>
            </a:extLst>
          </p:cNvPr>
          <p:cNvSpPr>
            <a:spLocks xmlns:a="http://schemas.openxmlformats.org/drawingml/2006/main" noGrp="1"/>
          </p:cNvSpPr>
          <p:nvPr/>
        </p:nvSpPr>
        <p:spPr>
          <a:xfrm xmlns:a="http://schemas.openxmlformats.org/drawingml/2006/main">
            <a:off x="1238250" y="14859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5EC4CE"/>
                </a:solidFill>
                <a:latin typeface="Inter"/>
                <a:ea typeface="Inter"/>
                <a:cs typeface="Inter"/>
              </a:defRPr>
            </a:defPPr>
          </a:lstStyle>
          <a:p xmlns:a="http://schemas.openxmlformats.org/drawingml/2006/main">
            <a:pPr algn="ctr">
              <a:defRPr sz="1575" b="1">
                <a:solidFill>
                  <a:srgbClr val="5EC4CE"/>
                </a:solidFill>
                <a:latin typeface="Inter"/>
                <a:ea typeface="Inter"/>
                <a:cs typeface="Inter"/>
              </a:defRPr>
            </a:pPr>
            <a:r>
              <a:rPr sz="1575" b="1">
                <a:solidFill>
                  <a:srgbClr val="5EC4CE"/>
                </a:solidFill>
                <a:latin typeface="Inter"/>
                <a:ea typeface="Inter"/>
                <a:cs typeface="Inter"/>
              </a:rPr>
              <a:t>SYSTEM DEMONSTRATION</a:t>
            </a:r>
          </a:p>
        </p:txBody>
      </p:sp>
      <p:sp>
        <p:nvSpPr>
          <p:cNvPr id="547" name="Live Demo and Questions">
            <a:extLst xmlns:a="http://schemas.openxmlformats.org/drawingml/2006/main">
              <a:ext uri="{FF2B5EF4-FFF2-40B4-BE49-F238E27FC236}">
                <a16:creationId xmlns:a16="http://schemas.microsoft.com/office/drawing/2014/main" id="{F4346C7A-B5C5-4505-A9E5-4E4842C6BAFF}"/>
              </a:ext>
            </a:extLst>
          </p:cNvPr>
          <p:cNvSpPr>
            <a:spLocks xmlns:a="http://schemas.openxmlformats.org/drawingml/2006/main" noGrp="1"/>
          </p:cNvSpPr>
          <p:nvPr/>
        </p:nvSpPr>
        <p:spPr>
          <a:xfrm xmlns:a="http://schemas.openxmlformats.org/drawingml/2006/main">
            <a:off x="1095375" y="2066925"/>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000" b="0">
                <a:solidFill>
                  <a:srgbClr val="FFFFFF"/>
                </a:solidFill>
                <a:latin typeface="Inter"/>
                <a:ea typeface="Inter"/>
                <a:cs typeface="Inter"/>
              </a:defRPr>
            </a:defPPr>
          </a:lstStyle>
          <a:p xmlns:a="http://schemas.openxmlformats.org/drawingml/2006/main">
            <a:pPr algn="ctr">
              <a:defRPr sz="3000" b="0">
                <a:solidFill>
                  <a:srgbClr val="FFFFFF"/>
                </a:solidFill>
                <a:latin typeface="Inter"/>
                <a:ea typeface="Inter"/>
                <a:cs typeface="Inter"/>
              </a:defRPr>
            </a:pPr>
            <a:r>
              <a:rPr sz="3000" b="0">
                <a:solidFill>
                  <a:srgbClr val="FFFFFF"/>
                </a:solidFill>
                <a:latin typeface="Inter"/>
                <a:ea typeface="Inter"/>
                <a:cs typeface="Inter"/>
              </a:rPr>
              <a:t>Live Demo and Questions</a:t>
            </a:r>
          </a:p>
        </p:txBody>
      </p:sp>
      <p:sp>
        <p:nvSpPr>
          <p:cNvPr id="548" name="Configured modes, entry/exit timestamps, aler">
            <a:extLst xmlns:a="http://schemas.openxmlformats.org/drawingml/2006/main">
              <a:ext uri="{FF2B5EF4-FFF2-40B4-BE49-F238E27FC236}">
                <a16:creationId xmlns:a16="http://schemas.microsoft.com/office/drawing/2014/main" id="{6191034E-C0AE-4AAA-AADB-4D30BA2DF66A}"/>
              </a:ext>
            </a:extLst>
          </p:cNvPr>
          <p:cNvSpPr>
            <a:spLocks xmlns:a="http://schemas.openxmlformats.org/drawingml/2006/main" noGrp="1"/>
          </p:cNvSpPr>
          <p:nvPr/>
        </p:nvSpPr>
        <p:spPr>
          <a:xfrm xmlns:a="http://schemas.openxmlformats.org/drawingml/2006/main">
            <a:off x="1495425" y="2971800"/>
            <a:ext cx="6153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C9D8EC"/>
                </a:solidFill>
                <a:latin typeface="Calibri"/>
                <a:ea typeface="Calibri"/>
                <a:cs typeface="Calibri"/>
              </a:defRPr>
            </a:defPPr>
          </a:lstStyle>
          <a:p xmlns:a="http://schemas.openxmlformats.org/drawingml/2006/main">
            <a:pPr algn="ctr">
              <a:defRPr sz="1725" b="0">
                <a:solidFill>
                  <a:srgbClr val="C9D8EC"/>
                </a:solidFill>
                <a:latin typeface="Calibri"/>
                <a:ea typeface="Calibri"/>
                <a:cs typeface="Calibri"/>
              </a:defRPr>
            </a:pPr>
            <a:r>
              <a:rPr sz="1725" b="0">
                <a:solidFill>
                  <a:srgbClr val="C9D8EC"/>
                </a:solidFill>
                <a:latin typeface="Calibri"/>
                <a:ea typeface="Calibri"/>
                <a:cs typeface="Calibri"/>
              </a:rPr>
              <a:t>Configured modes, entry/exit timestamps, alerts, and authorized local cleanup</a:t>
            </a:r>
          </a:p>
        </p:txBody>
      </p:sp>
    </p:spTree>
    <p:extLst>
      <p:ext uri="{BB962C8B-B14F-4D97-AF65-F5344CB8AC3E}">
        <p14:creationId xmlns:p14="http://schemas.microsoft.com/office/powerpoint/2010/main" val="1112764991"/>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2026-10-11T16:48:30.2910000Z</dcterms:created>
  <dcterms:modified xsi:type="dcterms:W3CDTF">2026-10-11T16:48:30.2910000Z</dcterms:modified>
</coreProperties>
</file>