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3f1121688b42b4" /><Relationship Type="http://schemas.openxmlformats.org/officeDocument/2006/relationships/extended-properties" Target="/docProps/app.xml" Id="R780aaec3490343d9" /><Relationship Type="http://schemas.openxmlformats.org/officeDocument/2006/relationships/officeDocument" Target="/ppt/presentation.xml" Id="R467fdd53b25f486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f25747023044d20"/>
  </p:sldMasterIdLst>
  <p:notesMasterIdLst>
    <p:notesMasterId xmlns:r="http://schemas.openxmlformats.org/officeDocument/2006/relationships" r:id="R782727c694d74796"/>
  </p:notesMasterIdLst>
  <p:sldIdLst>
    <p:sldId xmlns:r="http://schemas.openxmlformats.org/officeDocument/2006/relationships" id="256" r:id="R1e9dc9c662274055"/>
    <p:sldId xmlns:r="http://schemas.openxmlformats.org/officeDocument/2006/relationships" id="257" r:id="Ra415fbc013ec4064"/>
    <p:sldId xmlns:r="http://schemas.openxmlformats.org/officeDocument/2006/relationships" id="258" r:id="R83ef85993bab4b58"/>
    <p:sldId xmlns:r="http://schemas.openxmlformats.org/officeDocument/2006/relationships" id="259" r:id="R02adfb3472cb425b"/>
    <p:sldId xmlns:r="http://schemas.openxmlformats.org/officeDocument/2006/relationships" id="260" r:id="Rc56b54bbc53a41c0"/>
    <p:sldId xmlns:r="http://schemas.openxmlformats.org/officeDocument/2006/relationships" id="261" r:id="R37627051e9ac482d"/>
    <p:sldId xmlns:r="http://schemas.openxmlformats.org/officeDocument/2006/relationships" id="262" r:id="Rb543104fab084a10"/>
    <p:sldId xmlns:r="http://schemas.openxmlformats.org/officeDocument/2006/relationships" id="263" r:id="Rce326d669b034c5c"/>
    <p:sldId xmlns:r="http://schemas.openxmlformats.org/officeDocument/2006/relationships" id="264" r:id="Ree79e8919ceb4b38"/>
    <p:sldId xmlns:r="http://schemas.openxmlformats.org/officeDocument/2006/relationships" id="265" r:id="R6e8f464355c94675"/>
    <p:sldId xmlns:r="http://schemas.openxmlformats.org/officeDocument/2006/relationships" id="266" r:id="R1d4e866ff24e4416"/>
    <p:sldId xmlns:r="http://schemas.openxmlformats.org/officeDocument/2006/relationships" id="267" r:id="Rdb88739f2f1a48bc"/>
    <p:sldId xmlns:r="http://schemas.openxmlformats.org/officeDocument/2006/relationships" id="268" r:id="R4e9b5d16d9ff4241"/>
    <p:sldId xmlns:r="http://schemas.openxmlformats.org/officeDocument/2006/relationships" id="269" r:id="R7719da798a634475"/>
    <p:sldId xmlns:r="http://schemas.openxmlformats.org/officeDocument/2006/relationships" id="270" r:id="Raca95facadb74e5a"/>
    <p:sldId xmlns:r="http://schemas.openxmlformats.org/officeDocument/2006/relationships" id="271" r:id="R3d44203c42e74e53"/>
    <p:sldId xmlns:r="http://schemas.openxmlformats.org/officeDocument/2006/relationships" id="272" r:id="R96a76ac47f68419a"/>
    <p:sldId xmlns:r="http://schemas.openxmlformats.org/officeDocument/2006/relationships" id="273" r:id="R0b6ceff6f4fc4499"/>
    <p:sldId xmlns:r="http://schemas.openxmlformats.org/officeDocument/2006/relationships" id="274" r:id="R5431cea87351448a"/>
    <p:sldId xmlns:r="http://schemas.openxmlformats.org/officeDocument/2006/relationships" id="275" r:id="R0804397709fa445a"/>
    <p:sldId xmlns:r="http://schemas.openxmlformats.org/officeDocument/2006/relationships" id="276" r:id="R7b7519475d3f4433"/>
    <p:sldId xmlns:r="http://schemas.openxmlformats.org/officeDocument/2006/relationships" id="277" r:id="Rda39ea8d5c424ce0"/>
    <p:sldId xmlns:r="http://schemas.openxmlformats.org/officeDocument/2006/relationships" id="278" r:id="Rb94002b858b84b47"/>
    <p:sldId xmlns:r="http://schemas.openxmlformats.org/officeDocument/2006/relationships" id="279" r:id="Rfa4a72a2e3dd4272"/>
  </p:sldIdLst>
  <p:sldSz cx="9144000" cy="5143500"/>
  <p:notesSz cx="6858000" cy="9144000"/>
  <p:embeddedFontLst>
    <p:embeddedFont>
      <p:font typeface="Inter SemiBold"/>
      <p:regular xmlns:r="http://schemas.openxmlformats.org/officeDocument/2006/relationships" r:id="Rc7d5ad565bf64712"/>
      <p:bold xmlns:r="http://schemas.openxmlformats.org/officeDocument/2006/relationships" r:id="R26dbc42cecad46a2"/>
      <p:italic xmlns:r="http://schemas.openxmlformats.org/officeDocument/2006/relationships" r:id="Raef2cdde371543bd"/>
      <p:boldItalic xmlns:r="http://schemas.openxmlformats.org/officeDocument/2006/relationships" r:id="R186fd95c26664500"/>
    </p:embeddedFont>
    <p:embeddedFont>
      <p:font typeface="Inter"/>
      <p:bold xmlns:r="http://schemas.openxmlformats.org/officeDocument/2006/relationships" r:id="R1f9db6376b0a44b0"/>
      <p:boldItalic xmlns:r="http://schemas.openxmlformats.org/officeDocument/2006/relationships" r:id="Rdcc53507dd644fdb"/>
    </p:embeddedFont>
    <p:embeddedFont>
      <p:font typeface="Inter ExtraBold"/>
      <p:bold xmlns:r="http://schemas.openxmlformats.org/officeDocument/2006/relationships" r:id="R4f74b4eea7fe4032"/>
      <p:boldItalic xmlns:r="http://schemas.openxmlformats.org/officeDocument/2006/relationships" r:id="R15ac250cb90849fe"/>
    </p:embeddedFont>
    <p:embeddedFont>
      <p:font typeface="Inter Medium"/>
      <p:regular xmlns:r="http://schemas.openxmlformats.org/officeDocument/2006/relationships" r:id="Re13cc9caa6694080"/>
      <p:bold xmlns:r="http://schemas.openxmlformats.org/officeDocument/2006/relationships" r:id="R64749be9cc3141ed"/>
      <p:italic xmlns:r="http://schemas.openxmlformats.org/officeDocument/2006/relationships" r:id="R86d28c0e959f4268"/>
      <p:boldItalic xmlns:r="http://schemas.openxmlformats.org/officeDocument/2006/relationships" r:id="Rb4d30f28da9c40c1"/>
    </p:embeddedFont>
    <p:embeddedFont>
      <p:font typeface="Inter Black"/>
      <p:bold xmlns:r="http://schemas.openxmlformats.org/officeDocument/2006/relationships" r:id="R49d3bbf3137e43b9"/>
      <p:boldItalic xmlns:r="http://schemas.openxmlformats.org/officeDocument/2006/relationships" r:id="R94e33809ed464d6c"/>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855d292c3dd42e2" /><Relationship Type="http://schemas.openxmlformats.org/officeDocument/2006/relationships/slideMaster" Target="/ppt/slideMasters/slideMaster1.xml" Id="Rdf25747023044d20" /><Relationship Type="http://schemas.openxmlformats.org/officeDocument/2006/relationships/notesMaster" Target="/ppt/notesMasters/notesMaster1.xml" Id="R782727c694d74796" /><Relationship Type="http://schemas.openxmlformats.org/officeDocument/2006/relationships/presProps" Target="/ppt/presProps.xml" Id="R5dab6df17b094181" /><Relationship Type="http://schemas.openxmlformats.org/officeDocument/2006/relationships/viewProps" Target="/ppt/viewProps.xml" Id="R895e1c6a946847f8" /><Relationship Type="http://schemas.openxmlformats.org/officeDocument/2006/relationships/tableStyles" Target="/ppt/tableStyles.xml" Id="Reb318c9e2faf4ff0" /><Relationship Type="http://schemas.openxmlformats.org/officeDocument/2006/relationships/font" Target="/ppt/fonts/font.dat" Id="Rc7d5ad565bf64712" /><Relationship Type="http://schemas.openxmlformats.org/officeDocument/2006/relationships/font" Target="/ppt/fonts/font2.dat" Id="R26dbc42cecad46a2" /><Relationship Type="http://schemas.openxmlformats.org/officeDocument/2006/relationships/font" Target="/ppt/fonts/font3.dat" Id="Raef2cdde371543bd" /><Relationship Type="http://schemas.openxmlformats.org/officeDocument/2006/relationships/font" Target="/ppt/fonts/font4.dat" Id="R186fd95c26664500" /><Relationship Type="http://schemas.openxmlformats.org/officeDocument/2006/relationships/font" Target="/ppt/fonts/font5.dat" Id="R1f9db6376b0a44b0" /><Relationship Type="http://schemas.openxmlformats.org/officeDocument/2006/relationships/font" Target="/ppt/fonts/font6.dat" Id="Rdcc53507dd644fdb" /><Relationship Type="http://schemas.openxmlformats.org/officeDocument/2006/relationships/font" Target="/ppt/fonts/font7.dat" Id="R4f74b4eea7fe4032" /><Relationship Type="http://schemas.openxmlformats.org/officeDocument/2006/relationships/font" Target="/ppt/fonts/font8.dat" Id="R15ac250cb90849fe" /><Relationship Type="http://schemas.openxmlformats.org/officeDocument/2006/relationships/font" Target="/ppt/fonts/font9.dat" Id="Re13cc9caa6694080" /><Relationship Type="http://schemas.openxmlformats.org/officeDocument/2006/relationships/font" Target="/ppt/fonts/font10.dat" Id="R64749be9cc3141ed" /><Relationship Type="http://schemas.openxmlformats.org/officeDocument/2006/relationships/font" Target="/ppt/fonts/font11.dat" Id="R86d28c0e959f4268" /><Relationship Type="http://schemas.openxmlformats.org/officeDocument/2006/relationships/font" Target="/ppt/fonts/font12.dat" Id="Rb4d30f28da9c40c1" /><Relationship Type="http://schemas.openxmlformats.org/officeDocument/2006/relationships/font" Target="/ppt/fonts/font13.dat" Id="R49d3bbf3137e43b9" /><Relationship Type="http://schemas.openxmlformats.org/officeDocument/2006/relationships/font" Target="/ppt/fonts/font14.dat" Id="R94e33809ed464d6c" /><Relationship Type="http://schemas.openxmlformats.org/officeDocument/2006/relationships/slide" Target="/ppt/slides/slide1.xml" Id="R1e9dc9c662274055" /><Relationship Type="http://schemas.openxmlformats.org/officeDocument/2006/relationships/slide" Target="/ppt/slides/slide2.xml" Id="Ra415fbc013ec4064" /><Relationship Type="http://schemas.openxmlformats.org/officeDocument/2006/relationships/slide" Target="/ppt/slides/slide3.xml" Id="R83ef85993bab4b58" /><Relationship Type="http://schemas.openxmlformats.org/officeDocument/2006/relationships/slide" Target="/ppt/slides/slide4.xml" Id="R02adfb3472cb425b" /><Relationship Type="http://schemas.openxmlformats.org/officeDocument/2006/relationships/slide" Target="/ppt/slides/slide5.xml" Id="Rc56b54bbc53a41c0" /><Relationship Type="http://schemas.openxmlformats.org/officeDocument/2006/relationships/slide" Target="/ppt/slides/slide6.xml" Id="R37627051e9ac482d" /><Relationship Type="http://schemas.openxmlformats.org/officeDocument/2006/relationships/slide" Target="/ppt/slides/slide7.xml" Id="Rb543104fab084a10" /><Relationship Type="http://schemas.openxmlformats.org/officeDocument/2006/relationships/slide" Target="/ppt/slides/slide8.xml" Id="Rce326d669b034c5c" /><Relationship Type="http://schemas.openxmlformats.org/officeDocument/2006/relationships/slide" Target="/ppt/slides/slide9.xml" Id="Ree79e8919ceb4b38" /><Relationship Type="http://schemas.openxmlformats.org/officeDocument/2006/relationships/slide" Target="/ppt/slides/slide10.xml" Id="R6e8f464355c94675" /><Relationship Type="http://schemas.openxmlformats.org/officeDocument/2006/relationships/slide" Target="/ppt/slides/slide11.xml" Id="R1d4e866ff24e4416" /><Relationship Type="http://schemas.openxmlformats.org/officeDocument/2006/relationships/slide" Target="/ppt/slides/slide12.xml" Id="Rdb88739f2f1a48bc" /><Relationship Type="http://schemas.openxmlformats.org/officeDocument/2006/relationships/slide" Target="/ppt/slides/slide13.xml" Id="R4e9b5d16d9ff4241" /><Relationship Type="http://schemas.openxmlformats.org/officeDocument/2006/relationships/slide" Target="/ppt/slides/slide14.xml" Id="R7719da798a634475" /><Relationship Type="http://schemas.openxmlformats.org/officeDocument/2006/relationships/slide" Target="/ppt/slides/slide15.xml" Id="Raca95facadb74e5a" /><Relationship Type="http://schemas.openxmlformats.org/officeDocument/2006/relationships/slide" Target="/ppt/slides/slide16.xml" Id="R3d44203c42e74e53" /><Relationship Type="http://schemas.openxmlformats.org/officeDocument/2006/relationships/slide" Target="/ppt/slides/slide17.xml" Id="R96a76ac47f68419a" /><Relationship Type="http://schemas.openxmlformats.org/officeDocument/2006/relationships/slide" Target="/ppt/slides/slide18.xml" Id="R0b6ceff6f4fc4499" /><Relationship Type="http://schemas.openxmlformats.org/officeDocument/2006/relationships/slide" Target="/ppt/slides/slide19.xml" Id="R5431cea87351448a" /><Relationship Type="http://schemas.openxmlformats.org/officeDocument/2006/relationships/slide" Target="/ppt/slides/slide20.xml" Id="R0804397709fa445a" /><Relationship Type="http://schemas.openxmlformats.org/officeDocument/2006/relationships/slide" Target="/ppt/slides/slide21.xml" Id="R7b7519475d3f4433" /><Relationship Type="http://schemas.openxmlformats.org/officeDocument/2006/relationships/slide" Target="/ppt/slides/slide22.xml" Id="Rda39ea8d5c424ce0" /><Relationship Type="http://schemas.openxmlformats.org/officeDocument/2006/relationships/slide" Target="/ppt/slides/slide23.xml" Id="Rb94002b858b84b47" /><Relationship Type="http://schemas.openxmlformats.org/officeDocument/2006/relationships/slide" Target="/ppt/slides/slide24.xml" Id="Rfa4a72a2e3dd42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b48e9eb9ba4d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896d219ee44b7e" /><Relationship Type="http://schemas.openxmlformats.org/officeDocument/2006/relationships/notesMaster" Target="/ppt/notesMasters/notesMaster1.xml" Id="R26368c37d2e448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67b8d307364013" /><Relationship Type="http://schemas.openxmlformats.org/officeDocument/2006/relationships/notesMaster" Target="/ppt/notesMasters/notesMaster1.xml" Id="Rf6b11eda478047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092da643544235" /><Relationship Type="http://schemas.openxmlformats.org/officeDocument/2006/relationships/notesMaster" Target="/ppt/notesMasters/notesMaster1.xml" Id="Rae7c7fe3af1d4e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35b255be98468e" /><Relationship Type="http://schemas.openxmlformats.org/officeDocument/2006/relationships/notesMaster" Target="/ppt/notesMasters/notesMaster1.xml" Id="Raf0bd462d71c4d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09fe2475924c69" /><Relationship Type="http://schemas.openxmlformats.org/officeDocument/2006/relationships/notesMaster" Target="/ppt/notesMasters/notesMaster1.xml" Id="Rd5bb493114ae41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dd51b4d0dd44ed" /><Relationship Type="http://schemas.openxmlformats.org/officeDocument/2006/relationships/notesMaster" Target="/ppt/notesMasters/notesMaster1.xml" Id="R1903e463e06047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98d9230af64a05" /><Relationship Type="http://schemas.openxmlformats.org/officeDocument/2006/relationships/notesMaster" Target="/ppt/notesMasters/notesMaster1.xml" Id="R950f765b931449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e815b278a74a7f" /><Relationship Type="http://schemas.openxmlformats.org/officeDocument/2006/relationships/notesMaster" Target="/ppt/notesMasters/notesMaster1.xml" Id="R0d00883e337448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04b3f1f08b402c" /><Relationship Type="http://schemas.openxmlformats.org/officeDocument/2006/relationships/notesMaster" Target="/ppt/notesMasters/notesMaster1.xml" Id="R4d2778c947a94d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ab15692d3a49c4" /><Relationship Type="http://schemas.openxmlformats.org/officeDocument/2006/relationships/notesMaster" Target="/ppt/notesMasters/notesMaster1.xml" Id="Ra36e9773c7b342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12852b541e418f" /><Relationship Type="http://schemas.openxmlformats.org/officeDocument/2006/relationships/notesMaster" Target="/ppt/notesMasters/notesMaster1.xml" Id="R0b6731b1828c46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6d27775b9d44d6" /><Relationship Type="http://schemas.openxmlformats.org/officeDocument/2006/relationships/notesMaster" Target="/ppt/notesMasters/notesMaster1.xml" Id="Rb3f300e6fad947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074bde8f63426b" /><Relationship Type="http://schemas.openxmlformats.org/officeDocument/2006/relationships/notesMaster" Target="/ppt/notesMasters/notesMaster1.xml" Id="R8589e0b296fd4d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78454b08cf4cb5" /><Relationship Type="http://schemas.openxmlformats.org/officeDocument/2006/relationships/notesMaster" Target="/ppt/notesMasters/notesMaster1.xml" Id="R5310aa49e23743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950add99b74ee0" /><Relationship Type="http://schemas.openxmlformats.org/officeDocument/2006/relationships/notesMaster" Target="/ppt/notesMasters/notesMaster1.xml" Id="R6af59c00df6243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d1e0d0679e45e1" /><Relationship Type="http://schemas.openxmlformats.org/officeDocument/2006/relationships/notesMaster" Target="/ppt/notesMasters/notesMaster1.xml" Id="Rfab7b150503440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47b6caf0dd49b6" /><Relationship Type="http://schemas.openxmlformats.org/officeDocument/2006/relationships/notesMaster" Target="/ppt/notesMasters/notesMaster1.xml" Id="R4181a4e185d14e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1a216d0055544f2" /><Relationship Type="http://schemas.openxmlformats.org/officeDocument/2006/relationships/notesMaster" Target="/ppt/notesMasters/notesMaster1.xml" Id="R2763141fdaa646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6bd48295434464" /><Relationship Type="http://schemas.openxmlformats.org/officeDocument/2006/relationships/notesMaster" Target="/ppt/notesMasters/notesMaster1.xml" Id="Rba48b5e95f754d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d0cdc1c8fb4d6e" /><Relationship Type="http://schemas.openxmlformats.org/officeDocument/2006/relationships/notesMaster" Target="/ppt/notesMasters/notesMaster1.xml" Id="R5f6ef70c6fb542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fe3ffb747fb42fd" /><Relationship Type="http://schemas.openxmlformats.org/officeDocument/2006/relationships/notesMaster" Target="/ppt/notesMasters/notesMaster1.xml" Id="R764e465026f944a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5ab5e455974c63" /><Relationship Type="http://schemas.openxmlformats.org/officeDocument/2006/relationships/notesMaster" Target="/ppt/notesMasters/notesMaster1.xml" Id="Ra885a1795fea43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a2cee46eb044fc" /><Relationship Type="http://schemas.openxmlformats.org/officeDocument/2006/relationships/notesMaster" Target="/ppt/notesMasters/notesMaster1.xml" Id="R5fefbfdd42de45c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afd0106eb6b41cc" /><Relationship Type="http://schemas.openxmlformats.org/officeDocument/2006/relationships/notesMaster" Target="/ppt/notesMasters/notesMaster1.xml" Id="R794e0feb644e41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baa59fa9364b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b714b9c57a47a3"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a2add49b2e4560" /><Relationship Type="http://schemas.openxmlformats.org/officeDocument/2006/relationships/slideLayout" Target="/ppt/slideLayouts/slideLayout1.xml" Id="R15f0fe1ba99d4ce0" /><Relationship Type="http://schemas.openxmlformats.org/officeDocument/2006/relationships/slideLayout" Target="/ppt/slideLayouts/slideLayout2.xml" Id="Rfe98dbd00435468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5f0fe1ba99d4ce0"/>
    <p:sldLayoutId xmlns:r="http://schemas.openxmlformats.org/officeDocument/2006/relationships" id="2147483650" r:id="Rfe98dbd00435468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ed9cefcb4b4990" /><Relationship Type="http://schemas.openxmlformats.org/officeDocument/2006/relationships/image" Target="/ppt/media/image.png" Id="R2d059cdef402476c" /><Relationship Type="http://schemas.openxmlformats.org/officeDocument/2006/relationships/image" Target="/ppt/media/image2.png" Id="R0f9d713fe60d4785" /><Relationship Type="http://schemas.openxmlformats.org/officeDocument/2006/relationships/image" Target="/ppt/media/image3.png" Id="R16759359e9974928" /><Relationship Type="http://schemas.openxmlformats.org/officeDocument/2006/relationships/notesSlide" Target="/ppt/notesSlides/notesSlide1.xml" Id="R951391675c0e43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3d11fbdc25473a" /><Relationship Type="http://schemas.openxmlformats.org/officeDocument/2006/relationships/notesSlide" Target="/ppt/notesSlides/notesSlide2.xml" Id="R9cc628bbbba748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def02bab434595" /><Relationship Type="http://schemas.openxmlformats.org/officeDocument/2006/relationships/notesSlide" Target="/ppt/notesSlides/notesSlide3.xml" Id="Rd5d968f7d1ea4a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592b077c35456d" /><Relationship Type="http://schemas.openxmlformats.org/officeDocument/2006/relationships/notesSlide" Target="/ppt/notesSlides/notesSlide4.xml" Id="R6770089b2b2845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77ae96e376409d" /><Relationship Type="http://schemas.openxmlformats.org/officeDocument/2006/relationships/notesSlide" Target="/ppt/notesSlides/notesSlide5.xml" Id="Rc6c1cf59c3274a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43489b660e40fe" /><Relationship Type="http://schemas.openxmlformats.org/officeDocument/2006/relationships/notesSlide" Target="/ppt/notesSlides/notesSlide6.xml" Id="Rd3e71fd5a53c4f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03426112db47ad" /><Relationship Type="http://schemas.openxmlformats.org/officeDocument/2006/relationships/notesSlide" Target="/ppt/notesSlides/notesSlide7.xml" Id="R3725c83cd58c42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9c4c281b954fc6" /><Relationship Type="http://schemas.openxmlformats.org/officeDocument/2006/relationships/notesSlide" Target="/ppt/notesSlides/notesSlide8.xml" Id="Rf9af468ad9ab44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8b11cc82814810" /><Relationship Type="http://schemas.openxmlformats.org/officeDocument/2006/relationships/notesSlide" Target="/ppt/notesSlides/notesSlide9.xml" Id="Rcb692e92346849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9d36a69f18a4ff2" /><Relationship Type="http://schemas.openxmlformats.org/officeDocument/2006/relationships/image" Target="/ppt/media/image4.png" Id="R54ce33c61804458c" /><Relationship Type="http://schemas.openxmlformats.org/officeDocument/2006/relationships/image" Target="/ppt/media/image.jpeg" Id="R4c24f7647fdf4c8a" /><Relationship Type="http://schemas.openxmlformats.org/officeDocument/2006/relationships/image" Target="/ppt/media/image2.jpeg" Id="R6b25df256b744534" /><Relationship Type="http://schemas.openxmlformats.org/officeDocument/2006/relationships/image" Target="/ppt/media/image3.jpeg" Id="Rb52315b335634c21" /><Relationship Type="http://schemas.openxmlformats.org/officeDocument/2006/relationships/image" Target="/ppt/media/image4.jpeg" Id="R563907c0ca8c472f" /><Relationship Type="http://schemas.openxmlformats.org/officeDocument/2006/relationships/image" Target="/ppt/media/image5.jpeg" Id="R01f4704e2e37475f" /><Relationship Type="http://schemas.openxmlformats.org/officeDocument/2006/relationships/notesSlide" Target="/ppt/notesSlides/notesSlide10.xml" Id="Rf2d3376a429848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d48899fbca4ce4" /><Relationship Type="http://schemas.openxmlformats.org/officeDocument/2006/relationships/notesSlide" Target="/ppt/notesSlides/notesSlide11.xml" Id="R8c511a8b827245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e0e338f0434268" /><Relationship Type="http://schemas.openxmlformats.org/officeDocument/2006/relationships/notesSlide" Target="/ppt/notesSlides/notesSlide12.xml" Id="R54f7185a6fb440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02b38b59a04172" /><Relationship Type="http://schemas.openxmlformats.org/officeDocument/2006/relationships/chart" Target="/ppt/slides/charts/chart1.xml" Id="Rc52ab119da8a4d01" /><Relationship Type="http://schemas.openxmlformats.org/officeDocument/2006/relationships/notesSlide" Target="/ppt/notesSlides/notesSlide13.xml" Id="R65435efb05b54d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44c92157d84b59" /><Relationship Type="http://schemas.openxmlformats.org/officeDocument/2006/relationships/chart" Target="/ppt/slides/charts/chart2.xml" Id="Rf456d9cf785040f1" /><Relationship Type="http://schemas.openxmlformats.org/officeDocument/2006/relationships/notesSlide" Target="/ppt/notesSlides/notesSlide14.xml" Id="R665061dbfbf340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255904d0b3949af" /><Relationship Type="http://schemas.openxmlformats.org/officeDocument/2006/relationships/chart" Target="/ppt/slides/charts/chart3.xml" Id="Raedbbd7129954b08" /><Relationship Type="http://schemas.openxmlformats.org/officeDocument/2006/relationships/notesSlide" Target="/ppt/notesSlides/notesSlide15.xml" Id="R704053838f394b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f92e9cb48c423e" /><Relationship Type="http://schemas.openxmlformats.org/officeDocument/2006/relationships/notesSlide" Target="/ppt/notesSlides/notesSlide16.xml" Id="Rfaf4715a165746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68bdd4e2a9340dd" /><Relationship Type="http://schemas.openxmlformats.org/officeDocument/2006/relationships/notesSlide" Target="/ppt/notesSlides/notesSlide17.xml" Id="Ra2825e1a481748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fa4a49cc2354740" /><Relationship Type="http://schemas.openxmlformats.org/officeDocument/2006/relationships/chart" Target="/ppt/slides/charts/chart4.xml" Id="Ra1ca9f7d284f4a13" /><Relationship Type="http://schemas.openxmlformats.org/officeDocument/2006/relationships/notesSlide" Target="/ppt/notesSlides/notesSlide18.xml" Id="R03d9e25047c442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bc89444c7404087" /><Relationship Type="http://schemas.openxmlformats.org/officeDocument/2006/relationships/chart" Target="/ppt/slides/charts/chart5.xml" Id="Raafc9d0e672c457b" /><Relationship Type="http://schemas.openxmlformats.org/officeDocument/2006/relationships/notesSlide" Target="/ppt/notesSlides/notesSlide19.xml" Id="Rd42a313a35fc44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ede44d85eb34ecc" /><Relationship Type="http://schemas.openxmlformats.org/officeDocument/2006/relationships/notesSlide" Target="/ppt/notesSlides/notesSlide20.xml" Id="R9b144be5853d40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35bb93cd42416e" /><Relationship Type="http://schemas.openxmlformats.org/officeDocument/2006/relationships/notesSlide" Target="/ppt/notesSlides/notesSlide21.xml" Id="R37b1ed39bf0d4c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3baf0d94c4e472b" /><Relationship Type="http://schemas.openxmlformats.org/officeDocument/2006/relationships/notesSlide" Target="/ppt/notesSlides/notesSlide22.xml" Id="Rd76921de61144ae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1d2f520ea474b61" /><Relationship Type="http://schemas.openxmlformats.org/officeDocument/2006/relationships/notesSlide" Target="/ppt/notesSlides/notesSlide23.xml" Id="R6bc84bdfb207434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f2de5e8c184e8c" /><Relationship Type="http://schemas.openxmlformats.org/officeDocument/2006/relationships/image" Target="/ppt/media/image5.png" Id="R519900b57fd94241" /><Relationship Type="http://schemas.openxmlformats.org/officeDocument/2006/relationships/notesSlide" Target="/ppt/notesSlides/notesSlide24.xml" Id="R51d554582ca044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internal latency</c:v>
          </c:tx>
          <c:spPr>
            <a:solidFill xmlns:a="http://schemas.openxmlformats.org/drawingml/2006/main">
              <a:srgbClr val="0FA3B1"/>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PIN</c:v>
          </c:tx>
          <c:spPr>
            <a:solidFill xmlns:a="http://schemas.openxmlformats.org/drawingml/2006/main">
              <a:srgbClr val="0B7F8A"/>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D4872C"/>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Writing observations</c:v>
          </c:tx>
          <c:spPr>
            <a:solidFill xmlns:a="http://schemas.openxmlformats.org/drawingml/2006/main">
              <a:srgbClr val="0FA3B1"/>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n = 70</c:v>
          </c:tx>
          <c:spPr>
            <a:solidFill xmlns:a="http://schemas.openxmlformats.org/drawingml/2006/main">
              <a:srgbClr val="D4872C"/>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B7F8A"/>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Overall equal-category mean</c:v>
          </c:tx>
          <c:spPr>
            <a:solidFill xmlns:a="http://schemas.openxmlformats.org/drawingml/2006/main">
              <a:srgbClr val="0B7F8A"/>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a:blip xmlns:r="http://schemas.openxmlformats.org/officeDocument/2006/relationships" r:embed="R2d059cdef402476c">
            <a:alphaModFix/>
          </a:blip>
          <a:stretch>
            <a:fillRect l="0" t="0" r="0" b="0"/>
          </a:stretch>
        </a:blip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138A6983-8FFE-4E00-B329-F5228036DB94}"/>
              </a:ext>
            </a:extLst>
          </p:cNvPr>
          <p:cNvSpPr>
            <a:spLocks xmlns:a="http://schemas.openxmlformats.org/drawingml/2006/main" noGrp="1"/>
          </p:cNvSpPr>
          <p:nvPr/>
        </p:nvSpPr>
        <p:spPr>
          <a:xfrm xmlns:a="http://schemas.openxmlformats.org/drawingml/2006/main" rot="0" flipH="0" flipV="0">
            <a:off x="5715000" y="-1905000"/>
            <a:ext cx="5715000" cy="57150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6">
            <a:extLst xmlns:a="http://schemas.openxmlformats.org/drawingml/2006/main">
              <a:ext uri="{FF2B5EF4-FFF2-40B4-BE49-F238E27FC236}">
                <a16:creationId xmlns:a16="http://schemas.microsoft.com/office/drawing/2014/main" id="{875A045B-677C-4861-9401-AD7D34BCC62D}"/>
              </a:ext>
            </a:extLst>
          </p:cNvPr>
          <p:cNvSpPr>
            <a:spLocks xmlns:a="http://schemas.openxmlformats.org/drawingml/2006/main" noGrp="1"/>
          </p:cNvSpPr>
          <p:nvPr/>
        </p:nvSpPr>
        <p:spPr>
          <a:xfrm xmlns:a="http://schemas.openxmlformats.org/drawingml/2006/main" rot="0" flipH="0" flipV="0">
            <a:off x="-1428750" y="2190750"/>
            <a:ext cx="4762500" cy="47625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3" name="Google Shape;93;p6">
            <a:extLst xmlns:a="http://schemas.openxmlformats.org/drawingml/2006/main">
              <a:ext uri="{FF2B5EF4-FFF2-40B4-BE49-F238E27FC236}">
                <a16:creationId xmlns:a16="http://schemas.microsoft.com/office/drawing/2014/main" id="{995EFDE5-74E3-4740-A460-7B9184EF116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f9d713fe60d4785">
            <a:alphaModFix/>
          </a:blip>
          <a:srcRect xmlns:a="http://schemas.openxmlformats.org/drawingml/2006/main" l="0" t="0" r="0" b="0"/>
          <a:stretch xmlns:a="http://schemas.openxmlformats.org/drawingml/2006/main"/>
        </p:blipFill>
        <p:spPr>
          <a:xfrm xmlns:a="http://schemas.openxmlformats.org/drawingml/2006/main" rot="0" flipH="0" flipV="0">
            <a:off x="7138988" y="-481012"/>
            <a:ext cx="2004900" cy="2867100"/>
          </a:xfrm>
          <a:prstGeom xmlns:a="http://schemas.openxmlformats.org/drawingml/2006/main" prst="rect">
            <a:avLst/>
          </a:prstGeom>
          <a:ln xmlns:a="http://schemas.openxmlformats.org/drawingml/2006/main">
            <a:noFill/>
          </a:ln>
        </p:spPr>
      </p:pic>
      <p:pic>
        <p:nvPicPr>
          <p:cNvPr id="94" name="Google Shape;94;p6">
            <a:extLst xmlns:a="http://schemas.openxmlformats.org/drawingml/2006/main">
              <a:ext uri="{FF2B5EF4-FFF2-40B4-BE49-F238E27FC236}">
                <a16:creationId xmlns:a16="http://schemas.microsoft.com/office/drawing/2014/main" id="{2C2DC7A2-3E2D-4385-9EBE-86431F087CD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6759359e9974928">
            <a:alphaModFix/>
          </a:blip>
          <a:srcRect xmlns:a="http://schemas.openxmlformats.org/drawingml/2006/main" l="0" t="0" r="0" b="0"/>
          <a:stretch xmlns:a="http://schemas.openxmlformats.org/drawingml/2006/main"/>
        </p:blipFill>
        <p:spPr>
          <a:xfrm xmlns:a="http://schemas.openxmlformats.org/drawingml/2006/main" rot="0" flipH="0" flipV="0">
            <a:off x="6467475" y="-1152525"/>
            <a:ext cx="2676600" cy="4210200"/>
          </a:xfrm>
          <a:prstGeom xmlns:a="http://schemas.openxmlformats.org/drawingml/2006/main" prst="rect">
            <a:avLst/>
          </a:prstGeom>
          <a:ln xmlns:a="http://schemas.openxmlformats.org/drawingml/2006/main">
            <a:noFill/>
          </a:ln>
        </p:spPr>
      </p:pic>
      <p:sp>
        <p:nvSpPr>
          <p:cNvPr id="95" name="Google Shape;95;p6">
            <a:extLst xmlns:a="http://schemas.openxmlformats.org/drawingml/2006/main">
              <a:ext uri="{FF2B5EF4-FFF2-40B4-BE49-F238E27FC236}">
                <a16:creationId xmlns:a16="http://schemas.microsoft.com/office/drawing/2014/main" id="{38AC0D0B-9CCA-496F-9FEA-E8EA5895A371}"/>
              </a:ext>
            </a:extLst>
          </p:cNvPr>
          <p:cNvSpPr>
            <a:spLocks xmlns:a="http://schemas.openxmlformats.org/drawingml/2006/main" noGrp="1"/>
          </p:cNvSpPr>
          <p:nvPr/>
        </p:nvSpPr>
        <p:spPr>
          <a:xfrm xmlns:a="http://schemas.openxmlformats.org/drawingml/2006/main">
            <a:off x="609600" y="523875"/>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850" b="1">
                <a:solidFill>
                  <a:srgbClr val="0FA3B1"/>
                </a:solidFill>
                <a:latin typeface="Inter"/>
                <a:ea typeface="Inter"/>
                <a:cs typeface="Inter"/>
              </a:rPr>
              <a:t>TAGUIG CITY UNIVERSITY  COLLEGE OF INFORMATION AND COMPUTING TECHNOLOGY</a:t>
            </a:r>
            <a:endParaRPr sz="850" b="1">
              <a:solidFill>
                <a:srgbClr val="0FA3B1"/>
              </a:solidFill>
              <a:latin typeface="Inter"/>
              <a:ea typeface="Inter"/>
              <a:cs typeface="Inter"/>
            </a:endParaRPr>
          </a:p>
        </p:txBody>
      </p:sp>
      <p:sp>
        <p:nvSpPr>
          <p:cNvPr id="96" name="Google Shape;96;p6">
            <a:extLst xmlns:a="http://schemas.openxmlformats.org/drawingml/2006/main">
              <a:ext uri="{FF2B5EF4-FFF2-40B4-BE49-F238E27FC236}">
                <a16:creationId xmlns:a16="http://schemas.microsoft.com/office/drawing/2014/main" id="{8B083BBE-EA65-422A-BF66-1C0E964A3C8C}"/>
              </a:ext>
            </a:extLst>
          </p:cNvPr>
          <p:cNvSpPr>
            <a:spLocks xmlns:a="http://schemas.openxmlformats.org/drawingml/2006/main" noGrp="1"/>
          </p:cNvSpPr>
          <p:nvPr/>
        </p:nvSpPr>
        <p:spPr>
          <a:xfrm xmlns:a="http://schemas.openxmlformats.org/drawingml/2006/main">
            <a:off x="609600" y="1095375"/>
            <a:ext cx="7905900" cy="1428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800" b="0">
                <a:solidFill>
                  <a:srgbClr val="FFFFFF"/>
                </a:solidFill>
                <a:latin typeface="Inter ExtraBold"/>
                <a:ea typeface="Inter ExtraBold"/>
                <a:cs typeface="Inter ExtraBold"/>
              </a:rPr>
              <a:t>A Risk-Based Two-Factor Student</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Verification and Event Attendance</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Management System</a:t>
            </a:r>
            <a:endParaRPr sz="2800" b="0">
              <a:solidFill>
                <a:srgbClr val="FFFFFF"/>
              </a:solidFill>
              <a:latin typeface="Inter ExtraBold"/>
              <a:ea typeface="Inter ExtraBold"/>
              <a:cs typeface="Inter ExtraBold"/>
            </a:endParaRPr>
          </a:p>
        </p:txBody>
      </p:sp>
      <p:sp>
        <p:nvSpPr>
          <p:cNvPr id="97" name="Google Shape;97;p6">
            <a:extLst xmlns:a="http://schemas.openxmlformats.org/drawingml/2006/main">
              <a:ext uri="{FF2B5EF4-FFF2-40B4-BE49-F238E27FC236}">
                <a16:creationId xmlns:a16="http://schemas.microsoft.com/office/drawing/2014/main" id="{6E660AA3-5A6C-4202-A90F-A7DB676EEC5B}"/>
              </a:ext>
            </a:extLst>
          </p:cNvPr>
          <p:cNvSpPr>
            <a:spLocks xmlns:a="http://schemas.openxmlformats.org/drawingml/2006/main" noGrp="1"/>
          </p:cNvSpPr>
          <p:nvPr/>
        </p:nvSpPr>
        <p:spPr>
          <a:xfrm xmlns:a="http://schemas.openxmlformats.org/drawingml/2006/main">
            <a:off x="609600" y="2628900"/>
            <a:ext cx="7953375" cy="647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0FA3B1"/>
                </a:solidFill>
                <a:latin typeface="Inter"/>
                <a:ea typeface="Inter"/>
                <a:cs typeface="Inter"/>
              </a:defRPr>
            </a:defPPr>
          </a:lstStyle>
          <a:p xmlns:a="http://schemas.openxmlformats.org/drawingml/2006/main">
            <a:pPr marL="0" lvl="0" indent="0" algn="l">
              <a:spcBef>
                <a:spcPts val="0"/>
              </a:spcBef>
              <a:spcAft>
                <a:spcPts val="0"/>
              </a:spcAft>
              <a:buNone/>
              <a:defRPr sz="1350">
                <a:solidFill>
                  <a:srgbClr val="0FA3B1"/>
                </a:solidFill>
                <a:latin typeface="Inter"/>
                <a:ea typeface="Inter"/>
                <a:cs typeface="Inter"/>
              </a:defRPr>
            </a:pPr>
            <a:r>
              <a:rPr sz="1350" b="0">
                <a:solidFill>
                  <a:srgbClr val="0FA3B1"/>
                </a:solidFill>
                <a:latin typeface="Inter"/>
                <a:ea typeface="Inter"/>
                <a:cs typeface="Inter"/>
              </a:rPr>
              <a:t>Using Near Field Communication (NFC), Personal Identification Number (PIN) Authentication, and Quick Response (QR) Credential Validation</a:t>
            </a:r>
            <a:endParaRPr sz="1350" b="0">
              <a:solidFill>
                <a:srgbClr val="E2E8F0"/>
              </a:solidFill>
              <a:latin typeface="Inter"/>
              <a:ea typeface="Inter"/>
              <a:cs typeface="Inter"/>
            </a:endParaRPr>
          </a:p>
        </p:txBody>
      </p:sp>
      <p:cxnSp>
        <p:nvCxnSpPr>
          <p:cNvPr id="98" name="Google Shape;98;p6">
            <a:extLst xmlns:a="http://schemas.openxmlformats.org/drawingml/2006/main">
              <a:ext uri="{FF2B5EF4-FFF2-40B4-BE49-F238E27FC236}">
                <a16:creationId xmlns:a16="http://schemas.microsoft.com/office/drawing/2014/main" id="{D2D0D879-94B3-45DC-8468-F5FCAE6ED6B7}"/>
              </a:ext>
            </a:extLst>
          </p:cNvPr>
          <p:cNvCxnSpPr/>
          <p:nvPr/>
        </p:nvCxnSpPr>
        <p:spPr>
          <a:xfrm xmlns:a="http://schemas.openxmlformats.org/drawingml/2006/main">
            <a:off x="609600" y="3286125"/>
            <a:ext cx="1905000" cy="0"/>
          </a:xfrm>
          <a:prstGeom xmlns:a="http://schemas.openxmlformats.org/drawingml/2006/main" prst="straightConnector1">
            <a:avLst/>
          </a:prstGeom>
          <a:ln xmlns:a="http://schemas.openxmlformats.org/drawingml/2006/main" w="28575" cap="rnd">
            <a:solidFill>
              <a:srgbClr val="0FA3B1"/>
            </a:solidFill>
            <a:prstDash val="solid"/>
            <a:round/>
            <a:headEnd type="none" w="sm" len="sm"/>
            <a:tailEnd type="none" w="sm" len="sm"/>
          </a:ln>
        </p:spPr>
      </p:cxnSp>
      <p:sp>
        <p:nvSpPr>
          <p:cNvPr id="99" name="Google Shape;99;p6">
            <a:extLst xmlns:a="http://schemas.openxmlformats.org/drawingml/2006/main">
              <a:ext uri="{FF2B5EF4-FFF2-40B4-BE49-F238E27FC236}">
                <a16:creationId xmlns:a16="http://schemas.microsoft.com/office/drawing/2014/main" id="{D4F66605-5887-4D65-A379-3B8F6C934ACC}"/>
              </a:ext>
            </a:extLst>
          </p:cNvPr>
          <p:cNvSpPr>
            <a:spLocks xmlns:a="http://schemas.openxmlformats.org/drawingml/2006/main" noGrp="1"/>
          </p:cNvSpPr>
          <p:nvPr/>
        </p:nvSpPr>
        <p:spPr>
          <a:xfrm xmlns:a="http://schemas.openxmlformats.org/drawingml/2006/main">
            <a:off x="609600" y="3571875"/>
            <a:ext cx="7905900" cy="3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150" b="0">
                <a:solidFill>
                  <a:srgbClr val="FFFFFF"/>
                </a:solidFill>
                <a:latin typeface="Inter SemiBold"/>
                <a:ea typeface="Inter SemiBold"/>
                <a:cs typeface="Inter SemiBold"/>
              </a:rPr>
              <a:t>Justine G. Mendoza, Michael Daniel M. Milallos, Seanne Stiffel T. Sintay</a:t>
            </a:r>
            <a:endParaRPr sz="1150" b="0">
              <a:solidFill>
                <a:srgbClr val="FFFFFF"/>
              </a:solidFill>
              <a:latin typeface="Inter SemiBold"/>
              <a:ea typeface="Inter SemiBold"/>
              <a:cs typeface="Inter SemiBold"/>
            </a:endParaRPr>
          </a:p>
        </p:txBody>
      </p:sp>
      <p:sp>
        <p:nvSpPr>
          <p:cNvPr id="100" name="Google Shape;100;p6">
            <a:extLst xmlns:a="http://schemas.openxmlformats.org/drawingml/2006/main">
              <a:ext uri="{FF2B5EF4-FFF2-40B4-BE49-F238E27FC236}">
                <a16:creationId xmlns:a16="http://schemas.microsoft.com/office/drawing/2014/main" id="{CBF022B9-9377-4C35-AC19-DF51E39D63A7}"/>
              </a:ext>
            </a:extLst>
          </p:cNvPr>
          <p:cNvSpPr>
            <a:spLocks xmlns:a="http://schemas.openxmlformats.org/drawingml/2006/main" noGrp="1"/>
          </p:cNvSpPr>
          <p:nvPr/>
        </p:nvSpPr>
        <p:spPr>
          <a:xfrm xmlns:a="http://schemas.openxmlformats.org/drawingml/2006/main">
            <a:off x="609600" y="3924300"/>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950" b="0">
                <a:solidFill>
                  <a:srgbClr val="8FA0BE"/>
                </a:solidFill>
                <a:latin typeface="Inter"/>
                <a:ea typeface="Inter"/>
                <a:cs typeface="Inter"/>
              </a:rPr>
              <a:t>BS Computer Science   Adviser: Prof. Ferdinand Rubio</a:t>
            </a:r>
            <a:endParaRPr sz="950" b="0">
              <a:solidFill>
                <a:srgbClr val="8FA0BE"/>
              </a:solidFill>
              <a:latin typeface="Inter"/>
              <a:ea typeface="Inter"/>
              <a:cs typeface="Inter"/>
            </a:endParaRPr>
          </a:p>
        </p:txBody>
      </p:sp>
      <p:sp>
        <p:nvSpPr>
          <p:cNvPr id="101" name="Google Shape;101;p6">
            <a:extLst xmlns:a="http://schemas.openxmlformats.org/drawingml/2006/main">
              <a:ext uri="{FF2B5EF4-FFF2-40B4-BE49-F238E27FC236}">
                <a16:creationId xmlns:a16="http://schemas.microsoft.com/office/drawing/2014/main" id="{5AD33AB5-12DA-4C49-AAFD-3AEEE6B309BE}"/>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b="0" i="0" u="none" strike="noStrike" cap="none">
                <a:solidFill>
                  <a:srgbClr val="8FA0BE"/>
                </a:solidFill>
                <a:latin typeface="Calibri"/>
                <a:ea typeface="Calibri"/>
                <a:cs typeface="Calibri"/>
              </a:rPr>
              <a:t>01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6698876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0E0B3238-2092-451D-9583-D2F86B15031D}"/>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F3DE424F-C7D6-4A4D-B3A8-E1127AE6A629}"/>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Evidence</a:t>
            </a:r>
          </a:p>
        </p:txBody>
      </p:sp>
      <p:sp>
        <p:nvSpPr>
          <p:cNvPr id="3" name="02 / 24">
            <a:extLst xmlns:a="http://schemas.openxmlformats.org/drawingml/2006/main">
              <a:ext uri="{FF2B5EF4-FFF2-40B4-BE49-F238E27FC236}">
                <a16:creationId xmlns:a16="http://schemas.microsoft.com/office/drawing/2014/main" id="{4BE9FB4E-4305-4B17-9F85-54995F981919}"/>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32A5DECB-B6D1-49FF-BAB2-CAFABB3F8D87}"/>
              </a:ext>
            </a:extLst>
          </p:cNvPr>
          <p:cNvGraphicFramePr/>
          <p:nvPr/>
        </p:nvGraphicFramePr>
        <p:xfrm>
          <a:off xmlns:a="http://schemas.openxmlformats.org/drawingml/2006/main" x="304800" y="1285875"/>
          <a:ext xmlns:a="http://schemas.openxmlformats.org/drawingml/2006/main" cx="8524875" cy="2705100"/>
        </p:xfrm>
        <a:graphic xmlns:a="http://schemas.openxmlformats.org/drawingml/2006/main">
          <a:graphicData uri="http://schemas.openxmlformats.org/drawingml/2006/table">
            <a:tbl>
              <a:tblPr/>
              <a:tblGrid>
                <a:gridCol w="3095625"/>
                <a:gridCol w="5429250"/>
              </a:tblGrid>
              <a:tr h="541020">
                <a:tc>
                  <a:txBody>
                    <a:bodyPr lIns="0" tIns="0" rIns="0" bIns="0">
                      <a:noAutofit/>
                    </a:bodyPr>
                    <a:lstStyle/>
                    <a:p>
                      <a:pPr algn="l"/>
                      <a:r>
                        <a:rPr sz="1575"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75" b="1">
                          <a:solidFill>
                            <a:srgbClr val="0B7F8A"/>
                          </a:solidFill>
                          <a:latin typeface="Calibri"/>
                          <a:ea typeface="Calibri"/>
                          <a:cs typeface="Calibri"/>
                        </a:rPr>
                        <a:t>Action and Present Status</a:t>
                      </a:r>
                    </a:p>
                  </a:txBody>
                  <a:tcPr marL="85725" marR="85725" marT="28575" marB="28575" anchor="ctr">
                    <a:solidFill>
                      <a:srgbClr val="E2E8F0"/>
                    </a:solidFill>
                  </a:tcPr>
                </a:tc>
              </a:tr>
              <a:tr h="541020">
                <a:tc>
                  <a:txBody>
                    <a:bodyPr lIns="0" tIns="0" rIns="0" bIns="0">
                      <a:noAutofit/>
                    </a:bodyPr>
                    <a:lstStyle/>
                    <a:p>
                      <a:pPr algn="l"/>
                      <a:r>
                        <a:rPr sz="1575" b="0">
                          <a:solidFill>
                            <a:srgbClr val="334155"/>
                          </a:solidFill>
                          <a:latin typeface="Calibri"/>
                          <a:ea typeface="Calibri"/>
                          <a:cs typeface="Calibri"/>
                        </a:rPr>
                        <a:t>01-02  Checklist and Chapter 4 visuals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Complete checklist, corrected results, item tables, and comparison figures.</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03  Raw survey and comparison records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Student workbook and exports available. Full anonymized records still need a traceable evidence package.</a:t>
                      </a:r>
                    </a:p>
                  </a:txBody>
                  <a:tcPr marL="85725" marR="85725" marT="28575" marB="28575" anchor="ctr">
                    <a:solidFill>
                      <a:srgbClr val="F8FAFC"/>
                    </a:solidFill>
                  </a:tcPr>
                </a:tc>
              </a:tr>
              <a:tr h="541020">
                <a:tc>
                  <a:txBody>
                    <a:bodyPr lIns="0" tIns="0" rIns="0" bIns="0">
                      <a:noAutofit/>
                    </a:bodyPr>
                    <a:lstStyle/>
                    <a:p>
                      <a:pPr algn="l"/>
                      <a:r>
                        <a:rPr sz="1575" b="0">
                          <a:solidFill>
                            <a:srgbClr val="334155"/>
                          </a:solidFill>
                          <a:latin typeface="Calibri"/>
                          <a:ea typeface="Calibri"/>
                          <a:cs typeface="Calibri"/>
                        </a:rPr>
                        <a:t>04  Evidence for tests and surveys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16 listed test cases and appendix photographs. Evidence does not cover every current feature.</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05  Interfaces in appendices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Appendix D includes selected interfaces. Current timestamp and maintenance screenshots remain to be added.</a:t>
                      </a:r>
                    </a:p>
                  </a:txBody>
                  <a:tcPr marL="85725" marR="85725" marT="28575" marB="28575" anchor="ctr">
                    <a:solidFill>
                      <a:srgbClr val="F8FAFC"/>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D999C607-191D-4CEF-8C32-5A8B5A02E76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5208342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F1BEFBAA-B53A-4557-8B72-3997CEA806DB}"/>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3BD51F06-1DB6-4F6B-8B55-814150E0A7D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Comparison</a:t>
            </a:r>
          </a:p>
        </p:txBody>
      </p:sp>
      <p:sp>
        <p:nvSpPr>
          <p:cNvPr id="3" name="03 / 24">
            <a:extLst xmlns:a="http://schemas.openxmlformats.org/drawingml/2006/main">
              <a:ext uri="{FF2B5EF4-FFF2-40B4-BE49-F238E27FC236}">
                <a16:creationId xmlns:a16="http://schemas.microsoft.com/office/drawing/2014/main" id="{FE9DE064-41D1-4813-9225-858B1F29BE48}"/>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1F36C70E-F8A9-44B3-8A64-252E4FFBBF9D}"/>
              </a:ext>
            </a:extLst>
          </p:cNvPr>
          <p:cNvGraphicFramePr/>
          <p:nvPr/>
        </p:nvGraphicFramePr>
        <p:xfrm>
          <a:off xmlns:a="http://schemas.openxmlformats.org/drawingml/2006/main" x="304800" y="1219200"/>
          <a:ext xmlns:a="http://schemas.openxmlformats.org/drawingml/2006/main" cx="8524875" cy="2952750"/>
        </p:xfrm>
        <a:graphic xmlns:a="http://schemas.openxmlformats.org/drawingml/2006/main">
          <a:graphicData uri="http://schemas.openxmlformats.org/drawingml/2006/table">
            <a:tbl>
              <a:tblPr/>
              <a:tblGrid>
                <a:gridCol w="3095625"/>
                <a:gridCol w="5429250"/>
              </a:tblGrid>
              <a:tr h="4921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Action and Present Status</a:t>
                      </a:r>
                    </a:p>
                  </a:txBody>
                  <a:tcPr marL="85725" marR="85725" marT="28575" marB="28575" anchor="ctr">
                    <a:solidFill>
                      <a:srgbClr val="E2E8F0"/>
                    </a:solidFill>
                  </a:tcPr>
                </a:tc>
              </a:tr>
              <a:tr h="492125">
                <a:tc>
                  <a:txBody>
                    <a:bodyPr lIns="0" tIns="0" rIns="0" bIns="0">
                      <a:noAutofit/>
                    </a:bodyPr>
                    <a:lstStyle/>
                    <a:p>
                      <a:pPr algn="l"/>
                      <a:r>
                        <a:rPr sz="1500" b="0">
                          <a:solidFill>
                            <a:srgbClr val="334155"/>
                          </a:solidFill>
                          <a:latin typeface="Calibri"/>
                          <a:ea typeface="Calibri"/>
                          <a:cs typeface="Calibri"/>
                        </a:rPr>
                        <a:t>06-07  Manual baseline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Manual questionnaire, 70 writing observations, and 70 manual survey responses included.</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08  Student participant counts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 manual students and 70 different system students. System survey also includes two groups of five.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09-10  Same students and survey sequence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Not fulfilled as specified. Different groups require an independent-samples analysis.</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16  Use case diagram</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Diagram included. Conditional PIN use still needs alignment with NFC-only Fast mode.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17  T-test of manual and system means</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Welch test compares overall survey scores. Equivalent complete-task times were unavailable.</a:t>
                      </a:r>
                    </a:p>
                  </a:txBody>
                  <a:tcPr marL="85725" marR="85725" marT="28575" marB="28575" anchor="ctr">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B6540473-E4F1-451F-A868-13906B690266}"/>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8664819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CE0402E3-2B35-4119-AD9D-9675F1FD7B5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2700FCCE-9EE4-48AD-878B-F79236B7F5BB}"/>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the System</a:t>
            </a:r>
          </a:p>
        </p:txBody>
      </p:sp>
      <p:sp>
        <p:nvSpPr>
          <p:cNvPr id="3" name="04 / 24">
            <a:extLst xmlns:a="http://schemas.openxmlformats.org/drawingml/2006/main">
              <a:ext uri="{FF2B5EF4-FFF2-40B4-BE49-F238E27FC236}">
                <a16:creationId xmlns:a16="http://schemas.microsoft.com/office/drawing/2014/main" id="{6FE78854-39CD-4DCB-AAFC-4B9ACF227FC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49C3B760-9875-4030-BBC5-92A64B506CB6}"/>
              </a:ext>
            </a:extLst>
          </p:cNvPr>
          <p:cNvGraphicFramePr/>
          <p:nvPr/>
        </p:nvGraphicFramePr>
        <p:xfrm>
          <a:off xmlns:a="http://schemas.openxmlformats.org/drawingml/2006/main" x="304800" y="1219200"/>
          <a:ext xmlns:a="http://schemas.openxmlformats.org/drawingml/2006/main" cx="8524875" cy="2876550"/>
        </p:xfrm>
        <a:graphic xmlns:a="http://schemas.openxmlformats.org/drawingml/2006/main">
          <a:graphicData uri="http://schemas.openxmlformats.org/drawingml/2006/table">
            <a:tbl>
              <a:tblPr/>
              <a:tblGrid>
                <a:gridCol w="2857500"/>
                <a:gridCol w="5667375"/>
              </a:tblGrid>
              <a:tr h="4794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Current Implementation and Qualification</a:t>
                      </a:r>
                    </a:p>
                  </a:txBody>
                  <a:tcPr marL="85725" marR="85725" marT="28575" marB="28575" anchor="ctr">
                    <a:solidFill>
                      <a:srgbClr val="E2E8F0"/>
                    </a:solidFill>
                  </a:tcPr>
                </a:tc>
              </a:tr>
              <a:tr h="479425">
                <a:tc>
                  <a:txBody>
                    <a:bodyPr lIns="0" tIns="0" rIns="0" bIns="0">
                      <a:noAutofit/>
                    </a:bodyPr>
                    <a:lstStyle/>
                    <a:p>
                      <a:pPr algn="l"/>
                      <a:r>
                        <a:rPr sz="1500" b="0">
                          <a:solidFill>
                            <a:srgbClr val="334155"/>
                          </a:solidFill>
                          <a:latin typeface="Calibri"/>
                          <a:ea typeface="Calibri"/>
                          <a:cs typeface="Calibri"/>
                        </a:rPr>
                        <a:t>11  Personnel login timestamp</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Login audit timestamp recorded. A dedicated visible login-time field remains unverified.</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12  Student timestamps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Kiosk code displays scan time and applicable IN/OUT values.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13  Retain student result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10-second result display. Persistent last-log display still needs confirmation.</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14  Administrator purge</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Authorized active cleanup removes eligible cloud-backed local logs.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15  Data destruction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Partial: local cleanup retains cloud history. Full disposal remains unverified.</a:t>
                      </a:r>
                    </a:p>
                  </a:txBody>
                  <a:tcPr marL="85725" marR="85725" marT="28575" marB="28575" anchor="ctr">
                    <a:solidFill>
                      <a:srgbClr val="FFFFFF"/>
                    </a:solidFill>
                  </a:tcPr>
                </a:tc>
              </a:tr>
            </a:tbl>
          </a:graphicData>
        </a:graphic>
      </p:graphicFrame>
      <p:sp>
        <p:nvSpPr>
          <p:cNvPr id="5" name="Photo 18: full title terms added. Implementat">
            <a:extLst xmlns:a="http://schemas.openxmlformats.org/drawingml/2006/main">
              <a:ext uri="{FF2B5EF4-FFF2-40B4-BE49-F238E27FC236}">
                <a16:creationId xmlns:a16="http://schemas.microsoft.com/office/drawing/2014/main" id="{6FC62A6C-F3DC-4D58-A443-1476E29EA83B}"/>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Photo 18: full title terms added. Implementation status still needs dated UI evidence.</a:t>
            </a:r>
          </a:p>
        </p:txBody>
      </p:sp>
    </p:spTree>
    <p:extLst>
      <p:ext uri="{BB962C8B-B14F-4D97-AF65-F5344CB8AC3E}">
        <p14:creationId xmlns:p14="http://schemas.microsoft.com/office/powerpoint/2010/main" val="14900810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21684152-0E49-4F46-B288-653B0E05718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46425ED7-3433-4B07-A3C2-8CA7C0D1B429}"/>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Problem and Research Objectives</a:t>
            </a:r>
          </a:p>
        </p:txBody>
      </p:sp>
      <p:sp>
        <p:nvSpPr>
          <p:cNvPr id="3" name="05 / 24">
            <a:extLst xmlns:a="http://schemas.openxmlformats.org/drawingml/2006/main">
              <a:ext uri="{FF2B5EF4-FFF2-40B4-BE49-F238E27FC236}">
                <a16:creationId xmlns:a16="http://schemas.microsoft.com/office/drawing/2014/main" id="{9D2FEA49-3EF3-4DBD-BC9E-9B75E4A205F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1E586142-AAA9-46FE-AF19-F7CD727B8336}"/>
              </a:ext>
            </a:extLst>
          </p:cNvPr>
          <p:cNvSpPr>
            <a:spLocks xmlns:a="http://schemas.openxmlformats.org/drawingml/2006/main" noGrp="1"/>
          </p:cNvSpPr>
          <p:nvPr/>
        </p:nvSpPr>
        <p:spPr>
          <a:xfrm xmlns:a="http://schemas.openxmlformats.org/drawingml/2006/main">
            <a:off x="36195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E3CB5AFC-EC05-4FA3-93A1-E6C0ECF5EF42}"/>
              </a:ext>
            </a:extLst>
          </p:cNvPr>
          <p:cNvSpPr>
            <a:spLocks xmlns:a="http://schemas.openxmlformats.org/drawingml/2006/main" noGrp="1"/>
          </p:cNvSpPr>
          <p:nvPr/>
        </p:nvSpPr>
        <p:spPr>
          <a:xfrm xmlns:a="http://schemas.openxmlformats.org/drawingml/2006/main">
            <a:off x="36195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8B6D9CD3-FAF4-4748-891C-E10A53467319}"/>
              </a:ext>
            </a:extLst>
          </p:cNvPr>
          <p:cNvSpPr>
            <a:spLocks xmlns:a="http://schemas.openxmlformats.org/drawingml/2006/main" noGrp="1"/>
          </p:cNvSpPr>
          <p:nvPr/>
        </p:nvSpPr>
        <p:spPr>
          <a:xfrm xmlns:a="http://schemas.openxmlformats.org/drawingml/2006/main">
            <a:off x="36195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3EE6C707-D877-46E0-8846-B8D99DCAFA2C}"/>
              </a:ext>
            </a:extLst>
          </p:cNvPr>
          <p:cNvSpPr>
            <a:spLocks xmlns:a="http://schemas.openxmlformats.org/drawingml/2006/main" noGrp="1"/>
          </p:cNvSpPr>
          <p:nvPr/>
        </p:nvSpPr>
        <p:spPr>
          <a:xfrm xmlns:a="http://schemas.openxmlformats.org/drawingml/2006/main">
            <a:off x="36195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3476B3C4-4A3A-4C13-9333-5BB6FB8A888A}"/>
              </a:ext>
            </a:extLst>
          </p:cNvPr>
          <p:cNvSpPr>
            <a:spLocks xmlns:a="http://schemas.openxmlformats.org/drawingml/2006/main" noGrp="1"/>
          </p:cNvSpPr>
          <p:nvPr/>
        </p:nvSpPr>
        <p:spPr>
          <a:xfrm xmlns:a="http://schemas.openxmlformats.org/drawingml/2006/main">
            <a:off x="36195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E64A513A-1909-49CA-BEB0-566B67AD88BE}"/>
              </a:ext>
            </a:extLst>
          </p:cNvPr>
          <p:cNvSpPr>
            <a:spLocks xmlns:a="http://schemas.openxmlformats.org/drawingml/2006/main" noGrp="1"/>
          </p:cNvSpPr>
          <p:nvPr/>
        </p:nvSpPr>
        <p:spPr>
          <a:xfrm xmlns:a="http://schemas.openxmlformats.org/drawingml/2006/main">
            <a:off x="36195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8560186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A164AD8D-8ACD-437A-B3EC-81F42DD536D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AEFAA626-DD51-4C3D-B629-8FEE72358FFF}"/>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Scope and Configured Verification Modes</a:t>
            </a:r>
          </a:p>
        </p:txBody>
      </p:sp>
      <p:sp>
        <p:nvSpPr>
          <p:cNvPr id="3" name="06 / 24">
            <a:extLst xmlns:a="http://schemas.openxmlformats.org/drawingml/2006/main">
              <a:ext uri="{FF2B5EF4-FFF2-40B4-BE49-F238E27FC236}">
                <a16:creationId xmlns:a16="http://schemas.microsoft.com/office/drawing/2014/main" id="{254DF664-BB7A-47D3-902D-B74025D6E23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95E19168-FCB4-4C3E-8997-707BC68CFA58}"/>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Required Credentials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Selection</a:t>
                      </a:r>
                    </a:p>
                  </a:txBody>
                  <a:tcPr marL="85725" marR="85725" marT="28575" marB="28575" anchor="ctr">
                    <a:solidFill>
                      <a:srgbClr val="E2E8F0"/>
                    </a:solidFill>
                  </a:tcPr>
                </a:tc>
              </a:tr>
              <a:tr h="461963">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only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r h="461963">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NFC and PIN</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8FAFC"/>
                    </a:solidFill>
                  </a:tcPr>
                </a:tc>
              </a:tr>
              <a:tr h="461963">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PIN, and QR validation</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3A3B1DC8-E449-4186-9530-DDECCD89C8E7}"/>
              </a:ext>
            </a:extLst>
          </p:cNvPr>
          <p:cNvSpPr>
            <a:spLocks xmlns:a="http://schemas.openxmlformats.org/drawingml/2006/main" noGrp="1"/>
          </p:cNvSpPr>
          <p:nvPr/>
        </p:nvSpPr>
        <p:spPr>
          <a:xfrm xmlns:a="http://schemas.openxmlformats.org/drawingml/2006/main">
            <a:off x="361950" y="33909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C873351E-C92F-45C7-AF35-76DED91C3CB1}"/>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4538241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38CD899E-5E79-4FBA-9AFB-D29CECC83E55}"/>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30FAE301-F9DB-4416-AED1-F07A7699A74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Research Design and Respondents</a:t>
            </a:r>
          </a:p>
        </p:txBody>
      </p:sp>
      <p:sp>
        <p:nvSpPr>
          <p:cNvPr id="3" name="07 / 24">
            <a:extLst xmlns:a="http://schemas.openxmlformats.org/drawingml/2006/main">
              <a:ext uri="{FF2B5EF4-FFF2-40B4-BE49-F238E27FC236}">
                <a16:creationId xmlns:a16="http://schemas.microsoft.com/office/drawing/2014/main" id="{182A0E1D-B9DC-4E10-8D7B-0E768010F35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8DD7D463-A361-4B7C-88AC-B0D1732BAE05}"/>
              </a:ext>
            </a:extLst>
          </p:cNvPr>
          <p:cNvSpPr>
            <a:spLocks xmlns:a="http://schemas.openxmlformats.org/drawingml/2006/main" noGrp="1"/>
          </p:cNvSpPr>
          <p:nvPr/>
        </p:nvSpPr>
        <p:spPr>
          <a:xfrm xmlns:a="http://schemas.openxmlformats.org/drawingml/2006/main">
            <a:off x="36195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C4B5F462-3AB9-4F06-990F-3AAB4F1C2F70}"/>
              </a:ext>
            </a:extLst>
          </p:cNvPr>
          <p:cNvSpPr>
            <a:spLocks xmlns:a="http://schemas.openxmlformats.org/drawingml/2006/main" noGrp="1"/>
          </p:cNvSpPr>
          <p:nvPr/>
        </p:nvSpPr>
        <p:spPr>
          <a:xfrm xmlns:a="http://schemas.openxmlformats.org/drawingml/2006/main">
            <a:off x="36195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01E9BE2E-B82B-452F-B710-A7EEAE4E8DF7}"/>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0" tIns="0" rIns="0" bIns="0">
                      <a:noAutofit/>
                    </a:bodyPr>
                    <a:lstStyle/>
                    <a:p>
                      <a:pPr algn="l"/>
                      <a:r>
                        <a:rPr sz="1500" b="1">
                          <a:solidFill>
                            <a:srgbClr val="0B7F8A"/>
                          </a:solidFill>
                          <a:latin typeface="Calibri"/>
                          <a:ea typeface="Calibri"/>
                          <a:cs typeface="Calibri"/>
                        </a:rPr>
                        <a:t>Survey Group</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Evaluation</a:t>
                      </a:r>
                    </a:p>
                  </a:txBody>
                  <a:tcPr marL="85725" marR="85725" marT="28575" marB="28575" anchor="ctr">
                    <a:solidFill>
                      <a:srgbClr val="E2E8F0"/>
                    </a:solidFill>
                  </a:tcPr>
                </a:tc>
              </a:tr>
              <a:tr h="348615">
                <a:tc>
                  <a:txBody>
                    <a:bodyPr lIns="0" tIns="0" rIns="0" bIns="0">
                      <a:noAutofit/>
                    </a:bodyPr>
                    <a:lstStyle/>
                    <a:p>
                      <a:pPr algn="l"/>
                      <a:r>
                        <a:rPr sz="1500" b="0">
                          <a:solidFill>
                            <a:srgbClr val="334155"/>
                          </a:solidFill>
                          <a:latin typeface="Calibri"/>
                          <a:ea typeface="Calibri"/>
                          <a:cs typeface="Calibri"/>
                        </a:rPr>
                        <a:t>Students, proposed system</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common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Students, manual process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8FAFC"/>
                    </a:solidFill>
                  </a:tcPr>
                </a:tc>
              </a:tr>
              <a:tr h="348615">
                <a:tc>
                  <a:txBody>
                    <a:bodyPr lIns="0" tIns="0" rIns="0" bIns="0">
                      <a:noAutofit/>
                    </a:bodyPr>
                    <a:lstStyle/>
                    <a:p>
                      <a:pPr algn="l"/>
                      <a:r>
                        <a:rPr sz="1500" b="0">
                          <a:solidFill>
                            <a:srgbClr val="334155"/>
                          </a:solidFill>
                          <a:latin typeface="Calibri"/>
                          <a:ea typeface="Calibri"/>
                          <a:cs typeface="Calibri"/>
                        </a:rPr>
                        <a:t>Security personnel</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Faculty, organizer, administrators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Eight quality categories</a:t>
                      </a:r>
                    </a:p>
                  </a:txBody>
                  <a:tcPr marL="85725" marR="85725" marT="28575" marB="28575" anchor="ctr">
                    <a:solidFill>
                      <a:srgbClr val="F8FAFC"/>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6A5D1F09-032F-4931-ABF3-9024DD6BB1DA}"/>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2326681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99985C8B-40A8-40CE-8FC2-99D75C357B05}"/>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208F6D92-C337-4631-8CE1-57593F3EAAD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Controlled Observation Procedure</a:t>
            </a:r>
          </a:p>
        </p:txBody>
      </p:sp>
      <p:sp>
        <p:nvSpPr>
          <p:cNvPr id="3" name="08 / 24">
            <a:extLst xmlns:a="http://schemas.openxmlformats.org/drawingml/2006/main">
              <a:ext uri="{FF2B5EF4-FFF2-40B4-BE49-F238E27FC236}">
                <a16:creationId xmlns:a16="http://schemas.microsoft.com/office/drawing/2014/main" id="{B80E9C18-15F7-4872-8B50-2FC264CBC9A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29ED7207-69EB-43DE-869E-F27B43C5CAE2}"/>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0" tIns="0" rIns="0" bIns="0">
                      <a:noAutofit/>
                    </a:bodyPr>
                    <a:lstStyle/>
                    <a:p>
                      <a:pPr algn="l"/>
                      <a:r>
                        <a:rPr sz="1725" b="1">
                          <a:solidFill>
                            <a:srgbClr val="0B7F8A"/>
                          </a:solidFill>
                          <a:latin typeface="Calibri"/>
                          <a:ea typeface="Calibri"/>
                          <a:cs typeface="Calibri"/>
                        </a:rPr>
                        <a:t>Session</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Participants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Entry Rounds per Mode</a:t>
                      </a:r>
                    </a:p>
                  </a:txBody>
                  <a:tcPr marL="85725" marR="85725" marT="28575" marB="28575" anchor="ctr">
                    <a:solidFill>
                      <a:srgbClr val="E2E8F0"/>
                    </a:solidFill>
                  </a:tcPr>
                </a:tc>
              </a:tr>
              <a:tr h="476250">
                <a:tc>
                  <a:txBody>
                    <a:bodyPr lIns="0" tIns="0" rIns="0" bIns="0">
                      <a:noAutofit/>
                    </a:bodyPr>
                    <a:lstStyle/>
                    <a:p>
                      <a:pPr algn="l"/>
                      <a:r>
                        <a:rPr sz="1725" b="0">
                          <a:solidFill>
                            <a:srgbClr val="334155"/>
                          </a:solidFill>
                          <a:latin typeface="Calibri"/>
                          <a:ea typeface="Calibri"/>
                          <a:cs typeface="Calibri"/>
                        </a:rPr>
                        <a:t>August 12, 2026</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40</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20 entries, reset exits, then 20 entries</a:t>
                      </a:r>
                    </a:p>
                  </a:txBody>
                  <a:tcPr marL="85725" marR="85725" marT="28575" marB="28575" anchor="ctr">
                    <a:solidFill>
                      <a:srgbClr val="FFFFFF"/>
                    </a:solidFill>
                  </a:tcPr>
                </a:tc>
              </a:tr>
              <a:tr h="476250">
                <a:tc>
                  <a:txBody>
                    <a:bodyPr lIns="0" tIns="0" rIns="0" bIns="0">
                      <a:noAutofit/>
                    </a:bodyPr>
                    <a:lstStyle/>
                    <a:p>
                      <a:pPr algn="l"/>
                      <a:r>
                        <a:rPr sz="1725" b="0">
                          <a:solidFill>
                            <a:srgbClr val="334155"/>
                          </a:solidFill>
                          <a:latin typeface="Calibri"/>
                          <a:ea typeface="Calibri"/>
                          <a:cs typeface="Calibri"/>
                        </a:rPr>
                        <a:t>August 13, 2026</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30</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20 entries, reset exits, then 10 entries</a:t>
                      </a:r>
                    </a:p>
                  </a:txBody>
                  <a:tcPr marL="85725" marR="85725" marT="28575" marB="28575" anchor="ctr">
                    <a:solidFill>
                      <a:srgbClr val="F8FAFC"/>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2B39C273-B109-4742-BE01-EF3B3417D52A}"/>
              </a:ext>
            </a:extLst>
          </p:cNvPr>
          <p:cNvSpPr>
            <a:spLocks xmlns:a="http://schemas.openxmlformats.org/drawingml/2006/main" noGrp="1"/>
          </p:cNvSpPr>
          <p:nvPr/>
        </p:nvSpPr>
        <p:spPr>
          <a:xfrm xmlns:a="http://schemas.openxmlformats.org/drawingml/2006/main">
            <a:off x="361950" y="29337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CBB26B48-B2C5-4FEC-9EA5-F518A217A10A}"/>
              </a:ext>
            </a:extLst>
          </p:cNvPr>
          <p:cNvSpPr>
            <a:spLocks xmlns:a="http://schemas.openxmlformats.org/drawingml/2006/main" noGrp="1"/>
          </p:cNvSpPr>
          <p:nvPr/>
        </p:nvSpPr>
        <p:spPr>
          <a:xfrm xmlns:a="http://schemas.openxmlformats.org/drawingml/2006/main">
            <a:off x="361950" y="32289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F6F8D242-299E-4E80-907B-EAD03DBE595B}"/>
              </a:ext>
            </a:extLst>
          </p:cNvPr>
          <p:cNvSpPr>
            <a:spLocks xmlns:a="http://schemas.openxmlformats.org/drawingml/2006/main" noGrp="1"/>
          </p:cNvSpPr>
          <p:nvPr/>
        </p:nvSpPr>
        <p:spPr>
          <a:xfrm xmlns:a="http://schemas.openxmlformats.org/drawingml/2006/main">
            <a:off x="361950" y="3733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410BFFE8-1F13-4B6F-8606-24DFB81AC2F5}"/>
              </a:ext>
            </a:extLst>
          </p:cNvPr>
          <p:cNvSpPr>
            <a:spLocks xmlns:a="http://schemas.openxmlformats.org/drawingml/2006/main" noGrp="1"/>
          </p:cNvSpPr>
          <p:nvPr/>
        </p:nvSpPr>
        <p:spPr>
          <a:xfrm xmlns:a="http://schemas.openxmlformats.org/drawingml/2006/main">
            <a:off x="361950" y="40290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14165043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06558986-31C9-4ACC-9F0C-18E7F1FF3DC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8BD3D9DB-6781-4C92-A80D-74F9F5F31D64}"/>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System Architecture and Evaluation Scope</a:t>
            </a:r>
          </a:p>
        </p:txBody>
      </p:sp>
      <p:sp>
        <p:nvSpPr>
          <p:cNvPr id="3" name="09 / 24">
            <a:extLst xmlns:a="http://schemas.openxmlformats.org/drawingml/2006/main">
              <a:ext uri="{FF2B5EF4-FFF2-40B4-BE49-F238E27FC236}">
                <a16:creationId xmlns:a16="http://schemas.microsoft.com/office/drawing/2014/main" id="{D805EB68-0933-4CD1-9339-91CA0C1A8B4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98A45EAE-420C-44E9-9C86-BA6379DA5F20}"/>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0" tIns="0" rIns="0" bIns="0">
                      <a:noAutofit/>
                    </a:bodyPr>
                    <a:lstStyle/>
                    <a:p>
                      <a:pPr algn="l"/>
                      <a:r>
                        <a:rPr sz="1650" b="1">
                          <a:solidFill>
                            <a:srgbClr val="0B7F8A"/>
                          </a:solidFill>
                          <a:latin typeface="Calibri"/>
                          <a:ea typeface="Calibri"/>
                          <a:cs typeface="Calibri"/>
                        </a:rPr>
                        <a:t>Layer</a:t>
                      </a:r>
                    </a:p>
                  </a:txBody>
                  <a:tcPr marL="85725" marR="85725" marT="28575" marB="28575" anchor="ctr">
                    <a:solidFill>
                      <a:srgbClr val="E2E8F0"/>
                    </a:solidFill>
                  </a:tcPr>
                </a:tc>
                <a:tc>
                  <a:txBody>
                    <a:bodyPr lIns="0" tIns="0" rIns="0" bIns="0">
                      <a:noAutofit/>
                    </a:bodyPr>
                    <a:lstStyle/>
                    <a:p>
                      <a:pPr algn="l"/>
                      <a:r>
                        <a:rPr sz="1650" b="1">
                          <a:solidFill>
                            <a:srgbClr val="0B7F8A"/>
                          </a:solidFill>
                          <a:latin typeface="Calibri"/>
                          <a:ea typeface="Calibri"/>
                          <a:cs typeface="Calibri"/>
                        </a:rPr>
                        <a:t>Role</a:t>
                      </a:r>
                    </a:p>
                  </a:txBody>
                  <a:tcPr marL="85725" marR="85725" marT="28575" marB="28575" anchor="ctr">
                    <a:solidFill>
                      <a:srgbClr val="E2E8F0"/>
                    </a:solidFill>
                  </a:tcPr>
                </a:tc>
              </a:tr>
              <a:tr h="428625">
                <a:tc>
                  <a:txBody>
                    <a:bodyPr lIns="0" tIns="0" rIns="0" bIns="0">
                      <a:noAutofit/>
                    </a:bodyPr>
                    <a:lstStyle/>
                    <a:p>
                      <a:pPr algn="l"/>
                      <a:r>
                        <a:rPr sz="1650" b="0">
                          <a:solidFill>
                            <a:srgbClr val="334155"/>
                          </a:solidFill>
                          <a:latin typeface="Calibri"/>
                          <a:ea typeface="Calibri"/>
                          <a:cs typeface="Calibri"/>
                        </a:rPr>
                        <a:t>ESP32 and PN532</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Read NFC UID and forward it through USB serial.</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WinUI 3 application</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Validate credentials, apply rules, and timestamp records.</a:t>
                      </a:r>
                    </a:p>
                  </a:txBody>
                  <a:tcPr marL="85725" marR="85725" marT="28575" marB="28575" anchor="ctr">
                    <a:solidFill>
                      <a:srgbClr val="F8FAFC"/>
                    </a:solidFill>
                  </a:tcPr>
                </a:tc>
              </a:tr>
              <a:tr h="428625">
                <a:tc>
                  <a:txBody>
                    <a:bodyPr lIns="0" tIns="0" rIns="0" bIns="0">
                      <a:noAutofit/>
                    </a:bodyPr>
                    <a:lstStyle/>
                    <a:p>
                      <a:pPr algn="l"/>
                      <a:r>
                        <a:rPr sz="1650" b="0">
                          <a:solidFill>
                            <a:srgbClr val="334155"/>
                          </a:solidFill>
                          <a:latin typeface="Calibri"/>
                          <a:ea typeface="Calibri"/>
                          <a:cs typeface="Calibri"/>
                        </a:rPr>
                        <a:t>Local MySQL</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Store student, event, attendance, and security records.</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Firebase Firestore</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Support cloud synchronization and backup.</a:t>
                      </a:r>
                    </a:p>
                  </a:txBody>
                  <a:tcPr marL="85725" marR="85725" marT="28575" marB="28575" anchor="ctr">
                    <a:solidFill>
                      <a:srgbClr val="F8FAFC"/>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1156AC33-CA4B-4D2B-87CF-097D66C910F2}"/>
              </a:ext>
            </a:extLst>
          </p:cNvPr>
          <p:cNvSpPr>
            <a:spLocks xmlns:a="http://schemas.openxmlformats.org/drawingml/2006/main" noGrp="1"/>
          </p:cNvSpPr>
          <p:nvPr/>
        </p:nvSpPr>
        <p:spPr>
          <a:xfrm xmlns:a="http://schemas.openxmlformats.org/drawingml/2006/main">
            <a:off x="36195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40974875-8588-4C09-9725-FFC65348D2A1}"/>
              </a:ext>
            </a:extLst>
          </p:cNvPr>
          <p:cNvSpPr>
            <a:spLocks xmlns:a="http://schemas.openxmlformats.org/drawingml/2006/main" noGrp="1"/>
          </p:cNvSpPr>
          <p:nvPr/>
        </p:nvSpPr>
        <p:spPr>
          <a:xfrm xmlns:a="http://schemas.openxmlformats.org/drawingml/2006/main">
            <a:off x="36195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67117472"/>
      </p:ext>
    </p:extLst>
  </p:cSld>
</p:sld>
</file>

<file path=ppt/slides/slide10.xml><?xml version="1.0" encoding="utf-8"?>
<p:sld xmlns:p="http://schemas.openxmlformats.org/presentationml/2006/main" show="1">
  <p:cSld>
    <p:spTree>
      <p:nvGrpSpPr>
        <p:cNvPr id="1" name=""/>
        <p:cNvGrpSpPr/>
        <p:nvPr/>
      </p:nvGrpSpPr>
      <p:grpSpPr>
        <a:xfrm xmlns:a="http://schemas.openxmlformats.org/drawingml/2006/main"/>
      </p:grpSpPr>
      <p:sp>
        <p:nvSpPr>
          <p:cNvPr id="295" name="Google Shape;295;p13">
            <a:extLst xmlns:a="http://schemas.openxmlformats.org/drawingml/2006/main">
              <a:ext uri="{FF2B5EF4-FFF2-40B4-BE49-F238E27FC236}">
                <a16:creationId xmlns:a16="http://schemas.microsoft.com/office/drawing/2014/main" id="{916DDA44-4B0D-4E5F-826C-172FF9892808}"/>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4F7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6" name="Google Shape;296;p13">
            <a:extLst xmlns:a="http://schemas.openxmlformats.org/drawingml/2006/main">
              <a:ext uri="{FF2B5EF4-FFF2-40B4-BE49-F238E27FC236}">
                <a16:creationId xmlns:a16="http://schemas.microsoft.com/office/drawing/2014/main" id="{0B7E6323-923F-4B8D-9F01-EEDA595446EE}"/>
              </a:ext>
            </a:extLst>
          </p:cNvPr>
          <p:cNvSpPr>
            <a:spLocks xmlns:a="http://schemas.openxmlformats.org/drawingml/2006/main" noGrp="1"/>
          </p:cNvSpPr>
          <p:nvPr/>
        </p:nvSpPr>
        <p:spPr>
          <a:xfrm xmlns:a="http://schemas.openxmlformats.org/drawingml/2006/main">
            <a:off x="447675" y="285750"/>
            <a:ext cx="342900" cy="342900"/>
          </a:xfrm>
          <a:prstGeom xmlns:a="http://schemas.openxmlformats.org/drawingml/2006/main" prst="ellipse">
            <a:avLst/>
          </a:prstGeom>
          <a:solidFill xmlns:a="http://schemas.openxmlformats.org/drawingml/2006/main">
            <a:srgbClr val="E8EDF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97" name="Google Shape;297;p13">
            <a:extLst xmlns:a="http://schemas.openxmlformats.org/drawingml/2006/main">
              <a:ext uri="{FF2B5EF4-FFF2-40B4-BE49-F238E27FC236}">
                <a16:creationId xmlns:a16="http://schemas.microsoft.com/office/drawing/2014/main" id="{D7724B06-8758-4E3A-B12A-EBAD6E46650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4ce33c61804458c">
            <a:alphaModFix/>
          </a:blip>
          <a:srcRect xmlns:a="http://schemas.openxmlformats.org/drawingml/2006/main" l="0" t="0" r="0" b="0"/>
          <a:stretch xmlns:a="http://schemas.openxmlformats.org/drawingml/2006/main"/>
        </p:blipFill>
        <p:spPr>
          <a:xfrm xmlns:a="http://schemas.openxmlformats.org/drawingml/2006/main">
            <a:off x="533400" y="371475"/>
            <a:ext cx="171600" cy="171600"/>
          </a:xfrm>
          <a:prstGeom xmlns:a="http://schemas.openxmlformats.org/drawingml/2006/main" prst="rect">
            <a:avLst/>
          </a:prstGeom>
          <a:ln xmlns:a="http://schemas.openxmlformats.org/drawingml/2006/main">
            <a:noFill/>
          </a:ln>
        </p:spPr>
      </p:pic>
      <p:sp>
        <p:nvSpPr>
          <p:cNvPr id="298" name="Google Shape;298;p13">
            <a:extLst xmlns:a="http://schemas.openxmlformats.org/drawingml/2006/main">
              <a:ext uri="{FF2B5EF4-FFF2-40B4-BE49-F238E27FC236}">
                <a16:creationId xmlns:a16="http://schemas.microsoft.com/office/drawing/2014/main" id="{BD15C4B0-C260-4DEE-8D76-521DDFF14108}"/>
              </a:ext>
            </a:extLst>
          </p:cNvPr>
          <p:cNvSpPr>
            <a:spLocks xmlns:a="http://schemas.openxmlformats.org/drawingml/2006/main" noGrp="1"/>
          </p:cNvSpPr>
          <p:nvPr/>
        </p:nvSpPr>
        <p:spPr>
          <a:xfrm xmlns:a="http://schemas.openxmlformats.org/drawingml/2006/main">
            <a:off x="952500" y="266700"/>
            <a:ext cx="5486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000" b="1">
                <a:solidFill>
                  <a:srgbClr val="0B7F8A"/>
                </a:solidFill>
                <a:latin typeface="Calibri"/>
                <a:ea typeface="Calibri"/>
                <a:cs typeface="Calibri"/>
              </a:rPr>
              <a:t>II. METHODOLOGY  SYSTEM IMPLEMENTATION</a:t>
            </a:r>
            <a:endParaRPr sz="1000" b="1">
              <a:solidFill>
                <a:srgbClr val="0B7F8A"/>
              </a:solidFill>
              <a:latin typeface="Calibri"/>
              <a:ea typeface="Calibri"/>
              <a:cs typeface="Calibri"/>
            </a:endParaRPr>
          </a:p>
        </p:txBody>
      </p:sp>
      <p:sp>
        <p:nvSpPr>
          <p:cNvPr id="299" name="Google Shape;299;p13">
            <a:extLst xmlns:a="http://schemas.openxmlformats.org/drawingml/2006/main">
              <a:ext uri="{FF2B5EF4-FFF2-40B4-BE49-F238E27FC236}">
                <a16:creationId xmlns:a16="http://schemas.microsoft.com/office/drawing/2014/main" id="{56E009FC-7798-4A87-AD49-B19E7F12535A}"/>
              </a:ext>
            </a:extLst>
          </p:cNvPr>
          <p:cNvSpPr>
            <a:spLocks xmlns:a="http://schemas.openxmlformats.org/drawingml/2006/main" noGrp="1"/>
          </p:cNvSpPr>
          <p:nvPr/>
        </p:nvSpPr>
        <p:spPr>
          <a:xfrm xmlns:a="http://schemas.openxmlformats.org/drawingml/2006/main">
            <a:off x="952500" y="457200"/>
            <a:ext cx="7620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2400" b="1">
                <a:solidFill>
                  <a:srgbClr val="1B2A4A"/>
                </a:solidFill>
                <a:latin typeface="Cambria"/>
                <a:ea typeface="Cambria"/>
                <a:cs typeface="Cambria"/>
              </a:rPr>
              <a:t>Prototype Interfaces</a:t>
            </a:r>
            <a:endParaRPr sz="2400" b="1">
              <a:solidFill>
                <a:srgbClr val="1B2A4A"/>
              </a:solidFill>
              <a:latin typeface="Cambria"/>
              <a:ea typeface="Cambria"/>
              <a:cs typeface="Cambria"/>
            </a:endParaRPr>
          </a:p>
        </p:txBody>
      </p:sp>
      <p:sp>
        <p:nvSpPr>
          <p:cNvPr id="300" name="Google Shape;300;p13">
            <a:extLst xmlns:a="http://schemas.openxmlformats.org/drawingml/2006/main">
              <a:ext uri="{FF2B5EF4-FFF2-40B4-BE49-F238E27FC236}">
                <a16:creationId xmlns:a16="http://schemas.microsoft.com/office/drawing/2014/main" id="{D0828AF1-216F-44D4-B044-4AF82F7EC7CA}"/>
              </a:ext>
            </a:extLst>
          </p:cNvPr>
          <p:cNvSpPr>
            <a:spLocks xmlns:a="http://schemas.openxmlformats.org/drawingml/2006/main" noGrp="1"/>
          </p:cNvSpPr>
          <p:nvPr/>
        </p:nvSpPr>
        <p:spPr>
          <a:xfrm xmlns:a="http://schemas.openxmlformats.org/drawingml/2006/main">
            <a:off x="476250"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3">
            <a:extLst xmlns:a="http://schemas.openxmlformats.org/drawingml/2006/main">
              <a:ext uri="{FF2B5EF4-FFF2-40B4-BE49-F238E27FC236}">
                <a16:creationId xmlns:a16="http://schemas.microsoft.com/office/drawing/2014/main" id="{866A6057-415E-48AD-8283-DDB084CCFCD6}"/>
              </a:ext>
            </a:extLst>
          </p:cNvPr>
          <p:cNvSpPr>
            <a:spLocks xmlns:a="http://schemas.openxmlformats.org/drawingml/2006/main" noGrp="1"/>
          </p:cNvSpPr>
          <p:nvPr/>
        </p:nvSpPr>
        <p:spPr>
          <a:xfrm xmlns:a="http://schemas.openxmlformats.org/drawingml/2006/main">
            <a:off x="619125"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1. Authentication Window</a:t>
            </a:r>
            <a:endParaRPr sz="1200" b="1">
              <a:solidFill>
                <a:srgbClr val="1B2A4A"/>
              </a:solidFill>
              <a:latin typeface="Calibri"/>
              <a:ea typeface="Calibri"/>
              <a:cs typeface="Calibri"/>
            </a:endParaRPr>
          </a:p>
        </p:txBody>
      </p:sp>
      <p:sp>
        <p:nvSpPr>
          <p:cNvPr id="303" name="Google Shape;303;p13">
            <a:extLst xmlns:a="http://schemas.openxmlformats.org/drawingml/2006/main">
              <a:ext uri="{FF2B5EF4-FFF2-40B4-BE49-F238E27FC236}">
                <a16:creationId xmlns:a16="http://schemas.microsoft.com/office/drawing/2014/main" id="{9EFA2280-ED06-45C1-84AB-BACBC9ECCD18}"/>
              </a:ext>
            </a:extLst>
          </p:cNvPr>
          <p:cNvSpPr>
            <a:spLocks xmlns:a="http://schemas.openxmlformats.org/drawingml/2006/main" noGrp="1"/>
          </p:cNvSpPr>
          <p:nvPr/>
        </p:nvSpPr>
        <p:spPr>
          <a:xfrm xmlns:a="http://schemas.openxmlformats.org/drawingml/2006/main" rot="0" flipH="0" flipV="0">
            <a:off x="326707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4" name="Google Shape;304;p13">
            <a:extLst xmlns:a="http://schemas.openxmlformats.org/drawingml/2006/main">
              <a:ext uri="{FF2B5EF4-FFF2-40B4-BE49-F238E27FC236}">
                <a16:creationId xmlns:a16="http://schemas.microsoft.com/office/drawing/2014/main" id="{355A0F78-2D6B-462F-91C5-769058511E52}"/>
              </a:ext>
            </a:extLst>
          </p:cNvPr>
          <p:cNvSpPr>
            <a:spLocks xmlns:a="http://schemas.openxmlformats.org/drawingml/2006/main" noGrp="1"/>
          </p:cNvSpPr>
          <p:nvPr/>
        </p:nvSpPr>
        <p:spPr>
          <a:xfrm xmlns:a="http://schemas.openxmlformats.org/drawingml/2006/main" rot="0" flipH="0" flipV="0">
            <a:off x="340995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2. Admin Dashboard</a:t>
            </a:r>
            <a:endParaRPr sz="1200" b="1">
              <a:solidFill>
                <a:srgbClr val="1B2A4A"/>
              </a:solidFill>
              <a:latin typeface="Calibri"/>
              <a:ea typeface="Calibri"/>
              <a:cs typeface="Calibri"/>
            </a:endParaRPr>
          </a:p>
        </p:txBody>
      </p:sp>
      <p:sp>
        <p:nvSpPr>
          <p:cNvPr id="306" name="Google Shape;306;p13">
            <a:extLst xmlns:a="http://schemas.openxmlformats.org/drawingml/2006/main">
              <a:ext uri="{FF2B5EF4-FFF2-40B4-BE49-F238E27FC236}">
                <a16:creationId xmlns:a16="http://schemas.microsoft.com/office/drawing/2014/main" id="{7DC0A982-BEF3-4677-A3D8-9370C2E42459}"/>
              </a:ext>
            </a:extLst>
          </p:cNvPr>
          <p:cNvSpPr>
            <a:spLocks xmlns:a="http://schemas.openxmlformats.org/drawingml/2006/main" noGrp="1"/>
          </p:cNvSpPr>
          <p:nvPr/>
        </p:nvSpPr>
        <p:spPr>
          <a:xfrm xmlns:a="http://schemas.openxmlformats.org/drawingml/2006/main" rot="0" flipH="0" flipV="0">
            <a:off x="606742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7" name="Google Shape;307;p13">
            <a:extLst xmlns:a="http://schemas.openxmlformats.org/drawingml/2006/main">
              <a:ext uri="{FF2B5EF4-FFF2-40B4-BE49-F238E27FC236}">
                <a16:creationId xmlns:a16="http://schemas.microsoft.com/office/drawing/2014/main" id="{0BB22284-1D2E-4FE8-B863-DB80389C6714}"/>
              </a:ext>
            </a:extLst>
          </p:cNvPr>
          <p:cNvSpPr>
            <a:spLocks xmlns:a="http://schemas.openxmlformats.org/drawingml/2006/main" noGrp="1"/>
          </p:cNvSpPr>
          <p:nvPr/>
        </p:nvSpPr>
        <p:spPr>
          <a:xfrm xmlns:a="http://schemas.openxmlformats.org/drawingml/2006/main" rot="0" flipH="0" flipV="0">
            <a:off x="621030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3. Security Personnel Dashboard</a:t>
            </a:r>
            <a:endParaRPr sz="1200" b="1">
              <a:solidFill>
                <a:srgbClr val="1B2A4A"/>
              </a:solidFill>
              <a:latin typeface="Calibri"/>
              <a:ea typeface="Calibri"/>
              <a:cs typeface="Calibri"/>
            </a:endParaRPr>
          </a:p>
        </p:txBody>
      </p:sp>
      <p:sp>
        <p:nvSpPr>
          <p:cNvPr id="309" name="Google Shape;309;p13">
            <a:extLst xmlns:a="http://schemas.openxmlformats.org/drawingml/2006/main">
              <a:ext uri="{FF2B5EF4-FFF2-40B4-BE49-F238E27FC236}">
                <a16:creationId xmlns:a16="http://schemas.microsoft.com/office/drawing/2014/main" id="{29C39830-E297-4787-A5D5-AA5AFEF8FA3A}"/>
              </a:ext>
            </a:extLst>
          </p:cNvPr>
          <p:cNvSpPr>
            <a:spLocks xmlns:a="http://schemas.openxmlformats.org/drawingml/2006/main" noGrp="1"/>
          </p:cNvSpPr>
          <p:nvPr/>
        </p:nvSpPr>
        <p:spPr>
          <a:xfrm xmlns:a="http://schemas.openxmlformats.org/drawingml/2006/main" rot="0" flipH="0" flipV="0">
            <a:off x="476250"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0" name="Google Shape;310;p13">
            <a:extLst xmlns:a="http://schemas.openxmlformats.org/drawingml/2006/main">
              <a:ext uri="{FF2B5EF4-FFF2-40B4-BE49-F238E27FC236}">
                <a16:creationId xmlns:a16="http://schemas.microsoft.com/office/drawing/2014/main" id="{B410AF9F-99D3-4821-86FF-A4C8F0893B77}"/>
              </a:ext>
            </a:extLst>
          </p:cNvPr>
          <p:cNvSpPr>
            <a:spLocks xmlns:a="http://schemas.openxmlformats.org/drawingml/2006/main" noGrp="1"/>
          </p:cNvSpPr>
          <p:nvPr/>
        </p:nvSpPr>
        <p:spPr>
          <a:xfrm xmlns:a="http://schemas.openxmlformats.org/drawingml/2006/main" rot="0" flipH="0" flipV="0">
            <a:off x="619125"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4. Event Organizer Dashboard</a:t>
            </a:r>
            <a:endParaRPr sz="1200" b="1">
              <a:solidFill>
                <a:srgbClr val="1B2A4A"/>
              </a:solidFill>
              <a:latin typeface="Calibri"/>
              <a:ea typeface="Calibri"/>
              <a:cs typeface="Calibri"/>
            </a:endParaRPr>
          </a:p>
        </p:txBody>
      </p:sp>
      <p:sp>
        <p:nvSpPr>
          <p:cNvPr id="312" name="Google Shape;312;p13">
            <a:extLst xmlns:a="http://schemas.openxmlformats.org/drawingml/2006/main">
              <a:ext uri="{FF2B5EF4-FFF2-40B4-BE49-F238E27FC236}">
                <a16:creationId xmlns:a16="http://schemas.microsoft.com/office/drawing/2014/main" id="{DF2C20CD-7E97-4192-9B34-B541E146C70B}"/>
              </a:ext>
            </a:extLst>
          </p:cNvPr>
          <p:cNvSpPr>
            <a:spLocks xmlns:a="http://schemas.openxmlformats.org/drawingml/2006/main" noGrp="1"/>
          </p:cNvSpPr>
          <p:nvPr/>
        </p:nvSpPr>
        <p:spPr>
          <a:xfrm xmlns:a="http://schemas.openxmlformats.org/drawingml/2006/main" rot="0" flipH="0" flipV="0">
            <a:off x="326707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3" name="Google Shape;313;p13">
            <a:extLst xmlns:a="http://schemas.openxmlformats.org/drawingml/2006/main">
              <a:ext uri="{FF2B5EF4-FFF2-40B4-BE49-F238E27FC236}">
                <a16:creationId xmlns:a16="http://schemas.microsoft.com/office/drawing/2014/main" id="{8D7B2F38-5A09-425C-B948-68BC8893FECC}"/>
              </a:ext>
            </a:extLst>
          </p:cNvPr>
          <p:cNvSpPr>
            <a:spLocks xmlns:a="http://schemas.openxmlformats.org/drawingml/2006/main" noGrp="1"/>
          </p:cNvSpPr>
          <p:nvPr/>
        </p:nvSpPr>
        <p:spPr>
          <a:xfrm xmlns:a="http://schemas.openxmlformats.org/drawingml/2006/main" rot="0" flipH="0" flipV="0">
            <a:off x="340995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5. Active Monitoring Console</a:t>
            </a:r>
            <a:endParaRPr sz="1200" b="1">
              <a:solidFill>
                <a:srgbClr val="1B2A4A"/>
              </a:solidFill>
              <a:latin typeface="Calibri"/>
              <a:ea typeface="Calibri"/>
              <a:cs typeface="Calibri"/>
            </a:endParaRPr>
          </a:p>
        </p:txBody>
      </p:sp>
      <p:sp>
        <p:nvSpPr>
          <p:cNvPr id="315" name="Google Shape;315;p13">
            <a:extLst xmlns:a="http://schemas.openxmlformats.org/drawingml/2006/main">
              <a:ext uri="{FF2B5EF4-FFF2-40B4-BE49-F238E27FC236}">
                <a16:creationId xmlns:a16="http://schemas.microsoft.com/office/drawing/2014/main" id="{905D53FB-28B5-44BB-A4C1-E481510EC4C5}"/>
              </a:ext>
            </a:extLst>
          </p:cNvPr>
          <p:cNvSpPr>
            <a:spLocks xmlns:a="http://schemas.openxmlformats.org/drawingml/2006/main" noGrp="1"/>
          </p:cNvSpPr>
          <p:nvPr/>
        </p:nvSpPr>
        <p:spPr>
          <a:xfrm xmlns:a="http://schemas.openxmlformats.org/drawingml/2006/main" rot="0" flipH="0" flipV="0">
            <a:off x="606742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6" name="Google Shape;316;p13">
            <a:extLst xmlns:a="http://schemas.openxmlformats.org/drawingml/2006/main">
              <a:ext uri="{FF2B5EF4-FFF2-40B4-BE49-F238E27FC236}">
                <a16:creationId xmlns:a16="http://schemas.microsoft.com/office/drawing/2014/main" id="{088949FC-AA15-4FA2-A6CE-51C5137F4D4A}"/>
              </a:ext>
            </a:extLst>
          </p:cNvPr>
          <p:cNvSpPr>
            <a:spLocks xmlns:a="http://schemas.openxmlformats.org/drawingml/2006/main" noGrp="1"/>
          </p:cNvSpPr>
          <p:nvPr/>
        </p:nvSpPr>
        <p:spPr>
          <a:xfrm xmlns:a="http://schemas.openxmlformats.org/drawingml/2006/main" rot="0" flipH="0" flipV="0">
            <a:off x="621030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6. Student-Facing Kiosk</a:t>
            </a:r>
            <a:endParaRPr sz="1200" b="1">
              <a:solidFill>
                <a:srgbClr val="1B2A4A"/>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0408D40D-73F1-4452-B1D0-1799140EA096}"/>
              </a:ext>
            </a:extLst>
          </p:cNvPr>
          <p:cNvSpPr>
            <a:spLocks xmlns:a="http://schemas.openxmlformats.org/drawingml/2006/main" noGrp="1"/>
          </p:cNvSpPr>
          <p:nvPr/>
        </p:nvSpPr>
        <p:spPr>
          <a:xfrm xmlns:a="http://schemas.openxmlformats.org/drawingml/2006/main">
            <a:off x="476250" y="4619625"/>
            <a:ext cx="8191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100" b="0" i="1">
                <a:solidFill>
                  <a:srgbClr val="516385"/>
                </a:solidFill>
                <a:latin typeface="Calibri"/>
                <a:ea typeface="Calibri"/>
                <a:cs typeface="Calibri"/>
              </a:rPr>
              <a:t>Selected prototype screenshots. The live demonstration shows the current build.</a:t>
            </a:r>
            <a:endParaRPr sz="1100" b="0" i="1">
              <a:solidFill>
                <a:srgbClr val="516385"/>
              </a:solidFill>
              <a:latin typeface="Calibri"/>
              <a:ea typeface="Calibri"/>
              <a:cs typeface="Calibri"/>
            </a:endParaRPr>
          </a:p>
        </p:txBody>
      </p:sp>
      <p:pic>
        <p:nvPicPr>
          <p:cNvPr id="318" name="Google Shape;318;p13">
            <a:extLst xmlns:a="http://schemas.openxmlformats.org/drawingml/2006/main">
              <a:ext uri="{FF2B5EF4-FFF2-40B4-BE49-F238E27FC236}">
                <a16:creationId xmlns:a16="http://schemas.microsoft.com/office/drawing/2014/main" id="{7D9E9C65-5493-44BC-9490-E731216D5D77}"/>
              </a:ext>
            </a:extLst>
          </p:cNvPr>
          <p:cNvPicPr>
            <a:picLocks xmlns:a="http://schemas.openxmlformats.org/drawingml/2006/main" noChangeAspect="1"/>
          </p:cNvPicPr>
          <p:nvPr/>
        </p:nvPicPr>
        <p:blipFill>
          <a:blip xmlns:r="http://schemas.openxmlformats.org/officeDocument/2006/relationships" xmlns:a="http://schemas.openxmlformats.org/drawingml/2006/main" r:embed="R4c24f7647fdf4c8a">
            <a:alphaModFix/>
          </a:blip>
          <a:stretch xmlns:a="http://schemas.openxmlformats.org/drawingml/2006/main">
            <a:fillRect l="0" t="0" r="0" b="0"/>
          </a:stretch>
        </p:blipFill>
        <p:spPr>
          <a:xfrm xmlns:a="http://schemas.openxmlformats.org/drawingml/2006/main">
            <a:off x="771123" y="1333575"/>
            <a:ext cx="2010492" cy="1238176"/>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95B8CF16-3B2F-4A98-BEDA-DB3DBD41877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b25df256b744534">
            <a:alphaModFix/>
          </a:blip>
          <a:srcRect xmlns:a="http://schemas.openxmlformats.org/drawingml/2006/main" l="0" t="30" r="0" b="30"/>
          <a:stretch xmlns:a="http://schemas.openxmlformats.org/drawingml/2006/main"/>
        </p:blipFill>
        <p:spPr>
          <a:xfrm xmlns:a="http://schemas.openxmlformats.org/drawingml/2006/main">
            <a:off x="3566789" y="1333575"/>
            <a:ext cx="2010491"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F92FF58D-2F1C-4642-9B8C-8F87114B996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2315b335634c21">
            <a:alphaModFix/>
          </a:blip>
          <a:srcRect xmlns:a="http://schemas.openxmlformats.org/drawingml/2006/main" l="0" t="239" r="0" b="239"/>
          <a:stretch xmlns:a="http://schemas.openxmlformats.org/drawingml/2006/main"/>
        </p:blipFill>
        <p:spPr>
          <a:xfrm xmlns:a="http://schemas.openxmlformats.org/drawingml/2006/main">
            <a:off x="6149300" y="1333575"/>
            <a:ext cx="2436649"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307EF51D-3ABC-4C4E-A598-8B1E00A8E14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2315b335634c21">
            <a:alphaModFix/>
          </a:blip>
          <a:srcRect xmlns:a="http://schemas.openxmlformats.org/drawingml/2006/main" l="0" t="239" r="0" b="239"/>
          <a:stretch xmlns:a="http://schemas.openxmlformats.org/drawingml/2006/main"/>
        </p:blipFill>
        <p:spPr>
          <a:xfrm xmlns:a="http://schemas.openxmlformats.org/drawingml/2006/main">
            <a:off x="558048" y="3162150"/>
            <a:ext cx="2436653"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85C1FD5C-C487-406E-9C97-06C8672B1CE4}"/>
              </a:ext>
            </a:extLst>
          </p:cNvPr>
          <p:cNvPicPr>
            <a:picLocks xmlns:a="http://schemas.openxmlformats.org/drawingml/2006/main" noChangeAspect="1"/>
          </p:cNvPicPr>
          <p:nvPr/>
        </p:nvPicPr>
        <p:blipFill>
          <a:blip xmlns:r="http://schemas.openxmlformats.org/officeDocument/2006/relationships" xmlns:a="http://schemas.openxmlformats.org/drawingml/2006/main" r:embed="R563907c0ca8c472f">
            <a:alphaModFix/>
          </a:blip>
          <a:stretch xmlns:a="http://schemas.openxmlformats.org/drawingml/2006/main">
            <a:fillRect l="0" t="0" r="0" b="0"/>
          </a:stretch>
        </p:blipFill>
        <p:spPr>
          <a:xfrm xmlns:a="http://schemas.openxmlformats.org/drawingml/2006/main">
            <a:off x="3427400" y="3162150"/>
            <a:ext cx="2289284" cy="1238175"/>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9B5FDD8C-85F7-430A-BAF3-974D95F00D7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1f4704e2e37475f">
            <a:alphaModFix/>
          </a:blip>
          <a:srcRect xmlns:a="http://schemas.openxmlformats.org/drawingml/2006/main" l="0" t="1923" r="0" b="1923"/>
          <a:stretch xmlns:a="http://schemas.openxmlformats.org/drawingml/2006/main"/>
        </p:blipFill>
        <p:spPr>
          <a:xfrm xmlns:a="http://schemas.openxmlformats.org/drawingml/2006/main">
            <a:off x="6222975" y="3162150"/>
            <a:ext cx="2289298" cy="1238174"/>
          </a:xfrm>
          <a:prstGeom xmlns:a="http://schemas.openxmlformats.org/drawingml/2006/main" prst="rect">
            <a:avLst/>
          </a:prstGeom>
          <a:ln xmlns:a="http://schemas.openxmlformats.org/drawingml/2006/main">
            <a:noFill/>
          </a:ln>
        </p:spPr>
      </p:pic>
      <p:sp>
        <p:nvSpPr>
          <p:cNvPr id="324" name="Google Shape;324;p13">
            <a:extLst xmlns:a="http://schemas.openxmlformats.org/drawingml/2006/main">
              <a:ext uri="{FF2B5EF4-FFF2-40B4-BE49-F238E27FC236}">
                <a16:creationId xmlns:a16="http://schemas.microsoft.com/office/drawing/2014/main" id="{514F6171-3CE3-4362-A729-D119988CE4F7}"/>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10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6578513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41927309-2F17-4338-B1A7-B5364ED9C75B}"/>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A9EA9165-EDDD-4A5A-BD54-82BB3704306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Statistical Treatment and Hypotheses</a:t>
            </a:r>
          </a:p>
        </p:txBody>
      </p:sp>
      <p:sp>
        <p:nvSpPr>
          <p:cNvPr id="3" name="11 / 24">
            <a:extLst xmlns:a="http://schemas.openxmlformats.org/drawingml/2006/main">
              <a:ext uri="{FF2B5EF4-FFF2-40B4-BE49-F238E27FC236}">
                <a16:creationId xmlns:a16="http://schemas.microsoft.com/office/drawing/2014/main" id="{87119F78-9564-4D11-BF14-74C24682B94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DADBE96F-B1D9-4100-B4CF-2858EBD5CBD4}"/>
              </a:ext>
            </a:extLst>
          </p:cNvPr>
          <p:cNvSpPr>
            <a:spLocks xmlns:a="http://schemas.openxmlformats.org/drawingml/2006/main" noGrp="1"/>
          </p:cNvSpPr>
          <p:nvPr/>
        </p:nvSpPr>
        <p:spPr>
          <a:xfrm xmlns:a="http://schemas.openxmlformats.org/drawingml/2006/main">
            <a:off x="36195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E2FD6B29-B333-489C-AAB8-1731D7CA7D2A}"/>
              </a:ext>
            </a:extLst>
          </p:cNvPr>
          <p:cNvSpPr>
            <a:spLocks xmlns:a="http://schemas.openxmlformats.org/drawingml/2006/main" noGrp="1"/>
          </p:cNvSpPr>
          <p:nvPr/>
        </p:nvSpPr>
        <p:spPr>
          <a:xfrm xmlns:a="http://schemas.openxmlformats.org/drawingml/2006/main">
            <a:off x="36195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C5754345-3CE3-4DB8-91F4-DC2BDF0576F9}"/>
              </a:ext>
            </a:extLst>
          </p:cNvPr>
          <p:cNvSpPr>
            <a:spLocks xmlns:a="http://schemas.openxmlformats.org/drawingml/2006/main" noGrp="1"/>
          </p:cNvSpPr>
          <p:nvPr/>
        </p:nvSpPr>
        <p:spPr>
          <a:xfrm xmlns:a="http://schemas.openxmlformats.org/drawingml/2006/main">
            <a:off x="36195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E36937D9-4B1E-479F-95D6-CE6148457678}"/>
              </a:ext>
            </a:extLst>
          </p:cNvPr>
          <p:cNvSpPr>
            <a:spLocks xmlns:a="http://schemas.openxmlformats.org/drawingml/2006/main" noGrp="1"/>
          </p:cNvSpPr>
          <p:nvPr/>
        </p:nvSpPr>
        <p:spPr>
          <a:xfrm xmlns:a="http://schemas.openxmlformats.org/drawingml/2006/main">
            <a:off x="36195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AC7AD360-D19B-46B8-ABCB-4F35A29DD480}"/>
              </a:ext>
            </a:extLst>
          </p:cNvPr>
          <p:cNvSpPr>
            <a:spLocks xmlns:a="http://schemas.openxmlformats.org/drawingml/2006/main" noGrp="1"/>
          </p:cNvSpPr>
          <p:nvPr/>
        </p:nvSpPr>
        <p:spPr>
          <a:xfrm xmlns:a="http://schemas.openxmlformats.org/drawingml/2006/main">
            <a:off x="36195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34155"/>
                </a:solidFill>
                <a:latin typeface="Calibri"/>
                <a:ea typeface="Calibri"/>
                <a:cs typeface="Calibri"/>
              </a:defRPr>
            </a:defPPr>
          </a:lstStyle>
          <a:p xmlns:a="http://schemas.openxmlformats.org/drawingml/2006/main">
            <a:pPr algn="l">
              <a:defRPr sz="1725" b="1">
                <a:solidFill>
                  <a:srgbClr val="334155"/>
                </a:solidFill>
                <a:latin typeface="Calibri"/>
                <a:ea typeface="Calibri"/>
                <a:cs typeface="Calibri"/>
              </a:defRPr>
            </a:pPr>
            <a:r>
              <a:rPr sz="1725" b="1">
                <a:solidFill>
                  <a:srgbClr val="334155"/>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014E587B-6414-4BA0-B657-C4DA20315275}"/>
              </a:ext>
            </a:extLst>
          </p:cNvPr>
          <p:cNvSpPr>
            <a:spLocks xmlns:a="http://schemas.openxmlformats.org/drawingml/2006/main" noGrp="1"/>
          </p:cNvSpPr>
          <p:nvPr/>
        </p:nvSpPr>
        <p:spPr>
          <a:xfrm xmlns:a="http://schemas.openxmlformats.org/drawingml/2006/main">
            <a:off x="36195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CED7AC40-7E43-4728-9263-6D08A03D4BD0}"/>
              </a:ext>
            </a:extLst>
          </p:cNvPr>
          <p:cNvSpPr>
            <a:spLocks xmlns:a="http://schemas.openxmlformats.org/drawingml/2006/main" noGrp="1"/>
          </p:cNvSpPr>
          <p:nvPr/>
        </p:nvSpPr>
        <p:spPr>
          <a:xfrm xmlns:a="http://schemas.openxmlformats.org/drawingml/2006/main">
            <a:off x="361950" y="41433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B7F8A"/>
                </a:solidFill>
                <a:latin typeface="Calibri"/>
                <a:ea typeface="Calibri"/>
                <a:cs typeface="Calibri"/>
              </a:defRPr>
            </a:defPPr>
          </a:lstStyle>
          <a:p xmlns:a="http://schemas.openxmlformats.org/drawingml/2006/main">
            <a:pPr algn="l">
              <a:defRPr sz="1575" b="0">
                <a:solidFill>
                  <a:srgbClr val="0B7F8A"/>
                </a:solidFill>
                <a:latin typeface="Calibri"/>
                <a:ea typeface="Calibri"/>
                <a:cs typeface="Calibri"/>
              </a:defRPr>
            </a:pPr>
            <a:r>
              <a:rPr sz="1575" b="0">
                <a:solidFill>
                  <a:srgbClr val="0B7F8A"/>
                </a:solidFill>
                <a:latin typeface="Calibri"/>
                <a:ea typeface="Calibri"/>
                <a:cs typeface="Calibri"/>
              </a:rPr>
              <a:t>t = (mean System - mean Manual) / sqrt(SD System^2 / n System + SD Manual^2 / n Manual)</a:t>
            </a:r>
          </a:p>
        </p:txBody>
      </p:sp>
    </p:spTree>
    <p:extLst>
      <p:ext uri="{BB962C8B-B14F-4D97-AF65-F5344CB8AC3E}">
        <p14:creationId xmlns:p14="http://schemas.microsoft.com/office/powerpoint/2010/main" val="126934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331643EE-A4C6-4627-B0D5-6BFC279A0EC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C74A8569-9202-4DE5-8854-1C7F424B396D}"/>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Observation Records and Functionality Cases</a:t>
            </a:r>
          </a:p>
        </p:txBody>
      </p:sp>
      <p:sp>
        <p:nvSpPr>
          <p:cNvPr id="3" name="12 / 24">
            <a:extLst xmlns:a="http://schemas.openxmlformats.org/drawingml/2006/main">
              <a:ext uri="{FF2B5EF4-FFF2-40B4-BE49-F238E27FC236}">
                <a16:creationId xmlns:a16="http://schemas.microsoft.com/office/drawing/2014/main" id="{FDF40D88-6447-4240-93DC-A7C7A3BF20DB}"/>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4BC13076-0B9A-43DC-9709-2ED28A7B1A71}"/>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0" tIns="0" rIns="0" bIns="0">
                      <a:noAutofit/>
                    </a:bodyPr>
                    <a:lstStyle/>
                    <a:p>
                      <a:pPr algn="l"/>
                      <a:r>
                        <a:rPr sz="1650"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Successful Entries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Reset Exits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Denied Records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Total</a:t>
                      </a:r>
                    </a:p>
                  </a:txBody>
                  <a:tcPr marL="85725" marR="85725" marT="28575" marB="28575" anchor="ctr">
                    <a:solidFill>
                      <a:srgbClr val="E2E8F0"/>
                    </a:solidFill>
                  </a:tcPr>
                </a:tc>
              </a:tr>
              <a:tr h="422910">
                <a:tc>
                  <a:txBody>
                    <a:bodyPr lIns="0" tIns="0" rIns="0" bIns="0">
                      <a:noAutofit/>
                    </a:bodyPr>
                    <a:lstStyle/>
                    <a:p>
                      <a:pPr algn="l"/>
                      <a:r>
                        <a:rPr sz="1650"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2</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142</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12</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152</a:t>
                      </a:r>
                    </a:p>
                  </a:txBody>
                  <a:tcPr marL="85725" marR="85725" marT="28575" marB="28575" anchor="ctr">
                    <a:solidFill>
                      <a:srgbClr val="F8FAFC"/>
                    </a:solidFill>
                  </a:tcPr>
                </a:tc>
              </a:tr>
              <a:tr h="422910">
                <a:tc>
                  <a:txBody>
                    <a:bodyPr lIns="0" tIns="0" rIns="0" bIns="0">
                      <a:noAutofit/>
                    </a:bodyPr>
                    <a:lstStyle/>
                    <a:p>
                      <a:pPr algn="l"/>
                      <a:r>
                        <a:rPr sz="1650"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4</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144</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Total</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18</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438</a:t>
                      </a:r>
                    </a:p>
                  </a:txBody>
                  <a:tcPr marL="85725" marR="85725" marT="28575" marB="28575" anchor="ctr">
                    <a:solidFill>
                      <a:srgbClr val="F8FAFC"/>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F2D2E7DD-3A10-4E5F-A533-1182556DF1B8}"/>
              </a:ext>
            </a:extLst>
          </p:cNvPr>
          <p:cNvSpPr>
            <a:spLocks xmlns:a="http://schemas.openxmlformats.org/drawingml/2006/main" noGrp="1"/>
          </p:cNvSpPr>
          <p:nvPr/>
        </p:nvSpPr>
        <p:spPr>
          <a:xfrm xmlns:a="http://schemas.openxmlformats.org/drawingml/2006/main">
            <a:off x="361950" y="3571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19FDA00B-0595-4373-AC4B-1C7A31F7903A}"/>
              </a:ext>
            </a:extLst>
          </p:cNvPr>
          <p:cNvSpPr>
            <a:spLocks xmlns:a="http://schemas.openxmlformats.org/drawingml/2006/main" noGrp="1"/>
          </p:cNvSpPr>
          <p:nvPr/>
        </p:nvSpPr>
        <p:spPr>
          <a:xfrm xmlns:a="http://schemas.openxmlformats.org/drawingml/2006/main">
            <a:off x="361950" y="38671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A100E6EF-BA46-4624-9FA4-4F998085447D}"/>
              </a:ext>
            </a:extLst>
          </p:cNvPr>
          <p:cNvSpPr>
            <a:spLocks xmlns:a="http://schemas.openxmlformats.org/drawingml/2006/main" noGrp="1"/>
          </p:cNvSpPr>
          <p:nvPr/>
        </p:nvSpPr>
        <p:spPr>
          <a:xfrm xmlns:a="http://schemas.openxmlformats.org/drawingml/2006/main">
            <a:off x="361950" y="4171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3B6F77B7-029A-40FA-95A0-0289552FEA7F}"/>
              </a:ext>
            </a:extLst>
          </p:cNvPr>
          <p:cNvSpPr>
            <a:spLocks xmlns:a="http://schemas.openxmlformats.org/drawingml/2006/main" noGrp="1"/>
          </p:cNvSpPr>
          <p:nvPr/>
        </p:nvSpPr>
        <p:spPr>
          <a:xfrm xmlns:a="http://schemas.openxmlformats.org/drawingml/2006/main">
            <a:off x="361950" y="4467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10334726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3ADCE760-A966-4CA3-BD9E-16A9D3A8E42B}"/>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2E3F089E-2FF3-420F-9BC5-3209EC5F9EC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Internal System Latency</a:t>
            </a:r>
          </a:p>
        </p:txBody>
      </p:sp>
      <p:sp>
        <p:nvSpPr>
          <p:cNvPr id="3" name="13 / 24">
            <a:extLst xmlns:a="http://schemas.openxmlformats.org/drawingml/2006/main">
              <a:ext uri="{FF2B5EF4-FFF2-40B4-BE49-F238E27FC236}">
                <a16:creationId xmlns:a16="http://schemas.microsoft.com/office/drawing/2014/main" id="{1820DE41-E67C-48D4-9744-9C7060073588}"/>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877D9080-C977-49AA-9D14-33970E2A5985}"/>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0" tIns="0" rIns="0" bIns="0">
                      <a:noAutofit/>
                    </a:bodyPr>
                    <a:lstStyle/>
                    <a:p>
                      <a:pPr algn="l"/>
                      <a:r>
                        <a:rPr sz="157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Mean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Sample SD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DB Mean ms</a:t>
                      </a:r>
                    </a:p>
                  </a:txBody>
                  <a:tcPr marL="85725" marR="85725" marT="28575" marB="28575" anchor="ctr">
                    <a:solidFill>
                      <a:srgbClr val="E2E8F0"/>
                    </a:solidFill>
                  </a:tcPr>
                </a:tc>
              </a:tr>
              <a:tr h="540544">
                <a:tc>
                  <a:txBody>
                    <a:bodyPr lIns="0" tIns="0" rIns="0" bIns="0">
                      <a:noAutofit/>
                    </a:bodyPr>
                    <a:lstStyle/>
                    <a:p>
                      <a:pPr algn="l"/>
                      <a:r>
                        <a:rPr sz="157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11.49</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2.20</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2.88</a:t>
                      </a:r>
                    </a:p>
                  </a:txBody>
                  <a:tcPr marL="85725" marR="85725" marT="28575" marB="28575" anchor="ctr">
                    <a:solidFill>
                      <a:srgbClr val="FFFFFF"/>
                    </a:solidFill>
                  </a:tcPr>
                </a:tc>
              </a:tr>
              <a:tr h="540544">
                <a:tc>
                  <a:txBody>
                    <a:bodyPr lIns="0" tIns="0" rIns="0" bIns="0">
                      <a:noAutofit/>
                    </a:bodyPr>
                    <a:lstStyle/>
                    <a:p>
                      <a:pPr algn="l"/>
                      <a:r>
                        <a:rPr sz="157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57.37</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17.46</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47.95</a:t>
                      </a:r>
                    </a:p>
                  </a:txBody>
                  <a:tcPr marL="85725" marR="85725" marT="28575" marB="28575" anchor="ctr">
                    <a:solidFill>
                      <a:srgbClr val="F8FAFC"/>
                    </a:solidFill>
                  </a:tcPr>
                </a:tc>
              </a:tr>
              <a:tr h="540544">
                <a:tc>
                  <a:txBody>
                    <a:bodyPr lIns="0" tIns="0" rIns="0" bIns="0">
                      <a:noAutofit/>
                    </a:bodyPr>
                    <a:lstStyle/>
                    <a:p>
                      <a:pPr algn="l"/>
                      <a:r>
                        <a:rPr sz="157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54.06</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6.34</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44.90</a:t>
                      </a:r>
                    </a:p>
                  </a:txBody>
                  <a:tcPr marL="85725" marR="85725" marT="28575" marB="28575" anchor="ctr">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6E7AB802-CAB6-4B21-868D-BF460848C328}"/>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c52ab119da8a4d01"/>
          </a:graphicData>
        </a:graphic>
      </p:graphicFrame>
      <p:sp>
        <p:nvSpPr>
          <p:cNvPr id="6" name="70 successful entries per mode">
            <a:extLst xmlns:a="http://schemas.openxmlformats.org/drawingml/2006/main">
              <a:ext uri="{FF2B5EF4-FFF2-40B4-BE49-F238E27FC236}">
                <a16:creationId xmlns:a16="http://schemas.microsoft.com/office/drawing/2014/main" id="{6885CA03-93BE-45C4-AE6D-BA1CF8567B04}"/>
              </a:ext>
            </a:extLst>
          </p:cNvPr>
          <p:cNvSpPr>
            <a:spLocks xmlns:a="http://schemas.openxmlformats.org/drawingml/2006/main" noGrp="1"/>
          </p:cNvSpPr>
          <p:nvPr/>
        </p:nvSpPr>
        <p:spPr>
          <a:xfrm xmlns:a="http://schemas.openxmlformats.org/drawingml/2006/main">
            <a:off x="361950" y="37814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0A56504F-42E4-4AE4-AFF9-6162CC5F856D}"/>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5438715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8A52855E-3189-45B7-9B96-FF3B62C52C55}"/>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553568BA-20A0-488A-A00C-CDB0291986EB}"/>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PIN and QR Interaction</a:t>
            </a:r>
          </a:p>
        </p:txBody>
      </p:sp>
      <p:sp>
        <p:nvSpPr>
          <p:cNvPr id="3" name="14 / 24">
            <a:extLst xmlns:a="http://schemas.openxmlformats.org/drawingml/2006/main">
              <a:ext uri="{FF2B5EF4-FFF2-40B4-BE49-F238E27FC236}">
                <a16:creationId xmlns:a16="http://schemas.microsoft.com/office/drawing/2014/main" id="{9623EFEE-198B-4D5D-91B7-719AA98D9B7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9E885654-9FAD-4BAE-9FDB-C16A8AD01988}"/>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f456d9cf785040f1"/>
          </a:graphicData>
        </a:graphic>
      </p:graphicFrame>
      <p:graphicFrame>
        <p:nvGraphicFramePr>
          <p:cNvPr id="5" name="">
            <a:extLst xmlns:a="http://schemas.openxmlformats.org/drawingml/2006/main">
              <a:ext uri="{FF2B5EF4-FFF2-40B4-BE49-F238E27FC236}">
                <a16:creationId xmlns:a16="http://schemas.microsoft.com/office/drawing/2014/main" id="{07072B4A-8805-4779-939F-BE4DDB8E0D53}"/>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0" tIns="0" rIns="0" bIns="0">
                      <a:noAutofit/>
                    </a:bodyPr>
                    <a:lstStyle/>
                    <a:p>
                      <a:pPr algn="l"/>
                      <a:r>
                        <a:rPr sz="1425" b="1">
                          <a:solidFill>
                            <a:srgbClr val="0B7F8A"/>
                          </a:solidFill>
                          <a:latin typeface="Calibri"/>
                          <a:ea typeface="Calibri"/>
                          <a:cs typeface="Calibri"/>
                        </a:rPr>
                        <a:t>Total Stage Duration</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Standard</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High-Security</a:t>
                      </a:r>
                    </a:p>
                  </a:txBody>
                  <a:tcPr marL="85725" marR="85725" marT="28575" marB="28575" anchor="ctr">
                    <a:solidFill>
                      <a:srgbClr val="E2E8F0"/>
                    </a:solidFill>
                  </a:tcPr>
                </a:tc>
              </a:tr>
              <a:tr h="419100">
                <a:tc>
                  <a:txBody>
                    <a:bodyPr lIns="0" tIns="0" rIns="0" bIns="0">
                      <a:noAutofit/>
                    </a:bodyPr>
                    <a:lstStyle/>
                    <a:p>
                      <a:pPr algn="l"/>
                      <a:r>
                        <a:rPr sz="1425" b="0">
                          <a:solidFill>
                            <a:srgbClr val="334155"/>
                          </a:solidFill>
                          <a:latin typeface="Calibri"/>
                          <a:ea typeface="Calibri"/>
                          <a:cs typeface="Calibri"/>
                        </a:rPr>
                        <a:t>Mean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2.505</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5.799</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Median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2.035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4.348</a:t>
                      </a:r>
                    </a:p>
                  </a:txBody>
                  <a:tcPr marL="85725" marR="85725" marT="28575" marB="28575" anchor="ctr">
                    <a:solidFill>
                      <a:srgbClr val="F8FAFC"/>
                    </a:solidFill>
                  </a:tcPr>
                </a:tc>
              </a:tr>
              <a:tr h="419100">
                <a:tc>
                  <a:txBody>
                    <a:bodyPr lIns="0" tIns="0" rIns="0" bIns="0">
                      <a:noAutofit/>
                    </a:bodyPr>
                    <a:lstStyle/>
                    <a:p>
                      <a:pPr algn="l"/>
                      <a:r>
                        <a:rPr sz="1425" b="0">
                          <a:solidFill>
                            <a:srgbClr val="334155"/>
                          </a:solidFill>
                          <a:latin typeface="Calibri"/>
                          <a:ea typeface="Calibri"/>
                          <a:cs typeface="Calibri"/>
                        </a:rPr>
                        <a:t>Sample SD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1.152</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3.878</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Maximum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6.875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22.604</a:t>
                      </a:r>
                    </a:p>
                  </a:txBody>
                  <a:tcPr marL="85725" marR="85725" marT="28575" marB="28575" anchor="ctr">
                    <a:solidFill>
                      <a:srgbClr val="F8FAFC"/>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E0A54A66-51AC-4ECD-B6EB-FC74150F30ED}"/>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18646504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AC1A8687-278F-439E-AB25-C9AE1FA8964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C40DF0D1-8F64-408F-8838-C30F0BCC6A3D}"/>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Paper Attendance Baseline</a:t>
            </a:r>
          </a:p>
        </p:txBody>
      </p:sp>
      <p:sp>
        <p:nvSpPr>
          <p:cNvPr id="3" name="15 / 24">
            <a:extLst xmlns:a="http://schemas.openxmlformats.org/drawingml/2006/main">
              <a:ext uri="{FF2B5EF4-FFF2-40B4-BE49-F238E27FC236}">
                <a16:creationId xmlns:a16="http://schemas.microsoft.com/office/drawing/2014/main" id="{9C142447-8749-4EE3-904D-A42610D1E02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8BCEDBA5-63C7-49BE-87C6-B81185FA6676}"/>
              </a:ext>
            </a:extLst>
          </p:cNvPr>
          <p:cNvSpPr>
            <a:spLocks xmlns:a="http://schemas.openxmlformats.org/drawingml/2006/main" noGrp="1"/>
          </p:cNvSpPr>
          <p:nvPr/>
        </p:nvSpPr>
        <p:spPr>
          <a:xfrm xmlns:a="http://schemas.openxmlformats.org/drawingml/2006/main">
            <a:off x="361950" y="1352550"/>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7F8A"/>
                </a:solidFill>
                <a:latin typeface="Calibri"/>
                <a:ea typeface="Calibri"/>
                <a:cs typeface="Calibri"/>
              </a:defRPr>
            </a:defPPr>
          </a:lstStyle>
          <a:p xmlns:a="http://schemas.openxmlformats.org/drawingml/2006/main">
            <a:pPr algn="l">
              <a:defRPr sz="3000" b="1">
                <a:solidFill>
                  <a:srgbClr val="0B7F8A"/>
                </a:solidFill>
                <a:latin typeface="Calibri"/>
                <a:ea typeface="Calibri"/>
                <a:cs typeface="Calibri"/>
              </a:defRPr>
            </a:pPr>
            <a:r>
              <a:rPr sz="3000" b="1">
                <a:solidFill>
                  <a:srgbClr val="0B7F8A"/>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F546DFF8-FCC3-41E5-84BF-8C8280448D9B}"/>
              </a:ext>
            </a:extLst>
          </p:cNvPr>
          <p:cNvSpPr>
            <a:spLocks xmlns:a="http://schemas.openxmlformats.org/drawingml/2006/main" noGrp="1"/>
          </p:cNvSpPr>
          <p:nvPr/>
        </p:nvSpPr>
        <p:spPr>
          <a:xfrm xmlns:a="http://schemas.openxmlformats.org/drawingml/2006/main">
            <a:off x="361950" y="19431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9662ED1E-13E4-4DEE-B8E7-713C3913689A}"/>
              </a:ext>
            </a:extLst>
          </p:cNvPr>
          <p:cNvSpPr>
            <a:spLocks xmlns:a="http://schemas.openxmlformats.org/drawingml/2006/main" noGrp="1"/>
          </p:cNvSpPr>
          <p:nvPr/>
        </p:nvSpPr>
        <p:spPr>
          <a:xfrm xmlns:a="http://schemas.openxmlformats.org/drawingml/2006/main">
            <a:off x="361950" y="2447925"/>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Sample SD 4.436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Median 21.135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40CBF800-4674-4A03-BCAD-F1E5BA7B11AD}"/>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aedbbd7129954b08"/>
          </a:graphicData>
        </a:graphic>
      </p:graphicFrame>
      <p:sp>
        <p:nvSpPr>
          <p:cNvPr id="8" name="Duration bins in seconds">
            <a:extLst xmlns:a="http://schemas.openxmlformats.org/drawingml/2006/main">
              <a:ext uri="{FF2B5EF4-FFF2-40B4-BE49-F238E27FC236}">
                <a16:creationId xmlns:a16="http://schemas.microsoft.com/office/drawing/2014/main" id="{A856FE5C-F00D-45DA-B48E-4C2C77797704}"/>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16385"/>
                </a:solidFill>
                <a:latin typeface="Calibri"/>
                <a:ea typeface="Calibri"/>
                <a:cs typeface="Calibri"/>
              </a:defRPr>
            </a:defPPr>
          </a:lstStyle>
          <a:p xmlns:a="http://schemas.openxmlformats.org/drawingml/2006/main">
            <a:pPr algn="ctr">
              <a:defRPr sz="1425" b="0">
                <a:solidFill>
                  <a:srgbClr val="516385"/>
                </a:solidFill>
                <a:latin typeface="Calibri"/>
                <a:ea typeface="Calibri"/>
                <a:cs typeface="Calibri"/>
              </a:defRPr>
            </a:pPr>
            <a:r>
              <a:rPr sz="1425" b="0">
                <a:solidFill>
                  <a:srgbClr val="516385"/>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FAD9FE2C-172C-4127-8A24-9FFFC48E5C6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210923402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F06A16FD-F198-45DA-A44D-B6B768D43660}"/>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4AD02C17-AC18-4212-AE49-2BA57CA28E0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Entry Spacing and Rate</a:t>
            </a:r>
          </a:p>
        </p:txBody>
      </p:sp>
      <p:sp>
        <p:nvSpPr>
          <p:cNvPr id="3" name="16 / 24">
            <a:extLst xmlns:a="http://schemas.openxmlformats.org/drawingml/2006/main">
              <a:ext uri="{FF2B5EF4-FFF2-40B4-BE49-F238E27FC236}">
                <a16:creationId xmlns:a16="http://schemas.microsoft.com/office/drawing/2014/main" id="{DDEA3A49-1E75-46D6-8C4C-CD9E358A060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79711BE6-E9FE-4256-97C2-14254BE80584}"/>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Intervals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Mean Spacing 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Recorded Rate / min</a:t>
                      </a:r>
                    </a:p>
                  </a:txBody>
                  <a:tcPr marL="85725" marR="85725" marT="28575" marB="28575" anchor="ctr">
                    <a:solidFill>
                      <a:srgbClr val="E2E8F0"/>
                    </a:solidFill>
                  </a:tcPr>
                </a:tc>
              </a:tr>
              <a:tr h="469106">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2.730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21.98</a:t>
                      </a:r>
                    </a:p>
                  </a:txBody>
                  <a:tcPr marL="85725" marR="85725" marT="28575" marB="28575" anchor="ctr">
                    <a:solidFill>
                      <a:srgbClr val="FFFFFF"/>
                    </a:solidFill>
                  </a:tcPr>
                </a:tc>
              </a:tr>
              <a:tr h="469106">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8.048</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7.46</a:t>
                      </a:r>
                    </a:p>
                  </a:txBody>
                  <a:tcPr marL="85725" marR="85725" marT="28575" marB="28575" anchor="ctr">
                    <a:solidFill>
                      <a:srgbClr val="F8FAFC"/>
                    </a:solidFill>
                  </a:tcPr>
                </a:tc>
              </a:tr>
              <a:tr h="469106">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12.129</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4.95</a:t>
                      </a:r>
                    </a:p>
                  </a:txBody>
                  <a:tcPr marL="85725" marR="85725" marT="28575" marB="28575" anchor="ctr">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C072E56F-D003-4033-98F9-B5BEB1532F47}"/>
              </a:ext>
            </a:extLst>
          </p:cNvPr>
          <p:cNvSpPr>
            <a:spLocks xmlns:a="http://schemas.openxmlformats.org/drawingml/2006/main" noGrp="1"/>
          </p:cNvSpPr>
          <p:nvPr/>
        </p:nvSpPr>
        <p:spPr>
          <a:xfrm xmlns:a="http://schemas.openxmlformats.org/drawingml/2006/main">
            <a:off x="36195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6F0BB382-9E77-4250-B8E3-18DB1901FEE2}"/>
              </a:ext>
            </a:extLst>
          </p:cNvPr>
          <p:cNvSpPr>
            <a:spLocks xmlns:a="http://schemas.openxmlformats.org/drawingml/2006/main" noGrp="1"/>
          </p:cNvSpPr>
          <p:nvPr/>
        </p:nvSpPr>
        <p:spPr>
          <a:xfrm xmlns:a="http://schemas.openxmlformats.org/drawingml/2006/main">
            <a:off x="36195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A282E3A1-5980-452C-ADB9-6D73AC41F8FC}"/>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12232119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45E78B7E-D4E2-4D77-8C88-AF4C8EA27DF5}"/>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049E3D78-B0F3-4235-A48E-7AE55737C45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Credential Decisions and Security Conditions</a:t>
            </a:r>
          </a:p>
        </p:txBody>
      </p:sp>
      <p:sp>
        <p:nvSpPr>
          <p:cNvPr id="3" name="17 / 24">
            <a:extLst xmlns:a="http://schemas.openxmlformats.org/drawingml/2006/main">
              <a:ext uri="{FF2B5EF4-FFF2-40B4-BE49-F238E27FC236}">
                <a16:creationId xmlns:a16="http://schemas.microsoft.com/office/drawing/2014/main" id="{510813BE-0ED2-4F4C-AAF2-CC95187FE992}"/>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6DFE0D5D-8B15-4FB3-B792-FC8179502CC9}"/>
              </a:ext>
            </a:extLst>
          </p:cNvPr>
          <p:cNvSpPr>
            <a:spLocks xmlns:a="http://schemas.openxmlformats.org/drawingml/2006/main" noGrp="1"/>
          </p:cNvSpPr>
          <p:nvPr/>
        </p:nvSpPr>
        <p:spPr>
          <a:xfrm xmlns:a="http://schemas.openxmlformats.org/drawingml/2006/main">
            <a:off x="3619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BB2EDA1D-A0FF-4CD8-9CE6-66F3D5A8D9CB}"/>
              </a:ext>
            </a:extLst>
          </p:cNvPr>
          <p:cNvSpPr>
            <a:spLocks xmlns:a="http://schemas.openxmlformats.org/drawingml/2006/main" noGrp="1"/>
          </p:cNvSpPr>
          <p:nvPr/>
        </p:nvSpPr>
        <p:spPr>
          <a:xfrm xmlns:a="http://schemas.openxmlformats.org/drawingml/2006/main">
            <a:off x="3619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222 / 222 correct applicable</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D4FFC07A-5CE9-4E73-BC98-38DC20971679}"/>
              </a:ext>
            </a:extLst>
          </p:cNvPr>
          <p:cNvSpPr>
            <a:spLocks xmlns:a="http://schemas.openxmlformats.org/drawingml/2006/main" noGrp="1"/>
          </p:cNvSpPr>
          <p:nvPr/>
        </p:nvSpPr>
        <p:spPr>
          <a:xfrm xmlns:a="http://schemas.openxmlformats.org/drawingml/2006/main">
            <a:off x="33337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594AE0C9-ADF4-44F2-96F0-A00D2A418EB8}"/>
              </a:ext>
            </a:extLst>
          </p:cNvPr>
          <p:cNvSpPr>
            <a:spLocks xmlns:a="http://schemas.openxmlformats.org/drawingml/2006/main" noGrp="1"/>
          </p:cNvSpPr>
          <p:nvPr/>
        </p:nvSpPr>
        <p:spPr>
          <a:xfrm xmlns:a="http://schemas.openxmlformats.org/drawingml/2006/main">
            <a:off x="33337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18 / 438 denied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A48266ED-6A01-4228-9E27-61C7F3A3FE8E}"/>
              </a:ext>
            </a:extLst>
          </p:cNvPr>
          <p:cNvSpPr>
            <a:spLocks xmlns:a="http://schemas.openxmlformats.org/drawingml/2006/main" noGrp="1"/>
          </p:cNvSpPr>
          <p:nvPr/>
        </p:nvSpPr>
        <p:spPr>
          <a:xfrm xmlns:a="http://schemas.openxmlformats.org/drawingml/2006/main">
            <a:off x="6305550" y="12858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9C3FFFC0-AD7F-4763-8369-265B31E67C44}"/>
              </a:ext>
            </a:extLst>
          </p:cNvPr>
          <p:cNvSpPr>
            <a:spLocks xmlns:a="http://schemas.openxmlformats.org/drawingml/2006/main" noGrp="1"/>
          </p:cNvSpPr>
          <p:nvPr/>
        </p:nvSpPr>
        <p:spPr>
          <a:xfrm xmlns:a="http://schemas.openxmlformats.org/drawingml/2006/main">
            <a:off x="6305550" y="185737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 / 152 newly triggered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PIN lockouts</a:t>
            </a:r>
          </a:p>
        </p:txBody>
      </p:sp>
      <p:graphicFrame>
        <p:nvGraphicFramePr>
          <p:cNvPr id="10" name="">
            <a:extLst xmlns:a="http://schemas.openxmlformats.org/drawingml/2006/main">
              <a:ext uri="{FF2B5EF4-FFF2-40B4-BE49-F238E27FC236}">
                <a16:creationId xmlns:a16="http://schemas.microsoft.com/office/drawing/2014/main" id="{48733DC3-CF1F-4175-B385-D0FED3CC0B18}"/>
              </a:ext>
            </a:extLst>
          </p:cNvPr>
          <p:cNvGraphicFramePr/>
          <p:nvPr/>
        </p:nvGraphicFramePr>
        <p:xfrm>
          <a:off xmlns:a="http://schemas.openxmlformats.org/drawingml/2006/main" x="304800" y="2562225"/>
          <a:ext xmlns:a="http://schemas.openxmlformats.org/drawingml/2006/main" cx="4953000" cy="1733550"/>
        </p:xfrm>
        <a:graphic xmlns:a="http://schemas.openxmlformats.org/drawingml/2006/main">
          <a:graphicData uri="http://schemas.openxmlformats.org/drawingml/2006/table">
            <a:tbl>
              <a:tblPr/>
              <a:tblGrid>
                <a:gridCol w="4238625"/>
                <a:gridCol w="714375"/>
              </a:tblGrid>
              <a:tr h="288925">
                <a:tc>
                  <a:txBody>
                    <a:bodyPr lIns="0" tIns="0" rIns="0" bIns="0">
                      <a:noAutofit/>
                    </a:bodyPr>
                    <a:lstStyle/>
                    <a:p>
                      <a:pPr algn="l"/>
                      <a:r>
                        <a:rPr sz="1500" b="1">
                          <a:solidFill>
                            <a:srgbClr val="0B7F8A"/>
                          </a:solidFill>
                          <a:latin typeface="Calibri"/>
                          <a:ea typeface="Calibri"/>
                          <a:cs typeface="Calibri"/>
                        </a:rPr>
                        <a:t>Recorded Denial Condition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Count</a:t>
                      </a:r>
                    </a:p>
                  </a:txBody>
                  <a:tcPr marL="85725" marR="85725" marT="28575" marB="28575" anchor="ctr">
                    <a:solidFill>
                      <a:srgbClr val="E2E8F0"/>
                    </a:solidFill>
                  </a:tcPr>
                </a:tc>
              </a:tr>
              <a:tr h="288925">
                <a:tc>
                  <a:txBody>
                    <a:bodyPr lIns="0" tIns="0" rIns="0" bIns="0">
                      <a:noAutofit/>
                    </a:bodyPr>
                    <a:lstStyle/>
                    <a:p>
                      <a:pPr algn="l"/>
                      <a:r>
                        <a:rPr sz="1500" b="0">
                          <a:solidFill>
                            <a:srgbClr val="334155"/>
                          </a:solidFill>
                          <a:latin typeface="Calibri"/>
                          <a:ea typeface="Calibri"/>
                          <a:cs typeface="Calibri"/>
                        </a:rPr>
                        <a:t>Incorrect PIN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8</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Consecutive-entry state violation</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New PIN lockout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QR mismatch</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Irregular exit state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a:t>
                      </a:r>
                    </a:p>
                  </a:txBody>
                  <a:tcPr marL="85725" marR="85725" marT="28575" marB="28575" anchor="ctr">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790CDF6D-76AB-46DE-80F9-85606B1E39AF}"/>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791B9AD0-531B-458B-8A43-6A783628CF1C}"/>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16515851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91A60909-A2F9-41B4-B552-81EBDDB20A4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2ADB1C25-788A-4ADC-BEE0-FC3E344FFE0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and System Student Survey Ratings</a:t>
            </a:r>
          </a:p>
        </p:txBody>
      </p:sp>
      <p:sp>
        <p:nvSpPr>
          <p:cNvPr id="3" name="18 / 24">
            <a:extLst xmlns:a="http://schemas.openxmlformats.org/drawingml/2006/main">
              <a:ext uri="{FF2B5EF4-FFF2-40B4-BE49-F238E27FC236}">
                <a16:creationId xmlns:a16="http://schemas.microsoft.com/office/drawing/2014/main" id="{A21548DA-6F3C-49F4-A82C-026D2B1E4205}"/>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B3CDDA93-1ABA-4649-B7AF-478DD2C775AA}"/>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a1ca9f7d284f4a13"/>
          </a:graphicData>
        </a:graphic>
      </p:graphicFrame>
      <p:sp>
        <p:nvSpPr>
          <p:cNvPr id="5" name="Largest descriptive difference: Performance E">
            <a:extLst xmlns:a="http://schemas.openxmlformats.org/drawingml/2006/main">
              <a:ext uri="{FF2B5EF4-FFF2-40B4-BE49-F238E27FC236}">
                <a16:creationId xmlns:a16="http://schemas.microsoft.com/office/drawing/2014/main" id="{A83A3D6F-454B-43EC-9B21-7889E5EEBA50}"/>
              </a:ext>
            </a:extLst>
          </p:cNvPr>
          <p:cNvSpPr>
            <a:spLocks xmlns:a="http://schemas.openxmlformats.org/drawingml/2006/main" noGrp="1"/>
          </p:cNvSpPr>
          <p:nvPr/>
        </p:nvSpPr>
        <p:spPr>
          <a:xfrm xmlns:a="http://schemas.openxmlformats.org/drawingml/2006/main">
            <a:off x="36195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F12AE356-87C7-499E-A3EB-11ADB8CB0130}"/>
              </a:ext>
            </a:extLst>
          </p:cNvPr>
          <p:cNvSpPr>
            <a:spLocks xmlns:a="http://schemas.openxmlformats.org/drawingml/2006/main" noGrp="1"/>
          </p:cNvSpPr>
          <p:nvPr/>
        </p:nvSpPr>
        <p:spPr>
          <a:xfrm xmlns:a="http://schemas.openxmlformats.org/drawingml/2006/main">
            <a:off x="304800" y="4524375"/>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1395932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D2AB7AD6-DFFB-4FC2-AE04-D0CE362A91E3}"/>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87CD7B23-A864-4D97-B26E-49057F4F697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Proposed-System Evaluation by Group</a:t>
            </a:r>
          </a:p>
        </p:txBody>
      </p:sp>
      <p:sp>
        <p:nvSpPr>
          <p:cNvPr id="3" name="19 / 24">
            <a:extLst xmlns:a="http://schemas.openxmlformats.org/drawingml/2006/main">
              <a:ext uri="{FF2B5EF4-FFF2-40B4-BE49-F238E27FC236}">
                <a16:creationId xmlns:a16="http://schemas.microsoft.com/office/drawing/2014/main" id="{BAFFC147-6064-4187-BDB9-B7570568C2D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91320D3D-B05D-4478-97E0-13FB40957DF0}"/>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aafc9d0e672c457b"/>
          </a:graphicData>
        </a:graphic>
      </p:graphicFrame>
      <p:sp>
        <p:nvSpPr>
          <p:cNvPr id="5" name="Highly Satisfactory">
            <a:extLst xmlns:a="http://schemas.openxmlformats.org/drawingml/2006/main">
              <a:ext uri="{FF2B5EF4-FFF2-40B4-BE49-F238E27FC236}">
                <a16:creationId xmlns:a16="http://schemas.microsoft.com/office/drawing/2014/main" id="{D94A2303-1DF1-4DFB-B642-19936AA1C1C2}"/>
              </a:ext>
            </a:extLst>
          </p:cNvPr>
          <p:cNvSpPr>
            <a:spLocks xmlns:a="http://schemas.openxmlformats.org/drawingml/2006/main" noGrp="1"/>
          </p:cNvSpPr>
          <p:nvPr/>
        </p:nvSpPr>
        <p:spPr>
          <a:xfrm xmlns:a="http://schemas.openxmlformats.org/drawingml/2006/main">
            <a:off x="5467350" y="13716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7F8A"/>
                </a:solidFill>
                <a:latin typeface="Calibri"/>
                <a:ea typeface="Calibri"/>
                <a:cs typeface="Calibri"/>
              </a:defRPr>
            </a:defPPr>
          </a:lstStyle>
          <a:p xmlns:a="http://schemas.openxmlformats.org/drawingml/2006/main">
            <a:pPr algn="l">
              <a:defRPr sz="1950" b="1">
                <a:solidFill>
                  <a:srgbClr val="0B7F8A"/>
                </a:solidFill>
                <a:latin typeface="Calibri"/>
                <a:ea typeface="Calibri"/>
                <a:cs typeface="Calibri"/>
              </a:defRPr>
            </a:pPr>
            <a:r>
              <a:rPr sz="1950" b="1">
                <a:solidFill>
                  <a:srgbClr val="0B7F8A"/>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7763E610-FEFB-4B04-AFF4-4D0404296581}"/>
              </a:ext>
            </a:extLst>
          </p:cNvPr>
          <p:cNvSpPr>
            <a:spLocks xmlns:a="http://schemas.openxmlformats.org/drawingml/2006/main" noGrp="1"/>
          </p:cNvSpPr>
          <p:nvPr/>
        </p:nvSpPr>
        <p:spPr>
          <a:xfrm xmlns:a="http://schemas.openxmlformats.org/drawingml/2006/main">
            <a:off x="5467350" y="1790700"/>
            <a:ext cx="319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E0E1123F-6B5F-41B1-80B6-93B93DFF078F}"/>
              </a:ext>
            </a:extLst>
          </p:cNvPr>
          <p:cNvSpPr>
            <a:spLocks xmlns:a="http://schemas.openxmlformats.org/drawingml/2006/main" noGrp="1"/>
          </p:cNvSpPr>
          <p:nvPr/>
        </p:nvSpPr>
        <p:spPr>
          <a:xfrm xmlns:a="http://schemas.openxmlformats.org/drawingml/2006/main">
            <a:off x="5467350" y="2571750"/>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Security personnel: five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Lowest category mean: Performance Efficiency, 3.45.</a:t>
            </a:r>
          </a:p>
        </p:txBody>
      </p:sp>
      <p:sp>
        <p:nvSpPr>
          <p:cNvPr id="8" name="Administrative group: eight categories&#10;Portab">
            <a:extLst xmlns:a="http://schemas.openxmlformats.org/drawingml/2006/main">
              <a:ext uri="{FF2B5EF4-FFF2-40B4-BE49-F238E27FC236}">
                <a16:creationId xmlns:a16="http://schemas.microsoft.com/office/drawing/2014/main" id="{028EBC68-2C58-432D-9A7D-5E47E6A227D5}"/>
              </a:ext>
            </a:extLst>
          </p:cNvPr>
          <p:cNvSpPr>
            <a:spLocks xmlns:a="http://schemas.openxmlformats.org/drawingml/2006/main" noGrp="1"/>
          </p:cNvSpPr>
          <p:nvPr/>
        </p:nvSpPr>
        <p:spPr>
          <a:xfrm xmlns:a="http://schemas.openxmlformats.org/drawingml/2006/main">
            <a:off x="5467350" y="3476625"/>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Administrative group: eight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Portability 3.92, 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219A4495-718F-40F9-B516-A506FF71813B}"/>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4922285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55E1EFCD-360F-4EE5-87FF-8807079566D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A0667A5A-A218-4544-B544-6F91A051A82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Welch Test of Overall Survey Scores</a:t>
            </a:r>
          </a:p>
        </p:txBody>
      </p:sp>
      <p:sp>
        <p:nvSpPr>
          <p:cNvPr id="3" name="20 / 24">
            <a:extLst xmlns:a="http://schemas.openxmlformats.org/drawingml/2006/main">
              <a:ext uri="{FF2B5EF4-FFF2-40B4-BE49-F238E27FC236}">
                <a16:creationId xmlns:a16="http://schemas.microsoft.com/office/drawing/2014/main" id="{86647F9C-9649-4B77-85FB-34E784EE8BDD}"/>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5E124B2D-7B1C-4AB3-A22A-00E88833DCEB}"/>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0" tIns="0" rIns="0" bIns="0">
                      <a:noAutofit/>
                    </a:bodyPr>
                    <a:lstStyle/>
                    <a:p>
                      <a:pPr algn="l"/>
                      <a:r>
                        <a:rPr sz="1725" b="1">
                          <a:solidFill>
                            <a:srgbClr val="0B7F8A"/>
                          </a:solidFill>
                          <a:latin typeface="Calibri"/>
                          <a:ea typeface="Calibri"/>
                          <a:cs typeface="Calibri"/>
                        </a:rPr>
                        <a:t>Group</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Overall Mean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Composite Sample SD</a:t>
                      </a:r>
                    </a:p>
                  </a:txBody>
                  <a:tcPr marL="85725" marR="85725" marT="28575" marB="28575" anchor="ctr">
                    <a:solidFill>
                      <a:srgbClr val="E2E8F0"/>
                    </a:solidFill>
                  </a:tcPr>
                </a:tc>
              </a:tr>
              <a:tr h="422275">
                <a:tc>
                  <a:txBody>
                    <a:bodyPr lIns="0" tIns="0" rIns="0" bIns="0">
                      <a:noAutofit/>
                    </a:bodyPr>
                    <a:lstStyle/>
                    <a:p>
                      <a:pPr algn="l"/>
                      <a:r>
                        <a:rPr sz="1725" b="0">
                          <a:solidFill>
                            <a:srgbClr val="334155"/>
                          </a:solidFill>
                          <a:latin typeface="Calibri"/>
                          <a:ea typeface="Calibri"/>
                          <a:cs typeface="Calibri"/>
                        </a:rPr>
                        <a:t>Manual process</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2.284</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0.753</a:t>
                      </a:r>
                    </a:p>
                  </a:txBody>
                  <a:tcPr marL="85725" marR="85725" marT="28575" marB="28575" anchor="ctr">
                    <a:solidFill>
                      <a:srgbClr val="FFFFFF"/>
                    </a:solidFill>
                  </a:tcPr>
                </a:tc>
              </a:tr>
              <a:tr h="422275">
                <a:tc>
                  <a:txBody>
                    <a:bodyPr lIns="0" tIns="0" rIns="0" bIns="0">
                      <a:noAutofit/>
                    </a:bodyPr>
                    <a:lstStyle/>
                    <a:p>
                      <a:pPr algn="l"/>
                      <a:r>
                        <a:rPr sz="1725" b="0">
                          <a:solidFill>
                            <a:srgbClr val="334155"/>
                          </a:solidFill>
                          <a:latin typeface="Calibri"/>
                          <a:ea typeface="Calibri"/>
                          <a:cs typeface="Calibri"/>
                        </a:rPr>
                        <a:t>Proposed system</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3.742</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0.290</a:t>
                      </a:r>
                    </a:p>
                  </a:txBody>
                  <a:tcPr marL="85725" marR="85725" marT="28575" marB="28575" anchor="ctr">
                    <a:solidFill>
                      <a:srgbClr val="F8FAFC"/>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06C28796-D7FF-46E5-B322-3E99A7357051}"/>
              </a:ext>
            </a:extLst>
          </p:cNvPr>
          <p:cNvSpPr>
            <a:spLocks xmlns:a="http://schemas.openxmlformats.org/drawingml/2006/main" noGrp="1"/>
          </p:cNvSpPr>
          <p:nvPr/>
        </p:nvSpPr>
        <p:spPr>
          <a:xfrm xmlns:a="http://schemas.openxmlformats.org/drawingml/2006/main">
            <a:off x="36195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1C56A3EB-8713-4D73-AF5E-152F6592C91B}"/>
              </a:ext>
            </a:extLst>
          </p:cNvPr>
          <p:cNvSpPr>
            <a:spLocks xmlns:a="http://schemas.openxmlformats.org/drawingml/2006/main" noGrp="1"/>
          </p:cNvSpPr>
          <p:nvPr/>
        </p:nvSpPr>
        <p:spPr>
          <a:xfrm xmlns:a="http://schemas.openxmlformats.org/drawingml/2006/main">
            <a:off x="36195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 = sqrt(0.290^2 / 70 + 0.753^2 / 70) = 0.096445</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35A4825F-893C-47CC-A1D8-AE98B4712A2F}"/>
              </a:ext>
            </a:extLst>
          </p:cNvPr>
          <p:cNvSpPr>
            <a:spLocks xmlns:a="http://schemas.openxmlformats.org/drawingml/2006/main" noGrp="1"/>
          </p:cNvSpPr>
          <p:nvPr/>
        </p:nvSpPr>
        <p:spPr>
          <a:xfrm xmlns:a="http://schemas.openxmlformats.org/drawingml/2006/main">
            <a:off x="361950" y="384810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7F8A"/>
                </a:solidFill>
                <a:latin typeface="Calibri"/>
                <a:ea typeface="Calibri"/>
                <a:cs typeface="Calibri"/>
              </a:defRPr>
            </a:defPPr>
          </a:lstStyle>
          <a:p xmlns:a="http://schemas.openxmlformats.org/drawingml/2006/main">
            <a:pPr algn="l">
              <a:defRPr sz="2175" b="1">
                <a:solidFill>
                  <a:srgbClr val="0B7F8A"/>
                </a:solidFill>
                <a:latin typeface="Calibri"/>
                <a:ea typeface="Calibri"/>
                <a:cs typeface="Calibri"/>
              </a:defRPr>
            </a:pPr>
            <a:r>
              <a:rPr sz="2175" b="1">
                <a:solidFill>
                  <a:srgbClr val="0B7F8A"/>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AA42ED2A-9E21-4C66-A903-9A31171A36A9}"/>
              </a:ext>
            </a:extLst>
          </p:cNvPr>
          <p:cNvSpPr>
            <a:spLocks xmlns:a="http://schemas.openxmlformats.org/drawingml/2006/main" noGrp="1"/>
          </p:cNvSpPr>
          <p:nvPr/>
        </p:nvSpPr>
        <p:spPr>
          <a:xfrm xmlns:a="http://schemas.openxmlformats.org/drawingml/2006/main">
            <a:off x="5286375" y="38004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Difference 1.458 points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941B3BAA-74D9-4BC3-ACA6-5A162C9463CF}"/>
              </a:ext>
            </a:extLst>
          </p:cNvPr>
          <p:cNvSpPr>
            <a:spLocks xmlns:a="http://schemas.openxmlformats.org/drawingml/2006/main" noGrp="1"/>
          </p:cNvSpPr>
          <p:nvPr/>
        </p:nvSpPr>
        <p:spPr>
          <a:xfrm xmlns:a="http://schemas.openxmlformats.org/drawingml/2006/main">
            <a:off x="304800" y="45529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9939039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BB4AD7EE-6A98-4C9F-A127-0B8DFFD4BD6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90ADA05A-C48D-403A-BA76-9A43319F7AB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Discussion and Study Limitations</a:t>
            </a:r>
          </a:p>
        </p:txBody>
      </p:sp>
      <p:sp>
        <p:nvSpPr>
          <p:cNvPr id="3" name="21 / 24">
            <a:extLst xmlns:a="http://schemas.openxmlformats.org/drawingml/2006/main">
              <a:ext uri="{FF2B5EF4-FFF2-40B4-BE49-F238E27FC236}">
                <a16:creationId xmlns:a16="http://schemas.microsoft.com/office/drawing/2014/main" id="{7A57D7C9-84B8-4D92-8102-26A50E1E2763}"/>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B7733479-D369-4AE2-B1A4-0EE9D90F0869}"/>
              </a:ext>
            </a:extLst>
          </p:cNvPr>
          <p:cNvSpPr>
            <a:spLocks xmlns:a="http://schemas.openxmlformats.org/drawingml/2006/main" noGrp="1"/>
          </p:cNvSpPr>
          <p:nvPr/>
        </p:nvSpPr>
        <p:spPr>
          <a:xfrm xmlns:a="http://schemas.openxmlformats.org/drawingml/2006/main">
            <a:off x="36195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Recorded capability</a:t>
            </a:r>
          </a:p>
        </p:txBody>
      </p:sp>
      <p:sp>
        <p:nvSpPr>
          <p:cNvPr id="5" name="The prototype applied configured rules in the">
            <a:extLst xmlns:a="http://schemas.openxmlformats.org/drawingml/2006/main">
              <a:ext uri="{FF2B5EF4-FFF2-40B4-BE49-F238E27FC236}">
                <a16:creationId xmlns:a16="http://schemas.microsoft.com/office/drawing/2014/main" id="{3F559C4A-3E22-494D-B6E9-66BF62185D16}"/>
              </a:ext>
            </a:extLst>
          </p:cNvPr>
          <p:cNvSpPr>
            <a:spLocks xmlns:a="http://schemas.openxmlformats.org/drawingml/2006/main" noGrp="1"/>
          </p:cNvSpPr>
          <p:nvPr/>
        </p:nvSpPr>
        <p:spPr>
          <a:xfrm xmlns:a="http://schemas.openxmlformats.org/drawingml/2006/main">
            <a:off x="36195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The prototype applied configured rules in the recorded tests. Logical re-entry rejection does not establish physical tailgating prevention.</a:t>
            </a:r>
          </a:p>
        </p:txBody>
      </p:sp>
      <p:sp>
        <p:nvSpPr>
          <p:cNvPr id="6" name="Timing interpretation">
            <a:extLst xmlns:a="http://schemas.openxmlformats.org/drawingml/2006/main">
              <a:ext uri="{FF2B5EF4-FFF2-40B4-BE49-F238E27FC236}">
                <a16:creationId xmlns:a16="http://schemas.microsoft.com/office/drawing/2014/main" id="{DA6EF2EA-33E2-4B6D-AF19-24348FE1E67D}"/>
              </a:ext>
            </a:extLst>
          </p:cNvPr>
          <p:cNvSpPr>
            <a:spLocks xmlns:a="http://schemas.openxmlformats.org/drawingml/2006/main" noGrp="1"/>
          </p:cNvSpPr>
          <p:nvPr/>
        </p:nvSpPr>
        <p:spPr>
          <a:xfrm xmlns:a="http://schemas.openxmlformats.org/drawingml/2006/main">
            <a:off x="36195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992FA6BB-1019-4E5A-9F38-82DDC3116FB8}"/>
              </a:ext>
            </a:extLst>
          </p:cNvPr>
          <p:cNvSpPr>
            <a:spLocks xmlns:a="http://schemas.openxmlformats.org/drawingml/2006/main" noGrp="1"/>
          </p:cNvSpPr>
          <p:nvPr/>
        </p:nvSpPr>
        <p:spPr>
          <a:xfrm xmlns:a="http://schemas.openxmlformats.org/drawingml/2006/main">
            <a:off x="36195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5BC35CBF-8DE5-494D-B24C-E5E13E4A9D07}"/>
              </a:ext>
            </a:extLst>
          </p:cNvPr>
          <p:cNvSpPr>
            <a:spLocks xmlns:a="http://schemas.openxmlformats.org/drawingml/2006/main" noGrp="1"/>
          </p:cNvSpPr>
          <p:nvPr/>
        </p:nvSpPr>
        <p:spPr>
          <a:xfrm xmlns:a="http://schemas.openxmlformats.org/drawingml/2006/main">
            <a:off x="36195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639B6735-A98F-40C3-B18B-97672554D8C9}"/>
              </a:ext>
            </a:extLst>
          </p:cNvPr>
          <p:cNvSpPr>
            <a:spLocks xmlns:a="http://schemas.openxmlformats.org/drawingml/2006/main" noGrp="1"/>
          </p:cNvSpPr>
          <p:nvPr/>
        </p:nvSpPr>
        <p:spPr>
          <a:xfrm xmlns:a="http://schemas.openxmlformats.org/drawingml/2006/main">
            <a:off x="36195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045260591"/>
      </p:ext>
    </p:extLst>
  </p:cSld>
</p:sld>
</file>

<file path=ppt/slides/slide22.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CFDA0A24-710C-4ACC-A281-CA06D1976ADC}"/>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E0419B8A-1196-4ADF-88A6-82958247B455}"/>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Conclusion</a:t>
            </a:r>
          </a:p>
        </p:txBody>
      </p:sp>
      <p:sp>
        <p:nvSpPr>
          <p:cNvPr id="3" name="22 / 24">
            <a:extLst xmlns:a="http://schemas.openxmlformats.org/drawingml/2006/main">
              <a:ext uri="{FF2B5EF4-FFF2-40B4-BE49-F238E27FC236}">
                <a16:creationId xmlns:a16="http://schemas.microsoft.com/office/drawing/2014/main" id="{08015E77-E349-46DA-9106-0A59BD936979}"/>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A6BE3167-8E9C-4E44-8ED9-14AE5694B710}"/>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5520077A-D405-42AF-B904-32642EA0A450}"/>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8678D046-8045-43F7-A0C3-7A12C832B3D2}"/>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Supported findings</a:t>
            </a:r>
          </a:p>
        </p:txBody>
      </p:sp>
      <p:sp>
        <p:nvSpPr>
          <p:cNvPr id="7" name="Controlled credential decisions matched expec">
            <a:extLst xmlns:a="http://schemas.openxmlformats.org/drawingml/2006/main">
              <a:ext uri="{FF2B5EF4-FFF2-40B4-BE49-F238E27FC236}">
                <a16:creationId xmlns:a16="http://schemas.microsoft.com/office/drawing/2014/main" id="{1F539E15-3443-4717-AA08-D4BE6CA4F7CA}"/>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Controlled credential decisions matched expected outcomes. Respondents reported favorable perceived quality and higher overall system-group student ratings.</a:t>
            </a:r>
          </a:p>
        </p:txBody>
      </p:sp>
      <p:sp>
        <p:nvSpPr>
          <p:cNvPr id="8" name="Scope of the conclusion">
            <a:extLst xmlns:a="http://schemas.openxmlformats.org/drawingml/2006/main">
              <a:ext uri="{FF2B5EF4-FFF2-40B4-BE49-F238E27FC236}">
                <a16:creationId xmlns:a16="http://schemas.microsoft.com/office/drawing/2014/main" id="{5945879C-040E-43FD-BA76-2805CD3CDE36}"/>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4A36AAF6-0C83-404F-B131-3CB6115EED82}"/>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627677640"/>
      </p:ext>
    </p:extLst>
  </p:cSld>
</p:sld>
</file>

<file path=ppt/slides/slide23.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9EF1DBE8-5B20-4818-B1EE-016A514D08AD}"/>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45D63863-AA63-4A38-926B-01B5B63BC28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Recommendations for Further Evaluation</a:t>
            </a:r>
          </a:p>
        </p:txBody>
      </p:sp>
      <p:sp>
        <p:nvSpPr>
          <p:cNvPr id="3" name="23 / 24">
            <a:extLst xmlns:a="http://schemas.openxmlformats.org/drawingml/2006/main">
              <a:ext uri="{FF2B5EF4-FFF2-40B4-BE49-F238E27FC236}">
                <a16:creationId xmlns:a16="http://schemas.microsoft.com/office/drawing/2014/main" id="{E941828F-1A02-4DAF-AA2D-0693CAC8CA85}"/>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8B22D587-135F-47B2-BF88-9CAC8A86709E}"/>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D8F6C159-2FEF-40E4-926A-FCB1E3B61923}"/>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0DC90129-0F2C-4CF7-A84E-A5D8E0D2D9B3}"/>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2945A169-000C-4891-A97E-3DABB5EB3525}"/>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EF77EEEF-D815-4CE8-B907-136D65FA975E}"/>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431040CB-E31C-49C7-A2C8-B7A992DD6A31}"/>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442901898"/>
      </p:ext>
    </p:extLst>
  </p:cSld>
</p:sld>
</file>

<file path=ppt/slides/slide24.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pic>
        <p:nvPicPr>
          <p:cNvPr id="543" name="Google Shape;543;p21">
            <a:extLst xmlns:a="http://schemas.openxmlformats.org/drawingml/2006/main">
              <a:ext uri="{FF2B5EF4-FFF2-40B4-BE49-F238E27FC236}">
                <a16:creationId xmlns:a16="http://schemas.microsoft.com/office/drawing/2014/main" id="{573EB29B-910E-406B-808D-FD9A8C2BA10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9900b57fd94241">
            <a:alphaModFix/>
          </a:blip>
          <a:srcRect xmlns:a="http://schemas.openxmlformats.org/drawingml/2006/main" l="0" t="0" r="0" b="0"/>
          <a:stretch xmlns:a="http://schemas.openxmlformats.org/drawingml/2006/main"/>
        </p:blipFill>
        <p:spPr>
          <a:xfrm xmlns:a="http://schemas.openxmlformats.org/drawingml/2006/main">
            <a:off x="2081213" y="1128713"/>
            <a:ext cx="4981500" cy="2886000"/>
          </a:xfrm>
          <a:prstGeom xmlns:a="http://schemas.openxmlformats.org/drawingml/2006/main" prst="rect">
            <a:avLst/>
          </a:prstGeom>
          <a:ln xmlns:a="http://schemas.openxmlformats.org/drawingml/2006/main">
            <a:noFill/>
          </a:ln>
        </p:spPr>
      </p:pic>
      <p:sp>
        <p:nvSpPr>
          <p:cNvPr id="545" name="Google Shape;545;p21">
            <a:extLst xmlns:a="http://schemas.openxmlformats.org/drawingml/2006/main">
              <a:ext uri="{FF2B5EF4-FFF2-40B4-BE49-F238E27FC236}">
                <a16:creationId xmlns:a16="http://schemas.microsoft.com/office/drawing/2014/main" id="{2C8330A0-5492-4100-B243-673D2A1494A2}"/>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24 / 24</a:t>
            </a:r>
            <a:endParaRPr sz="700" b="0" i="0" u="none" strike="noStrike" cap="none">
              <a:solidFill>
                <a:schemeClr val="dk1"/>
              </a:solidFill>
              <a:latin typeface="Calibri"/>
              <a:ea typeface="Calibri"/>
              <a:cs typeface="Calibri"/>
            </a:endParaRPr>
          </a:p>
        </p:txBody>
      </p:sp>
      <p:sp>
        <p:nvSpPr>
          <p:cNvPr id="546" name="SYSTEM DEMONSTRATION">
            <a:extLst xmlns:a="http://schemas.openxmlformats.org/drawingml/2006/main">
              <a:ext uri="{FF2B5EF4-FFF2-40B4-BE49-F238E27FC236}">
                <a16:creationId xmlns:a16="http://schemas.microsoft.com/office/drawing/2014/main" id="{A366B179-A138-4C78-B61E-5FA7E93BD368}"/>
              </a:ext>
            </a:extLst>
          </p:cNvPr>
          <p:cNvSpPr>
            <a:spLocks xmlns:a="http://schemas.openxmlformats.org/drawingml/2006/main" noGrp="1"/>
          </p:cNvSpPr>
          <p:nvPr/>
        </p:nvSpPr>
        <p:spPr>
          <a:xfrm xmlns:a="http://schemas.openxmlformats.org/drawingml/2006/main">
            <a:off x="1238250" y="14859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5EC4CE"/>
                </a:solidFill>
                <a:latin typeface="Inter"/>
                <a:ea typeface="Inter"/>
                <a:cs typeface="Inter"/>
              </a:defRPr>
            </a:defPPr>
          </a:lstStyle>
          <a:p xmlns:a="http://schemas.openxmlformats.org/drawingml/2006/main">
            <a:pPr algn="ctr">
              <a:defRPr sz="1575" b="1">
                <a:solidFill>
                  <a:srgbClr val="5EC4CE"/>
                </a:solidFill>
                <a:latin typeface="Inter"/>
                <a:ea typeface="Inter"/>
                <a:cs typeface="Inter"/>
              </a:defRPr>
            </a:pPr>
            <a:r>
              <a:rPr sz="1575" b="1">
                <a:solidFill>
                  <a:srgbClr val="5EC4CE"/>
                </a:solidFill>
                <a:latin typeface="Inter"/>
                <a:ea typeface="Inter"/>
                <a:cs typeface="Inter"/>
              </a:rPr>
              <a:t>SYSTEM DEMONSTRATION</a:t>
            </a:r>
          </a:p>
        </p:txBody>
      </p:sp>
      <p:sp>
        <p:nvSpPr>
          <p:cNvPr id="547" name="Live Demo and Questions">
            <a:extLst xmlns:a="http://schemas.openxmlformats.org/drawingml/2006/main">
              <a:ext uri="{FF2B5EF4-FFF2-40B4-BE49-F238E27FC236}">
                <a16:creationId xmlns:a16="http://schemas.microsoft.com/office/drawing/2014/main" id="{9B3C2EAC-192C-40AB-A687-430C9F2CC02E}"/>
              </a:ext>
            </a:extLst>
          </p:cNvPr>
          <p:cNvSpPr>
            <a:spLocks xmlns:a="http://schemas.openxmlformats.org/drawingml/2006/main" noGrp="1"/>
          </p:cNvSpPr>
          <p:nvPr/>
        </p:nvSpPr>
        <p:spPr>
          <a:xfrm xmlns:a="http://schemas.openxmlformats.org/drawingml/2006/main">
            <a:off x="1095375" y="20669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0">
                <a:solidFill>
                  <a:srgbClr val="FFFFFF"/>
                </a:solidFill>
                <a:latin typeface="Inter"/>
                <a:ea typeface="Inter"/>
                <a:cs typeface="Inter"/>
              </a:defRPr>
            </a:defPPr>
          </a:lstStyle>
          <a:p xmlns:a="http://schemas.openxmlformats.org/drawingml/2006/main">
            <a:pPr algn="ctr">
              <a:defRPr sz="3000" b="0">
                <a:solidFill>
                  <a:srgbClr val="FFFFFF"/>
                </a:solidFill>
                <a:latin typeface="Inter"/>
                <a:ea typeface="Inter"/>
                <a:cs typeface="Inter"/>
              </a:defRPr>
            </a:pPr>
            <a:r>
              <a:rPr sz="3000" b="0">
                <a:solidFill>
                  <a:srgbClr val="FFFFFF"/>
                </a:solidFill>
                <a:latin typeface="Inter"/>
                <a:ea typeface="Inter"/>
                <a:cs typeface="Inter"/>
              </a:rPr>
              <a:t>Live Demo and Questions</a:t>
            </a:r>
          </a:p>
        </p:txBody>
      </p:sp>
      <p:sp>
        <p:nvSpPr>
          <p:cNvPr id="548" name="Configured modes, entry/exit timestamps, aler">
            <a:extLst xmlns:a="http://schemas.openxmlformats.org/drawingml/2006/main">
              <a:ext uri="{FF2B5EF4-FFF2-40B4-BE49-F238E27FC236}">
                <a16:creationId xmlns:a16="http://schemas.microsoft.com/office/drawing/2014/main" id="{418531B6-BA40-43F7-BB98-603EC2140A86}"/>
              </a:ext>
            </a:extLst>
          </p:cNvPr>
          <p:cNvSpPr>
            <a:spLocks xmlns:a="http://schemas.openxmlformats.org/drawingml/2006/main" noGrp="1"/>
          </p:cNvSpPr>
          <p:nvPr/>
        </p:nvSpPr>
        <p:spPr>
          <a:xfrm xmlns:a="http://schemas.openxmlformats.org/drawingml/2006/main">
            <a:off x="1495425" y="2971800"/>
            <a:ext cx="615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C9D8EC"/>
                </a:solidFill>
                <a:latin typeface="Calibri"/>
                <a:ea typeface="Calibri"/>
                <a:cs typeface="Calibri"/>
              </a:defRPr>
            </a:defPPr>
          </a:lstStyle>
          <a:p xmlns:a="http://schemas.openxmlformats.org/drawingml/2006/main">
            <a:pPr algn="ctr">
              <a:defRPr sz="1725" b="0">
                <a:solidFill>
                  <a:srgbClr val="C9D8EC"/>
                </a:solidFill>
                <a:latin typeface="Calibri"/>
                <a:ea typeface="Calibri"/>
                <a:cs typeface="Calibri"/>
              </a:defRPr>
            </a:pPr>
            <a:r>
              <a:rPr sz="1725" b="0">
                <a:solidFill>
                  <a:srgbClr val="C9D8EC"/>
                </a:solidFill>
                <a:latin typeface="Calibri"/>
                <a:ea typeface="Calibri"/>
                <a:cs typeface="Calibri"/>
              </a:rPr>
              <a:t>Configured modes, entry/exit timestamps, alerts, and authorized local cleanup</a:t>
            </a:r>
          </a:p>
        </p:txBody>
      </p:sp>
    </p:spTree>
    <p:extLst>
      <p:ext uri="{BB962C8B-B14F-4D97-AF65-F5344CB8AC3E}">
        <p14:creationId xmlns:p14="http://schemas.microsoft.com/office/powerpoint/2010/main" val="193025643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2026-10-11T16:54:02.8300000Z</dcterms:created>
  <dcterms:modified xsi:type="dcterms:W3CDTF">2026-10-11T16:54:02.8300000Z</dcterms:modified>
</coreProperties>
</file>