
<file path=[Content_Types].xml><?xml version="1.0" encoding="utf-8"?>
<Types xmlns="http://schemas.openxmlformats.org/package/2006/content-types">
  <Default Extension="xml" ContentType="application/vnd.openxmlformats-package.core-properties+xml"/>
  <Default Extension="dat" ContentType="application/x-fontdata"/>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1.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2.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3.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slides/charts/chart4.xml" ContentType="application/vnd.openxmlformats-officedocument.drawingml.chart+xml"/>
  <Override PartName="/ppt/notesSlides/notesSlide18.xml" ContentType="application/vnd.openxmlformats-officedocument.presentationml.notesSlide+xml"/>
  <Override PartName="/ppt/slides/slide19.xml" ContentType="application/vnd.openxmlformats-officedocument.presentationml.slide+xml"/>
  <Override PartName="/ppt/slides/charts/chart5.xml" ContentType="application/vnd.openxmlformats-officedocument.drawingml.chart+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24e11f50e43744e9" /><Relationship Type="http://schemas.openxmlformats.org/officeDocument/2006/relationships/extended-properties" Target="/docProps/app.xml" Id="R155325bcf9b84769" /><Relationship Type="http://schemas.openxmlformats.org/officeDocument/2006/relationships/officeDocument" Target="/ppt/presentation.xml" Id="R19d2403a5fa440c5"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ff1ff997f7e04d4e"/>
  </p:sldMasterIdLst>
  <p:notesMasterIdLst>
    <p:notesMasterId xmlns:r="http://schemas.openxmlformats.org/officeDocument/2006/relationships" r:id="R1c8d3d2f1cbd4ebc"/>
  </p:notesMasterIdLst>
  <p:sldIdLst>
    <p:sldId xmlns:r="http://schemas.openxmlformats.org/officeDocument/2006/relationships" id="256" r:id="R4cfbd5acc10a445f"/>
    <p:sldId xmlns:r="http://schemas.openxmlformats.org/officeDocument/2006/relationships" id="257" r:id="R81a094a55aed413c"/>
    <p:sldId xmlns:r="http://schemas.openxmlformats.org/officeDocument/2006/relationships" id="258" r:id="Rd5c14551d9534d40"/>
    <p:sldId xmlns:r="http://schemas.openxmlformats.org/officeDocument/2006/relationships" id="259" r:id="Rc1de7566423d454e"/>
    <p:sldId xmlns:r="http://schemas.openxmlformats.org/officeDocument/2006/relationships" id="260" r:id="Rada1118db88643a6"/>
    <p:sldId xmlns:r="http://schemas.openxmlformats.org/officeDocument/2006/relationships" id="261" r:id="R34834db9e4344ddb"/>
    <p:sldId xmlns:r="http://schemas.openxmlformats.org/officeDocument/2006/relationships" id="262" r:id="R87d45dc1ee874e80"/>
    <p:sldId xmlns:r="http://schemas.openxmlformats.org/officeDocument/2006/relationships" id="263" r:id="Ra555ae2bd3264962"/>
    <p:sldId xmlns:r="http://schemas.openxmlformats.org/officeDocument/2006/relationships" id="264" r:id="R62390044a9974654"/>
    <p:sldId xmlns:r="http://schemas.openxmlformats.org/officeDocument/2006/relationships" id="265" r:id="R33e784b39369460b"/>
    <p:sldId xmlns:r="http://schemas.openxmlformats.org/officeDocument/2006/relationships" id="266" r:id="R3adeaec8db2a4995"/>
    <p:sldId xmlns:r="http://schemas.openxmlformats.org/officeDocument/2006/relationships" id="267" r:id="Rb3d31df2ff2e4c0f"/>
    <p:sldId xmlns:r="http://schemas.openxmlformats.org/officeDocument/2006/relationships" id="268" r:id="Rc3afb1c2ad1f4f5b"/>
    <p:sldId xmlns:r="http://schemas.openxmlformats.org/officeDocument/2006/relationships" id="269" r:id="Rac4f274a2cff4c99"/>
    <p:sldId xmlns:r="http://schemas.openxmlformats.org/officeDocument/2006/relationships" id="270" r:id="R0ae9c54b0cd14efe"/>
    <p:sldId xmlns:r="http://schemas.openxmlformats.org/officeDocument/2006/relationships" id="271" r:id="R6387ef2c18dd42a3"/>
    <p:sldId xmlns:r="http://schemas.openxmlformats.org/officeDocument/2006/relationships" id="272" r:id="R00f4ceca433f4109"/>
    <p:sldId xmlns:r="http://schemas.openxmlformats.org/officeDocument/2006/relationships" id="273" r:id="Rced281b5a4db4282"/>
    <p:sldId xmlns:r="http://schemas.openxmlformats.org/officeDocument/2006/relationships" id="274" r:id="Rbb04f9e569e64ed1"/>
    <p:sldId xmlns:r="http://schemas.openxmlformats.org/officeDocument/2006/relationships" id="275" r:id="Ra8d44a357b284c1a"/>
    <p:sldId xmlns:r="http://schemas.openxmlformats.org/officeDocument/2006/relationships" id="276" r:id="R84644f824e754717"/>
    <p:sldId xmlns:r="http://schemas.openxmlformats.org/officeDocument/2006/relationships" id="277" r:id="Reb4655e64aaf4577"/>
    <p:sldId xmlns:r="http://schemas.openxmlformats.org/officeDocument/2006/relationships" id="278" r:id="R56a5ab61e6a74707"/>
    <p:sldId xmlns:r="http://schemas.openxmlformats.org/officeDocument/2006/relationships" id="279" r:id="R15e09663cee3448b"/>
  </p:sldIdLst>
  <p:sldSz cx="9144000" cy="5143500"/>
  <p:notesSz cx="6858000" cy="9144000"/>
  <p:embeddedFontLst>
    <p:embeddedFont>
      <p:font typeface="Inter SemiBold"/>
      <p:regular xmlns:r="http://schemas.openxmlformats.org/officeDocument/2006/relationships" r:id="R4c7ec89d35944b69"/>
      <p:bold xmlns:r="http://schemas.openxmlformats.org/officeDocument/2006/relationships" r:id="Raa0d51ef81ce4ea3"/>
      <p:italic xmlns:r="http://schemas.openxmlformats.org/officeDocument/2006/relationships" r:id="Re2d70038b0d84e39"/>
      <p:boldItalic xmlns:r="http://schemas.openxmlformats.org/officeDocument/2006/relationships" r:id="R01dde209896e490f"/>
    </p:embeddedFont>
    <p:embeddedFont>
      <p:font typeface="Inter"/>
      <p:bold xmlns:r="http://schemas.openxmlformats.org/officeDocument/2006/relationships" r:id="R84ac2ac64319497a"/>
      <p:boldItalic xmlns:r="http://schemas.openxmlformats.org/officeDocument/2006/relationships" r:id="R64546d4e41564de5"/>
    </p:embeddedFont>
    <p:embeddedFont>
      <p:font typeface="Inter ExtraBold"/>
      <p:bold xmlns:r="http://schemas.openxmlformats.org/officeDocument/2006/relationships" r:id="R0ecc4388f3874d1d"/>
      <p:boldItalic xmlns:r="http://schemas.openxmlformats.org/officeDocument/2006/relationships" r:id="R2c6e4971dd4d4337"/>
    </p:embeddedFont>
    <p:embeddedFont>
      <p:font typeface="Inter Medium"/>
      <p:regular xmlns:r="http://schemas.openxmlformats.org/officeDocument/2006/relationships" r:id="Rf3256576f7db45c9"/>
      <p:bold xmlns:r="http://schemas.openxmlformats.org/officeDocument/2006/relationships" r:id="R97726b5f882a46b1"/>
      <p:italic xmlns:r="http://schemas.openxmlformats.org/officeDocument/2006/relationships" r:id="R3d0dd2e9a27e46cb"/>
      <p:boldItalic xmlns:r="http://schemas.openxmlformats.org/officeDocument/2006/relationships" r:id="R22966a351a96475a"/>
    </p:embeddedFont>
    <p:embeddedFont>
      <p:font typeface="Inter Black"/>
      <p:bold xmlns:r="http://schemas.openxmlformats.org/officeDocument/2006/relationships" r:id="R5d667a3ffd0c44db"/>
      <p:boldItalic xmlns:r="http://schemas.openxmlformats.org/officeDocument/2006/relationships" r:id="Ra57c11a9580948dd"/>
    </p:embeddedFont>
  </p:embeddedFontLst>
  <p:defaultTextStyle>
    <a:defPPr xmlns:a="http://schemas.openxmlformats.org/drawingml/2006/main" marR="0" algn="l">
      <a:lnSpc>
        <a:spcPct val="100000"/>
      </a:lnSpc>
      <a:spcBef>
        <a:spcPts val="0"/>
      </a:spcBef>
      <a:spcAft>
        <a:spcPts val="0"/>
      </a:spcAft>
      <a:buNone/>
    </a:defPPr>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viewPr>
</file>

<file path=ppt/_rels/presentation.xml.rels>&#65279;<?xml version="1.0" encoding="utf-8"?><Relationships xmlns="http://schemas.openxmlformats.org/package/2006/relationships"><Relationship Type="http://schemas.openxmlformats.org/officeDocument/2006/relationships/theme" Target="/ppt/theme/theme1.xml" Id="R75a4c069d33d4a11" /><Relationship Type="http://schemas.openxmlformats.org/officeDocument/2006/relationships/slideMaster" Target="/ppt/slideMasters/slideMaster1.xml" Id="Rff1ff997f7e04d4e" /><Relationship Type="http://schemas.openxmlformats.org/officeDocument/2006/relationships/notesMaster" Target="/ppt/notesMasters/notesMaster1.xml" Id="R1c8d3d2f1cbd4ebc" /><Relationship Type="http://schemas.openxmlformats.org/officeDocument/2006/relationships/presProps" Target="/ppt/presProps.xml" Id="Rc58f93a2dcd9416c" /><Relationship Type="http://schemas.openxmlformats.org/officeDocument/2006/relationships/viewProps" Target="/ppt/viewProps.xml" Id="R2f1ed8482c924aac" /><Relationship Type="http://schemas.openxmlformats.org/officeDocument/2006/relationships/tableStyles" Target="/ppt/tableStyles.xml" Id="R9c5dbd3537704e44" /><Relationship Type="http://schemas.openxmlformats.org/officeDocument/2006/relationships/font" Target="/ppt/fonts/font.dat" Id="R4c7ec89d35944b69" /><Relationship Type="http://schemas.openxmlformats.org/officeDocument/2006/relationships/font" Target="/ppt/fonts/font2.dat" Id="Raa0d51ef81ce4ea3" /><Relationship Type="http://schemas.openxmlformats.org/officeDocument/2006/relationships/font" Target="/ppt/fonts/font3.dat" Id="Re2d70038b0d84e39" /><Relationship Type="http://schemas.openxmlformats.org/officeDocument/2006/relationships/font" Target="/ppt/fonts/font4.dat" Id="R01dde209896e490f" /><Relationship Type="http://schemas.openxmlformats.org/officeDocument/2006/relationships/font" Target="/ppt/fonts/font5.dat" Id="R84ac2ac64319497a" /><Relationship Type="http://schemas.openxmlformats.org/officeDocument/2006/relationships/font" Target="/ppt/fonts/font6.dat" Id="R64546d4e41564de5" /><Relationship Type="http://schemas.openxmlformats.org/officeDocument/2006/relationships/font" Target="/ppt/fonts/font7.dat" Id="R0ecc4388f3874d1d" /><Relationship Type="http://schemas.openxmlformats.org/officeDocument/2006/relationships/font" Target="/ppt/fonts/font8.dat" Id="R2c6e4971dd4d4337" /><Relationship Type="http://schemas.openxmlformats.org/officeDocument/2006/relationships/font" Target="/ppt/fonts/font9.dat" Id="Rf3256576f7db45c9" /><Relationship Type="http://schemas.openxmlformats.org/officeDocument/2006/relationships/font" Target="/ppt/fonts/font10.dat" Id="R97726b5f882a46b1" /><Relationship Type="http://schemas.openxmlformats.org/officeDocument/2006/relationships/font" Target="/ppt/fonts/font11.dat" Id="R3d0dd2e9a27e46cb" /><Relationship Type="http://schemas.openxmlformats.org/officeDocument/2006/relationships/font" Target="/ppt/fonts/font12.dat" Id="R22966a351a96475a" /><Relationship Type="http://schemas.openxmlformats.org/officeDocument/2006/relationships/font" Target="/ppt/fonts/font13.dat" Id="R5d667a3ffd0c44db" /><Relationship Type="http://schemas.openxmlformats.org/officeDocument/2006/relationships/font" Target="/ppt/fonts/font14.dat" Id="Ra57c11a9580948dd" /><Relationship Type="http://schemas.openxmlformats.org/officeDocument/2006/relationships/slide" Target="/ppt/slides/slide1.xml" Id="R4cfbd5acc10a445f" /><Relationship Type="http://schemas.openxmlformats.org/officeDocument/2006/relationships/slide" Target="/ppt/slides/slide2.xml" Id="R81a094a55aed413c" /><Relationship Type="http://schemas.openxmlformats.org/officeDocument/2006/relationships/slide" Target="/ppt/slides/slide3.xml" Id="Rd5c14551d9534d40" /><Relationship Type="http://schemas.openxmlformats.org/officeDocument/2006/relationships/slide" Target="/ppt/slides/slide4.xml" Id="Rc1de7566423d454e" /><Relationship Type="http://schemas.openxmlformats.org/officeDocument/2006/relationships/slide" Target="/ppt/slides/slide5.xml" Id="Rada1118db88643a6" /><Relationship Type="http://schemas.openxmlformats.org/officeDocument/2006/relationships/slide" Target="/ppt/slides/slide6.xml" Id="R34834db9e4344ddb" /><Relationship Type="http://schemas.openxmlformats.org/officeDocument/2006/relationships/slide" Target="/ppt/slides/slide7.xml" Id="R87d45dc1ee874e80" /><Relationship Type="http://schemas.openxmlformats.org/officeDocument/2006/relationships/slide" Target="/ppt/slides/slide8.xml" Id="Ra555ae2bd3264962" /><Relationship Type="http://schemas.openxmlformats.org/officeDocument/2006/relationships/slide" Target="/ppt/slides/slide9.xml" Id="R62390044a9974654" /><Relationship Type="http://schemas.openxmlformats.org/officeDocument/2006/relationships/slide" Target="/ppt/slides/slide10.xml" Id="R33e784b39369460b" /><Relationship Type="http://schemas.openxmlformats.org/officeDocument/2006/relationships/slide" Target="/ppt/slides/slide11.xml" Id="R3adeaec8db2a4995" /><Relationship Type="http://schemas.openxmlformats.org/officeDocument/2006/relationships/slide" Target="/ppt/slides/slide12.xml" Id="Rb3d31df2ff2e4c0f" /><Relationship Type="http://schemas.openxmlformats.org/officeDocument/2006/relationships/slide" Target="/ppt/slides/slide13.xml" Id="Rc3afb1c2ad1f4f5b" /><Relationship Type="http://schemas.openxmlformats.org/officeDocument/2006/relationships/slide" Target="/ppt/slides/slide14.xml" Id="Rac4f274a2cff4c99" /><Relationship Type="http://schemas.openxmlformats.org/officeDocument/2006/relationships/slide" Target="/ppt/slides/slide15.xml" Id="R0ae9c54b0cd14efe" /><Relationship Type="http://schemas.openxmlformats.org/officeDocument/2006/relationships/slide" Target="/ppt/slides/slide16.xml" Id="R6387ef2c18dd42a3" /><Relationship Type="http://schemas.openxmlformats.org/officeDocument/2006/relationships/slide" Target="/ppt/slides/slide17.xml" Id="R00f4ceca433f4109" /><Relationship Type="http://schemas.openxmlformats.org/officeDocument/2006/relationships/slide" Target="/ppt/slides/slide18.xml" Id="Rced281b5a4db4282" /><Relationship Type="http://schemas.openxmlformats.org/officeDocument/2006/relationships/slide" Target="/ppt/slides/slide19.xml" Id="Rbb04f9e569e64ed1" /><Relationship Type="http://schemas.openxmlformats.org/officeDocument/2006/relationships/slide" Target="/ppt/slides/slide20.xml" Id="Ra8d44a357b284c1a" /><Relationship Type="http://schemas.openxmlformats.org/officeDocument/2006/relationships/slide" Target="/ppt/slides/slide21.xml" Id="R84644f824e754717" /><Relationship Type="http://schemas.openxmlformats.org/officeDocument/2006/relationships/slide" Target="/ppt/slides/slide22.xml" Id="Reb4655e64aaf4577" /><Relationship Type="http://schemas.openxmlformats.org/officeDocument/2006/relationships/slide" Target="/ppt/slides/slide23.xml" Id="R56a5ab61e6a74707" /><Relationship Type="http://schemas.openxmlformats.org/officeDocument/2006/relationships/slide" Target="/ppt/slides/slide24.xml" Id="R15e09663cee3448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af2519f52624a1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NFC Thesis Navy Teal">
      <a:dk1>
        <a:srgbClr val="14212C"/>
      </a:dk1>
      <a:lt1>
        <a:srgbClr val="FFFFFF"/>
      </a:lt1>
      <a:dk2>
        <a:srgbClr val="142C45"/>
      </a:dk2>
      <a:lt2>
        <a:srgbClr val="DCE5E9"/>
      </a:lt2>
      <a:accent1>
        <a:srgbClr val="007F86"/>
      </a:accent1>
      <a:accent2>
        <a:srgbClr val="C98D32"/>
      </a:accent2>
      <a:accent3>
        <a:srgbClr val="142C45"/>
      </a:accent3>
      <a:accent4>
        <a:srgbClr val="668693"/>
      </a:accent4>
      <a:accent5>
        <a:srgbClr val="A9C7CE"/>
      </a:accent5>
      <a:accent6>
        <a:srgbClr val="506679"/>
      </a:accent6>
      <a:hlink>
        <a:srgbClr val="007F86"/>
      </a:hlink>
      <a:folHlink>
        <a:srgbClr val="142C45"/>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NFC Thesis Navy Tea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d104b3792804a21" /><Relationship Type="http://schemas.openxmlformats.org/officeDocument/2006/relationships/notesMaster" Target="/ppt/notesMasters/notesMaster1.xml" Id="R15958fa902d64f53" /></Relationships>
</file>

<file path=ppt/notesSlides/_rels/notesSlide2.xml.rels>&#65279;<?xml version="1.0" encoding="utf-8"?><Relationships xmlns="http://schemas.openxmlformats.org/package/2006/relationships"><Relationship Type="http://schemas.openxmlformats.org/officeDocument/2006/relationships/slide" Target="/ppt/slides/slide2.xml" Id="R2efaf133b14641b6" /><Relationship Type="http://schemas.openxmlformats.org/officeDocument/2006/relationships/notesMaster" Target="/ppt/notesMasters/notesMaster1.xml" Id="R96afa61fed5b4682" /></Relationships>
</file>

<file path=ppt/notesSlides/_rels/notesSlide3.xml.rels>&#65279;<?xml version="1.0" encoding="utf-8"?><Relationships xmlns="http://schemas.openxmlformats.org/package/2006/relationships"><Relationship Type="http://schemas.openxmlformats.org/officeDocument/2006/relationships/slide" Target="/ppt/slides/slide3.xml" Id="R0ec54e5aa5e24d0c" /><Relationship Type="http://schemas.openxmlformats.org/officeDocument/2006/relationships/notesMaster" Target="/ppt/notesMasters/notesMaster1.xml" Id="Rf80ec4a0db5f4004" /></Relationships>
</file>

<file path=ppt/notesSlides/_rels/notesSlide4.xml.rels>&#65279;<?xml version="1.0" encoding="utf-8"?><Relationships xmlns="http://schemas.openxmlformats.org/package/2006/relationships"><Relationship Type="http://schemas.openxmlformats.org/officeDocument/2006/relationships/slide" Target="/ppt/slides/slide4.xml" Id="Rf16f0fc1030b4239" /><Relationship Type="http://schemas.openxmlformats.org/officeDocument/2006/relationships/notesMaster" Target="/ppt/notesMasters/notesMaster1.xml" Id="Rfd6223d87f3240c2" /></Relationships>
</file>

<file path=ppt/notesSlides/_rels/notesSlide5.xml.rels>&#65279;<?xml version="1.0" encoding="utf-8"?><Relationships xmlns="http://schemas.openxmlformats.org/package/2006/relationships"><Relationship Type="http://schemas.openxmlformats.org/officeDocument/2006/relationships/slide" Target="/ppt/slides/slide5.xml" Id="Rb441e4aedd1a4ca5" /><Relationship Type="http://schemas.openxmlformats.org/officeDocument/2006/relationships/notesMaster" Target="/ppt/notesMasters/notesMaster1.xml" Id="Red261f69d8a74dd8" /></Relationships>
</file>

<file path=ppt/notesSlides/_rels/notesSlide6.xml.rels>&#65279;<?xml version="1.0" encoding="utf-8"?><Relationships xmlns="http://schemas.openxmlformats.org/package/2006/relationships"><Relationship Type="http://schemas.openxmlformats.org/officeDocument/2006/relationships/slide" Target="/ppt/slides/slide6.xml" Id="R69f491a3081749d0" /><Relationship Type="http://schemas.openxmlformats.org/officeDocument/2006/relationships/notesMaster" Target="/ppt/notesMasters/notesMaster1.xml" Id="R5ef890d7753c40de" /></Relationships>
</file>

<file path=ppt/notesSlides/_rels/notesSlide7.xml.rels>&#65279;<?xml version="1.0" encoding="utf-8"?><Relationships xmlns="http://schemas.openxmlformats.org/package/2006/relationships"><Relationship Type="http://schemas.openxmlformats.org/officeDocument/2006/relationships/slide" Target="/ppt/slides/slide7.xml" Id="R6790e4af94524b57" /><Relationship Type="http://schemas.openxmlformats.org/officeDocument/2006/relationships/notesMaster" Target="/ppt/notesMasters/notesMaster1.xml" Id="R035b5803b27b41a5" /></Relationships>
</file>

<file path=ppt/notesSlides/_rels/notesSlide8.xml.rels>&#65279;<?xml version="1.0" encoding="utf-8"?><Relationships xmlns="http://schemas.openxmlformats.org/package/2006/relationships"><Relationship Type="http://schemas.openxmlformats.org/officeDocument/2006/relationships/slide" Target="/ppt/slides/slide8.xml" Id="Ra7226bbdd99c4483" /><Relationship Type="http://schemas.openxmlformats.org/officeDocument/2006/relationships/notesMaster" Target="/ppt/notesMasters/notesMaster1.xml" Id="R5cde74d1e28f4abf" /></Relationships>
</file>

<file path=ppt/notesSlides/_rels/notesSlide9.xml.rels>&#65279;<?xml version="1.0" encoding="utf-8"?><Relationships xmlns="http://schemas.openxmlformats.org/package/2006/relationships"><Relationship Type="http://schemas.openxmlformats.org/officeDocument/2006/relationships/slide" Target="/ppt/slides/slide9.xml" Id="R901508703fb648b0" /><Relationship Type="http://schemas.openxmlformats.org/officeDocument/2006/relationships/notesMaster" Target="/ppt/notesMasters/notesMaster1.xml" Id="R9b027e0596684af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c9098dfd34d42bb" /><Relationship Type="http://schemas.openxmlformats.org/officeDocument/2006/relationships/notesMaster" Target="/ppt/notesMasters/notesMaster1.xml" Id="R1dc066cba4b0459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0a832548dc34652" /><Relationship Type="http://schemas.openxmlformats.org/officeDocument/2006/relationships/notesMaster" Target="/ppt/notesMasters/notesMaster1.xml" Id="Rc281c78f9160444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4f47f2d23ae4b58" /><Relationship Type="http://schemas.openxmlformats.org/officeDocument/2006/relationships/notesMaster" Target="/ppt/notesMasters/notesMaster1.xml" Id="Rb1d1e4338e794a6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60a2a11ee3e46d8" /><Relationship Type="http://schemas.openxmlformats.org/officeDocument/2006/relationships/notesMaster" Target="/ppt/notesMasters/notesMaster1.xml" Id="Rc546f637c59f421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20f8a57e9a64182" /><Relationship Type="http://schemas.openxmlformats.org/officeDocument/2006/relationships/notesMaster" Target="/ppt/notesMasters/notesMaster1.xml" Id="R31b132df27ba419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ae26febda6a49ba" /><Relationship Type="http://schemas.openxmlformats.org/officeDocument/2006/relationships/notesMaster" Target="/ppt/notesMasters/notesMaster1.xml" Id="Rca9dbb62b4b2454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6bbaa4cd6d24576" /><Relationship Type="http://schemas.openxmlformats.org/officeDocument/2006/relationships/notesMaster" Target="/ppt/notesMasters/notesMaster1.xml" Id="R3e1193b6144b442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2bf1fb3967548dd" /><Relationship Type="http://schemas.openxmlformats.org/officeDocument/2006/relationships/notesMaster" Target="/ppt/notesMasters/notesMaster1.xml" Id="R7eec3cb1f309485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5b5be5a21544405" /><Relationship Type="http://schemas.openxmlformats.org/officeDocument/2006/relationships/notesMaster" Target="/ppt/notesMasters/notesMaster1.xml" Id="R24f5388fa5344db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37b6d77014f4ad5" /><Relationship Type="http://schemas.openxmlformats.org/officeDocument/2006/relationships/notesMaster" Target="/ppt/notesMasters/notesMaster1.xml" Id="R5d7fd17424e04a3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f650aad3c3b4918" /><Relationship Type="http://schemas.openxmlformats.org/officeDocument/2006/relationships/notesMaster" Target="/ppt/notesMasters/notesMaster1.xml" Id="R8a5dba860e4d46a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61a16dbbe56489d" /><Relationship Type="http://schemas.openxmlformats.org/officeDocument/2006/relationships/notesMaster" Target="/ppt/notesMasters/notesMaster1.xml" Id="R686212daa25a4c34"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05b01170dbe4679" /><Relationship Type="http://schemas.openxmlformats.org/officeDocument/2006/relationships/notesMaster" Target="/ppt/notesMasters/notesMaster1.xml" Id="R7861dcb39b2b401f"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f5cdcd4e7b804609" /><Relationship Type="http://schemas.openxmlformats.org/officeDocument/2006/relationships/notesMaster" Target="/ppt/notesMasters/notesMaster1.xml" Id="R1c2cf0a0fedb4ed4"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ca56ff41c47841c4" /><Relationship Type="http://schemas.openxmlformats.org/officeDocument/2006/relationships/notesMaster" Target="/ppt/notesMasters/notesMaster1.xml" Id="R60b8e3d0395e444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Final defense presentation. The formal thesis title remains unchanged. Fast mode uses NFC alone, while Standard and High-Security add PIN. QR provides a credential-integrity check rather than an independent third authentication factor.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C:/Users/justine mendoza/Documents/NFC Thesis Chapter 1-5 (1).pdf, printed pages 1.</a:t>
            </a:r>
            <a:endParaRPr/>
          </a:p>
          <a:p xmlns:a="http://schemas.openxmlformats.org/drawingml/2006/main">
            <a:pPr marL="0" lvl="0" indent="0" algn="l">
              <a:spcBef>
                <a:spcPts val="0"/>
              </a:spcBef>
              <a:spcAft>
                <a:spcPts val="0"/>
              </a:spcAft>
              <a:buNone/>
            </a:pPr>
            <a:r>
              <a:t>Pre-oral recommendations: supplied list and annotated manuscript photographs. Current implementation status follows the inspected code and pre-oral matrix.</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Supporting Detail</a:t>
            </a:r>
            <a:endParaRPr/>
          </a:p>
          <a:p xmlns:a="http://schemas.openxmlformats.org/drawingml/2006/main">
            <a:pPr marL="0" lvl="0" indent="0" algn="l">
              <a:spcBef>
                <a:spcPts val="0"/>
              </a:spcBef>
              <a:spcAft>
                <a:spcPts val="0"/>
              </a:spcAft>
              <a:buNone/>
            </a:pPr>
            <a:r>
              <a:t>A Risk-Based Two-Factor</a:t>
            </a:r>
            <a:endParaRPr/>
          </a:p>
          <a:p xmlns:a="http://schemas.openxmlformats.org/drawingml/2006/main">
            <a:pPr marL="0" lvl="0" indent="0" algn="l">
              <a:spcBef>
                <a:spcPts val="0"/>
              </a:spcBef>
              <a:spcAft>
                <a:spcPts val="0"/>
              </a:spcAft>
              <a:buNone/>
            </a:pPr>
            <a:r>
              <a:t>Student Verification and</a:t>
            </a:r>
            <a:endParaRPr/>
          </a:p>
          <a:p xmlns:a="http://schemas.openxmlformats.org/drawingml/2006/main">
            <a:pPr marL="0" lvl="0" indent="0" algn="l">
              <a:spcBef>
                <a:spcPts val="0"/>
              </a:spcBef>
              <a:spcAft>
                <a:spcPts val="0"/>
              </a:spcAft>
              <a:buNone/>
            </a:pPr>
            <a:r>
              <a:t>Event Attendance Management System</a:t>
            </a:r>
            <a:endParaRPr/>
          </a:p>
          <a:p xmlns:a="http://schemas.openxmlformats.org/drawingml/2006/main">
            <a:pPr marL="0" lvl="0" indent="0" algn="l">
              <a:spcBef>
                <a:spcPts val="0"/>
              </a:spcBef>
              <a:spcAft>
                <a:spcPts val="0"/>
              </a:spcAft>
              <a:buNone/>
            </a:pPr>
            <a:r>
              <a:t>Using Near Field Communication (NFC),</a:t>
            </a:r>
            <a:endParaRPr/>
          </a:p>
          <a:p xmlns:a="http://schemas.openxmlformats.org/drawingml/2006/main">
            <a:pPr marL="0" lvl="0" indent="0" algn="l">
              <a:spcBef>
                <a:spcPts val="0"/>
              </a:spcBef>
              <a:spcAft>
                <a:spcPts val="0"/>
              </a:spcAft>
              <a:buNone/>
            </a:pPr>
            <a:r>
              <a:t>Personal Identification Number (PIN) Authentication,</a:t>
            </a:r>
            <a:endParaRPr/>
          </a:p>
          <a:p xmlns:a="http://schemas.openxmlformats.org/drawingml/2006/main">
            <a:pPr marL="0" lvl="0" indent="0" algn="l">
              <a:spcBef>
                <a:spcPts val="0"/>
              </a:spcBef>
              <a:spcAft>
                <a:spcPts val="0"/>
              </a:spcAft>
              <a:buNone/>
            </a:pPr>
            <a:r>
              <a:t>and Quick Response (QR) Credential Validation</a:t>
            </a:r>
            <a:endParaRPr/>
          </a:p>
          <a:p xmlns:a="http://schemas.openxmlformats.org/drawingml/2006/main">
            <a:pPr marL="0" lvl="0" indent="0" algn="l">
              <a:spcBef>
                <a:spcPts val="0"/>
              </a:spcBef>
              <a:spcAft>
                <a:spcPts val="0"/>
              </a:spcAft>
              <a:buNone/>
            </a:pPr>
            <a:r>
              <a:t>Justine G. Mendoza, Michael Daniel M. Milallos, Seanne Stiffel T. Sintay</a:t>
            </a:r>
            <a:endParaRPr/>
          </a:p>
          <a:p xmlns:a="http://schemas.openxmlformats.org/drawingml/2006/main">
            <a:pPr marL="0" lvl="0" indent="0" algn="l">
              <a:spcBef>
                <a:spcPts val="0"/>
              </a:spcBef>
              <a:spcAft>
                <a:spcPts val="0"/>
              </a:spcAft>
              <a:buNone/>
            </a:pPr>
            <a:r>
              <a:t>BS Computer Science   Adviser: Prof. Ferdinand Rubio</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pre-oral recommendations from September 2, 2026, not the earlier title-defense comments. The full revision matrix lists each recommendation individually. Appendix I contains tally screenshots and selected sheets, not every respondent-level answer or exported transaction. Do not claim complete raw-data publication or comprehensive test evidence.</a:t>
            </a:r>
          </a:p>
          <a:p xmlns:a="http://schemas.openxmlformats.org/drawingml/2006/main">
            <a:r>
              <a:t/>
            </a:r>
          </a:p>
          <a:p xmlns:a="http://schemas.openxmlformats.org/drawingml/2006/main">
            <a:r>
              <a:t>Source: C:/Users/justine mendoza/Documents/NFC Thesis Chapter 1-5 (1).pdf, printed pages 205-212, 230-242.</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a:p xmlns:a="http://schemas.openxmlformats.org/drawingml/2006/main">
            <a:r>
              <a:t/>
            </a:r>
          </a:p>
          <a:p xmlns:a="http://schemas.openxmlformats.org/drawingml/2006/main">
            <a:r>
              <a:t>Supporting Detail</a:t>
            </a:r>
          </a:p>
          <a:p xmlns:a="http://schemas.openxmlformats.org/drawingml/2006/main">
            <a:r>
              <a:t>Selected evidence appears in Appendices D and H-K. Pending evidence remains identified.</a:t>
            </a:r>
          </a:p>
          <a:p xmlns:a="http://schemas.openxmlformats.org/drawingml/2006/main">
            <a:r>
              <a:t>Recommendation, Action and Present Status</a:t>
            </a:r>
          </a:p>
          <a:p xmlns:a="http://schemas.openxmlformats.org/drawingml/2006/main">
            <a:r>
              <a:t>01-02  Checklist and Chapter 4 visuals, Complete checklist, corrected results, item tables, and comparison figures.</a:t>
            </a:r>
          </a:p>
          <a:p xmlns:a="http://schemas.openxmlformats.org/drawingml/2006/main">
            <a:r>
              <a:t>03  Raw survey and comparison records, Student workbook and exports available. Full anonymized records still need a traceable evidence package.</a:t>
            </a:r>
          </a:p>
          <a:p xmlns:a="http://schemas.openxmlformats.org/drawingml/2006/main">
            <a:r>
              <a:t>04  Evidence for tests and surveys, 16 listed test cases and appendix photographs. Evidence does not cover every current feature.</a:t>
            </a:r>
          </a:p>
          <a:p xmlns:a="http://schemas.openxmlformats.org/drawingml/2006/main">
            <a:r>
              <a:t>05  Interfaces in appendices, Appendix D includes selected interfaces. Current timestamp and maintenance screenshots remain to be added.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Recommendations 9 and 10 remain methodological limitations. Both questionnaires exist, but the records do not demonstrate a paired manual-then-system sequence with the same students. Welch is appropriate for the supplied independent records and does not substitute for complying with a same-participant requirement. Processing-time inference needs a new comparison with equivalent task boundaries.</a:t>
            </a:r>
          </a:p>
          <a:p xmlns:a="http://schemas.openxmlformats.org/drawingml/2006/main">
            <a:r>
              <a:t/>
            </a:r>
          </a:p>
          <a:p xmlns:a="http://schemas.openxmlformats.org/drawingml/2006/main">
            <a:r>
              <a:t>Source: C:/Users/justine mendoza/Documents/NFC Thesis Chapter 1-5 (1).pdf, printed pages 50-53, 64-67, 88-92, 123-128, 158-163, 225-226.</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a:p xmlns:a="http://schemas.openxmlformats.org/drawingml/2006/main">
            <a:r>
              <a:t/>
            </a:r>
          </a:p>
          <a:p xmlns:a="http://schemas.openxmlformats.org/drawingml/2006/main">
            <a:r>
              <a:t>Supporting Detail</a:t>
            </a:r>
          </a:p>
          <a:p xmlns:a="http://schemas.openxmlformats.org/drawingml/2006/main">
            <a:r>
              <a:t>Equal group sizes do not mean the same participants or eliminate group-selection bias.</a:t>
            </a:r>
          </a:p>
          <a:p xmlns:a="http://schemas.openxmlformats.org/drawingml/2006/main">
            <a:r>
              <a:t>Recommendation, Action and Present Status</a:t>
            </a:r>
          </a:p>
          <a:p xmlns:a="http://schemas.openxmlformats.org/drawingml/2006/main">
            <a:r>
              <a:t>06-07  Manual baseline, Manual questionnaire, 70 writing observations, and 70 manual survey responses included.</a:t>
            </a:r>
          </a:p>
          <a:p xmlns:a="http://schemas.openxmlformats.org/drawingml/2006/main">
            <a:r>
              <a:t>08  Student participant counts, 70 manual students and 70 different system students. System survey also includes two groups of five.</a:t>
            </a:r>
          </a:p>
          <a:p xmlns:a="http://schemas.openxmlformats.org/drawingml/2006/main">
            <a:r>
              <a:t>09-10  Same students and survey sequence, Not fulfilled as specified. Different groups require an independent-samples analysis.</a:t>
            </a:r>
          </a:p>
          <a:p xmlns:a="http://schemas.openxmlformats.org/drawingml/2006/main">
            <a:r>
              <a:t>16  Use case diagram, Diagram included. Conditional PIN use still needs alignment with NFC-only Fast mode.</a:t>
            </a:r>
          </a:p>
          <a:p xmlns:a="http://schemas.openxmlformats.org/drawingml/2006/main">
            <a:r>
              <a:t>17  T-test of manual and system means, Welch test compares overall survey scores. Equivalent complete-task times were unavailable.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Additional title instruction comes from the annotated pre-oral photograph. Code evidence: MainWindow.xaml.cs logs STAFF_LOGIN and ADMIN_LOGIN. SecurityDashboardWindow displays DisplayTime in audit feeds. KioskModeWindow.xaml.cs defines ResultDisplayDuration as 10 seconds and sets StudentScanTimeText. SecurityDashboardWindow.xaml.cs exposes authorized maintenance. DatabaseService.PurgeOldLogsAsync deletes local records only after synced_to_cloud confirmation. Cloud history remains. No destructive purge was executed for this presentation review.</a:t>
            </a:r>
          </a:p>
          <a:p xmlns:a="http://schemas.openxmlformats.org/drawingml/2006/main">
            <a:r>
              <a:t/>
            </a:r>
          </a:p>
          <a:p xmlns:a="http://schemas.openxmlformats.org/drawingml/2006/main">
            <a:r>
              <a:t>Source: C:/Users/justine mendoza/Documents/NFC Thesis Chapter 1-5 (1).pdf, printed pages 1, 205-212.</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a:p xmlns:a="http://schemas.openxmlformats.org/drawingml/2006/main">
            <a:r>
              <a:t/>
            </a:r>
          </a:p>
          <a:p xmlns:a="http://schemas.openxmlformats.org/drawingml/2006/main">
            <a:r>
              <a:t>Supporting Detail</a:t>
            </a:r>
          </a:p>
          <a:p xmlns:a="http://schemas.openxmlformats.org/drawingml/2006/main">
            <a:r>
              <a:t>Photo 18: full title terms added. Implementation status still needs dated UI evidence.</a:t>
            </a:r>
          </a:p>
          <a:p xmlns:a="http://schemas.openxmlformats.org/drawingml/2006/main">
            <a:r>
              <a:t>Recommendation, Current Implementation and Qualification</a:t>
            </a:r>
          </a:p>
          <a:p xmlns:a="http://schemas.openxmlformats.org/drawingml/2006/main">
            <a:r>
              <a:t>11  Personnel login timestamp, Login audit timestamp recorded. A dedicated visible login-time field remains unverified.</a:t>
            </a:r>
          </a:p>
          <a:p xmlns:a="http://schemas.openxmlformats.org/drawingml/2006/main">
            <a:r>
              <a:t>12  Student timestamps, Kiosk code displays scan time and applicable IN/OUT values.</a:t>
            </a:r>
          </a:p>
          <a:p xmlns:a="http://schemas.openxmlformats.org/drawingml/2006/main">
            <a:r>
              <a:t>13  Retain student result, 10-second result display. Persistent last-log display still needs confirmation.</a:t>
            </a:r>
          </a:p>
          <a:p xmlns:a="http://schemas.openxmlformats.org/drawingml/2006/main">
            <a:r>
              <a:t>14  Administrator purge, Authorized active cleanup removes eligible cloud-backed local logs.</a:t>
            </a:r>
          </a:p>
          <a:p xmlns:a="http://schemas.openxmlformats.org/drawingml/2006/main">
            <a:r>
              <a:t>15  Data destruction, Partial: local cleanup retains cloud history. Full disposal remains unverified.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Avoid repeating unsupported claims of reduced queues, prevented fraud, or eliminated workload. SOP 6 asks about processing time, throughput, and corresponding survey-category means. Only the survey overall-score comparison supports the inferential t-test with the supplied data. The timing observations support descriptive component results.</a:t>
            </a:r>
          </a:p>
          <a:p xmlns:a="http://schemas.openxmlformats.org/drawingml/2006/main">
            <a:r>
              <a:t/>
            </a:r>
          </a:p>
          <a:p xmlns:a="http://schemas.openxmlformats.org/drawingml/2006/main">
            <a:r>
              <a:t>Source: C:/Users/justine mendoza/Documents/NFC Thesis Chapter 1-5 (1).pdf, printed pages 3-8.</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a:p xmlns:a="http://schemas.openxmlformats.org/drawingml/2006/main">
            <a:r>
              <a:t/>
            </a:r>
          </a:p>
          <a:p xmlns:a="http://schemas.openxmlformats.org/drawingml/2006/main">
            <a:r>
              <a:t>Supporting Detail</a:t>
            </a:r>
          </a:p>
          <a:p xmlns:a="http://schemas.openxmlformats.org/drawingml/2006/main">
            <a:r>
              <a:t>Problem</a:t>
            </a:r>
          </a:p>
          <a:p xmlns:a="http://schemas.openxmlformats.org/drawingml/2006/main">
            <a:r>
              <a:t>Campus verification and event attendance require credential checks, eligibility decisions, and traceable records. Paper sign-in alone does not perform these checks.</a:t>
            </a:r>
          </a:p>
          <a:p xmlns:a="http://schemas.openxmlformats.org/drawingml/2006/main">
            <a:r>
              <a:t>Development objective</a:t>
            </a:r>
          </a:p>
          <a:p xmlns:a="http://schemas.openxmlformats.org/drawingml/2006/main">
            <a:r>
              <a:t>Develop a prototype that combines configurable credential validation with entry/exit handling, event attendance, and role-based monitoring.</a:t>
            </a:r>
          </a:p>
          <a:p xmlns:a="http://schemas.openxmlformats.org/drawingml/2006/main">
            <a:r>
              <a:t>Evaluation objective</a:t>
            </a:r>
          </a:p>
          <a:p xmlns:a="http://schemas.openxmlformats.org/drawingml/2006/main">
            <a:r>
              <a:t>Describe system metrics and perceived quality. Compare manual and system survey ratings while preserving the limits of the timing data.</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Fast is single-factor NFC. Standard uses possession plus knowledge. High-Security adds QR credential validation, not an independent third factor. Configured eligibility checks and entry/exit rules remain distinct from proving exclusive credential ownership. The same 20 preconfigured cards were shared across 70 test participants.</a:t>
            </a:r>
          </a:p>
          <a:p xmlns:a="http://schemas.openxmlformats.org/drawingml/2006/main">
            <a:r>
              <a:t/>
            </a:r>
          </a:p>
          <a:p xmlns:a="http://schemas.openxmlformats.org/drawingml/2006/main">
            <a:r>
              <a:t>Source: C:/Users/justine mendoza/Documents/NFC Thesis Chapter 1-5 (1).pdf, printed pages 101-105, 112-114, 184-187.</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a:p xmlns:a="http://schemas.openxmlformats.org/drawingml/2006/main">
            <a:r>
              <a:t/>
            </a:r>
          </a:p>
          <a:p xmlns:a="http://schemas.openxmlformats.org/drawingml/2006/main">
            <a:r>
              <a:t>Supporting Detail</a:t>
            </a:r>
          </a:p>
          <a:p xmlns:a="http://schemas.openxmlformats.org/drawingml/2006/main">
            <a:r>
              <a:t>QR checks consistency with the NFC-linked credential record. It does not independently prove physical identity.</a:t>
            </a:r>
          </a:p>
          <a:p xmlns:a="http://schemas.openxmlformats.org/drawingml/2006/main">
            <a:r>
              <a:t>The evaluated prototype used configured modes rather than a per-student automatic risk score.</a:t>
            </a:r>
          </a:p>
          <a:p xmlns:a="http://schemas.openxmlformats.org/drawingml/2006/main">
            <a:r>
              <a:t>Mode, Required Credentials, Selection</a:t>
            </a:r>
          </a:p>
          <a:p xmlns:a="http://schemas.openxmlformats.org/drawingml/2006/main">
            <a:r>
              <a:t>Fast, NFC only, Operator or event configuration</a:t>
            </a:r>
          </a:p>
          <a:p xmlns:a="http://schemas.openxmlformats.org/drawingml/2006/main">
            <a:r>
              <a:t>Standard, NFC and PIN, Operator or event configuration</a:t>
            </a:r>
          </a:p>
          <a:p xmlns:a="http://schemas.openxmlformats.org/drawingml/2006/main">
            <a:r>
              <a:t>High-Security, NFC, PIN, and QR validation, Operator or event configuration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80 respondents evaluated the proposed system: 70 students, five security personnel, and five faculty/event-organizer/administrator respondents. A separate manual group contributed 70 responses. Do not present 150 as the proposed-system-only sample. Questionnaire totals are 24 items for the five-category student/security instruments and 39 items for the administrative instrument. These non-probability samples limit generalization.</a:t>
            </a:r>
          </a:p>
          <a:p xmlns:a="http://schemas.openxmlformats.org/drawingml/2006/main">
            <a:r>
              <a:t/>
            </a:r>
          </a:p>
          <a:p xmlns:a="http://schemas.openxmlformats.org/drawingml/2006/main">
            <a:r>
              <a:t>Source: C:/Users/justine mendoza/Documents/NFC Thesis Chapter 1-5 (1).pdf, printed pages 48-53, 129-131, 135-158.</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a:p xmlns:a="http://schemas.openxmlformats.org/drawingml/2006/main">
            <a:r>
              <a:t/>
            </a:r>
          </a:p>
          <a:p xmlns:a="http://schemas.openxmlformats.org/drawingml/2006/main">
            <a:r>
              <a:t>Supporting Detail</a:t>
            </a:r>
          </a:p>
          <a:p xmlns:a="http://schemas.openxmlformats.org/drawingml/2006/main">
            <a:r>
              <a:t>Quantitative developmental and descriptive-evaluative design</a:t>
            </a:r>
          </a:p>
          <a:p xmlns:a="http://schemas.openxmlformats.org/drawingml/2006/main">
            <a:r>
              <a:t>Iterative Waterfall development with controlled observation and ISO/IEC 25010-based questionnaires. Purposive and convenience sampling.</a:t>
            </a:r>
          </a:p>
          <a:p xmlns:a="http://schemas.openxmlformats.org/drawingml/2006/main">
            <a:r>
              <a:t>150 survey respondents in total. The two student survey groups contain different people.</a:t>
            </a:r>
          </a:p>
          <a:p xmlns:a="http://schemas.openxmlformats.org/drawingml/2006/main">
            <a:r>
              <a:t>Survey Group, n, Evaluation</a:t>
            </a:r>
          </a:p>
          <a:p xmlns:a="http://schemas.openxmlformats.org/drawingml/2006/main">
            <a:r>
              <a:t>Students, proposed system, 70, Five common quality categories</a:t>
            </a:r>
          </a:p>
          <a:p xmlns:a="http://schemas.openxmlformats.org/drawingml/2006/main">
            <a:r>
              <a:t>Students, manual process, 70, Five quality categories</a:t>
            </a:r>
          </a:p>
          <a:p xmlns:a="http://schemas.openxmlformats.org/drawingml/2006/main">
            <a:r>
              <a:t>Security personnel, 5, Five quality categories</a:t>
            </a:r>
          </a:p>
          <a:p xmlns:a="http://schemas.openxmlformats.org/drawingml/2006/main">
            <a:r>
              <a:t>Faculty, organizer, administrators, 5, Eight quality categories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There are 210 successful entry trials, not 210 distinct people. Across both dates, each mode contains rounds of 20, 20, 20, and 10. Team reset exits are preserved in the record audit but excluded from participant entry timing and credential-decision accuracy. Explanations occur before each subsequent mode. Fixed order allows practice or order effects. Shared test credentials limit claims about each participant's personal identity.</a:t>
            </a:r>
          </a:p>
          <a:p xmlns:a="http://schemas.openxmlformats.org/drawingml/2006/main">
            <a:r>
              <a:t/>
            </a:r>
          </a:p>
          <a:p xmlns:a="http://schemas.openxmlformats.org/drawingml/2006/main">
            <a:r>
              <a:t>Source: C:/Users/justine mendoza/Documents/NFC Thesis Chapter 1-5 (1).pdf, printed pages 113-114.</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a:p xmlns:a="http://schemas.openxmlformats.org/drawingml/2006/main">
            <a:r>
              <a:t/>
            </a:r>
          </a:p>
          <a:p xmlns:a="http://schemas.openxmlformats.org/drawingml/2006/main">
            <a:r>
              <a:t>Supporting Detail</a:t>
            </a:r>
          </a:p>
          <a:p xmlns:a="http://schemas.openxmlformats.org/drawingml/2006/main">
            <a:r>
              <a:t>Same participants across modes</a:t>
            </a:r>
          </a:p>
          <a:p xmlns:a="http://schemas.openxmlformats.org/drawingml/2006/main">
            <a:r>
              <a:t>70 participants completed Fast, Standard, then High-Security in that fixed order. Each mode contains 70 successful entries.</a:t>
            </a:r>
          </a:p>
          <a:p xmlns:a="http://schemas.openxmlformats.org/drawingml/2006/main">
            <a:r>
              <a:t>Shared test credentials</a:t>
            </a:r>
          </a:p>
          <a:p xmlns:a="http://schemas.openxmlformats.org/drawingml/2006/main">
            <a:r>
              <a:t>20 preconfigured NFC cards with PIN and QR were reused. Team exit transactions reset the profiles between rounds.</a:t>
            </a:r>
          </a:p>
          <a:p xmlns:a="http://schemas.openxmlformats.org/drawingml/2006/main">
            <a:r>
              <a:t>Session, Participants, Entry Rounds per Mode</a:t>
            </a:r>
          </a:p>
          <a:p xmlns:a="http://schemas.openxmlformats.org/drawingml/2006/main">
            <a:r>
              <a:t>August 12, 2026, 40, 20 entries, reset exits, then 20 entries</a:t>
            </a:r>
          </a:p>
          <a:p xmlns:a="http://schemas.openxmlformats.org/drawingml/2006/main">
            <a:r>
              <a:t>August 13, 2026, 30, 20 entries, reset exits, then 10 entries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ESP32 forwards captured input. The Windows application handles validation, timestamping, database operations, and cloud sync. Do not assert a universal sub-15-ms database latency. The researcher confirmed that signed QR, durable queues, event completion, and graduation clearance came after August 12-13. The final architecture may include them, but the August metrics and earlier surveys do not validate those additions. Selected historical disconnection/sync cases do not establish recovery under every outage or power failure.</a:t>
            </a:r>
          </a:p>
          <a:p xmlns:a="http://schemas.openxmlformats.org/drawingml/2006/main">
            <a:r>
              <a:t/>
            </a:r>
          </a:p>
          <a:p xmlns:a="http://schemas.openxmlformats.org/drawingml/2006/main">
            <a:r>
              <a:t>Source: C:/Users/justine mendoza/Documents/NFC Thesis Chapter 1-5 (1).pdf, printed pages 98-105, 112, 214.</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a:p xmlns:a="http://schemas.openxmlformats.org/drawingml/2006/main">
            <a:r>
              <a:t/>
            </a:r>
          </a:p>
          <a:p xmlns:a="http://schemas.openxmlformats.org/drawingml/2006/main">
            <a:r>
              <a:t>Supporting Detail</a:t>
            </a:r>
          </a:p>
          <a:p xmlns:a="http://schemas.openxmlformats.org/drawingml/2006/main">
            <a:r>
              <a:t>Added after the August observation</a:t>
            </a:r>
          </a:p>
          <a:p xmlns:a="http://schemas.openxmlformats.org/drawingml/2006/main">
            <a:r>
              <a:t>Signed QR credentials, durable offline queues, event-completion rules, and graduation clearance require separate evaluation evidence.</a:t>
            </a:r>
          </a:p>
          <a:p xmlns:a="http://schemas.openxmlformats.org/drawingml/2006/main">
            <a:r>
              <a:t>Layer, Role</a:t>
            </a:r>
          </a:p>
          <a:p xmlns:a="http://schemas.openxmlformats.org/drawingml/2006/main">
            <a:r>
              <a:t>ESP32 and PN532, Read NFC UID and forward it through USB serial.</a:t>
            </a:r>
          </a:p>
          <a:p xmlns:a="http://schemas.openxmlformats.org/drawingml/2006/main">
            <a:r>
              <a:t>WinUI 3 application, Validate credentials, apply rules, and timestamp records.</a:t>
            </a:r>
          </a:p>
          <a:p xmlns:a="http://schemas.openxmlformats.org/drawingml/2006/main">
            <a:r>
              <a:t>Local MySQL, Store student, event, attendance, and security records.</a:t>
            </a:r>
          </a:p>
          <a:p xmlns:a="http://schemas.openxmlformats.org/drawingml/2006/main">
            <a:r>
              <a:t>Firebase Firestore, Support cloud synchronization and backup.</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These are screenshots retained from the supplied deck, not fabricated current captures. Roles include administrator, security personnel, organizer, and student-facing verification. Check current permissions in the live build. Gate flow checks student status and campus entry/exit state. Event attendance checks event eligibility and records event check-in/checkout. Current event completion or clearance features require separately documented tests.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C:/Users/justine mendoza/Documents/NFC Thesis Chapter 1-5 (1).pdf, printed pages 205-212.</a:t>
            </a:r>
            <a:endParaRPr/>
          </a:p>
          <a:p xmlns:a="http://schemas.openxmlformats.org/drawingml/2006/main">
            <a:pPr marL="0" lvl="0" indent="0" algn="l">
              <a:spcBef>
                <a:spcPts val="0"/>
              </a:spcBef>
              <a:spcAft>
                <a:spcPts val="0"/>
              </a:spcAft>
              <a:buNone/>
            </a:pPr>
            <a:r>
              <a:t>Pre-oral recommendations: supplied list and annotated manuscript photographs. Current implementation status follows the inspected code and pre-oral matrix.</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Security Personnel dashboard screenshot: NFC Thesis Chapter 1-5 (1).pdf, Appendix D.4, printed page 211. The previous deck placed an event-organizer screenshot under the security label.</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Supporting Detail</a:t>
            </a:r>
            <a:endParaRPr/>
          </a:p>
          <a:p xmlns:a="http://schemas.openxmlformats.org/drawingml/2006/main">
            <a:pPr marL="0" lvl="0" indent="0" algn="l">
              <a:spcBef>
                <a:spcPts val="0"/>
              </a:spcBef>
              <a:spcAft>
                <a:spcPts val="0"/>
              </a:spcAft>
              <a:buNone/>
            </a:pPr>
            <a:r>
              <a:t>Authentication</a:t>
            </a:r>
            <a:endParaRPr/>
          </a:p>
          <a:p xmlns:a="http://schemas.openxmlformats.org/drawingml/2006/main">
            <a:pPr marL="0" lvl="0" indent="0" algn="l">
              <a:spcBef>
                <a:spcPts val="0"/>
              </a:spcBef>
              <a:spcAft>
                <a:spcPts val="0"/>
              </a:spcAft>
              <a:buNone/>
            </a:pPr>
            <a:r>
              <a:t>Admin Dashboard</a:t>
            </a:r>
            <a:endParaRPr/>
          </a:p>
          <a:p xmlns:a="http://schemas.openxmlformats.org/drawingml/2006/main">
            <a:pPr marL="0" lvl="0" indent="0" algn="l">
              <a:spcBef>
                <a:spcPts val="0"/>
              </a:spcBef>
              <a:spcAft>
                <a:spcPts val="0"/>
              </a:spcAft>
              <a:buNone/>
            </a:pPr>
            <a:r>
              <a:t>Security Dashboard</a:t>
            </a:r>
            <a:endParaRPr/>
          </a:p>
          <a:p xmlns:a="http://schemas.openxmlformats.org/drawingml/2006/main">
            <a:pPr marL="0" lvl="0" indent="0" algn="l">
              <a:spcBef>
                <a:spcPts val="0"/>
              </a:spcBef>
              <a:spcAft>
                <a:spcPts val="0"/>
              </a:spcAft>
              <a:buNone/>
            </a:pPr>
            <a:r>
              <a:t>Event Organizer</a:t>
            </a:r>
            <a:endParaRPr/>
          </a:p>
          <a:p xmlns:a="http://schemas.openxmlformats.org/drawingml/2006/main">
            <a:pPr marL="0" lvl="0" indent="0" algn="l">
              <a:spcBef>
                <a:spcPts val="0"/>
              </a:spcBef>
              <a:spcAft>
                <a:spcPts val="0"/>
              </a:spcAft>
              <a:buNone/>
            </a:pPr>
            <a:r>
              <a:t>Active Monitoring</a:t>
            </a:r>
            <a:endParaRPr/>
          </a:p>
          <a:p xmlns:a="http://schemas.openxmlformats.org/drawingml/2006/main">
            <a:pPr marL="0" lvl="0" indent="0" algn="l">
              <a:spcBef>
                <a:spcPts val="0"/>
              </a:spcBef>
              <a:spcAft>
                <a:spcPts val="0"/>
              </a:spcAft>
              <a:buNone/>
            </a:pPr>
            <a:r>
              <a:t>Student Kiosk</a:t>
            </a:r>
            <a:endParaRPr/>
          </a:p>
          <a:p xmlns:a="http://schemas.openxmlformats.org/drawingml/2006/main">
            <a:pPr marL="0" lvl="0" indent="0" algn="l">
              <a:spcBef>
                <a:spcPts val="0"/>
              </a:spcBef>
              <a:spcAft>
                <a:spcPts val="0"/>
              </a:spcAft>
              <a:buNone/>
            </a:pPr>
            <a:r>
              <a:t>Selected prototype screenshots. The live demonstration shows the current build.</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Formally H0 is equality of population mean overall ratings, mu S = mu M. H1 is mu S not equal to mu M. Welch does not assume equal variances and uses Welch-Satterthwaite degrees of freedom. The overall score gives equal weight to five category means, not equal weight to all 24 individual items. Use sample SD with n - 1. Do not average item SDs to obtain a composite SD. Category means are descriptive. No separate category hypothesis tests or processing-time t-test were performed.</a:t>
            </a:r>
          </a:p>
          <a:p xmlns:a="http://schemas.openxmlformats.org/drawingml/2006/main">
            <a:r>
              <a:t/>
            </a:r>
          </a:p>
          <a:p xmlns:a="http://schemas.openxmlformats.org/drawingml/2006/main">
            <a:r>
              <a:t>Source: C:/Users/justine mendoza/Documents/NFC Thesis Chapter 1-5 (1).pdf, printed pages 64-67, 158-163.</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a:p xmlns:a="http://schemas.openxmlformats.org/drawingml/2006/main">
            <a:r>
              <a:t/>
            </a:r>
          </a:p>
          <a:p xmlns:a="http://schemas.openxmlformats.org/drawingml/2006/main">
            <a:r>
              <a:t>Supporting Detail</a:t>
            </a:r>
          </a:p>
          <a:p xmlns:a="http://schemas.openxmlformats.org/drawingml/2006/main">
            <a:r>
              <a:t>Descriptive analysis</a:t>
            </a:r>
          </a:p>
          <a:p xmlns:a="http://schemas.openxmlformats.org/drawingml/2006/main">
            <a:r>
              <a:t>Frequency, mean, and sample SD use applicable observations. Respondent category scores produce the category and overall composite SDs.</a:t>
            </a:r>
          </a:p>
          <a:p xmlns:a="http://schemas.openxmlformats.org/drawingml/2006/main">
            <a:r>
              <a:t>Welch independent-samples t-test</a:t>
            </a:r>
          </a:p>
          <a:p xmlns:a="http://schemas.openxmlformats.org/drawingml/2006/main">
            <a:r>
              <a:t>Two-tailed test of overall student survey scores at alpha = 0.05. Different students form the manual and proposed-system groups.</a:t>
            </a:r>
          </a:p>
          <a:p xmlns:a="http://schemas.openxmlformats.org/drawingml/2006/main">
            <a:r>
              <a:t>H0: No significant difference in mean overall survey ratings.</a:t>
            </a:r>
          </a:p>
          <a:p xmlns:a="http://schemas.openxmlformats.org/drawingml/2006/main">
            <a:r>
              <a:t>H1: A significant difference exists in mean overall survey ratings.</a:t>
            </a:r>
          </a:p>
          <a:p xmlns:a="http://schemas.openxmlformats.org/drawingml/2006/main">
            <a:r>
              <a:t>t = (mean System - mean Manual)</a:t>
            </a:r>
          </a:p>
          <a:p xmlns:a="http://schemas.openxmlformats.org/drawingml/2006/main">
            <a:r>
              <a:t>     / sqrt(SD System^2 / n System + SD Manual^2 / n Manual)</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Total granted records are 420: 210 participant entries plus 210 team reset exits. The 18 denials belong to different conditions. Do not label them spontaneous participant failures. The appendix case list records selected functional outcomes rather than independently reproduced hardware testing during this preparation. Later signed-QR, durable-queue, completion, and clearance features need separate dated cases.</a:t>
            </a:r>
          </a:p>
          <a:p xmlns:a="http://schemas.openxmlformats.org/drawingml/2006/main">
            <a:r>
              <a:t/>
            </a:r>
          </a:p>
          <a:p xmlns:a="http://schemas.openxmlformats.org/drawingml/2006/main">
            <a:r>
              <a:t>Source: C:/Users/justine mendoza/Documents/NFC Thesis Chapter 1-5 (1).pdf, printed pages 113, 120-123, 230-231.</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a:p xmlns:a="http://schemas.openxmlformats.org/drawingml/2006/main">
            <a:r>
              <a:t/>
            </a:r>
          </a:p>
          <a:p xmlns:a="http://schemas.openxmlformats.org/drawingml/2006/main">
            <a:r>
              <a:t>Supporting Detail</a:t>
            </a:r>
          </a:p>
          <a:p xmlns:a="http://schemas.openxmlformats.org/drawingml/2006/main">
            <a:r>
              <a:t>Recorded challenges</a:t>
            </a:r>
          </a:p>
          <a:p xmlns:a="http://schemas.openxmlformats.org/drawingml/2006/main">
            <a:r>
              <a:t>Denials include deliberate PIN/lockout, QR mismatch, and entry/exit state tests.</a:t>
            </a:r>
          </a:p>
          <a:p xmlns:a="http://schemas.openxmlformats.org/drawingml/2006/main">
            <a:r>
              <a:t>Documented functionality</a:t>
            </a:r>
          </a:p>
          <a:p xmlns:a="http://schemas.openxmlformats.org/drawingml/2006/main">
            <a:r>
              <a:t>Appendix H lists 16 PASS cases. These do not validate every feature or later addition.</a:t>
            </a:r>
          </a:p>
          <a:p xmlns:a="http://schemas.openxmlformats.org/drawingml/2006/main">
            <a:r>
              <a:t>Mode, Successful Entries, Reset Exits, Denied Records, Total</a:t>
            </a:r>
          </a:p>
          <a:p xmlns:a="http://schemas.openxmlformats.org/drawingml/2006/main">
            <a:r>
              <a:t>Fast, 70, 70, 2, 142</a:t>
            </a:r>
          </a:p>
          <a:p xmlns:a="http://schemas.openxmlformats.org/drawingml/2006/main">
            <a:r>
              <a:t>Standard, 70, 70, 12, 152</a:t>
            </a:r>
          </a:p>
          <a:p xmlns:a="http://schemas.openxmlformats.org/drawingml/2006/main">
            <a:r>
              <a:t>High-Security, 70, 70, 4, 144</a:t>
            </a:r>
          </a:p>
          <a:p xmlns:a="http://schemas.openxmlformats.org/drawingml/2006/main">
            <a:r>
              <a:t>Total, 210, 210, 18, 438</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Mean internal latency is a logged component, not complete NFC-presentation-to-finished-verification duration. Standard has higher mean latency and dispersion than High-Security, so these results do not show a simple monotonic increase with security steps. Medians are 11.30, 50.66, and 52.64 ms. Ranges are 8.26-26.36, 44.55-137.47, and 49.44-86.36 ms. Database time is reported separately but overlaps internal latency.</a:t>
            </a:r>
          </a:p>
          <a:p xmlns:a="http://schemas.openxmlformats.org/drawingml/2006/main">
            <a:r>
              <a:t/>
            </a:r>
          </a:p>
          <a:p xmlns:a="http://schemas.openxmlformats.org/drawingml/2006/main">
            <a:r>
              <a:t>Source: C:/Users/justine mendoza/Documents/NFC Thesis Chapter 1-5 (1).pdf, printed pages 114-117.</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a:p xmlns:a="http://schemas.openxmlformats.org/drawingml/2006/main">
            <a:r>
              <a:t/>
            </a:r>
          </a:p>
          <a:p xmlns:a="http://schemas.openxmlformats.org/drawingml/2006/main">
            <a:r>
              <a:t>Supporting Detail</a:t>
            </a:r>
          </a:p>
          <a:p xmlns:a="http://schemas.openxmlformats.org/drawingml/2006/main">
            <a:r>
              <a:t>70 successful entries per mode</a:t>
            </a:r>
          </a:p>
          <a:p xmlns:a="http://schemas.openxmlformats.org/drawingml/2006/main">
            <a:r>
              <a:t>Database-query time overlaps internal latency. Adding it again would double-count time.</a:t>
            </a:r>
          </a:p>
          <a:p xmlns:a="http://schemas.openxmlformats.org/drawingml/2006/main">
            <a:r>
              <a:t>Mode, Mean ms, Sample SD ms, DB Mean ms</a:t>
            </a:r>
          </a:p>
          <a:p xmlns:a="http://schemas.openxmlformats.org/drawingml/2006/main">
            <a:r>
              <a:t>Fast, 11.49, 2.20, 2.88</a:t>
            </a:r>
          </a:p>
          <a:p xmlns:a="http://schemas.openxmlformats.org/drawingml/2006/main">
            <a:r>
              <a:t>Standard, 57.37, 17.46, 47.95</a:t>
            </a:r>
          </a:p>
          <a:p xmlns:a="http://schemas.openxmlformats.org/drawingml/2006/main">
            <a:r>
              <a:t>High-Security, 54.06, 6.34, 44.90</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High-Security PIN mean 2.162 plus QR mean 3.637 gives 5.799 seconds. Standard includes PIN only. These logged stages do not include every physical task component. All successful observations, including slow trials, remain included. The High-Security maximum is 22.604 seconds. Lower High-Security PIN mean does not prove improvement because the fixed sequence placed it after Standard and practice may affect performance. The exports alone do not identify why QR trials took longer.</a:t>
            </a:r>
          </a:p>
          <a:p xmlns:a="http://schemas.openxmlformats.org/drawingml/2006/main">
            <a:r>
              <a:t/>
            </a:r>
          </a:p>
          <a:p xmlns:a="http://schemas.openxmlformats.org/drawingml/2006/main">
            <a:r>
              <a:t>Source: C:/Users/justine mendoza/Documents/NFC Thesis Chapter 1-5 (1).pdf, printed pages 115-117.</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a:p xmlns:a="http://schemas.openxmlformats.org/drawingml/2006/main">
            <a:r>
              <a:t/>
            </a:r>
          </a:p>
          <a:p xmlns:a="http://schemas.openxmlformats.org/drawingml/2006/main">
            <a:r>
              <a:t>Supporting Detail</a:t>
            </a:r>
          </a:p>
          <a:p xmlns:a="http://schemas.openxmlformats.org/drawingml/2006/main">
            <a:r>
              <a:t>n = 70 per mode. Fast bypasses PIN/QR. Its interaction stage is N/A, not a zero-second full task.</a:t>
            </a:r>
          </a:p>
          <a:p xmlns:a="http://schemas.openxmlformats.org/drawingml/2006/main">
            <a:r>
              <a:t>Total Stage Duration, Standard, High-Security</a:t>
            </a:r>
          </a:p>
          <a:p xmlns:a="http://schemas.openxmlformats.org/drawingml/2006/main">
            <a:r>
              <a:t>Mean (s), 2.505, 5.799</a:t>
            </a:r>
          </a:p>
          <a:p xmlns:a="http://schemas.openxmlformats.org/drawingml/2006/main">
            <a:r>
              <a:t>Median (s), 2.035, 4.348</a:t>
            </a:r>
          </a:p>
          <a:p xmlns:a="http://schemas.openxmlformats.org/drawingml/2006/main">
            <a:r>
              <a:t>Sample SD (s), 1.152, 3.878</a:t>
            </a:r>
          </a:p>
          <a:p xmlns:a="http://schemas.openxmlformats.org/drawingml/2006/main">
            <a:r>
              <a:t>Maximum (s), 6.875, 22.604</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Manual event-attendance simulation included writing the required information. Personnel did not perform an ID or enrollment check. Timings exclude approach, waiting, transitions, and later record transcription. Mean 21.803 seconds is active writing, not a complete verified-entry task. The service-time-equivalent rate is 60 / 21.803 = 2.75 writing completions per minute and is not independently observed queue throughput. Histogram bins include their lower edge and exclude their upper edge. Source raw manual observations: output/chapter4/manual.json and the supplied manual baseline PDF.</a:t>
            </a:r>
          </a:p>
          <a:p xmlns:a="http://schemas.openxmlformats.org/drawingml/2006/main">
            <a:r>
              <a:t/>
            </a:r>
          </a:p>
          <a:p xmlns:a="http://schemas.openxmlformats.org/drawingml/2006/main">
            <a:r>
              <a:t>Source: C:/Users/justine mendoza/Documents/NFC Thesis Chapter 1-5 (1).pdf, printed pages 60, 123-125, 232-233.</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a:p xmlns:a="http://schemas.openxmlformats.org/drawingml/2006/main">
            <a:r>
              <a:t/>
            </a:r>
          </a:p>
          <a:p xmlns:a="http://schemas.openxmlformats.org/drawingml/2006/main">
            <a:r>
              <a:t>Supporting Detail</a:t>
            </a:r>
          </a:p>
          <a:p xmlns:a="http://schemas.openxmlformats.org/drawingml/2006/main">
            <a:r>
              <a:t>21.803 seconds</a:t>
            </a:r>
          </a:p>
          <a:p xmlns:a="http://schemas.openxmlformats.org/drawingml/2006/main">
            <a:r>
              <a:t>Mean active writing duration, n = 70</a:t>
            </a:r>
          </a:p>
          <a:p xmlns:a="http://schemas.openxmlformats.org/drawingml/2006/main">
            <a:r>
              <a:t>Sample SD 4.436 s</a:t>
            </a:r>
          </a:p>
          <a:p xmlns:a="http://schemas.openxmlformats.org/drawingml/2006/main">
            <a:r>
              <a:t>Median 21.135 s</a:t>
            </a:r>
          </a:p>
          <a:p xmlns:a="http://schemas.openxmlformats.org/drawingml/2006/main">
            <a:r>
              <a:t>Range 13.21-37.63 s</a:t>
            </a:r>
          </a:p>
          <a:p xmlns:a="http://schemas.openxmlformats.org/drawingml/2006/main">
            <a:r>
              <a:t>Duration bins in seconds</a:t>
            </a:r>
          </a:p>
          <a:p xmlns:a="http://schemas.openxmlformats.org/drawingml/2006/main">
            <a:r>
              <a:t>Stopwatch: first written character to completed name, course/section, student ID, and signature.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intervals are timestamp differences between successive successful entries within each round. First-entry latency is not represented. Sum spans are 180.200, 531.167, and 800.508 seconds. Rate equals 60 times 66 divided by summed seconds. Between-round resets and explanations are excluded. Within-round pauses and denials remain in elapsed time, including 13 denied records within selected spans. The manual 2.75 per minute is a service-time-equivalent calculation with a different denominator. Do not calculate a speed multiplier, peak capacity, or percentage improvement from these unlike measures. Independent complete-round timings were unavailable.</a:t>
            </a:r>
          </a:p>
          <a:p xmlns:a="http://schemas.openxmlformats.org/drawingml/2006/main">
            <a:r>
              <a:t/>
            </a:r>
          </a:p>
          <a:p xmlns:a="http://schemas.openxmlformats.org/drawingml/2006/main">
            <a:r>
              <a:t>Source: C:/Users/justine mendoza/Documents/NFC Thesis Chapter 1-5 (1).pdf, printed pages 117-119, 124, 187.</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a:p xmlns:a="http://schemas.openxmlformats.org/drawingml/2006/main">
            <a:r>
              <a:t/>
            </a:r>
          </a:p>
          <a:p xmlns:a="http://schemas.openxmlformats.org/drawingml/2006/main">
            <a:r>
              <a:t>Supporting Detail</a:t>
            </a:r>
          </a:p>
          <a:p xmlns:a="http://schemas.openxmlformats.org/drawingml/2006/main">
            <a:r>
              <a:t>Why 66 intervals?</a:t>
            </a:r>
          </a:p>
          <a:p xmlns:a="http://schemas.openxmlformats.org/drawingml/2006/main">
            <a:r>
              <a:t>Rounds of 20, 20, 20, and 10 entries produce 19 + 19 + 19 + 9 gaps between consecutive entries.</a:t>
            </a:r>
          </a:p>
          <a:p xmlns:a="http://schemas.openxmlformats.org/drawingml/2006/main">
            <a:r>
              <a:t>These rates do not establish full-round capacity or a matched throughput advantage over manual attendance.</a:t>
            </a:r>
          </a:p>
          <a:p xmlns:a="http://schemas.openxmlformats.org/drawingml/2006/main">
            <a:r>
              <a:t>Mode, Intervals, Mean Spacing s, Intervals per Minute</a:t>
            </a:r>
          </a:p>
          <a:p xmlns:a="http://schemas.openxmlformats.org/drawingml/2006/main">
            <a:r>
              <a:t>Fast, 66, 2.730, 21.98</a:t>
            </a:r>
          </a:p>
          <a:p xmlns:a="http://schemas.openxmlformats.org/drawingml/2006/main">
            <a:r>
              <a:t>Standard, 66, 8.048, 7.46</a:t>
            </a:r>
          </a:p>
          <a:p xmlns:a="http://schemas.openxmlformats.org/drawingml/2006/main">
            <a:r>
              <a:t>High-Security, 66, 12.129, 4.95</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Accuracy denominator is 210 expected-valid entry grants plus 12 expected-invalid credential rejections: eight PIN failures, two newly triggered lockouts, and two QR mismatches. Five pre-authentication entry-state violations, one irregular exit, and 210 granted reset exits are excluded. Correct denials count as correct credential decisions. Mode accuracy is 70/70 Fast, 79/79 Standard, and 73/73 High-Security. Denial proportion uses all 438 records. PIN denominator is 140 successful PIN stages plus eight failure submissions plus two triggering lockout submissions plus two correct PIN stages followed by QR denial. The researcher confirmed every PIN submission was captured and both lockouts were newly triggered on the third incorrect submission. Lockout demos were researcher-led. Do not infer normal-user PIN usability or zero hardware/database failures. No hardware-read/database-timeout code appears among these 18 denials, but missed scans/cancellations were not independently audited.</a:t>
            </a:r>
          </a:p>
          <a:p xmlns:a="http://schemas.openxmlformats.org/drawingml/2006/main">
            <a:r>
              <a:t/>
            </a:r>
          </a:p>
          <a:p xmlns:a="http://schemas.openxmlformats.org/drawingml/2006/main">
            <a:r>
              <a:t>Source: C:/Users/justine mendoza/Documents/NFC Thesis Chapter 1-5 (1).pdf, printed pages 119-123.</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a:p xmlns:a="http://schemas.openxmlformats.org/drawingml/2006/main">
            <a:r>
              <a:t/>
            </a:r>
          </a:p>
          <a:p xmlns:a="http://schemas.openxmlformats.org/drawingml/2006/main">
            <a:r>
              <a:t>Supporting Detail</a:t>
            </a:r>
          </a:p>
          <a:p xmlns:a="http://schemas.openxmlformats.org/drawingml/2006/main">
            <a:r>
              <a:t>100.00%</a:t>
            </a:r>
          </a:p>
          <a:p xmlns:a="http://schemas.openxmlformats.org/drawingml/2006/main">
            <a:r>
              <a:t>222 / 222 correct applicable</a:t>
            </a:r>
          </a:p>
          <a:p xmlns:a="http://schemas.openxmlformats.org/drawingml/2006/main">
            <a:r>
              <a:t>credential decisions</a:t>
            </a:r>
          </a:p>
          <a:p xmlns:a="http://schemas.openxmlformats.org/drawingml/2006/main">
            <a:r>
              <a:t>4.11%</a:t>
            </a:r>
          </a:p>
          <a:p xmlns:a="http://schemas.openxmlformats.org/drawingml/2006/main">
            <a:r>
              <a:t>18 / 438 denied</a:t>
            </a:r>
          </a:p>
          <a:p xmlns:a="http://schemas.openxmlformats.org/drawingml/2006/main">
            <a:r>
              <a:t>exported records</a:t>
            </a:r>
          </a:p>
          <a:p xmlns:a="http://schemas.openxmlformats.org/drawingml/2006/main">
            <a:r>
              <a:t>1.32%</a:t>
            </a:r>
          </a:p>
          <a:p xmlns:a="http://schemas.openxmlformats.org/drawingml/2006/main">
            <a:r>
              <a:t>2 new lockouts /</a:t>
            </a:r>
          </a:p>
          <a:p xmlns:a="http://schemas.openxmlformats.org/drawingml/2006/main">
            <a:r>
              <a:t>152 PIN submissions</a:t>
            </a:r>
          </a:p>
          <a:p xmlns:a="http://schemas.openxmlformats.org/drawingml/2006/main">
            <a:r>
              <a:t>Expected outcomes came from the researcher. Demonstrations contribute to denial and lockout counts.</a:t>
            </a:r>
          </a:p>
          <a:p xmlns:a="http://schemas.openxmlformats.org/drawingml/2006/main">
            <a:r>
              <a:t>Controlled credential decisions do not establish physical identity or universal attack resistance.</a:t>
            </a:r>
          </a:p>
          <a:p xmlns:a="http://schemas.openxmlformats.org/drawingml/2006/main">
            <a:r>
              <a:t>Recorded Denial Condition, Count</a:t>
            </a:r>
          </a:p>
          <a:p xmlns:a="http://schemas.openxmlformats.org/drawingml/2006/main">
            <a:r>
              <a:t>Incorrect PIN, 8</a:t>
            </a:r>
          </a:p>
          <a:p xmlns:a="http://schemas.openxmlformats.org/drawingml/2006/main">
            <a:r>
              <a:t>Consecutive-entry state violation, 5</a:t>
            </a:r>
          </a:p>
          <a:p xmlns:a="http://schemas.openxmlformats.org/drawingml/2006/main">
            <a:r>
              <a:t>New PIN lockout, 2</a:t>
            </a:r>
          </a:p>
          <a:p xmlns:a="http://schemas.openxmlformats.org/drawingml/2006/main">
            <a:r>
              <a:t>QR mismatch, 2</a:t>
            </a:r>
          </a:p>
          <a:p xmlns:a="http://schemas.openxmlformats.org/drawingml/2006/main">
            <a:r>
              <a:t>Irregular exit state, 1</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Full-precision displayed category means: manual 2.483, 1.932, 2.637, 2.183, 2.183; system 3.763, 3.743, 3.740, 3.711, 3.751. System composite sample SDs: 0.318, 0.366, 0.329, 0.348, 0.341. Manual composite sample SDs: 0.899, 0.919, 0.854, 0.852, 0.883. Difference column uses unrounded values, so subtracting displayed rounded category values can differ by 0.001. Manual Usability mean 2.637 is Satisfactory. Other manual category means are Unsatisfactory. All system category means are Highly Satisfactory. Shared category labels do not establish identical measurement because wording is process-specific.</a:t>
            </a:r>
          </a:p>
          <a:p xmlns:a="http://schemas.openxmlformats.org/drawingml/2006/main">
            <a:r>
              <a:t/>
            </a:r>
          </a:p>
          <a:p xmlns:a="http://schemas.openxmlformats.org/drawingml/2006/main">
            <a:r>
              <a:t>Source: C:/Users/justine mendoza/Documents/NFC Thesis Chapter 1-5 (1).pdf, printed pages 135-139, 153-159.</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a:p xmlns:a="http://schemas.openxmlformats.org/drawingml/2006/main">
            <a:r>
              <a:t/>
            </a:r>
          </a:p>
          <a:p xmlns:a="http://schemas.openxmlformats.org/drawingml/2006/main">
            <a:r>
              <a:t>Supporting Detail</a:t>
            </a:r>
          </a:p>
          <a:p xmlns:a="http://schemas.openxmlformats.org/drawingml/2006/main">
            <a:r>
              <a:t>Largest descriptive difference: Performance Efficiency, 1.811 points.</a:t>
            </a:r>
          </a:p>
          <a:p xmlns:a="http://schemas.openxmlformats.org/drawingml/2006/main">
            <a:r>
              <a:t>Different student groups. Category means are descriptive. Only the overall score received a t-test.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Student mean 3.742 and composite sample SD 0.290. Security mean 3.634 rounds to 3.63. Category means are Functional Suitability 3.84, Performance Efficiency 3.45, Usability 3.60, Reliability 3.48, Security 3.80. Administrative mean 3.81375 rounds to 3.81. Category means are Functional Suitability 3.80, Performance Efficiency 3.68, Compatibility 3.75, Usability 3.88, Reliability 3.76, Security 3.84, Maintainability 3.88, Portability 3.92. Only item-frequency totals were available for the two groups of five, so respondent composite SDs cannot be recovered. Agreement ratings are perceived quality, not formal ISO certification or proof of technical review. Do not combine the differently sized and differently worded instruments into a pooled 3.81 score.</a:t>
            </a:r>
          </a:p>
          <a:p xmlns:a="http://schemas.openxmlformats.org/drawingml/2006/main">
            <a:r>
              <a:t/>
            </a:r>
          </a:p>
          <a:p xmlns:a="http://schemas.openxmlformats.org/drawingml/2006/main">
            <a:r>
              <a:t>Source: C:/Users/justine mendoza/Documents/NFC Thesis Chapter 1-5 (1).pdf, printed pages 139-153, 186.</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a:p xmlns:a="http://schemas.openxmlformats.org/drawingml/2006/main">
            <a:r>
              <a:t/>
            </a:r>
          </a:p>
          <a:p xmlns:a="http://schemas.openxmlformats.org/drawingml/2006/main">
            <a:r>
              <a:t>Supporting Detail</a:t>
            </a:r>
          </a:p>
          <a:p xmlns:a="http://schemas.openxmlformats.org/drawingml/2006/main">
            <a:r>
              <a:t>Highly Satisfactory</a:t>
            </a:r>
          </a:p>
          <a:p xmlns:a="http://schemas.openxmlformats.org/drawingml/2006/main">
            <a:r>
              <a:t>All three overall means fall in the 3.26-4.00 interpretation range.</a:t>
            </a:r>
          </a:p>
          <a:p xmlns:a="http://schemas.openxmlformats.org/drawingml/2006/main">
            <a:r>
              <a:t>Security personnel: five categories</a:t>
            </a:r>
          </a:p>
          <a:p xmlns:a="http://schemas.openxmlformats.org/drawingml/2006/main">
            <a:r>
              <a:t>Lowest category mean: Performance Efficiency, 3.45.</a:t>
            </a:r>
          </a:p>
          <a:p xmlns:a="http://schemas.openxmlformats.org/drawingml/2006/main">
            <a:r>
              <a:t>Admin: eight categories</a:t>
            </a:r>
          </a:p>
          <a:p xmlns:a="http://schemas.openxmlformats.org/drawingml/2006/main">
            <a:r>
              <a:t>Portability 3.92</a:t>
            </a:r>
          </a:p>
          <a:p xmlns:a="http://schemas.openxmlformats.org/drawingml/2006/main">
            <a:r>
              <a:t>Performance Efficiency 3.68</a:t>
            </a:r>
          </a:p>
          <a:p xmlns:a="http://schemas.openxmlformats.org/drawingml/2006/main">
            <a:r>
              <a:t>Role-specific instruments remain separate. No pooled system-wide mean or composite SD for the five-person groups.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Final statistics use unrounded respondent-level equal-category scores. Rounded substitution illustrates the method and yields 15.12, while full precision yields t = 15.1241767182 and Welch df = 89.0760178841. Two-sided p is approximately 2.46554e-26, reported p &lt; .001. The observed mean difference is 1.458 points with 95% CI 1.267 to 1.650. Reject H0 of equal population mean overall ratings. Different groups and process-specific wording limit causal attribution to the attendance method alone. The result does not establish objective security superiority, faster complete tasks, or performance improvement for each category.</a:t>
            </a:r>
          </a:p>
          <a:p xmlns:a="http://schemas.openxmlformats.org/drawingml/2006/main">
            <a:r>
              <a:t/>
            </a:r>
          </a:p>
          <a:p xmlns:a="http://schemas.openxmlformats.org/drawingml/2006/main">
            <a:r>
              <a:t>Source: C:/Users/justine mendoza/Documents/NFC Thesis Chapter 1-5 (1).pdf, printed pages 160-163.</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a:p xmlns:a="http://schemas.openxmlformats.org/drawingml/2006/main">
            <a:r>
              <a:t/>
            </a:r>
          </a:p>
          <a:p xmlns:a="http://schemas.openxmlformats.org/drawingml/2006/main">
            <a:r>
              <a:t>Supporting Detail</a:t>
            </a:r>
          </a:p>
          <a:p xmlns:a="http://schemas.openxmlformats.org/drawingml/2006/main">
            <a:r>
              <a:t>Rounded demonstration</a:t>
            </a:r>
          </a:p>
          <a:p xmlns:a="http://schemas.openxmlformats.org/drawingml/2006/main">
            <a:r>
              <a:t>SE = sqrt(0.290^2 / 70 + 0.753^2 / 70) = 0.096445</a:t>
            </a:r>
          </a:p>
          <a:p xmlns:a="http://schemas.openxmlformats.org/drawingml/2006/main">
            <a:r>
              <a:t>t = (3.742 - 2.284) / 0.096445 = 15.12</a:t>
            </a:r>
          </a:p>
          <a:p xmlns:a="http://schemas.openxmlformats.org/drawingml/2006/main">
            <a:r>
              <a:t>t(89.076) = 15.124, p &lt; .001</a:t>
            </a:r>
          </a:p>
          <a:p xmlns:a="http://schemas.openxmlformats.org/drawingml/2006/main">
            <a:r>
              <a:t>Difference 1.458 points</a:t>
            </a:r>
          </a:p>
          <a:p xmlns:a="http://schemas.openxmlformats.org/drawingml/2006/main">
            <a:r>
              <a:t>95% CI [1.267, 1.650]</a:t>
            </a:r>
          </a:p>
          <a:p xmlns:a="http://schemas.openxmlformats.org/drawingml/2006/main">
            <a:r>
              <a:t>Reject H0 at alpha = .05. The result concerns overall survey ratings, not processing speed.</a:t>
            </a:r>
          </a:p>
          <a:p xmlns:a="http://schemas.openxmlformats.org/drawingml/2006/main">
            <a:r>
              <a:t>Group, n, Overall Mean, Composite Sample SD</a:t>
            </a:r>
          </a:p>
          <a:p xmlns:a="http://schemas.openxmlformats.org/drawingml/2006/main">
            <a:r>
              <a:t>Manual process, 70, 2.284, 0.753</a:t>
            </a:r>
          </a:p>
          <a:p xmlns:a="http://schemas.openxmlformats.org/drawingml/2006/main">
            <a:r>
              <a:t>Proposed system, 70, 3.742, 0.290</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SOP 1-4 receive evidence of integrated prototype functions and selected rule handling. SOP 5 concerns favorable perceived quality within the respondent groups. SOP 6A and 6B remain descriptive because measurement boundaries and rate denominators differ. SOP 6C has a significant overall survey comparison. Do not infer fraud reduction, exclusive credential ownership, queue reduction, workload savings, or universal offline reliability. Researcher-labelled outcomes are not blinded independent accuracy assessment. New features added after the observation require separate evaluation.</a:t>
            </a:r>
          </a:p>
          <a:p xmlns:a="http://schemas.openxmlformats.org/drawingml/2006/main">
            <a:r>
              <a:t/>
            </a:r>
          </a:p>
          <a:p xmlns:a="http://schemas.openxmlformats.org/drawingml/2006/main">
            <a:r>
              <a:t>Source: C:/Users/justine mendoza/Documents/NFC Thesis Chapter 1-5 (1).pdf, printed pages 163-187.</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a:p xmlns:a="http://schemas.openxmlformats.org/drawingml/2006/main">
            <a:r>
              <a:t/>
            </a:r>
          </a:p>
          <a:p xmlns:a="http://schemas.openxmlformats.org/drawingml/2006/main">
            <a:r>
              <a:t>Supporting Detail</a:t>
            </a:r>
          </a:p>
          <a:p xmlns:a="http://schemas.openxmlformats.org/drawingml/2006/main">
            <a:r>
              <a:t>Recorded capability</a:t>
            </a:r>
          </a:p>
          <a:p xmlns:a="http://schemas.openxmlformats.org/drawingml/2006/main">
            <a:r>
              <a:t>The prototype applied configured rules in the recorded tests. Logical re-entry rejection does not establish physical tailgating prevention.</a:t>
            </a:r>
          </a:p>
          <a:p xmlns:a="http://schemas.openxmlformats.org/drawingml/2006/main">
            <a:r>
              <a:t>Timing interpretation</a:t>
            </a:r>
          </a:p>
          <a:p xmlns:a="http://schemas.openxmlformats.org/drawingml/2006/main">
            <a:r>
              <a:t>Millisecond internal latency and seconds of PIN/QR interaction describe different components. Complete-task speed and matched throughput remain unmeasured.</a:t>
            </a:r>
          </a:p>
          <a:p xmlns:a="http://schemas.openxmlformats.org/drawingml/2006/main">
            <a:r>
              <a:t>Evaluation limits</a:t>
            </a:r>
          </a:p>
          <a:p xmlns:a="http://schemas.openxmlformats.org/drawingml/2006/main">
            <a:r>
              <a:t>Shared cards, fixed mode order, non-probability sampling, small staff groups, and different student survey groups limit generalization and causal interpretation.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conclusion bounded to supplied observations and surveys. Say the prototype demonstrated selected functionality under controlled conditions. Do not use proven efficiency, strict physical control, best thesis, total security, no errors, or complete offline resilience. The statistically significant survey result does not remove the independent-group limitation or establish a matched processing-time improvement.</a:t>
            </a:r>
          </a:p>
          <a:p xmlns:a="http://schemas.openxmlformats.org/drawingml/2006/main">
            <a:r>
              <a:t/>
            </a:r>
          </a:p>
          <a:p xmlns:a="http://schemas.openxmlformats.org/drawingml/2006/main">
            <a:r>
              <a:t>Source: C:/Users/justine mendoza/Documents/NFC Thesis Chapter 1-5 (1).pdf, printed pages 183-187.</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a:p xmlns:a="http://schemas.openxmlformats.org/drawingml/2006/main">
            <a:r>
              <a:t/>
            </a:r>
          </a:p>
          <a:p xmlns:a="http://schemas.openxmlformats.org/drawingml/2006/main">
            <a:r>
              <a:t>Supporting Detail</a:t>
            </a:r>
          </a:p>
          <a:p xmlns:a="http://schemas.openxmlformats.org/drawingml/2006/main">
            <a:r>
              <a:t>Developed prototype</a:t>
            </a:r>
          </a:p>
          <a:p xmlns:a="http://schemas.openxmlformats.org/drawingml/2006/main">
            <a:r>
              <a:t>The system combines configured NFC/PIN/QR workflows, eligibility checks, attendance records, and role-based monitoring.</a:t>
            </a:r>
          </a:p>
          <a:p xmlns:a="http://schemas.openxmlformats.org/drawingml/2006/main">
            <a:r>
              <a:t>Supported findings</a:t>
            </a:r>
          </a:p>
          <a:p xmlns:a="http://schemas.openxmlformats.org/drawingml/2006/main">
            <a:r>
              <a:t>Controlled credential decisions matched expected outcomes. Respondents reported favorable perceived quality and higher overall system-group student ratings.</a:t>
            </a:r>
          </a:p>
          <a:p xmlns:a="http://schemas.openxmlformats.org/drawingml/2006/main">
            <a:r>
              <a:t>Scope of the conclusion</a:t>
            </a:r>
          </a:p>
          <a:p xmlns:a="http://schemas.openxmlformats.org/drawingml/2006/main">
            <a:r>
              <a:t>The study supports demonstrated prototype functionality and the survey comparison. Deployment-scale performance and broader security effectiveness require further testing.</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Further recommendations include larger multi-terminal studies, broader colleges and staff samples, individual credential assignment when testing identity-linked behavior, and independent audits of record quality and personnel workload. Test later signed-QR credentials, durable queues, event completion, and graduation clearance separately. Document failure, cancellation, retry, and synchronization outcomes with clear denominators. Visitor modules are future work, not evaluated results. Pending same-participant and documentation requirements remain in the pre-oral matrix.</a:t>
            </a:r>
          </a:p>
          <a:p xmlns:a="http://schemas.openxmlformats.org/drawingml/2006/main">
            <a:r>
              <a:t/>
            </a:r>
          </a:p>
          <a:p xmlns:a="http://schemas.openxmlformats.org/drawingml/2006/main">
            <a:r>
              <a:t>Source: C:/Users/justine mendoza/Documents/NFC Thesis Chapter 1-5 (1).pdf, printed pages 188-191.</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a:p xmlns:a="http://schemas.openxmlformats.org/drawingml/2006/main">
            <a:r>
              <a:t/>
            </a:r>
          </a:p>
          <a:p xmlns:a="http://schemas.openxmlformats.org/drawingml/2006/main">
            <a:r>
              <a:t>Supporting Detail</a:t>
            </a:r>
          </a:p>
          <a:p xmlns:a="http://schemas.openxmlformats.org/drawingml/2006/main">
            <a:r>
              <a:t>Equivalent timing and larger studies</a:t>
            </a:r>
          </a:p>
          <a:p xmlns:a="http://schemas.openxmlformats.org/drawingml/2006/main">
            <a:r>
              <a:t>Measure full tasks and sustained throughput with common boundaries. Use matched or clearly independent groups and counterbalance mode order.</a:t>
            </a:r>
          </a:p>
          <a:p xmlns:a="http://schemas.openxmlformats.org/drawingml/2006/main">
            <a:r>
              <a:t>Security, recovery, and personnel workflows</a:t>
            </a:r>
          </a:p>
          <a:p xmlns:a="http://schemas.openxmlformats.org/drawingml/2006/main">
            <a:r>
              <a:t>Test credential sharing and copied payloads, outages and power recovery, alert workload, and routine PIN usability separately from demonstrations.</a:t>
            </a:r>
          </a:p>
          <a:p xmlns:a="http://schemas.openxmlformats.org/drawingml/2006/main">
            <a:r>
              <a:t>Documentation and deployment readiness</a:t>
            </a:r>
          </a:p>
          <a:p xmlns:a="http://schemas.openxmlformats.org/drawingml/2006/main">
            <a:r>
              <a:t>Retain anonymized raw responses, complete dated evidence, and current interface screenshots. Resolve retention/destruction scope before wider deployment.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Demonstrate the current system separately from the historical August results. Use a prepared valid credential for each mode, then show a documented invalid condition without describing all denials as failures. Show timestamps and the result-retention duration. For administrative cleanup, use a disposable test database or show the authorization and confirmation without deleting real research data. Explain that local log cleanup retains cloud history. Identify later additions as current functionality requiring separate evaluation.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C:/Users/justine mendoza/Documents/NFC Thesis Chapter 1-5 (1).pdf, printed pages 101-105, 205-212.</a:t>
            </a:r>
            <a:endParaRPr/>
          </a:p>
          <a:p xmlns:a="http://schemas.openxmlformats.org/drawingml/2006/main">
            <a:pPr marL="0" lvl="0" indent="0" algn="l">
              <a:spcBef>
                <a:spcPts val="0"/>
              </a:spcBef>
              <a:spcAft>
                <a:spcPts val="0"/>
              </a:spcAft>
              <a:buNone/>
            </a:pPr>
            <a:r>
              <a:t>Pre-oral recommendations: supplied list and annotated manuscript photographs. Current implementation status follows the inspected code and pre-oral matrix.</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Supporting Detail</a:t>
            </a:r>
            <a:endParaRPr/>
          </a:p>
          <a:p xmlns:a="http://schemas.openxmlformats.org/drawingml/2006/main">
            <a:pPr marL="0" lvl="0" indent="0" algn="l">
              <a:spcBef>
                <a:spcPts val="0"/>
              </a:spcBef>
              <a:spcAft>
                <a:spcPts val="0"/>
              </a:spcAft>
              <a:buNone/>
            </a:pPr>
            <a:r>
              <a:t>SYSTEM DEMONSTRATION</a:t>
            </a:r>
            <a:endParaRPr/>
          </a:p>
          <a:p xmlns:a="http://schemas.openxmlformats.org/drawingml/2006/main">
            <a:pPr marL="0" lvl="0" indent="0" algn="l">
              <a:spcBef>
                <a:spcPts val="0"/>
              </a:spcBef>
              <a:spcAft>
                <a:spcPts val="0"/>
              </a:spcAft>
              <a:buNone/>
            </a:pPr>
            <a:r>
              <a:t>Live Demo and Questions</a:t>
            </a:r>
            <a:endParaRPr/>
          </a:p>
          <a:p xmlns:a="http://schemas.openxmlformats.org/drawingml/2006/main">
            <a:pPr marL="0" lvl="0" indent="0" algn="l">
              <a:spcBef>
                <a:spcPts val="0"/>
              </a:spcBef>
              <a:spcAft>
                <a:spcPts val="0"/>
              </a:spcAft>
              <a:buNone/>
            </a:pPr>
            <a:r>
              <a:t>Configured modes, entry/exit timestamps, alerts,</a:t>
            </a:r>
            <a:endParaRPr/>
          </a:p>
          <a:p xmlns:a="http://schemas.openxmlformats.org/drawingml/2006/main">
            <a:pPr marL="0" lvl="0" indent="0" algn="l">
              <a:spcBef>
                <a:spcPts val="0"/>
              </a:spcBef>
              <a:spcAft>
                <a:spcPts val="0"/>
              </a:spcAft>
              <a:buNone/>
            </a:pPr>
            <a:r>
              <a:t>and authorized local cleanup</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30798ffe47b44a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fc2289cf9ac49e2" /></Relationships>
</file>

<file path=ppt/slideLayouts/slideLayout1.xml><?xml version="1.0" encoding="utf-8"?>
<p:sldLayout xmlns:p="http://schemas.openxmlformats.org/presentationml/2006/main" matchingName="DEFAULT">
  <p:cSld name="DEFAULT">
    <p:bg>
      <p:bgPr>
        <a:solidFill xmlns:a="http://schemas.openxmlformats.org/drawingml/2006/main">
          <a:schemeClr val="lt1"/>
        </a:solidFill>
      </p:bgPr>
    </p:bg>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matchingName="Generated (g3f9a2bf5764_91_0)">
  <p:cSld name="Generated (g3f9a2bf5764_91_0)">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a7baf3e1fe84f53" /><Relationship Type="http://schemas.openxmlformats.org/officeDocument/2006/relationships/slideLayout" Target="/ppt/slideLayouts/slideLayout1.xml" Id="R8a0066c5349b4736" /><Relationship Type="http://schemas.openxmlformats.org/officeDocument/2006/relationships/slideLayout" Target="/ppt/slideLayouts/slideLayout2.xml" Id="Rfff9707a96a147f9"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8a0066c5349b4736"/>
    <p:sldLayoutId xmlns:r="http://schemas.openxmlformats.org/officeDocument/2006/relationships" id="2147483650" r:id="Rfff9707a96a147f9"/>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6b11c6a2d784f7c" /><Relationship Type="http://schemas.openxmlformats.org/officeDocument/2006/relationships/notesSlide" Target="/ppt/notesSlides/notesSlide1.xml" Id="R15941e0586d1476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0deb4c405e84c31" /><Relationship Type="http://schemas.openxmlformats.org/officeDocument/2006/relationships/notesSlide" Target="/ppt/notesSlides/notesSlide2.xml" Id="Rce1b8dc3f72c4e2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63ec012fc554d4e" /><Relationship Type="http://schemas.openxmlformats.org/officeDocument/2006/relationships/notesSlide" Target="/ppt/notesSlides/notesSlide3.xml" Id="R274db4e713b747b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c7fe1f8f6974008" /><Relationship Type="http://schemas.openxmlformats.org/officeDocument/2006/relationships/notesSlide" Target="/ppt/notesSlides/notesSlide4.xml" Id="R07c2b6c5e93041c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e6fc2f0c4a24062" /><Relationship Type="http://schemas.openxmlformats.org/officeDocument/2006/relationships/notesSlide" Target="/ppt/notesSlides/notesSlide5.xml" Id="R133a1ba2f2a84c6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d6893a9b6544b1a" /><Relationship Type="http://schemas.openxmlformats.org/officeDocument/2006/relationships/notesSlide" Target="/ppt/notesSlides/notesSlide6.xml" Id="R8ddd7b514069443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48764f2d6ac46a0" /><Relationship Type="http://schemas.openxmlformats.org/officeDocument/2006/relationships/notesSlide" Target="/ppt/notesSlides/notesSlide7.xml" Id="Rd4714a4be8b843b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1c576b495044f8d" /><Relationship Type="http://schemas.openxmlformats.org/officeDocument/2006/relationships/notesSlide" Target="/ppt/notesSlides/notesSlide8.xml" Id="R8ed3f6e33c3540d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3f6a330346f4528" /><Relationship Type="http://schemas.openxmlformats.org/officeDocument/2006/relationships/notesSlide" Target="/ppt/notesSlides/notesSlide9.xml" Id="R6eb6ef3ccc1845d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e91972f89050494c" /><Relationship Type="http://schemas.openxmlformats.org/officeDocument/2006/relationships/image" Target="/ppt/media/image.jpeg" Id="R0d3c4aa6062c4fca" /><Relationship Type="http://schemas.openxmlformats.org/officeDocument/2006/relationships/image" Target="/ppt/media/image2.jpeg" Id="Ra017fbe2e00f411e" /><Relationship Type="http://schemas.openxmlformats.org/officeDocument/2006/relationships/image" Target="/ppt/media/image.png" Id="R91d0283519f7465b" /><Relationship Type="http://schemas.openxmlformats.org/officeDocument/2006/relationships/image" Target="/ppt/media/image3.jpeg" Id="R7ad06be8497847d9" /><Relationship Type="http://schemas.openxmlformats.org/officeDocument/2006/relationships/image" Target="/ppt/media/image4.jpeg" Id="Rbb12e86cd0754594" /><Relationship Type="http://schemas.openxmlformats.org/officeDocument/2006/relationships/image" Target="/ppt/media/image5.jpeg" Id="R72e8d14578514be1" /><Relationship Type="http://schemas.openxmlformats.org/officeDocument/2006/relationships/notesSlide" Target="/ppt/notesSlides/notesSlide10.xml" Id="R30452cec36f6468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7723e878efa42fa" /><Relationship Type="http://schemas.openxmlformats.org/officeDocument/2006/relationships/notesSlide" Target="/ppt/notesSlides/notesSlide11.xml" Id="Rfe802065b4cd460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eb175d43f3d4f7e" /><Relationship Type="http://schemas.openxmlformats.org/officeDocument/2006/relationships/notesSlide" Target="/ppt/notesSlides/notesSlide12.xml" Id="R51dfda950be0439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8ec4e662b4c4b82" /><Relationship Type="http://schemas.openxmlformats.org/officeDocument/2006/relationships/chart" Target="/ppt/slides/charts/chart1.xml" Id="Rd5845968dd654d90" /><Relationship Type="http://schemas.openxmlformats.org/officeDocument/2006/relationships/notesSlide" Target="/ppt/notesSlides/notesSlide13.xml" Id="Rcdda701ad81a454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b2a6c5cf937476e" /><Relationship Type="http://schemas.openxmlformats.org/officeDocument/2006/relationships/chart" Target="/ppt/slides/charts/chart2.xml" Id="R3db1708cf8a24b68" /><Relationship Type="http://schemas.openxmlformats.org/officeDocument/2006/relationships/notesSlide" Target="/ppt/notesSlides/notesSlide14.xml" Id="R2dcb349ee4b64b7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5557e277d85a48c6" /><Relationship Type="http://schemas.openxmlformats.org/officeDocument/2006/relationships/chart" Target="/ppt/slides/charts/chart3.xml" Id="Rf40b64efc11a4e88" /><Relationship Type="http://schemas.openxmlformats.org/officeDocument/2006/relationships/notesSlide" Target="/ppt/notesSlides/notesSlide15.xml" Id="Rc0498351d23d4b7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5af1daaba1fb46c5" /><Relationship Type="http://schemas.openxmlformats.org/officeDocument/2006/relationships/notesSlide" Target="/ppt/notesSlides/notesSlide16.xml" Id="R86cc01acdad943b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b9bbfd2384234305" /><Relationship Type="http://schemas.openxmlformats.org/officeDocument/2006/relationships/notesSlide" Target="/ppt/notesSlides/notesSlide17.xml" Id="R305c44d9b19c4cc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b45cbfba6b8d4efb" /><Relationship Type="http://schemas.openxmlformats.org/officeDocument/2006/relationships/chart" Target="/ppt/slides/charts/chart4.xml" Id="Ra3146f188d574d1c" /><Relationship Type="http://schemas.openxmlformats.org/officeDocument/2006/relationships/notesSlide" Target="/ppt/notesSlides/notesSlide18.xml" Id="R35c5c14769234e1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60bed391347541a7" /><Relationship Type="http://schemas.openxmlformats.org/officeDocument/2006/relationships/chart" Target="/ppt/slides/charts/chart5.xml" Id="R283df01d3df245c3" /><Relationship Type="http://schemas.openxmlformats.org/officeDocument/2006/relationships/notesSlide" Target="/ppt/notesSlides/notesSlide19.xml" Id="R8b99597c1eda41f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876d5913e1334eda" /><Relationship Type="http://schemas.openxmlformats.org/officeDocument/2006/relationships/notesSlide" Target="/ppt/notesSlides/notesSlide20.xml" Id="R5ecbc79bd696414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84cad379332a46fd" /><Relationship Type="http://schemas.openxmlformats.org/officeDocument/2006/relationships/notesSlide" Target="/ppt/notesSlides/notesSlide21.xml" Id="Rf11fd37049704953"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60af9101c35b4d31" /><Relationship Type="http://schemas.openxmlformats.org/officeDocument/2006/relationships/notesSlide" Target="/ppt/notesSlides/notesSlide22.xml" Id="R6571d088b60d4525"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5243175db89e43b6" /><Relationship Type="http://schemas.openxmlformats.org/officeDocument/2006/relationships/notesSlide" Target="/ppt/notesSlides/notesSlide23.xml" Id="R3b941d563ef44537"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05406526761449e5" /><Relationship Type="http://schemas.openxmlformats.org/officeDocument/2006/relationships/notesSlide" Target="/ppt/notesSlides/notesSlide24.xml" Id="R9d876bb3c6ad472c"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c:lang val="en-US"/>
  <c:chart>
    <c:plotArea>
      <c:barChart>
        <c:barDir val="col"/>
        <c:grouping val="clustered"/>
        <c:varyColors val="0"/>
        <c:ser>
          <c:idx val="0"/>
          <c:order val="0"/>
          <c:tx>
            <c:v>Mean internal latency</c:v>
          </c:tx>
          <c:spPr>
            <a:solidFill xmlns:a="http://schemas.openxmlformats.org/drawingml/2006/main">
              <a:srgbClr val="007F86"/>
            </a:solidFill>
          </c:spPr>
          <c:invertIfNegative val="0"/>
          <c:cat>
            <c:strRef>
              <c:f>'Chart Data'!$A$2:$A$4</c:f>
              <c:strCache>
                <c:ptCount val="3"/>
                <c:pt idx="0">
                  <c:v>Fast</c:v>
                </c:pt>
                <c:pt idx="1">
                  <c:v>Standard</c:v>
                </c:pt>
                <c:pt idx="2">
                  <c:v>High-Security</c:v>
                </c:pt>
              </c:strCache>
            </c:strRef>
          </c:cat>
          <c:val>
            <c:numRef>
              <c:f>'Chart Data'!$B$2:$B$4</c:f>
              <c:numCache>
                <c:formatCode>0</c:formatCode>
                <c:ptCount val="3"/>
                <c:pt idx="0">
                  <c:v>11.49</c:v>
                </c:pt>
                <c:pt idx="1">
                  <c:v>57.37</c:v>
                </c:pt>
                <c:pt idx="2">
                  <c:v>54.06</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2250" b="1">
                  <a:solidFill>
                    <a:srgbClr val="142C45"/>
                  </a:solidFill>
                  <a:latin typeface="Calibri"/>
                  <a:ea typeface="Calibri"/>
                  <a:cs typeface="Calibri"/>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7620">
            <a:solidFill>
              <a:srgbClr val="DCE5E9"/>
            </a:solidFill>
          </a:ln>
        </c:spPr>
        <c:txPr>
          <a:bodyPr xmlns:a="http://schemas.openxmlformats.org/drawingml/2006/main" anchorCtr="1" rot="0" vert="horz" wrap="square"/>
          <a:lstStyle xmlns:a="http://schemas.openxmlformats.org/drawingml/2006/main"/>
          <a:p xmlns:a="http://schemas.openxmlformats.org/drawingml/2006/main">
            <a:pPr>
              <a:defRPr sz="1800">
                <a:solidFill>
                  <a:srgbClr val="33424D"/>
                </a:solidFill>
                <a:latin typeface="Calibri"/>
                <a:ea typeface="Calibri"/>
                <a:cs typeface="Calibri"/>
              </a:defRPr>
            </a:pPr>
          </a:p>
        </c:txPr>
        <c:crossAx val="48672768"/>
      </c:catAx>
      <c:valAx>
        <c:axId val="48672768"/>
        <c:scaling>
          <c:orientation val="minMax"/>
          <c:max val="80"/>
          <c:min val="0"/>
        </c:scaling>
        <c:delete val="0"/>
        <c:axPos val="l"/>
        <c:majorGridlines>
          <c:spPr>
            <a:ln xmlns:a="http://schemas.openxmlformats.org/drawingml/2006/main" w="6668">
              <a:solidFill>
                <a:srgbClr val="DCE5E9"/>
              </a:solidFill>
            </a:ln>
          </c:spPr>
        </c:majorGridlines>
        <c:title>
          <c:tx>
            <c:rich>
              <a:bodyPr xmlns:a="http://schemas.openxmlformats.org/drawingml/2006/main"/>
              <a:lstStyle xmlns:a="http://schemas.openxmlformats.org/drawingml/2006/main"/>
              <a:p xmlns:a="http://schemas.openxmlformats.org/drawingml/2006/main">
                <a:r>
                  <a:rPr>
                    <a:latin typeface="Calibri"/>
                    <a:ea typeface="Calibri"/>
                    <a:cs typeface="Calibri"/>
                  </a:rPr>
                  <a:t>Milliseconds</a:t>
                </a:r>
              </a:p>
            </c:rich>
          </c:tx>
          <c:overlay val="0"/>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07282"/>
                </a:solidFill>
                <a:latin typeface="Calibri"/>
                <a:ea typeface="Calibri"/>
                <a:cs typeface="Calibri"/>
              </a:defRPr>
            </a:pPr>
          </a:p>
        </c:txPr>
        <c:crossAx val="48650112"/>
        <c:crossBetween val="between"/>
        <c:majorUnit val="2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xmlns:r="http://schemas.openxmlformats.org/officeDocument/2006/relationships" r:id="rIdChartSnapshot1">
    <c:autoUpdate val="0"/>
  </c:externalData>
</c:chartSpace>
</file>

<file path=ppt/slides/charts/chart2.xml><?xml version="1.0" encoding="utf-8"?>
<c:chartSpace xmlns:c="http://schemas.openxmlformats.org/drawingml/2006/chart">
  <c:lang val="en-US"/>
  <c:chart>
    <c:plotArea>
      <c:barChart>
        <c:barDir val="col"/>
        <c:grouping val="stacked"/>
        <c:varyColors val="0"/>
        <c:ser>
          <c:idx val="0"/>
          <c:order val="0"/>
          <c:tx>
            <c:v>PIN</c:v>
          </c:tx>
          <c:spPr>
            <a:solidFill xmlns:a="http://schemas.openxmlformats.org/drawingml/2006/main">
              <a:srgbClr val="007F86"/>
            </a:solidFill>
          </c:spPr>
          <c:invertIfNegative val="0"/>
          <c:dLbls>
            <c:numFmt formatCode="0.000" sourceLinked="0"/>
            <c:txPr>
              <a:bodyPr xmlns:a="http://schemas.openxmlformats.org/drawingml/2006/main" anchorCtr="1"/>
              <a:lstStyle xmlns:a="http://schemas.openxmlformats.org/drawingml/2006/main"/>
              <a:p xmlns:a="http://schemas.openxmlformats.org/drawingml/2006/main">
                <a:pPr>
                  <a:defRPr sz="2250" b="1">
                    <a:solidFill>
                      <a:srgbClr val="FFFFFF"/>
                    </a:solidFill>
                    <a:latin typeface="Calibri"/>
                    <a:ea typeface="Calibri"/>
                    <a:cs typeface="Calibri"/>
                  </a:defRPr>
                </a:pPr>
              </a:p>
            </c:txPr>
            <c:dLblPos val="ctr"/>
            <c:showLegendKey val="0"/>
            <c:showVal val="1"/>
            <c:showCatName val="0"/>
            <c:showSerName val="0"/>
            <c:showPercent val="0"/>
            <c:showBubbleSize val="0"/>
            <c:showLeaderLines val="0"/>
          </c:dLbls>
          <c:cat>
            <c:strRef>
              <c:f>'Chart Data'!$A$2:$A$3</c:f>
              <c:strCache>
                <c:ptCount val="2"/>
                <c:pt idx="0">
                  <c:v>Standard</c:v>
                </c:pt>
                <c:pt idx="1">
                  <c:v>High-Security</c:v>
                </c:pt>
              </c:strCache>
            </c:strRef>
          </c:cat>
          <c:val>
            <c:numRef>
              <c:f>'Chart Data'!$B$2:$B$3</c:f>
              <c:numCache>
                <c:formatCode>0</c:formatCode>
                <c:ptCount val="2"/>
                <c:pt idx="0">
                  <c:v>2.505</c:v>
                </c:pt>
                <c:pt idx="1">
                  <c:v>2.162</c:v>
                </c:pt>
              </c:numCache>
            </c:numRef>
          </c:val>
        </c:ser>
        <c:ser>
          <c:idx val="1"/>
          <c:order val="1"/>
          <c:tx>
            <c:v>QR</c:v>
          </c:tx>
          <c:spPr>
            <a:solidFill xmlns:a="http://schemas.openxmlformats.org/drawingml/2006/main">
              <a:srgbClr val="C98D32"/>
            </a:solidFill>
          </c:spPr>
          <c:invertIfNegative val="0"/>
          <c:dLbls>
            <c:dLbl>
              <c:idx val="0"/>
              <c:showLegendKey val="0"/>
              <c:showVal val="0"/>
              <c:showCatName val="0"/>
              <c:showSerName val="0"/>
              <c:showPercent val="0"/>
            </c:dLbl>
            <c:numFmt formatCode="0.000" sourceLinked="0"/>
            <c:txPr>
              <a:bodyPr xmlns:a="http://schemas.openxmlformats.org/drawingml/2006/main" anchorCtr="1"/>
              <a:lstStyle xmlns:a="http://schemas.openxmlformats.org/drawingml/2006/main"/>
              <a:p xmlns:a="http://schemas.openxmlformats.org/drawingml/2006/main">
                <a:pPr>
                  <a:defRPr sz="2250" b="1">
                    <a:solidFill>
                      <a:srgbClr val="FFFFFF"/>
                    </a:solidFill>
                    <a:latin typeface="Calibri"/>
                    <a:ea typeface="Calibri"/>
                    <a:cs typeface="Calibri"/>
                  </a:defRPr>
                </a:pPr>
              </a:p>
            </c:txPr>
            <c:dLblPos val="ctr"/>
            <c:showLegendKey val="0"/>
            <c:showVal val="1"/>
            <c:showCatName val="0"/>
            <c:showSerName val="0"/>
            <c:showPercent val="0"/>
            <c:showBubbleSize val="0"/>
            <c:showLeaderLines val="0"/>
          </c:dLbls>
          <c:cat>
            <c:strRef>
              <c:f>'Chart Data'!$C$2:$C$3</c:f>
              <c:strCache>
                <c:ptCount val="2"/>
                <c:pt idx="0">
                  <c:v>Standard</c:v>
                </c:pt>
                <c:pt idx="1">
                  <c:v>High-Security</c:v>
                </c:pt>
              </c:strCache>
            </c:strRef>
          </c:cat>
          <c:val>
            <c:numRef>
              <c:f>'Chart Data'!$D$2:$D$3</c:f>
              <c:numCache>
                <c:formatCode>0</c:formatCode>
                <c:ptCount val="2"/>
                <c:pt idx="0">
                  <c:v>0</c:v>
                </c:pt>
                <c:pt idx="1">
                  <c:v>3.637</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2250" b="1">
                  <a:solidFill>
                    <a:srgbClr val="FFFFFF"/>
                  </a:solidFill>
                  <a:latin typeface="Calibri"/>
                  <a:ea typeface="Calibri"/>
                  <a:cs typeface="Calibri"/>
                </a:defRPr>
              </a:pPr>
            </a:p>
          </c:txPr>
          <c:dLblPos val="ctr"/>
          <c:showLegendKey val="0"/>
          <c:showVal val="1"/>
          <c:showCatName val="0"/>
          <c:showSerName val="0"/>
          <c:showPercent val="0"/>
          <c:showBubbleSize val="0"/>
          <c:showLeaderLines val="0"/>
        </c:dLbls>
        <c:gapWidth val="65"/>
        <c:overlap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7620">
            <a:solidFill>
              <a:srgbClr val="DCE5E9"/>
            </a:solidFill>
          </a:ln>
        </c:spPr>
        <c:txPr>
          <a:bodyPr xmlns:a="http://schemas.openxmlformats.org/drawingml/2006/main" anchorCtr="1" rot="0" vert="horz" wrap="square"/>
          <a:lstStyle xmlns:a="http://schemas.openxmlformats.org/drawingml/2006/main"/>
          <a:p xmlns:a="http://schemas.openxmlformats.org/drawingml/2006/main">
            <a:pPr>
              <a:defRPr sz="1800">
                <a:solidFill>
                  <a:srgbClr val="33424D"/>
                </a:solidFill>
                <a:latin typeface="Calibri"/>
                <a:ea typeface="Calibri"/>
                <a:cs typeface="Calibri"/>
              </a:defRPr>
            </a:pPr>
          </a:p>
        </c:txPr>
        <c:crossAx val="48672768"/>
      </c:catAx>
      <c:valAx>
        <c:axId val="48672768"/>
        <c:scaling>
          <c:orientation val="minMax"/>
          <c:max val="7"/>
          <c:min val="0"/>
        </c:scaling>
        <c:delete val="0"/>
        <c:axPos val="l"/>
        <c:majorGridlines>
          <c:spPr>
            <a:ln xmlns:a="http://schemas.openxmlformats.org/drawingml/2006/main" w="6668">
              <a:solidFill>
                <a:srgbClr val="DCE5E9"/>
              </a:solidFill>
            </a:ln>
          </c:spPr>
        </c:majorGridlines>
        <c:title>
          <c:tx>
            <c:rich>
              <a:bodyPr xmlns:a="http://schemas.openxmlformats.org/drawingml/2006/main"/>
              <a:lstStyle xmlns:a="http://schemas.openxmlformats.org/drawingml/2006/main"/>
              <a:p xmlns:a="http://schemas.openxmlformats.org/drawingml/2006/main">
                <a:r>
                  <a:rPr>
                    <a:latin typeface="Calibri"/>
                    <a:ea typeface="Calibri"/>
                    <a:cs typeface="Calibri"/>
                  </a:rPr>
                  <a:t>Seconds</a:t>
                </a:r>
              </a:p>
            </c:rich>
          </c:tx>
          <c:overlay val="0"/>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07282"/>
                </a:solidFill>
                <a:latin typeface="Calibri"/>
                <a:ea typeface="Calibri"/>
                <a:cs typeface="Calibri"/>
              </a:defRPr>
            </a:pPr>
          </a:p>
        </c:txPr>
        <c:crossAx val="48650112"/>
        <c:crossBetween val="between"/>
        <c:majorUnit val="1"/>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33424D"/>
              </a:solidFill>
              <a:latin typeface="Calibri"/>
              <a:ea typeface="Calibri"/>
              <a:cs typeface="Calibri"/>
            </a:defRPr>
          </a:pPr>
        </a:p>
      </c:txPr>
    </c:legend>
    <c:plotVisOnly val="1"/>
  </c:chart>
  <c:spPr>
    <a:solidFill xmlns:a="http://schemas.openxmlformats.org/drawingml/2006/main">
      <a:srgbClr val="FFFFFF"/>
    </a:solidFill>
    <a:ln xmlns:a="http://schemas.openxmlformats.org/drawingml/2006/main" w="0">
      <a:noFill/>
    </a:ln>
  </c:spPr>
  <c:externalData xmlns:r="http://schemas.openxmlformats.org/officeDocument/2006/relationships" r:id="rIdChartSnapshot1">
    <c:autoUpdate val="0"/>
  </c:externalData>
</c:chartSpace>
</file>

<file path=ppt/slides/charts/chart3.xml><?xml version="1.0" encoding="utf-8"?>
<c:chartSpace xmlns:c="http://schemas.openxmlformats.org/drawingml/2006/chart">
  <c:lang val="en-US"/>
  <c:chart>
    <c:plotArea>
      <c:barChart>
        <c:barDir val="col"/>
        <c:grouping val="clustered"/>
        <c:varyColors val="0"/>
        <c:ser>
          <c:idx val="0"/>
          <c:order val="0"/>
          <c:tx>
            <c:v>Writing observations</c:v>
          </c:tx>
          <c:spPr>
            <a:solidFill xmlns:a="http://schemas.openxmlformats.org/drawingml/2006/main">
              <a:srgbClr val="C98D32"/>
            </a:solidFill>
          </c:spPr>
          <c:invertIfNegative val="0"/>
          <c:cat>
            <c:strRef>
              <c:f>'Chart Data'!$A$2:$A$6</c:f>
              <c:strCache>
                <c:ptCount val="5"/>
                <c:pt idx="0">
                  <c:v>13-&lt;18</c:v>
                </c:pt>
                <c:pt idx="1">
                  <c:v>18-&lt;23</c:v>
                </c:pt>
                <c:pt idx="2">
                  <c:v>23-&lt;28</c:v>
                </c:pt>
                <c:pt idx="3">
                  <c:v>28-&lt;33</c:v>
                </c:pt>
                <c:pt idx="4">
                  <c:v>33-&lt;38</c:v>
                </c:pt>
              </c:strCache>
            </c:strRef>
          </c:cat>
          <c:val>
            <c:numRef>
              <c:f>'Chart Data'!$B$2:$B$6</c:f>
              <c:numCache>
                <c:formatCode>0</c:formatCode>
                <c:ptCount val="5"/>
                <c:pt idx="0">
                  <c:v>15</c:v>
                </c:pt>
                <c:pt idx="1">
                  <c:v>29</c:v>
                </c:pt>
                <c:pt idx="2">
                  <c:v>22</c:v>
                </c:pt>
                <c:pt idx="3">
                  <c:v>3</c:v>
                </c:pt>
                <c:pt idx="4">
                  <c:v>1</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2250" b="1">
                  <a:solidFill>
                    <a:srgbClr val="142C45"/>
                  </a:solidFill>
                  <a:latin typeface="Calibri"/>
                  <a:ea typeface="Calibri"/>
                  <a:cs typeface="Calibri"/>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800">
                    <a:solidFill>
                      <a:srgbClr val="33424D"/>
                    </a:solidFill>
                    <a:latin typeface="Calibri"/>
                    <a:ea typeface="Calibri"/>
                    <a:cs typeface="Calibri"/>
                  </a:rPr>
                  <a:t>Seconds</a:t>
                </a:r>
              </a:p>
            </c:rich>
          </c:tx>
          <c:overlay val="0"/>
          <c:txPr>
            <a:bodyPr xmlns:a="http://schemas.openxmlformats.org/drawingml/2006/main" anchorCtr="1"/>
            <a:lstStyle xmlns:a="http://schemas.openxmlformats.org/drawingml/2006/main"/>
            <a:p xmlns:a="http://schemas.openxmlformats.org/drawingml/2006/main">
              <a:pPr>
                <a:defRPr sz="1800">
                  <a:solidFill>
                    <a:srgbClr val="33424D"/>
                  </a:solidFill>
                  <a:latin typeface="Calibri"/>
                  <a:ea typeface="Calibri"/>
                  <a:cs typeface="Calibri"/>
                </a:defRPr>
              </a:pPr>
            </a:p>
          </c:txPr>
        </c:title>
        <c:numFmt formatCode="General"/>
        <c:majorTickMark val="none"/>
        <c:minorTickMark val="none"/>
        <c:spPr>
          <a:ln xmlns:a="http://schemas.openxmlformats.org/drawingml/2006/main" w="7620">
            <a:solidFill>
              <a:srgbClr val="DCE5E9"/>
            </a:solidFill>
          </a:ln>
        </c:spPr>
        <c:txPr>
          <a:bodyPr xmlns:a="http://schemas.openxmlformats.org/drawingml/2006/main" anchorCtr="1" rot="0" vert="horz" wrap="square"/>
          <a:lstStyle xmlns:a="http://schemas.openxmlformats.org/drawingml/2006/main"/>
          <a:p xmlns:a="http://schemas.openxmlformats.org/drawingml/2006/main">
            <a:pPr>
              <a:defRPr sz="1800">
                <a:solidFill>
                  <a:srgbClr val="33424D"/>
                </a:solidFill>
                <a:latin typeface="Calibri"/>
                <a:ea typeface="Calibri"/>
                <a:cs typeface="Calibri"/>
              </a:defRPr>
            </a:pPr>
          </a:p>
        </c:txPr>
        <c:crossAx val="48672768"/>
      </c:catAx>
      <c:valAx>
        <c:axId val="48672768"/>
        <c:scaling>
          <c:orientation val="minMax"/>
          <c:min val="0"/>
        </c:scaling>
        <c:delete val="0"/>
        <c:axPos val="l"/>
        <c:majorGridlines>
          <c:spPr>
            <a:ln xmlns:a="http://schemas.openxmlformats.org/drawingml/2006/main" w="6668">
              <a:solidFill>
                <a:srgbClr val="DCE5E9"/>
              </a:solidFill>
            </a:ln>
          </c:spPr>
        </c:majorGridlines>
        <c:title>
          <c:tx>
            <c:rich>
              <a:bodyPr xmlns:a="http://schemas.openxmlformats.org/drawingml/2006/main"/>
              <a:lstStyle xmlns:a="http://schemas.openxmlformats.org/drawingml/2006/main"/>
              <a:p xmlns:a="http://schemas.openxmlformats.org/drawingml/2006/main">
                <a:r>
                  <a:rPr>
                    <a:latin typeface="Calibri"/>
                    <a:ea typeface="Calibri"/>
                    <a:cs typeface="Calibri"/>
                  </a:rPr>
                  <a:t>Observations</a:t>
                </a:r>
              </a:p>
            </c:rich>
          </c:tx>
          <c:overlay val="0"/>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07282"/>
                </a:solidFill>
                <a:latin typeface="Calibri"/>
                <a:ea typeface="Calibri"/>
                <a:cs typeface="Calibri"/>
              </a:defRPr>
            </a:pPr>
          </a:p>
        </c:txPr>
        <c:crossAx val="48650112"/>
        <c:crossBetween val="between"/>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xmlns:r="http://schemas.openxmlformats.org/officeDocument/2006/relationships" r:id="rIdChartSnapshot1">
    <c:autoUpdate val="0"/>
  </c:externalData>
</c:chartSpace>
</file>

<file path=ppt/slides/charts/chart4.xml><?xml version="1.0" encoding="utf-8"?>
<c:chartSpace xmlns:c="http://schemas.openxmlformats.org/drawingml/2006/chart">
  <c:lang val="en-US"/>
  <c:chart>
    <c:plotArea>
      <c:barChart>
        <c:barDir val="col"/>
        <c:grouping val="clustered"/>
        <c:varyColors val="0"/>
        <c:ser>
          <c:idx val="0"/>
          <c:order val="0"/>
          <c:tx>
            <c:v>Manual, n = 70</c:v>
          </c:tx>
          <c:spPr>
            <a:solidFill xmlns:a="http://schemas.openxmlformats.org/drawingml/2006/main">
              <a:srgbClr val="C98D32"/>
            </a:solidFill>
          </c:spPr>
          <c:invertIfNegative val="0"/>
          <c:cat>
            <c:strRef>
              <c:f>'Chart Data'!$A$2:$A$6</c:f>
              <c:strCache>
                <c:ptCount val="5"/>
                <c:pt idx="0">
                  <c:v>Functional
Suitability</c:v>
                </c:pt>
                <c:pt idx="1">
                  <c:v>Performance
Efficiency</c:v>
                </c:pt>
                <c:pt idx="2">
                  <c:v>Usability</c:v>
                </c:pt>
                <c:pt idx="3">
                  <c:v>Reliability</c:v>
                </c:pt>
                <c:pt idx="4">
                  <c:v>Security</c:v>
                </c:pt>
              </c:strCache>
            </c:strRef>
          </c:cat>
          <c:val>
            <c:numRef>
              <c:f>'Chart Data'!$B$2:$B$6</c:f>
              <c:numCache>
                <c:formatCode>0</c:formatCode>
                <c:ptCount val="5"/>
                <c:pt idx="0">
                  <c:v>2.483</c:v>
                </c:pt>
                <c:pt idx="1">
                  <c:v>1.932</c:v>
                </c:pt>
                <c:pt idx="2">
                  <c:v>2.637</c:v>
                </c:pt>
                <c:pt idx="3">
                  <c:v>2.183</c:v>
                </c:pt>
                <c:pt idx="4">
                  <c:v>2.183</c:v>
                </c:pt>
              </c:numCache>
            </c:numRef>
          </c:val>
        </c:ser>
        <c:ser>
          <c:idx val="1"/>
          <c:order val="1"/>
          <c:tx>
            <c:v>System, n = 70</c:v>
          </c:tx>
          <c:spPr>
            <a:solidFill xmlns:a="http://schemas.openxmlformats.org/drawingml/2006/main">
              <a:srgbClr val="007F86"/>
            </a:solidFill>
          </c:spPr>
          <c:invertIfNegative val="0"/>
          <c:cat>
            <c:strRef>
              <c:f>'Chart Data'!$C$2:$C$6</c:f>
              <c:strCache>
                <c:ptCount val="5"/>
                <c:pt idx="0">
                  <c:v>Functional
Suitability</c:v>
                </c:pt>
                <c:pt idx="1">
                  <c:v>Performance
Efficiency</c:v>
                </c:pt>
                <c:pt idx="2">
                  <c:v>Usability</c:v>
                </c:pt>
                <c:pt idx="3">
                  <c:v>Reliability</c:v>
                </c:pt>
                <c:pt idx="4">
                  <c:v>Security</c:v>
                </c:pt>
              </c:strCache>
            </c:strRef>
          </c:cat>
          <c:val>
            <c:numRef>
              <c:f>'Chart Data'!$D$2:$D$6</c:f>
              <c:numCache>
                <c:formatCode>0</c:formatCode>
                <c:ptCount val="5"/>
                <c:pt idx="0">
                  <c:v>3.763</c:v>
                </c:pt>
                <c:pt idx="1">
                  <c:v>3.743</c:v>
                </c:pt>
                <c:pt idx="2">
                  <c:v>3.74</c:v>
                </c:pt>
                <c:pt idx="3">
                  <c:v>3.711</c:v>
                </c:pt>
                <c:pt idx="4">
                  <c:v>3.751</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950" b="1">
                  <a:solidFill>
                    <a:srgbClr val="142C45"/>
                  </a:solidFill>
                  <a:latin typeface="Calibri"/>
                  <a:ea typeface="Calibri"/>
                  <a:cs typeface="Calibri"/>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7620">
            <a:solidFill>
              <a:srgbClr val="DCE5E9"/>
            </a:solidFill>
          </a:ln>
        </c:spPr>
        <c:txPr>
          <a:bodyPr xmlns:a="http://schemas.openxmlformats.org/drawingml/2006/main" anchorCtr="1" rot="0" vert="horz" wrap="square"/>
          <a:lstStyle xmlns:a="http://schemas.openxmlformats.org/drawingml/2006/main"/>
          <a:p xmlns:a="http://schemas.openxmlformats.org/drawingml/2006/main">
            <a:pPr>
              <a:defRPr sz="1725">
                <a:solidFill>
                  <a:srgbClr val="33424D"/>
                </a:solidFill>
                <a:latin typeface="Calibri"/>
                <a:ea typeface="Calibri"/>
                <a:cs typeface="Calibri"/>
              </a:defRPr>
            </a:pPr>
          </a:p>
        </c:txPr>
        <c:crossAx val="48672768"/>
      </c:catAx>
      <c:valAx>
        <c:axId val="48672768"/>
        <c:scaling>
          <c:orientation val="minMax"/>
          <c:max val="4"/>
          <c:min val="0"/>
        </c:scaling>
        <c:delete val="0"/>
        <c:axPos val="l"/>
        <c:majorGridlines>
          <c:spPr>
            <a:ln xmlns:a="http://schemas.openxmlformats.org/drawingml/2006/main" w="6668">
              <a:solidFill>
                <a:srgbClr val="DCE5E9"/>
              </a:solidFill>
            </a:ln>
          </c:spPr>
        </c:majorGridlines>
        <c:title>
          <c:tx>
            <c:rich>
              <a:bodyPr xmlns:a="http://schemas.openxmlformats.org/drawingml/2006/main"/>
              <a:lstStyle xmlns:a="http://schemas.openxmlformats.org/drawingml/2006/main"/>
              <a:p xmlns:a="http://schemas.openxmlformats.org/drawingml/2006/main">
                <a:r>
                  <a:rPr>
                    <a:latin typeface="Calibri"/>
                    <a:ea typeface="Calibri"/>
                    <a:cs typeface="Calibri"/>
                  </a:rPr>
                  <a:t>Mean rating on a 1-4 scale</a:t>
                </a:r>
              </a:p>
            </c:rich>
          </c:tx>
          <c:overlay val="0"/>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07282"/>
                </a:solidFill>
                <a:latin typeface="Calibri"/>
                <a:ea typeface="Calibri"/>
                <a:cs typeface="Calibri"/>
              </a:defRPr>
            </a:pPr>
          </a:p>
        </c:txPr>
        <c:crossAx val="48650112"/>
        <c:crossBetween val="between"/>
        <c:majorUnit val="1"/>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33424D"/>
              </a:solidFill>
              <a:latin typeface="Calibri"/>
              <a:ea typeface="Calibri"/>
              <a:cs typeface="Calibri"/>
            </a:defRPr>
          </a:pPr>
        </a:p>
      </c:txPr>
    </c:legend>
    <c:plotVisOnly val="1"/>
  </c:chart>
  <c:spPr>
    <a:solidFill xmlns:a="http://schemas.openxmlformats.org/drawingml/2006/main">
      <a:srgbClr val="FFFFFF"/>
    </a:solidFill>
    <a:ln xmlns:a="http://schemas.openxmlformats.org/drawingml/2006/main" w="0">
      <a:noFill/>
    </a:ln>
  </c:spPr>
  <c:externalData xmlns:r="http://schemas.openxmlformats.org/officeDocument/2006/relationships" r:id="rIdChartSnapshot1">
    <c:autoUpdate val="0"/>
  </c:externalData>
</c:chartSpace>
</file>

<file path=ppt/slides/charts/chart5.xml><?xml version="1.0" encoding="utf-8"?>
<c:chartSpace xmlns:c="http://schemas.openxmlformats.org/drawingml/2006/chart">
  <c:lang val="en-US"/>
  <c:chart>
    <c:plotArea>
      <c:barChart>
        <c:barDir val="col"/>
        <c:grouping val="clustered"/>
        <c:varyColors val="0"/>
        <c:ser>
          <c:idx val="0"/>
          <c:order val="0"/>
          <c:tx>
            <c:v>Overall equal-category mean</c:v>
          </c:tx>
          <c:spPr>
            <a:solidFill xmlns:a="http://schemas.openxmlformats.org/drawingml/2006/main">
              <a:srgbClr val="007F86"/>
            </a:solidFill>
          </c:spPr>
          <c:invertIfNegative val="0"/>
          <c:cat>
            <c:strRef>
              <c:f>'Chart Data'!$A$2:$A$4</c:f>
              <c:strCache>
                <c:ptCount val="3"/>
                <c:pt idx="0">
                  <c:v>Students
n = 70</c:v>
                </c:pt>
                <c:pt idx="1">
                  <c:v>Security Personnel
n = 5</c:v>
                </c:pt>
                <c:pt idx="2">
                  <c:v>Administrative Group
n = 5</c:v>
                </c:pt>
              </c:strCache>
            </c:strRef>
          </c:cat>
          <c:val>
            <c:numRef>
              <c:f>'Chart Data'!$B$2:$B$4</c:f>
              <c:numCache>
                <c:formatCode>0</c:formatCode>
                <c:ptCount val="3"/>
                <c:pt idx="0">
                  <c:v>3.742</c:v>
                </c:pt>
                <c:pt idx="1">
                  <c:v>3.634</c:v>
                </c:pt>
                <c:pt idx="2">
                  <c:v>3.81375</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2250" b="1">
                  <a:solidFill>
                    <a:srgbClr val="142C45"/>
                  </a:solidFill>
                  <a:latin typeface="Calibri"/>
                  <a:ea typeface="Calibri"/>
                  <a:cs typeface="Calibri"/>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7620">
            <a:solidFill>
              <a:srgbClr val="DCE5E9"/>
            </a:solidFill>
          </a:ln>
        </c:spPr>
        <c:txPr>
          <a:bodyPr xmlns:a="http://schemas.openxmlformats.org/drawingml/2006/main" anchorCtr="1" rot="0" vert="horz" wrap="square"/>
          <a:lstStyle xmlns:a="http://schemas.openxmlformats.org/drawingml/2006/main"/>
          <a:p xmlns:a="http://schemas.openxmlformats.org/drawingml/2006/main">
            <a:pPr>
              <a:defRPr sz="1800">
                <a:solidFill>
                  <a:srgbClr val="33424D"/>
                </a:solidFill>
                <a:latin typeface="Calibri"/>
                <a:ea typeface="Calibri"/>
                <a:cs typeface="Calibri"/>
              </a:defRPr>
            </a:pPr>
          </a:p>
        </c:txPr>
        <c:crossAx val="48672768"/>
      </c:catAx>
      <c:valAx>
        <c:axId val="48672768"/>
        <c:scaling>
          <c:orientation val="minMax"/>
          <c:max val="4"/>
          <c:min val="0"/>
        </c:scaling>
        <c:delete val="0"/>
        <c:axPos val="l"/>
        <c:majorGridlines>
          <c:spPr>
            <a:ln xmlns:a="http://schemas.openxmlformats.org/drawingml/2006/main" w="6668">
              <a:solidFill>
                <a:srgbClr val="DCE5E9"/>
              </a:solidFill>
            </a:ln>
          </c:spPr>
        </c:majorGridlines>
        <c:title>
          <c:tx>
            <c:rich>
              <a:bodyPr xmlns:a="http://schemas.openxmlformats.org/drawingml/2006/main"/>
              <a:lstStyle xmlns:a="http://schemas.openxmlformats.org/drawingml/2006/main"/>
              <a:p xmlns:a="http://schemas.openxmlformats.org/drawingml/2006/main">
                <a:r>
                  <a:rPr>
                    <a:latin typeface="Calibri"/>
                    <a:ea typeface="Calibri"/>
                    <a:cs typeface="Calibri"/>
                  </a:rPr>
                  <a:t>Mean rating</a:t>
                </a:r>
              </a:p>
            </c:rich>
          </c:tx>
          <c:overlay val="0"/>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07282"/>
                </a:solidFill>
                <a:latin typeface="Calibri"/>
                <a:ea typeface="Calibri"/>
                <a:cs typeface="Calibri"/>
              </a:defRPr>
            </a:pPr>
          </a:p>
        </c:txPr>
        <c:crossAx val="48650112"/>
        <c:crossBetween val="between"/>
        <c:majorUnit val="1"/>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xmlns:r="http://schemas.openxmlformats.org/officeDocument/2006/relationships" r:id="rIdChartSnapshot1">
    <c:autoUpdate val="0"/>
  </c:externalData>
</c:chartSpace>
</file>

<file path=ppt/slides/slide1.xml><?xml version="1.0" encoding="utf-8"?>
<p:sld xmlns:p="http://schemas.openxmlformats.org/presentationml/2006/main">
  <p:cSld>
    <p:bg>
      <p:bgPr>
        <a:solidFill xmlns:a="http://schemas.openxmlformats.org/drawingml/2006/main">
          <a:srgbClr val="142C45"/>
        </a:solidFill>
      </p:bgPr>
    </p:bg>
    <p:spTree>
      <p:nvGrpSpPr>
        <p:cNvPr id="1" name=""/>
        <p:cNvGrpSpPr/>
        <p:nvPr/>
      </p:nvGrpSpPr>
      <p:grpSpPr>
        <a:xfrm xmlns:a="http://schemas.openxmlformats.org/drawingml/2006/main"/>
      </p:grpSpPr>
      <p:sp>
        <p:nvSpPr>
          <p:cNvPr id="7" name="TAGUIG CITY UNIVERSITY">
            <a:extLst xmlns:a="http://schemas.openxmlformats.org/drawingml/2006/main">
              <a:ext uri="{FF2B5EF4-FFF2-40B4-BE49-F238E27FC236}">
                <a16:creationId xmlns:a16="http://schemas.microsoft.com/office/drawing/2014/main" id="{E7BBB9DC-065B-4571-AC96-E6B72DB6C588}"/>
              </a:ext>
            </a:extLst>
          </p:cNvPr>
          <p:cNvSpPr>
            <a:spLocks xmlns:a="http://schemas.openxmlformats.org/drawingml/2006/main" noGrp="1"/>
          </p:cNvSpPr>
          <p:nvPr/>
        </p:nvSpPr>
        <p:spPr>
          <a:xfrm xmlns:a="http://schemas.openxmlformats.org/drawingml/2006/main">
            <a:off x="457200" y="266700"/>
            <a:ext cx="822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6AD0D4"/>
                </a:solidFill>
                <a:latin typeface="Calibri"/>
                <a:ea typeface="Calibri"/>
                <a:cs typeface="Calibri"/>
              </a:defRPr>
            </a:defPPr>
          </a:lstStyle>
          <a:p xmlns:a="http://schemas.openxmlformats.org/drawingml/2006/main">
            <a:pPr algn="l">
              <a:defRPr sz="1500" b="1">
                <a:solidFill>
                  <a:srgbClr val="6AD0D4"/>
                </a:solidFill>
                <a:latin typeface="Calibri"/>
                <a:ea typeface="Calibri"/>
                <a:cs typeface="Calibri"/>
              </a:defRPr>
            </a:pPr>
            <a:r>
              <a:rPr sz="1500" b="1">
                <a:solidFill>
                  <a:srgbClr val="6AD0D4"/>
                </a:solidFill>
                <a:latin typeface="Calibri"/>
                <a:ea typeface="Calibri"/>
                <a:cs typeface="Calibri"/>
              </a:rPr>
              <a:t>TAGUIG CITY UNIVERSITY</a:t>
            </a:r>
          </a:p>
        </p:txBody>
      </p:sp>
      <p:sp>
        <p:nvSpPr>
          <p:cNvPr id="2" name="COLLEGE OF INFORMATION AND COMPUTING TECHNOLOGY">
            <a:extLst xmlns:a="http://schemas.openxmlformats.org/drawingml/2006/main">
              <a:ext uri="{FF2B5EF4-FFF2-40B4-BE49-F238E27FC236}">
                <a16:creationId xmlns:a16="http://schemas.microsoft.com/office/drawing/2014/main" id="{3D3E8308-7629-403E-AACE-849B0B19C55D}"/>
              </a:ext>
            </a:extLst>
          </p:cNvPr>
          <p:cNvSpPr>
            <a:spLocks xmlns:a="http://schemas.openxmlformats.org/drawingml/2006/main" noGrp="1"/>
          </p:cNvSpPr>
          <p:nvPr/>
        </p:nvSpPr>
        <p:spPr>
          <a:xfrm xmlns:a="http://schemas.openxmlformats.org/drawingml/2006/main">
            <a:off x="457200" y="561975"/>
            <a:ext cx="8229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BDCDD6"/>
                </a:solidFill>
                <a:latin typeface="Calibri"/>
                <a:ea typeface="Calibri"/>
                <a:cs typeface="Calibri"/>
              </a:defRPr>
            </a:defPPr>
          </a:lstStyle>
          <a:p xmlns:a="http://schemas.openxmlformats.org/drawingml/2006/main">
            <a:pPr algn="l">
              <a:defRPr sz="1275" b="0">
                <a:solidFill>
                  <a:srgbClr val="BDCDD6"/>
                </a:solidFill>
                <a:latin typeface="Calibri"/>
                <a:ea typeface="Calibri"/>
                <a:cs typeface="Calibri"/>
              </a:defRPr>
            </a:pPr>
            <a:r>
              <a:rPr sz="1275" b="0">
                <a:solidFill>
                  <a:srgbClr val="BDCDD6"/>
                </a:solidFill>
                <a:latin typeface="Calibri"/>
                <a:ea typeface="Calibri"/>
                <a:cs typeface="Calibri"/>
              </a:rPr>
              <a:t>COLLEGE OF INFORMATION AND COMPUTING TECHNOLOGY</a:t>
            </a:r>
          </a:p>
        </p:txBody>
      </p:sp>
      <p:sp>
        <p:nvSpPr>
          <p:cNvPr id="3" name="A Risk-Based Two-Factor&#10;Student Verification and Event&#10;Atten">
            <a:extLst xmlns:a="http://schemas.openxmlformats.org/drawingml/2006/main">
              <a:ext uri="{FF2B5EF4-FFF2-40B4-BE49-F238E27FC236}">
                <a16:creationId xmlns:a16="http://schemas.microsoft.com/office/drawing/2014/main" id="{EA82450F-CB80-4BCC-94CE-A6A6B46AF68B}"/>
              </a:ext>
            </a:extLst>
          </p:cNvPr>
          <p:cNvSpPr>
            <a:spLocks xmlns:a="http://schemas.openxmlformats.org/drawingml/2006/main" noGrp="1"/>
          </p:cNvSpPr>
          <p:nvPr/>
        </p:nvSpPr>
        <p:spPr>
          <a:xfrm xmlns:a="http://schemas.openxmlformats.org/drawingml/2006/main">
            <a:off x="457200" y="1076325"/>
            <a:ext cx="82296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Calibri"/>
                <a:ea typeface="Calibri"/>
                <a:cs typeface="Calibri"/>
              </a:defRPr>
            </a:defPPr>
          </a:lstStyle>
          <a:p xmlns:a="http://schemas.openxmlformats.org/drawingml/2006/main">
            <a:pPr algn="l">
              <a:defRPr sz="3300" b="1">
                <a:solidFill>
                  <a:srgbClr val="FFFFFF"/>
                </a:solidFill>
                <a:latin typeface="Calibri"/>
                <a:ea typeface="Calibri"/>
                <a:cs typeface="Calibri"/>
              </a:defRPr>
            </a:pPr>
            <a:r>
              <a:rPr sz="3300" b="1">
                <a:solidFill>
                  <a:srgbClr val="FFFFFF"/>
                </a:solidFill>
                <a:latin typeface="Calibri"/>
                <a:ea typeface="Calibri"/>
                <a:cs typeface="Calibri"/>
              </a:rPr>
              <a:t>A Risk-Based Two-Factor</a:t>
            </a:r>
          </a:p>
          <a:p xmlns:a="http://schemas.openxmlformats.org/drawingml/2006/main">
            <a:pPr algn="l">
              <a:defRPr sz="3300" b="1">
                <a:solidFill>
                  <a:srgbClr val="FFFFFF"/>
                </a:solidFill>
                <a:latin typeface="Calibri"/>
                <a:ea typeface="Calibri"/>
                <a:cs typeface="Calibri"/>
              </a:defRPr>
            </a:pPr>
            <a:r>
              <a:rPr sz="3300" b="1">
                <a:solidFill>
                  <a:srgbClr val="FFFFFF"/>
                </a:solidFill>
                <a:latin typeface="Calibri"/>
                <a:ea typeface="Calibri"/>
                <a:cs typeface="Calibri"/>
              </a:rPr>
              <a:t>Student Verification and Event</a:t>
            </a:r>
          </a:p>
          <a:p xmlns:a="http://schemas.openxmlformats.org/drawingml/2006/main">
            <a:pPr algn="l">
              <a:defRPr sz="3300" b="1">
                <a:solidFill>
                  <a:srgbClr val="FFFFFF"/>
                </a:solidFill>
                <a:latin typeface="Calibri"/>
                <a:ea typeface="Calibri"/>
                <a:cs typeface="Calibri"/>
              </a:defRPr>
            </a:pPr>
            <a:r>
              <a:rPr sz="3300" b="1">
                <a:solidFill>
                  <a:srgbClr val="FFFFFF"/>
                </a:solidFill>
                <a:latin typeface="Calibri"/>
                <a:ea typeface="Calibri"/>
                <a:cs typeface="Calibri"/>
              </a:rPr>
              <a:t>Attendance Management System</a:t>
            </a:r>
          </a:p>
        </p:txBody>
      </p:sp>
      <p:sp>
        <p:nvSpPr>
          <p:cNvPr id="4" name="Using Near Field Communication (NFC),&#10;Personal Identificatio">
            <a:extLst xmlns:a="http://schemas.openxmlformats.org/drawingml/2006/main">
              <a:ext uri="{FF2B5EF4-FFF2-40B4-BE49-F238E27FC236}">
                <a16:creationId xmlns:a16="http://schemas.microsoft.com/office/drawing/2014/main" id="{BA8C4CC8-1458-4E59-922E-C4DDEC8C9E7A}"/>
              </a:ext>
            </a:extLst>
          </p:cNvPr>
          <p:cNvSpPr>
            <a:spLocks xmlns:a="http://schemas.openxmlformats.org/drawingml/2006/main" noGrp="1"/>
          </p:cNvSpPr>
          <p:nvPr/>
        </p:nvSpPr>
        <p:spPr>
          <a:xfrm xmlns:a="http://schemas.openxmlformats.org/drawingml/2006/main">
            <a:off x="457200" y="2800350"/>
            <a:ext cx="82296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6AD0D4"/>
                </a:solidFill>
                <a:latin typeface="Calibri"/>
                <a:ea typeface="Calibri"/>
                <a:cs typeface="Calibri"/>
              </a:defRPr>
            </a:defPPr>
          </a:lstStyle>
          <a:p xmlns:a="http://schemas.openxmlformats.org/drawingml/2006/main">
            <a:pPr algn="l">
              <a:defRPr sz="2025" b="0">
                <a:solidFill>
                  <a:srgbClr val="6AD0D4"/>
                </a:solidFill>
                <a:latin typeface="Calibri"/>
                <a:ea typeface="Calibri"/>
                <a:cs typeface="Calibri"/>
              </a:defRPr>
            </a:pPr>
            <a:r>
              <a:rPr sz="2025" b="0">
                <a:solidFill>
                  <a:srgbClr val="6AD0D4"/>
                </a:solidFill>
                <a:latin typeface="Calibri"/>
                <a:ea typeface="Calibri"/>
                <a:cs typeface="Calibri"/>
              </a:rPr>
              <a:t>Using Near Field Communication (NFC),</a:t>
            </a:r>
          </a:p>
          <a:p xmlns:a="http://schemas.openxmlformats.org/drawingml/2006/main">
            <a:pPr algn="l">
              <a:defRPr sz="2025" b="0">
                <a:solidFill>
                  <a:srgbClr val="6AD0D4"/>
                </a:solidFill>
                <a:latin typeface="Calibri"/>
                <a:ea typeface="Calibri"/>
                <a:cs typeface="Calibri"/>
              </a:defRPr>
            </a:pPr>
            <a:r>
              <a:rPr sz="2025" b="0">
                <a:solidFill>
                  <a:srgbClr val="6AD0D4"/>
                </a:solidFill>
                <a:latin typeface="Calibri"/>
                <a:ea typeface="Calibri"/>
                <a:cs typeface="Calibri"/>
              </a:rPr>
              <a:t>Personal Identification Number (PIN) Authentication,</a:t>
            </a:r>
          </a:p>
          <a:p xmlns:a="http://schemas.openxmlformats.org/drawingml/2006/main">
            <a:pPr algn="l">
              <a:defRPr sz="2025" b="0">
                <a:solidFill>
                  <a:srgbClr val="6AD0D4"/>
                </a:solidFill>
                <a:latin typeface="Calibri"/>
                <a:ea typeface="Calibri"/>
                <a:cs typeface="Calibri"/>
              </a:defRPr>
            </a:pPr>
            <a:r>
              <a:rPr sz="2025" b="0">
                <a:solidFill>
                  <a:srgbClr val="6AD0D4"/>
                </a:solidFill>
                <a:latin typeface="Calibri"/>
                <a:ea typeface="Calibri"/>
                <a:cs typeface="Calibri"/>
              </a:rPr>
              <a:t>and Quick Response (QR) Credential Validation</a:t>
            </a:r>
          </a:p>
        </p:txBody>
      </p:sp>
      <p:sp>
        <p:nvSpPr>
          <p:cNvPr id="5" name="Justine G. Mendoza&#10;Michael Daniel M. Milallos&#10;Seanne Stiffel">
            <a:extLst xmlns:a="http://schemas.openxmlformats.org/drawingml/2006/main">
              <a:ext uri="{FF2B5EF4-FFF2-40B4-BE49-F238E27FC236}">
                <a16:creationId xmlns:a16="http://schemas.microsoft.com/office/drawing/2014/main" id="{3AD17ECB-D1F2-48B7-B5D6-0163582F7199}"/>
              </a:ext>
            </a:extLst>
          </p:cNvPr>
          <p:cNvSpPr>
            <a:spLocks xmlns:a="http://schemas.openxmlformats.org/drawingml/2006/main" noGrp="1"/>
          </p:cNvSpPr>
          <p:nvPr/>
        </p:nvSpPr>
        <p:spPr>
          <a:xfrm xmlns:a="http://schemas.openxmlformats.org/drawingml/2006/main">
            <a:off x="457200" y="4029075"/>
            <a:ext cx="7620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FFFFFF"/>
                </a:solidFill>
                <a:latin typeface="Calibri"/>
                <a:ea typeface="Calibri"/>
                <a:cs typeface="Calibri"/>
              </a:defRPr>
            </a:defPPr>
          </a:lstStyle>
          <a:p xmlns:a="http://schemas.openxmlformats.org/drawingml/2006/main">
            <a:pPr algn="l">
              <a:defRPr sz="1800" b="0">
                <a:solidFill>
                  <a:srgbClr val="FFFFFF"/>
                </a:solidFill>
                <a:latin typeface="Calibri"/>
                <a:ea typeface="Calibri"/>
                <a:cs typeface="Calibri"/>
              </a:defRPr>
            </a:pPr>
            <a:r>
              <a:rPr sz="1800" b="0">
                <a:solidFill>
                  <a:srgbClr val="FFFFFF"/>
                </a:solidFill>
                <a:latin typeface="Calibri"/>
                <a:ea typeface="Calibri"/>
                <a:cs typeface="Calibri"/>
              </a:rPr>
              <a:t>Justine G. Mendoza</a:t>
            </a:r>
          </a:p>
          <a:p xmlns:a="http://schemas.openxmlformats.org/drawingml/2006/main">
            <a:pPr algn="l">
              <a:defRPr sz="1800" b="0">
                <a:solidFill>
                  <a:srgbClr val="FFFFFF"/>
                </a:solidFill>
                <a:latin typeface="Calibri"/>
                <a:ea typeface="Calibri"/>
                <a:cs typeface="Calibri"/>
              </a:defRPr>
            </a:pPr>
            <a:r>
              <a:rPr sz="1800" b="0">
                <a:solidFill>
                  <a:srgbClr val="FFFFFF"/>
                </a:solidFill>
                <a:latin typeface="Calibri"/>
                <a:ea typeface="Calibri"/>
                <a:cs typeface="Calibri"/>
              </a:rPr>
              <a:t>Michael Daniel M. Milallos</a:t>
            </a:r>
          </a:p>
          <a:p xmlns:a="http://schemas.openxmlformats.org/drawingml/2006/main">
            <a:pPr algn="l">
              <a:defRPr sz="1800" b="0">
                <a:solidFill>
                  <a:srgbClr val="FFFFFF"/>
                </a:solidFill>
                <a:latin typeface="Calibri"/>
                <a:ea typeface="Calibri"/>
                <a:cs typeface="Calibri"/>
              </a:defRPr>
            </a:pPr>
            <a:r>
              <a:rPr sz="1800" b="0">
                <a:solidFill>
                  <a:srgbClr val="FFFFFF"/>
                </a:solidFill>
                <a:latin typeface="Calibri"/>
                <a:ea typeface="Calibri"/>
                <a:cs typeface="Calibri"/>
              </a:rPr>
              <a:t>Seanne Stiffel T. Sintay</a:t>
            </a:r>
          </a:p>
        </p:txBody>
      </p:sp>
      <p:sp>
        <p:nvSpPr>
          <p:cNvPr id="6" name="01 / 24">
            <a:extLst xmlns:a="http://schemas.openxmlformats.org/drawingml/2006/main">
              <a:ext uri="{FF2B5EF4-FFF2-40B4-BE49-F238E27FC236}">
                <a16:creationId xmlns:a16="http://schemas.microsoft.com/office/drawing/2014/main" id="{F4A878A4-BCD9-4FBA-B9F1-BA2938F10615}"/>
              </a:ext>
            </a:extLst>
          </p:cNvPr>
          <p:cNvSpPr>
            <a:spLocks xmlns:a="http://schemas.openxmlformats.org/drawingml/2006/main" noGrp="1"/>
          </p:cNvSpPr>
          <p:nvPr/>
        </p:nvSpPr>
        <p:spPr>
          <a:xfrm xmlns:a="http://schemas.openxmlformats.org/drawingml/2006/main">
            <a:off x="8172450" y="489585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AEC0CB"/>
                </a:solidFill>
                <a:latin typeface="Calibri"/>
                <a:ea typeface="Calibri"/>
                <a:cs typeface="Calibri"/>
              </a:defRPr>
            </a:defPPr>
          </a:lstStyle>
          <a:p xmlns:a="http://schemas.openxmlformats.org/drawingml/2006/main">
            <a:pPr algn="r">
              <a:defRPr sz="900" b="0">
                <a:solidFill>
                  <a:srgbClr val="AEC0CB"/>
                </a:solidFill>
                <a:latin typeface="Calibri"/>
                <a:ea typeface="Calibri"/>
                <a:cs typeface="Calibri"/>
              </a:defRPr>
            </a:pPr>
            <a:r>
              <a:rPr sz="900" b="0">
                <a:solidFill>
                  <a:srgbClr val="AEC0CB"/>
                </a:solidFill>
                <a:latin typeface="Calibri"/>
                <a:ea typeface="Calibri"/>
                <a:cs typeface="Calibri"/>
              </a:rPr>
              <a:t>01 / 24</a:t>
            </a:r>
          </a:p>
        </p:txBody>
      </p:sp>
    </p:spTree>
    <p:extLst>
      <p:ext uri="{BB962C8B-B14F-4D97-AF65-F5344CB8AC3E}">
        <p14:creationId xmlns:p14="http://schemas.microsoft.com/office/powerpoint/2010/main" val="88297062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PANEL RECOMMENDATIONS">
            <a:extLst xmlns:a="http://schemas.openxmlformats.org/drawingml/2006/main">
              <a:ext uri="{FF2B5EF4-FFF2-40B4-BE49-F238E27FC236}">
                <a16:creationId xmlns:a16="http://schemas.microsoft.com/office/drawing/2014/main" id="{D9560DAE-15A3-4148-BDE7-8568A54E5FED}"/>
              </a:ext>
            </a:extLst>
          </p:cNvPr>
          <p:cNvSpPr>
            <a:spLocks xmlns:a="http://schemas.openxmlformats.org/drawingml/2006/main" noGrp="1"/>
          </p:cNvSpPr>
          <p:nvPr/>
        </p:nvSpPr>
        <p:spPr>
          <a:xfrm xmlns:a="http://schemas.openxmlformats.org/drawingml/2006/main">
            <a:off x="342900" y="247650"/>
            <a:ext cx="8458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007F86"/>
                </a:solidFill>
                <a:latin typeface="Calibri"/>
                <a:ea typeface="Calibri"/>
                <a:cs typeface="Calibri"/>
              </a:defRPr>
            </a:defPPr>
          </a:lstStyle>
          <a:p xmlns:a="http://schemas.openxmlformats.org/drawingml/2006/main">
            <a:pPr algn="l">
              <a:defRPr sz="1275" b="1">
                <a:solidFill>
                  <a:srgbClr val="007F86"/>
                </a:solidFill>
                <a:latin typeface="Calibri"/>
                <a:ea typeface="Calibri"/>
                <a:cs typeface="Calibri"/>
              </a:defRPr>
            </a:pPr>
            <a:r>
              <a:rPr sz="1275" b="1">
                <a:solidFill>
                  <a:srgbClr val="007F86"/>
                </a:solidFill>
                <a:latin typeface="Calibri"/>
                <a:ea typeface="Calibri"/>
                <a:cs typeface="Calibri"/>
              </a:rPr>
              <a:t>PANEL RECOMMENDATIONS</a:t>
            </a:r>
          </a:p>
        </p:txBody>
      </p:sp>
      <p:sp>
        <p:nvSpPr>
          <p:cNvPr id="2" name="Pre-oral Evidence">
            <a:extLst xmlns:a="http://schemas.openxmlformats.org/drawingml/2006/main">
              <a:ext uri="{FF2B5EF4-FFF2-40B4-BE49-F238E27FC236}">
                <a16:creationId xmlns:a16="http://schemas.microsoft.com/office/drawing/2014/main" id="{82AC2231-1799-4BFC-B0AB-7FD85007EFCD}"/>
              </a:ext>
            </a:extLst>
          </p:cNvPr>
          <p:cNvSpPr>
            <a:spLocks xmlns:a="http://schemas.openxmlformats.org/drawingml/2006/main" noGrp="1"/>
          </p:cNvSpPr>
          <p:nvPr/>
        </p:nvSpPr>
        <p:spPr>
          <a:xfrm xmlns:a="http://schemas.openxmlformats.org/drawingml/2006/main">
            <a:off x="342900" y="619125"/>
            <a:ext cx="8458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42C45"/>
                </a:solidFill>
                <a:latin typeface="Calibri"/>
                <a:ea typeface="Calibri"/>
                <a:cs typeface="Calibri"/>
              </a:defRPr>
            </a:defPPr>
          </a:lstStyle>
          <a:p xmlns:a="http://schemas.openxmlformats.org/drawingml/2006/main">
            <a:pPr algn="l">
              <a:defRPr sz="3000" b="1">
                <a:solidFill>
                  <a:srgbClr val="142C45"/>
                </a:solidFill>
                <a:latin typeface="Calibri"/>
                <a:ea typeface="Calibri"/>
                <a:cs typeface="Calibri"/>
              </a:defRPr>
            </a:pPr>
            <a:r>
              <a:rPr sz="3000" b="1">
                <a:solidFill>
                  <a:srgbClr val="142C45"/>
                </a:solidFill>
                <a:latin typeface="Calibri"/>
                <a:ea typeface="Calibri"/>
                <a:cs typeface="Calibri"/>
              </a:rPr>
              <a:t>Pre-oral Evidence</a:t>
            </a:r>
          </a:p>
        </p:txBody>
      </p:sp>
      <p:sp>
        <p:nvSpPr>
          <p:cNvPr id="3" name="02 / 24">
            <a:extLst xmlns:a="http://schemas.openxmlformats.org/drawingml/2006/main">
              <a:ext uri="{FF2B5EF4-FFF2-40B4-BE49-F238E27FC236}">
                <a16:creationId xmlns:a16="http://schemas.microsoft.com/office/drawing/2014/main" id="{8DC2F40F-96BB-487A-BABC-6D9D5B55380F}"/>
              </a:ext>
            </a:extLst>
          </p:cNvPr>
          <p:cNvSpPr>
            <a:spLocks xmlns:a="http://schemas.openxmlformats.org/drawingml/2006/main" noGrp="1"/>
          </p:cNvSpPr>
          <p:nvPr/>
        </p:nvSpPr>
        <p:spPr>
          <a:xfrm xmlns:a="http://schemas.openxmlformats.org/drawingml/2006/main">
            <a:off x="8172450" y="489585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607282"/>
                </a:solidFill>
                <a:latin typeface="Calibri"/>
                <a:ea typeface="Calibri"/>
                <a:cs typeface="Calibri"/>
              </a:defRPr>
            </a:defPPr>
          </a:lstStyle>
          <a:p xmlns:a="http://schemas.openxmlformats.org/drawingml/2006/main">
            <a:pPr algn="r">
              <a:defRPr sz="900" b="0">
                <a:solidFill>
                  <a:srgbClr val="607282"/>
                </a:solidFill>
                <a:latin typeface="Calibri"/>
                <a:ea typeface="Calibri"/>
                <a:cs typeface="Calibri"/>
              </a:defRPr>
            </a:pPr>
            <a:r>
              <a:rPr sz="900" b="0">
                <a:solidFill>
                  <a:srgbClr val="607282"/>
                </a:solidFill>
                <a:latin typeface="Calibri"/>
                <a:ea typeface="Calibri"/>
                <a:cs typeface="Calibri"/>
              </a:rPr>
              <a:t>02 / 24</a:t>
            </a:r>
          </a:p>
        </p:txBody>
      </p:sp>
      <p:graphicFrame>
        <p:nvGraphicFramePr>
          <p:cNvPr id="4" name="">
            <a:extLst xmlns:a="http://schemas.openxmlformats.org/drawingml/2006/main">
              <a:ext uri="{FF2B5EF4-FFF2-40B4-BE49-F238E27FC236}">
                <a16:creationId xmlns:a16="http://schemas.microsoft.com/office/drawing/2014/main" id="{8A57751A-8DE5-4CA6-B6F8-ACAC05D2BF48}"/>
              </a:ext>
            </a:extLst>
          </p:cNvPr>
          <p:cNvGraphicFramePr/>
          <p:nvPr/>
        </p:nvGraphicFramePr>
        <p:xfrm>
          <a:off xmlns:a="http://schemas.openxmlformats.org/drawingml/2006/main" x="342900" y="1362075"/>
          <a:ext xmlns:a="http://schemas.openxmlformats.org/drawingml/2006/main" cx="8458200" cy="2762250"/>
        </p:xfrm>
        <a:graphic xmlns:a="http://schemas.openxmlformats.org/drawingml/2006/main">
          <a:graphicData uri="http://schemas.openxmlformats.org/drawingml/2006/table">
            <a:tbl>
              <a:tblPr/>
              <a:tblGrid>
                <a:gridCol w="4457700"/>
                <a:gridCol w="4000500"/>
              </a:tblGrid>
              <a:tr h="552450">
                <a:tc>
                  <a:txBody>
                    <a:bodyPr lIns="0" tIns="0" rIns="0" bIns="0">
                      <a:noAutofit/>
                    </a:bodyPr>
                    <a:lstStyle/>
                    <a:p>
                      <a:pPr algn="l"/>
                      <a:r>
                        <a:rPr sz="2325" b="1">
                          <a:solidFill>
                            <a:srgbClr val="FFFFFF"/>
                          </a:solidFill>
                          <a:latin typeface="Calibri"/>
                          <a:ea typeface="Calibri"/>
                          <a:cs typeface="Calibri"/>
                        </a:rPr>
                        <a:t>Recommendation</a:t>
                      </a:r>
                    </a:p>
                  </a:txBody>
                  <a:tcPr marL="95250" marR="95250" marT="47625" marB="47625" anchor="ctr">
                    <a:lnL w="6350">
                      <a:noFill/>
                      <a:prstDash val="solid"/>
                    </a:lnL>
                    <a:lnR w="6350">
                      <a:noFill/>
                      <a:prstDash val="solid"/>
                    </a:lnR>
                    <a:lnT w="6350">
                      <a:noFill/>
                      <a:prstDash val="solid"/>
                    </a:lnT>
                    <a:lnB w="6350">
                      <a:noFill/>
                      <a:prstDash val="solid"/>
                    </a:lnB>
                    <a:solidFill>
                      <a:srgbClr val="142C45"/>
                    </a:solidFill>
                  </a:tcPr>
                </a:tc>
                <a:tc>
                  <a:txBody>
                    <a:bodyPr lIns="0" tIns="0" rIns="0" bIns="0">
                      <a:noAutofit/>
                    </a:bodyPr>
                    <a:lstStyle/>
                    <a:p>
                      <a:pPr algn="l"/>
                      <a:r>
                        <a:rPr sz="2325" b="1">
                          <a:solidFill>
                            <a:srgbClr val="FFFFFF"/>
                          </a:solidFill>
                          <a:latin typeface="Calibri"/>
                          <a:ea typeface="Calibri"/>
                          <a:cs typeface="Calibri"/>
                        </a:rPr>
                        <a:t>Status</a:t>
                      </a:r>
                    </a:p>
                  </a:txBody>
                  <a:tcPr marL="95250" marR="95250" marT="47625" marB="47625" anchor="ctr">
                    <a:lnL w="6350">
                      <a:noFill/>
                      <a:prstDash val="solid"/>
                    </a:lnL>
                    <a:lnR w="6350">
                      <a:noFill/>
                      <a:prstDash val="solid"/>
                    </a:lnR>
                    <a:lnT w="6350">
                      <a:noFill/>
                      <a:prstDash val="solid"/>
                    </a:lnT>
                    <a:lnB w="6350">
                      <a:noFill/>
                      <a:prstDash val="solid"/>
                    </a:lnB>
                    <a:solidFill>
                      <a:srgbClr val="142C45"/>
                    </a:solidFill>
                  </a:tcPr>
                </a:tc>
              </a:tr>
              <a:tr h="552450">
                <a:tc>
                  <a:txBody>
                    <a:bodyPr lIns="0" tIns="0" rIns="0" bIns="0">
                      <a:noAutofit/>
                    </a:bodyPr>
                    <a:lstStyle/>
                    <a:p>
                      <a:pPr algn="l"/>
                      <a:r>
                        <a:rPr sz="2325" b="0">
                          <a:solidFill>
                            <a:srgbClr val="33424D"/>
                          </a:solidFill>
                          <a:latin typeface="Calibri"/>
                          <a:ea typeface="Calibri"/>
                          <a:cs typeface="Calibri"/>
                        </a:rPr>
                        <a:t>01-02 Checklist/visuals</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l"/>
                      <a:r>
                        <a:rPr sz="2325" b="0">
                          <a:solidFill>
                            <a:srgbClr val="33424D"/>
                          </a:solidFill>
                          <a:latin typeface="Calibri"/>
                          <a:ea typeface="Calibri"/>
                          <a:cs typeface="Calibri"/>
                        </a:rPr>
                        <a:t>Included</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r>
              <a:tr h="552450">
                <a:tc>
                  <a:txBody>
                    <a:bodyPr lIns="0" tIns="0" rIns="0" bIns="0">
                      <a:noAutofit/>
                    </a:bodyPr>
                    <a:lstStyle/>
                    <a:p>
                      <a:pPr algn="l"/>
                      <a:r>
                        <a:rPr sz="2325" b="0">
                          <a:solidFill>
                            <a:srgbClr val="33424D"/>
                          </a:solidFill>
                          <a:latin typeface="Calibri"/>
                          <a:ea typeface="Calibri"/>
                          <a:cs typeface="Calibri"/>
                        </a:rPr>
                        <a:t>03 Raw responses</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l"/>
                      <a:r>
                        <a:rPr sz="2325" b="0">
                          <a:solidFill>
                            <a:srgbClr val="33424D"/>
                          </a:solidFill>
                          <a:latin typeface="Calibri"/>
                          <a:ea typeface="Calibri"/>
                          <a:cs typeface="Calibri"/>
                        </a:rPr>
                        <a:t>Packaging pending</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r>
              <a:tr h="552450">
                <a:tc>
                  <a:txBody>
                    <a:bodyPr lIns="0" tIns="0" rIns="0" bIns="0">
                      <a:noAutofit/>
                    </a:bodyPr>
                    <a:lstStyle/>
                    <a:p>
                      <a:pPr algn="l"/>
                      <a:r>
                        <a:rPr sz="2325" b="0">
                          <a:solidFill>
                            <a:srgbClr val="33424D"/>
                          </a:solidFill>
                          <a:latin typeface="Calibri"/>
                          <a:ea typeface="Calibri"/>
                          <a:cs typeface="Calibri"/>
                        </a:rPr>
                        <a:t>04 Test evidence</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l"/>
                      <a:r>
                        <a:rPr sz="2325" b="0">
                          <a:solidFill>
                            <a:srgbClr val="33424D"/>
                          </a:solidFill>
                          <a:latin typeface="Calibri"/>
                          <a:ea typeface="Calibri"/>
                          <a:cs typeface="Calibri"/>
                        </a:rPr>
                        <a:t>Selected tests documented</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r>
              <a:tr h="552450">
                <a:tc>
                  <a:txBody>
                    <a:bodyPr lIns="0" tIns="0" rIns="0" bIns="0">
                      <a:noAutofit/>
                    </a:bodyPr>
                    <a:lstStyle/>
                    <a:p>
                      <a:pPr algn="l"/>
                      <a:r>
                        <a:rPr sz="2325" b="0">
                          <a:solidFill>
                            <a:srgbClr val="33424D"/>
                          </a:solidFill>
                          <a:latin typeface="Calibri"/>
                          <a:ea typeface="Calibri"/>
                          <a:cs typeface="Calibri"/>
                        </a:rPr>
                        <a:t>05 UI appendices</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l"/>
                      <a:r>
                        <a:rPr sz="2325" b="0">
                          <a:solidFill>
                            <a:srgbClr val="33424D"/>
                          </a:solidFill>
                          <a:latin typeface="Calibri"/>
                          <a:ea typeface="Calibri"/>
                          <a:cs typeface="Calibri"/>
                        </a:rPr>
                        <a:t>Updates pending</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r>
            </a:tbl>
          </a:graphicData>
        </a:graphic>
      </p:graphicFrame>
      <p:sp>
        <p:nvSpPr>
          <p:cNvPr id="5" name="Complete evidence package remains pending.">
            <a:extLst xmlns:a="http://schemas.openxmlformats.org/drawingml/2006/main">
              <a:ext uri="{FF2B5EF4-FFF2-40B4-BE49-F238E27FC236}">
                <a16:creationId xmlns:a16="http://schemas.microsoft.com/office/drawing/2014/main" id="{17CC3CB9-3682-4573-B1C8-3EF0862BD7A2}"/>
              </a:ext>
            </a:extLst>
          </p:cNvPr>
          <p:cNvSpPr>
            <a:spLocks xmlns:a="http://schemas.openxmlformats.org/drawingml/2006/main" noGrp="1"/>
          </p:cNvSpPr>
          <p:nvPr/>
        </p:nvSpPr>
        <p:spPr>
          <a:xfrm xmlns:a="http://schemas.openxmlformats.org/drawingml/2006/main">
            <a:off x="342900" y="4400550"/>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607282"/>
                </a:solidFill>
                <a:latin typeface="Calibri"/>
                <a:ea typeface="Calibri"/>
                <a:cs typeface="Calibri"/>
              </a:defRPr>
            </a:defPPr>
          </a:lstStyle>
          <a:p xmlns:a="http://schemas.openxmlformats.org/drawingml/2006/main">
            <a:pPr algn="l">
              <a:defRPr sz="2100" b="0">
                <a:solidFill>
                  <a:srgbClr val="607282"/>
                </a:solidFill>
                <a:latin typeface="Calibri"/>
                <a:ea typeface="Calibri"/>
                <a:cs typeface="Calibri"/>
              </a:defRPr>
            </a:pPr>
            <a:r>
              <a:rPr sz="2100" b="0">
                <a:solidFill>
                  <a:srgbClr val="607282"/>
                </a:solidFill>
                <a:latin typeface="Calibri"/>
                <a:ea typeface="Calibri"/>
                <a:cs typeface="Calibri"/>
              </a:rPr>
              <a:t>Complete evidence package remains pending.</a:t>
            </a:r>
          </a:p>
        </p:txBody>
      </p:sp>
    </p:spTree>
    <p:extLst>
      <p:ext uri="{BB962C8B-B14F-4D97-AF65-F5344CB8AC3E}">
        <p14:creationId xmlns:p14="http://schemas.microsoft.com/office/powerpoint/2010/main" val="155777865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PANEL RECOMMENDATIONS">
            <a:extLst xmlns:a="http://schemas.openxmlformats.org/drawingml/2006/main">
              <a:ext uri="{FF2B5EF4-FFF2-40B4-BE49-F238E27FC236}">
                <a16:creationId xmlns:a16="http://schemas.microsoft.com/office/drawing/2014/main" id="{D10241AE-7D4B-4215-B28A-A959743041AB}"/>
              </a:ext>
            </a:extLst>
          </p:cNvPr>
          <p:cNvSpPr>
            <a:spLocks xmlns:a="http://schemas.openxmlformats.org/drawingml/2006/main" noGrp="1"/>
          </p:cNvSpPr>
          <p:nvPr/>
        </p:nvSpPr>
        <p:spPr>
          <a:xfrm xmlns:a="http://schemas.openxmlformats.org/drawingml/2006/main">
            <a:off x="342900" y="247650"/>
            <a:ext cx="8458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007F86"/>
                </a:solidFill>
                <a:latin typeface="Calibri"/>
                <a:ea typeface="Calibri"/>
                <a:cs typeface="Calibri"/>
              </a:defRPr>
            </a:defPPr>
          </a:lstStyle>
          <a:p xmlns:a="http://schemas.openxmlformats.org/drawingml/2006/main">
            <a:pPr algn="l">
              <a:defRPr sz="1275" b="1">
                <a:solidFill>
                  <a:srgbClr val="007F86"/>
                </a:solidFill>
                <a:latin typeface="Calibri"/>
                <a:ea typeface="Calibri"/>
                <a:cs typeface="Calibri"/>
              </a:defRPr>
            </a:pPr>
            <a:r>
              <a:rPr sz="1275" b="1">
                <a:solidFill>
                  <a:srgbClr val="007F86"/>
                </a:solidFill>
                <a:latin typeface="Calibri"/>
                <a:ea typeface="Calibri"/>
                <a:cs typeface="Calibri"/>
              </a:rPr>
              <a:t>PANEL RECOMMENDATIONS</a:t>
            </a:r>
          </a:p>
        </p:txBody>
      </p:sp>
      <p:sp>
        <p:nvSpPr>
          <p:cNvPr id="2" name="Pre-oral Comparison Requirements">
            <a:extLst xmlns:a="http://schemas.openxmlformats.org/drawingml/2006/main">
              <a:ext uri="{FF2B5EF4-FFF2-40B4-BE49-F238E27FC236}">
                <a16:creationId xmlns:a16="http://schemas.microsoft.com/office/drawing/2014/main" id="{6C055DAE-2EA6-438F-A0CD-F9D8FE5834D7}"/>
              </a:ext>
            </a:extLst>
          </p:cNvPr>
          <p:cNvSpPr>
            <a:spLocks xmlns:a="http://schemas.openxmlformats.org/drawingml/2006/main" noGrp="1"/>
          </p:cNvSpPr>
          <p:nvPr/>
        </p:nvSpPr>
        <p:spPr>
          <a:xfrm xmlns:a="http://schemas.openxmlformats.org/drawingml/2006/main">
            <a:off x="342900" y="619125"/>
            <a:ext cx="8458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42C45"/>
                </a:solidFill>
                <a:latin typeface="Calibri"/>
                <a:ea typeface="Calibri"/>
                <a:cs typeface="Calibri"/>
              </a:defRPr>
            </a:defPPr>
          </a:lstStyle>
          <a:p xmlns:a="http://schemas.openxmlformats.org/drawingml/2006/main">
            <a:pPr algn="l">
              <a:defRPr sz="3000" b="1">
                <a:solidFill>
                  <a:srgbClr val="142C45"/>
                </a:solidFill>
                <a:latin typeface="Calibri"/>
                <a:ea typeface="Calibri"/>
                <a:cs typeface="Calibri"/>
              </a:defRPr>
            </a:pPr>
            <a:r>
              <a:rPr sz="3000" b="1">
                <a:solidFill>
                  <a:srgbClr val="142C45"/>
                </a:solidFill>
                <a:latin typeface="Calibri"/>
                <a:ea typeface="Calibri"/>
                <a:cs typeface="Calibri"/>
              </a:rPr>
              <a:t>Pre-oral Comparison Requirements</a:t>
            </a:r>
          </a:p>
        </p:txBody>
      </p:sp>
      <p:sp>
        <p:nvSpPr>
          <p:cNvPr id="3" name="03 / 24">
            <a:extLst xmlns:a="http://schemas.openxmlformats.org/drawingml/2006/main">
              <a:ext uri="{FF2B5EF4-FFF2-40B4-BE49-F238E27FC236}">
                <a16:creationId xmlns:a16="http://schemas.microsoft.com/office/drawing/2014/main" id="{32FA7EDC-DDED-4A09-878B-E8E7EEE56CD1}"/>
              </a:ext>
            </a:extLst>
          </p:cNvPr>
          <p:cNvSpPr>
            <a:spLocks xmlns:a="http://schemas.openxmlformats.org/drawingml/2006/main" noGrp="1"/>
          </p:cNvSpPr>
          <p:nvPr/>
        </p:nvSpPr>
        <p:spPr>
          <a:xfrm xmlns:a="http://schemas.openxmlformats.org/drawingml/2006/main">
            <a:off x="8172450" y="489585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607282"/>
                </a:solidFill>
                <a:latin typeface="Calibri"/>
                <a:ea typeface="Calibri"/>
                <a:cs typeface="Calibri"/>
              </a:defRPr>
            </a:defPPr>
          </a:lstStyle>
          <a:p xmlns:a="http://schemas.openxmlformats.org/drawingml/2006/main">
            <a:pPr algn="r">
              <a:defRPr sz="900" b="0">
                <a:solidFill>
                  <a:srgbClr val="607282"/>
                </a:solidFill>
                <a:latin typeface="Calibri"/>
                <a:ea typeface="Calibri"/>
                <a:cs typeface="Calibri"/>
              </a:defRPr>
            </a:pPr>
            <a:r>
              <a:rPr sz="900" b="0">
                <a:solidFill>
                  <a:srgbClr val="607282"/>
                </a:solidFill>
                <a:latin typeface="Calibri"/>
                <a:ea typeface="Calibri"/>
                <a:cs typeface="Calibri"/>
              </a:rPr>
              <a:t>03 / 24</a:t>
            </a:r>
          </a:p>
        </p:txBody>
      </p:sp>
      <p:graphicFrame>
        <p:nvGraphicFramePr>
          <p:cNvPr id="4" name="">
            <a:extLst xmlns:a="http://schemas.openxmlformats.org/drawingml/2006/main">
              <a:ext uri="{FF2B5EF4-FFF2-40B4-BE49-F238E27FC236}">
                <a16:creationId xmlns:a16="http://schemas.microsoft.com/office/drawing/2014/main" id="{D5DE44B0-78EB-4981-BE00-4C3B5F9A92DA}"/>
              </a:ext>
            </a:extLst>
          </p:cNvPr>
          <p:cNvGraphicFramePr/>
          <p:nvPr/>
        </p:nvGraphicFramePr>
        <p:xfrm>
          <a:off xmlns:a="http://schemas.openxmlformats.org/drawingml/2006/main" x="342900" y="1362075"/>
          <a:ext xmlns:a="http://schemas.openxmlformats.org/drawingml/2006/main" cx="8458200" cy="3200400"/>
        </p:xfrm>
        <a:graphic xmlns:a="http://schemas.openxmlformats.org/drawingml/2006/main">
          <a:graphicData uri="http://schemas.openxmlformats.org/drawingml/2006/table">
            <a:tbl>
              <a:tblPr/>
              <a:tblGrid>
                <a:gridCol w="4457700"/>
                <a:gridCol w="4000500"/>
              </a:tblGrid>
              <a:tr h="533400">
                <a:tc>
                  <a:txBody>
                    <a:bodyPr lIns="0" tIns="0" rIns="0" bIns="0">
                      <a:noAutofit/>
                    </a:bodyPr>
                    <a:lstStyle/>
                    <a:p>
                      <a:pPr algn="l"/>
                      <a:r>
                        <a:rPr sz="2325" b="1">
                          <a:solidFill>
                            <a:srgbClr val="FFFFFF"/>
                          </a:solidFill>
                          <a:latin typeface="Calibri"/>
                          <a:ea typeface="Calibri"/>
                          <a:cs typeface="Calibri"/>
                        </a:rPr>
                        <a:t>Recommendation</a:t>
                      </a:r>
                    </a:p>
                  </a:txBody>
                  <a:tcPr marL="95250" marR="95250" marT="47625" marB="47625" anchor="ctr">
                    <a:lnL w="6350">
                      <a:noFill/>
                      <a:prstDash val="solid"/>
                    </a:lnL>
                    <a:lnR w="6350">
                      <a:noFill/>
                      <a:prstDash val="solid"/>
                    </a:lnR>
                    <a:lnT w="6350">
                      <a:noFill/>
                      <a:prstDash val="solid"/>
                    </a:lnT>
                    <a:lnB w="6350">
                      <a:noFill/>
                      <a:prstDash val="solid"/>
                    </a:lnB>
                    <a:solidFill>
                      <a:srgbClr val="142C45"/>
                    </a:solidFill>
                  </a:tcPr>
                </a:tc>
                <a:tc>
                  <a:txBody>
                    <a:bodyPr lIns="0" tIns="0" rIns="0" bIns="0">
                      <a:noAutofit/>
                    </a:bodyPr>
                    <a:lstStyle/>
                    <a:p>
                      <a:pPr algn="l"/>
                      <a:r>
                        <a:rPr sz="2325" b="1">
                          <a:solidFill>
                            <a:srgbClr val="FFFFFF"/>
                          </a:solidFill>
                          <a:latin typeface="Calibri"/>
                          <a:ea typeface="Calibri"/>
                          <a:cs typeface="Calibri"/>
                        </a:rPr>
                        <a:t>Status</a:t>
                      </a:r>
                    </a:p>
                  </a:txBody>
                  <a:tcPr marL="95250" marR="95250" marT="47625" marB="47625" anchor="ctr">
                    <a:lnL w="6350">
                      <a:noFill/>
                      <a:prstDash val="solid"/>
                    </a:lnL>
                    <a:lnR w="6350">
                      <a:noFill/>
                      <a:prstDash val="solid"/>
                    </a:lnR>
                    <a:lnT w="6350">
                      <a:noFill/>
                      <a:prstDash val="solid"/>
                    </a:lnT>
                    <a:lnB w="6350">
                      <a:noFill/>
                      <a:prstDash val="solid"/>
                    </a:lnB>
                    <a:solidFill>
                      <a:srgbClr val="142C45"/>
                    </a:solidFill>
                  </a:tcPr>
                </a:tc>
              </a:tr>
              <a:tr h="533400">
                <a:tc>
                  <a:txBody>
                    <a:bodyPr lIns="0" tIns="0" rIns="0" bIns="0">
                      <a:noAutofit/>
                    </a:bodyPr>
                    <a:lstStyle/>
                    <a:p>
                      <a:pPr algn="l"/>
                      <a:r>
                        <a:rPr sz="2325" b="0">
                          <a:solidFill>
                            <a:srgbClr val="33424D"/>
                          </a:solidFill>
                          <a:latin typeface="Calibri"/>
                          <a:ea typeface="Calibri"/>
                          <a:cs typeface="Calibri"/>
                        </a:rPr>
                        <a:t>06-07 Manual baseline</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l"/>
                      <a:r>
                        <a:rPr sz="2325" b="0">
                          <a:solidFill>
                            <a:srgbClr val="33424D"/>
                          </a:solidFill>
                          <a:latin typeface="Calibri"/>
                          <a:ea typeface="Calibri"/>
                          <a:cs typeface="Calibri"/>
                        </a:rPr>
                        <a:t>Included</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r>
              <a:tr h="533400">
                <a:tc>
                  <a:txBody>
                    <a:bodyPr lIns="0" tIns="0" rIns="0" bIns="0">
                      <a:noAutofit/>
                    </a:bodyPr>
                    <a:lstStyle/>
                    <a:p>
                      <a:pPr algn="l"/>
                      <a:r>
                        <a:rPr sz="2325" b="0">
                          <a:solidFill>
                            <a:srgbClr val="33424D"/>
                          </a:solidFill>
                          <a:latin typeface="Calibri"/>
                          <a:ea typeface="Calibri"/>
                          <a:cs typeface="Calibri"/>
                        </a:rPr>
                        <a:t>08 Respondent counts</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l"/>
                      <a:r>
                        <a:rPr sz="2325" b="0">
                          <a:solidFill>
                            <a:srgbClr val="33424D"/>
                          </a:solidFill>
                          <a:latin typeface="Calibri"/>
                          <a:ea typeface="Calibri"/>
                          <a:cs typeface="Calibri"/>
                        </a:rPr>
                        <a:t>Included</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r>
              <a:tr h="533400">
                <a:tc>
                  <a:txBody>
                    <a:bodyPr lIns="0" tIns="0" rIns="0" bIns="0">
                      <a:noAutofit/>
                    </a:bodyPr>
                    <a:lstStyle/>
                    <a:p>
                      <a:pPr algn="l"/>
                      <a:r>
                        <a:rPr sz="2325" b="0">
                          <a:solidFill>
                            <a:srgbClr val="33424D"/>
                          </a:solidFill>
                          <a:latin typeface="Calibri"/>
                          <a:ea typeface="Calibri"/>
                          <a:cs typeface="Calibri"/>
                        </a:rPr>
                        <a:t>09-10 Same participants</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l"/>
                      <a:r>
                        <a:rPr sz="2325" b="0">
                          <a:solidFill>
                            <a:srgbClr val="33424D"/>
                          </a:solidFill>
                          <a:latin typeface="Calibri"/>
                          <a:ea typeface="Calibri"/>
                          <a:cs typeface="Calibri"/>
                        </a:rPr>
                        <a:t>Different groups used</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r>
              <a:tr h="533400">
                <a:tc>
                  <a:txBody>
                    <a:bodyPr lIns="0" tIns="0" rIns="0" bIns="0">
                      <a:noAutofit/>
                    </a:bodyPr>
                    <a:lstStyle/>
                    <a:p>
                      <a:pPr algn="l"/>
                      <a:r>
                        <a:rPr sz="2325" b="0">
                          <a:solidFill>
                            <a:srgbClr val="33424D"/>
                          </a:solidFill>
                          <a:latin typeface="Calibri"/>
                          <a:ea typeface="Calibri"/>
                          <a:cs typeface="Calibri"/>
                        </a:rPr>
                        <a:t>16 Use case</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l"/>
                      <a:r>
                        <a:rPr sz="2325" b="0">
                          <a:solidFill>
                            <a:srgbClr val="33424D"/>
                          </a:solidFill>
                          <a:latin typeface="Calibri"/>
                          <a:ea typeface="Calibri"/>
                          <a:cs typeface="Calibri"/>
                        </a:rPr>
                        <a:t>Mode alignment pending</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r>
              <a:tr h="533400">
                <a:tc>
                  <a:txBody>
                    <a:bodyPr lIns="0" tIns="0" rIns="0" bIns="0">
                      <a:noAutofit/>
                    </a:bodyPr>
                    <a:lstStyle/>
                    <a:p>
                      <a:pPr algn="l"/>
                      <a:r>
                        <a:rPr sz="2325" b="0">
                          <a:solidFill>
                            <a:srgbClr val="33424D"/>
                          </a:solidFill>
                          <a:latin typeface="Calibri"/>
                          <a:ea typeface="Calibri"/>
                          <a:cs typeface="Calibri"/>
                        </a:rPr>
                        <a:t>17 Survey t-test</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l"/>
                      <a:r>
                        <a:rPr sz="2325" b="0">
                          <a:solidFill>
                            <a:srgbClr val="33424D"/>
                          </a:solidFill>
                          <a:latin typeface="Calibri"/>
                          <a:ea typeface="Calibri"/>
                          <a:cs typeface="Calibri"/>
                        </a:rPr>
                        <a:t>Welch test included</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r>
            </a:tbl>
          </a:graphicData>
        </a:graphic>
      </p:graphicFrame>
    </p:spTree>
    <p:extLst>
      <p:ext uri="{BB962C8B-B14F-4D97-AF65-F5344CB8AC3E}">
        <p14:creationId xmlns:p14="http://schemas.microsoft.com/office/powerpoint/2010/main" val="105851318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PANEL RECOMMENDATIONS">
            <a:extLst xmlns:a="http://schemas.openxmlformats.org/drawingml/2006/main">
              <a:ext uri="{FF2B5EF4-FFF2-40B4-BE49-F238E27FC236}">
                <a16:creationId xmlns:a16="http://schemas.microsoft.com/office/drawing/2014/main" id="{0286C7ED-5041-41E4-9563-BB7BC6960CD3}"/>
              </a:ext>
            </a:extLst>
          </p:cNvPr>
          <p:cNvSpPr>
            <a:spLocks xmlns:a="http://schemas.openxmlformats.org/drawingml/2006/main" noGrp="1"/>
          </p:cNvSpPr>
          <p:nvPr/>
        </p:nvSpPr>
        <p:spPr>
          <a:xfrm xmlns:a="http://schemas.openxmlformats.org/drawingml/2006/main">
            <a:off x="342900" y="247650"/>
            <a:ext cx="8458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007F86"/>
                </a:solidFill>
                <a:latin typeface="Calibri"/>
                <a:ea typeface="Calibri"/>
                <a:cs typeface="Calibri"/>
              </a:defRPr>
            </a:defPPr>
          </a:lstStyle>
          <a:p xmlns:a="http://schemas.openxmlformats.org/drawingml/2006/main">
            <a:pPr algn="l">
              <a:defRPr sz="1275" b="1">
                <a:solidFill>
                  <a:srgbClr val="007F86"/>
                </a:solidFill>
                <a:latin typeface="Calibri"/>
                <a:ea typeface="Calibri"/>
                <a:cs typeface="Calibri"/>
              </a:defRPr>
            </a:pPr>
            <a:r>
              <a:rPr sz="1275" b="1">
                <a:solidFill>
                  <a:srgbClr val="007F86"/>
                </a:solidFill>
                <a:latin typeface="Calibri"/>
                <a:ea typeface="Calibri"/>
                <a:cs typeface="Calibri"/>
              </a:rPr>
              <a:t>PANEL RECOMMENDATIONS</a:t>
            </a:r>
          </a:p>
        </p:txBody>
      </p:sp>
      <p:sp>
        <p:nvSpPr>
          <p:cNvPr id="2" name="Pre-oral System Requirements">
            <a:extLst xmlns:a="http://schemas.openxmlformats.org/drawingml/2006/main">
              <a:ext uri="{FF2B5EF4-FFF2-40B4-BE49-F238E27FC236}">
                <a16:creationId xmlns:a16="http://schemas.microsoft.com/office/drawing/2014/main" id="{26EBBFA6-660F-4577-BCA1-B0FEA5D00E24}"/>
              </a:ext>
            </a:extLst>
          </p:cNvPr>
          <p:cNvSpPr>
            <a:spLocks xmlns:a="http://schemas.openxmlformats.org/drawingml/2006/main" noGrp="1"/>
          </p:cNvSpPr>
          <p:nvPr/>
        </p:nvSpPr>
        <p:spPr>
          <a:xfrm xmlns:a="http://schemas.openxmlformats.org/drawingml/2006/main">
            <a:off x="342900" y="619125"/>
            <a:ext cx="8458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42C45"/>
                </a:solidFill>
                <a:latin typeface="Calibri"/>
                <a:ea typeface="Calibri"/>
                <a:cs typeface="Calibri"/>
              </a:defRPr>
            </a:defPPr>
          </a:lstStyle>
          <a:p xmlns:a="http://schemas.openxmlformats.org/drawingml/2006/main">
            <a:pPr algn="l">
              <a:defRPr sz="3000" b="1">
                <a:solidFill>
                  <a:srgbClr val="142C45"/>
                </a:solidFill>
                <a:latin typeface="Calibri"/>
                <a:ea typeface="Calibri"/>
                <a:cs typeface="Calibri"/>
              </a:defRPr>
            </a:pPr>
            <a:r>
              <a:rPr sz="3000" b="1">
                <a:solidFill>
                  <a:srgbClr val="142C45"/>
                </a:solidFill>
                <a:latin typeface="Calibri"/>
                <a:ea typeface="Calibri"/>
                <a:cs typeface="Calibri"/>
              </a:rPr>
              <a:t>Pre-oral System Requirements</a:t>
            </a:r>
          </a:p>
        </p:txBody>
      </p:sp>
      <p:sp>
        <p:nvSpPr>
          <p:cNvPr id="3" name="04 / 24">
            <a:extLst xmlns:a="http://schemas.openxmlformats.org/drawingml/2006/main">
              <a:ext uri="{FF2B5EF4-FFF2-40B4-BE49-F238E27FC236}">
                <a16:creationId xmlns:a16="http://schemas.microsoft.com/office/drawing/2014/main" id="{ACC06881-9EF5-4867-88CA-99EE887EE30E}"/>
              </a:ext>
            </a:extLst>
          </p:cNvPr>
          <p:cNvSpPr>
            <a:spLocks xmlns:a="http://schemas.openxmlformats.org/drawingml/2006/main" noGrp="1"/>
          </p:cNvSpPr>
          <p:nvPr/>
        </p:nvSpPr>
        <p:spPr>
          <a:xfrm xmlns:a="http://schemas.openxmlformats.org/drawingml/2006/main">
            <a:off x="8172450" y="489585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607282"/>
                </a:solidFill>
                <a:latin typeface="Calibri"/>
                <a:ea typeface="Calibri"/>
                <a:cs typeface="Calibri"/>
              </a:defRPr>
            </a:defPPr>
          </a:lstStyle>
          <a:p xmlns:a="http://schemas.openxmlformats.org/drawingml/2006/main">
            <a:pPr algn="r">
              <a:defRPr sz="900" b="0">
                <a:solidFill>
                  <a:srgbClr val="607282"/>
                </a:solidFill>
                <a:latin typeface="Calibri"/>
                <a:ea typeface="Calibri"/>
                <a:cs typeface="Calibri"/>
              </a:defRPr>
            </a:pPr>
            <a:r>
              <a:rPr sz="900" b="0">
                <a:solidFill>
                  <a:srgbClr val="607282"/>
                </a:solidFill>
                <a:latin typeface="Calibri"/>
                <a:ea typeface="Calibri"/>
                <a:cs typeface="Calibri"/>
              </a:rPr>
              <a:t>04 / 24</a:t>
            </a:r>
          </a:p>
        </p:txBody>
      </p:sp>
      <p:graphicFrame>
        <p:nvGraphicFramePr>
          <p:cNvPr id="4" name="">
            <a:extLst xmlns:a="http://schemas.openxmlformats.org/drawingml/2006/main">
              <a:ext uri="{FF2B5EF4-FFF2-40B4-BE49-F238E27FC236}">
                <a16:creationId xmlns:a16="http://schemas.microsoft.com/office/drawing/2014/main" id="{5362DC2A-46BC-4240-8EC4-30FAC234C067}"/>
              </a:ext>
            </a:extLst>
          </p:cNvPr>
          <p:cNvGraphicFramePr/>
          <p:nvPr/>
        </p:nvGraphicFramePr>
        <p:xfrm>
          <a:off xmlns:a="http://schemas.openxmlformats.org/drawingml/2006/main" x="342900" y="1362075"/>
          <a:ext xmlns:a="http://schemas.openxmlformats.org/drawingml/2006/main" cx="8458200" cy="3200400"/>
        </p:xfrm>
        <a:graphic xmlns:a="http://schemas.openxmlformats.org/drawingml/2006/main">
          <a:graphicData uri="http://schemas.openxmlformats.org/drawingml/2006/table">
            <a:tbl>
              <a:tblPr/>
              <a:tblGrid>
                <a:gridCol w="4457700"/>
                <a:gridCol w="4000500"/>
              </a:tblGrid>
              <a:tr h="533400">
                <a:tc>
                  <a:txBody>
                    <a:bodyPr lIns="0" tIns="0" rIns="0" bIns="0">
                      <a:noAutofit/>
                    </a:bodyPr>
                    <a:lstStyle/>
                    <a:p>
                      <a:pPr algn="l"/>
                      <a:r>
                        <a:rPr sz="2325" b="1">
                          <a:solidFill>
                            <a:srgbClr val="FFFFFF"/>
                          </a:solidFill>
                          <a:latin typeface="Calibri"/>
                          <a:ea typeface="Calibri"/>
                          <a:cs typeface="Calibri"/>
                        </a:rPr>
                        <a:t>Recommendation</a:t>
                      </a:r>
                    </a:p>
                  </a:txBody>
                  <a:tcPr marL="95250" marR="95250" marT="47625" marB="47625" anchor="ctr">
                    <a:lnL w="6350">
                      <a:noFill/>
                      <a:prstDash val="solid"/>
                    </a:lnL>
                    <a:lnR w="6350">
                      <a:noFill/>
                      <a:prstDash val="solid"/>
                    </a:lnR>
                    <a:lnT w="6350">
                      <a:noFill/>
                      <a:prstDash val="solid"/>
                    </a:lnT>
                    <a:lnB w="6350">
                      <a:noFill/>
                      <a:prstDash val="solid"/>
                    </a:lnB>
                    <a:solidFill>
                      <a:srgbClr val="142C45"/>
                    </a:solidFill>
                  </a:tcPr>
                </a:tc>
                <a:tc>
                  <a:txBody>
                    <a:bodyPr lIns="0" tIns="0" rIns="0" bIns="0">
                      <a:noAutofit/>
                    </a:bodyPr>
                    <a:lstStyle/>
                    <a:p>
                      <a:pPr algn="l"/>
                      <a:r>
                        <a:rPr sz="2325" b="1">
                          <a:solidFill>
                            <a:srgbClr val="FFFFFF"/>
                          </a:solidFill>
                          <a:latin typeface="Calibri"/>
                          <a:ea typeface="Calibri"/>
                          <a:cs typeface="Calibri"/>
                        </a:rPr>
                        <a:t>Status</a:t>
                      </a:r>
                    </a:p>
                  </a:txBody>
                  <a:tcPr marL="95250" marR="95250" marT="47625" marB="47625" anchor="ctr">
                    <a:lnL w="6350">
                      <a:noFill/>
                      <a:prstDash val="solid"/>
                    </a:lnL>
                    <a:lnR w="6350">
                      <a:noFill/>
                      <a:prstDash val="solid"/>
                    </a:lnR>
                    <a:lnT w="6350">
                      <a:noFill/>
                      <a:prstDash val="solid"/>
                    </a:lnT>
                    <a:lnB w="6350">
                      <a:noFill/>
                      <a:prstDash val="solid"/>
                    </a:lnB>
                    <a:solidFill>
                      <a:srgbClr val="142C45"/>
                    </a:solidFill>
                  </a:tcPr>
                </a:tc>
              </a:tr>
              <a:tr h="533400">
                <a:tc>
                  <a:txBody>
                    <a:bodyPr lIns="0" tIns="0" rIns="0" bIns="0">
                      <a:noAutofit/>
                    </a:bodyPr>
                    <a:lstStyle/>
                    <a:p>
                      <a:pPr algn="l"/>
                      <a:r>
                        <a:rPr sz="2325" b="0">
                          <a:solidFill>
                            <a:srgbClr val="33424D"/>
                          </a:solidFill>
                          <a:latin typeface="Calibri"/>
                          <a:ea typeface="Calibri"/>
                          <a:cs typeface="Calibri"/>
                        </a:rPr>
                        <a:t>11 Login timestamp</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l"/>
                      <a:r>
                        <a:rPr sz="2325" b="0">
                          <a:solidFill>
                            <a:srgbClr val="33424D"/>
                          </a:solidFill>
                          <a:latin typeface="Calibri"/>
                          <a:ea typeface="Calibri"/>
                          <a:cs typeface="Calibri"/>
                        </a:rPr>
                        <a:t>Display needs verification</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r>
              <a:tr h="533400">
                <a:tc>
                  <a:txBody>
                    <a:bodyPr lIns="0" tIns="0" rIns="0" bIns="0">
                      <a:noAutofit/>
                    </a:bodyPr>
                    <a:lstStyle/>
                    <a:p>
                      <a:pPr algn="l"/>
                      <a:r>
                        <a:rPr sz="2325" b="0">
                          <a:solidFill>
                            <a:srgbClr val="33424D"/>
                          </a:solidFill>
                          <a:latin typeface="Calibri"/>
                          <a:ea typeface="Calibri"/>
                          <a:cs typeface="Calibri"/>
                        </a:rPr>
                        <a:t>12 Student timestamps</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l"/>
                      <a:r>
                        <a:rPr sz="2325" b="0">
                          <a:solidFill>
                            <a:srgbClr val="33424D"/>
                          </a:solidFill>
                          <a:latin typeface="Calibri"/>
                          <a:ea typeface="Calibri"/>
                          <a:cs typeface="Calibri"/>
                        </a:rPr>
                        <a:t>Implemented</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r>
              <a:tr h="533400">
                <a:tc>
                  <a:txBody>
                    <a:bodyPr lIns="0" tIns="0" rIns="0" bIns="0">
                      <a:noAutofit/>
                    </a:bodyPr>
                    <a:lstStyle/>
                    <a:p>
                      <a:pPr algn="l"/>
                      <a:r>
                        <a:rPr sz="2325" b="0">
                          <a:solidFill>
                            <a:srgbClr val="33424D"/>
                          </a:solidFill>
                          <a:latin typeface="Calibri"/>
                          <a:ea typeface="Calibri"/>
                          <a:cs typeface="Calibri"/>
                        </a:rPr>
                        <a:t>13 Result retention</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l"/>
                      <a:r>
                        <a:rPr sz="2325" b="0">
                          <a:solidFill>
                            <a:srgbClr val="33424D"/>
                          </a:solidFill>
                          <a:latin typeface="Calibri"/>
                          <a:ea typeface="Calibri"/>
                          <a:cs typeface="Calibri"/>
                        </a:rPr>
                        <a:t>10 seconds</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r>
              <a:tr h="533400">
                <a:tc>
                  <a:txBody>
                    <a:bodyPr lIns="0" tIns="0" rIns="0" bIns="0">
                      <a:noAutofit/>
                    </a:bodyPr>
                    <a:lstStyle/>
                    <a:p>
                      <a:pPr algn="l"/>
                      <a:r>
                        <a:rPr sz="2325" b="0">
                          <a:solidFill>
                            <a:srgbClr val="33424D"/>
                          </a:solidFill>
                          <a:latin typeface="Calibri"/>
                          <a:ea typeface="Calibri"/>
                          <a:cs typeface="Calibri"/>
                        </a:rPr>
                        <a:t>14 Admin purge</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l"/>
                      <a:r>
                        <a:rPr sz="2325" b="0">
                          <a:solidFill>
                            <a:srgbClr val="33424D"/>
                          </a:solidFill>
                          <a:latin typeface="Calibri"/>
                          <a:ea typeface="Calibri"/>
                          <a:cs typeface="Calibri"/>
                        </a:rPr>
                        <a:t>Local cleanup only</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r>
              <a:tr h="533400">
                <a:tc>
                  <a:txBody>
                    <a:bodyPr lIns="0" tIns="0" rIns="0" bIns="0">
                      <a:noAutofit/>
                    </a:bodyPr>
                    <a:lstStyle/>
                    <a:p>
                      <a:pPr algn="l"/>
                      <a:r>
                        <a:rPr sz="2325" b="0">
                          <a:solidFill>
                            <a:srgbClr val="33424D"/>
                          </a:solidFill>
                          <a:latin typeface="Calibri"/>
                          <a:ea typeface="Calibri"/>
                          <a:cs typeface="Calibri"/>
                        </a:rPr>
                        <a:t>15 Data destruction</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l"/>
                      <a:r>
                        <a:rPr sz="2325" b="0">
                          <a:solidFill>
                            <a:srgbClr val="33424D"/>
                          </a:solidFill>
                          <a:latin typeface="Calibri"/>
                          <a:ea typeface="Calibri"/>
                          <a:cs typeface="Calibri"/>
                        </a:rPr>
                        <a:t>Cloud retention unresolved</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r>
            </a:tbl>
          </a:graphicData>
        </a:graphic>
      </p:graphicFrame>
    </p:spTree>
    <p:extLst>
      <p:ext uri="{BB962C8B-B14F-4D97-AF65-F5344CB8AC3E}">
        <p14:creationId xmlns:p14="http://schemas.microsoft.com/office/powerpoint/2010/main" val="180319259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I. INTRODUCTION">
            <a:extLst xmlns:a="http://schemas.openxmlformats.org/drawingml/2006/main">
              <a:ext uri="{FF2B5EF4-FFF2-40B4-BE49-F238E27FC236}">
                <a16:creationId xmlns:a16="http://schemas.microsoft.com/office/drawing/2014/main" id="{9CBC7900-63CA-44F0-BDED-8D75E20D3433}"/>
              </a:ext>
            </a:extLst>
          </p:cNvPr>
          <p:cNvSpPr>
            <a:spLocks xmlns:a="http://schemas.openxmlformats.org/drawingml/2006/main" noGrp="1"/>
          </p:cNvSpPr>
          <p:nvPr/>
        </p:nvSpPr>
        <p:spPr>
          <a:xfrm xmlns:a="http://schemas.openxmlformats.org/drawingml/2006/main">
            <a:off x="342900" y="247650"/>
            <a:ext cx="8458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007F86"/>
                </a:solidFill>
                <a:latin typeface="Calibri"/>
                <a:ea typeface="Calibri"/>
                <a:cs typeface="Calibri"/>
              </a:defRPr>
            </a:defPPr>
          </a:lstStyle>
          <a:p xmlns:a="http://schemas.openxmlformats.org/drawingml/2006/main">
            <a:pPr algn="l">
              <a:defRPr sz="1275" b="1">
                <a:solidFill>
                  <a:srgbClr val="007F86"/>
                </a:solidFill>
                <a:latin typeface="Calibri"/>
                <a:ea typeface="Calibri"/>
                <a:cs typeface="Calibri"/>
              </a:defRPr>
            </a:pPr>
            <a:r>
              <a:rPr sz="1275" b="1">
                <a:solidFill>
                  <a:srgbClr val="007F86"/>
                </a:solidFill>
                <a:latin typeface="Calibri"/>
                <a:ea typeface="Calibri"/>
                <a:cs typeface="Calibri"/>
              </a:rPr>
              <a:t>I. INTRODUCTION</a:t>
            </a:r>
          </a:p>
        </p:txBody>
      </p:sp>
      <p:sp>
        <p:nvSpPr>
          <p:cNvPr id="2" name="Problem and Objectives">
            <a:extLst xmlns:a="http://schemas.openxmlformats.org/drawingml/2006/main">
              <a:ext uri="{FF2B5EF4-FFF2-40B4-BE49-F238E27FC236}">
                <a16:creationId xmlns:a16="http://schemas.microsoft.com/office/drawing/2014/main" id="{6C40EB8B-1488-46EF-81B7-A484B78AF12E}"/>
              </a:ext>
            </a:extLst>
          </p:cNvPr>
          <p:cNvSpPr>
            <a:spLocks xmlns:a="http://schemas.openxmlformats.org/drawingml/2006/main" noGrp="1"/>
          </p:cNvSpPr>
          <p:nvPr/>
        </p:nvSpPr>
        <p:spPr>
          <a:xfrm xmlns:a="http://schemas.openxmlformats.org/drawingml/2006/main">
            <a:off x="342900" y="619125"/>
            <a:ext cx="8458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42C45"/>
                </a:solidFill>
                <a:latin typeface="Calibri"/>
                <a:ea typeface="Calibri"/>
                <a:cs typeface="Calibri"/>
              </a:defRPr>
            </a:defPPr>
          </a:lstStyle>
          <a:p xmlns:a="http://schemas.openxmlformats.org/drawingml/2006/main">
            <a:pPr algn="l">
              <a:defRPr sz="3000" b="1">
                <a:solidFill>
                  <a:srgbClr val="142C45"/>
                </a:solidFill>
                <a:latin typeface="Calibri"/>
                <a:ea typeface="Calibri"/>
                <a:cs typeface="Calibri"/>
              </a:defRPr>
            </a:pPr>
            <a:r>
              <a:rPr sz="3000" b="1">
                <a:solidFill>
                  <a:srgbClr val="142C45"/>
                </a:solidFill>
                <a:latin typeface="Calibri"/>
                <a:ea typeface="Calibri"/>
                <a:cs typeface="Calibri"/>
              </a:rPr>
              <a:t>Problem and Objectives</a:t>
            </a:r>
          </a:p>
        </p:txBody>
      </p:sp>
      <p:sp>
        <p:nvSpPr>
          <p:cNvPr id="3" name="05 / 24">
            <a:extLst xmlns:a="http://schemas.openxmlformats.org/drawingml/2006/main">
              <a:ext uri="{FF2B5EF4-FFF2-40B4-BE49-F238E27FC236}">
                <a16:creationId xmlns:a16="http://schemas.microsoft.com/office/drawing/2014/main" id="{B9ECA377-2CA9-4A08-B354-06113CF87AE6}"/>
              </a:ext>
            </a:extLst>
          </p:cNvPr>
          <p:cNvSpPr>
            <a:spLocks xmlns:a="http://schemas.openxmlformats.org/drawingml/2006/main" noGrp="1"/>
          </p:cNvSpPr>
          <p:nvPr/>
        </p:nvSpPr>
        <p:spPr>
          <a:xfrm xmlns:a="http://schemas.openxmlformats.org/drawingml/2006/main">
            <a:off x="8172450" y="489585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607282"/>
                </a:solidFill>
                <a:latin typeface="Calibri"/>
                <a:ea typeface="Calibri"/>
                <a:cs typeface="Calibri"/>
              </a:defRPr>
            </a:defPPr>
          </a:lstStyle>
          <a:p xmlns:a="http://schemas.openxmlformats.org/drawingml/2006/main">
            <a:pPr algn="r">
              <a:defRPr sz="900" b="0">
                <a:solidFill>
                  <a:srgbClr val="607282"/>
                </a:solidFill>
                <a:latin typeface="Calibri"/>
                <a:ea typeface="Calibri"/>
                <a:cs typeface="Calibri"/>
              </a:defRPr>
            </a:pPr>
            <a:r>
              <a:rPr sz="900" b="0">
                <a:solidFill>
                  <a:srgbClr val="607282"/>
                </a:solidFill>
                <a:latin typeface="Calibri"/>
                <a:ea typeface="Calibri"/>
                <a:cs typeface="Calibri"/>
              </a:rPr>
              <a:t>05 / 24</a:t>
            </a:r>
          </a:p>
        </p:txBody>
      </p:sp>
      <p:sp>
        <p:nvSpPr>
          <p:cNvPr id="4" name="Paper attendance separates checks from records.">
            <a:extLst xmlns:a="http://schemas.openxmlformats.org/drawingml/2006/main">
              <a:ext uri="{FF2B5EF4-FFF2-40B4-BE49-F238E27FC236}">
                <a16:creationId xmlns:a16="http://schemas.microsoft.com/office/drawing/2014/main" id="{E2188DDB-90FF-4524-ADC2-71A3BFCF203B}"/>
              </a:ext>
            </a:extLst>
          </p:cNvPr>
          <p:cNvSpPr>
            <a:spLocks xmlns:a="http://schemas.openxmlformats.org/drawingml/2006/main" noGrp="1"/>
          </p:cNvSpPr>
          <p:nvPr/>
        </p:nvSpPr>
        <p:spPr>
          <a:xfrm xmlns:a="http://schemas.openxmlformats.org/drawingml/2006/main">
            <a:off x="342900" y="140017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33424D"/>
                </a:solidFill>
                <a:latin typeface="Calibri"/>
                <a:ea typeface="Calibri"/>
                <a:cs typeface="Calibri"/>
              </a:defRPr>
            </a:defPPr>
          </a:lstStyle>
          <a:p xmlns:a="http://schemas.openxmlformats.org/drawingml/2006/main">
            <a:pPr algn="l">
              <a:defRPr sz="2400" b="0">
                <a:solidFill>
                  <a:srgbClr val="33424D"/>
                </a:solidFill>
                <a:latin typeface="Calibri"/>
                <a:ea typeface="Calibri"/>
                <a:cs typeface="Calibri"/>
              </a:defRPr>
            </a:pPr>
            <a:r>
              <a:rPr sz="2400" b="0">
                <a:solidFill>
                  <a:srgbClr val="33424D"/>
                </a:solidFill>
                <a:latin typeface="Calibri"/>
                <a:ea typeface="Calibri"/>
                <a:cs typeface="Calibri"/>
              </a:rPr>
              <a:t>Paper attendance separates checks from records.</a:t>
            </a:r>
          </a:p>
        </p:txBody>
      </p:sp>
      <p:sp>
        <p:nvSpPr>
          <p:cNvPr id="5" name="Integrate credential checks with attendance records.">
            <a:extLst xmlns:a="http://schemas.openxmlformats.org/drawingml/2006/main">
              <a:ext uri="{FF2B5EF4-FFF2-40B4-BE49-F238E27FC236}">
                <a16:creationId xmlns:a16="http://schemas.microsoft.com/office/drawing/2014/main" id="{FF97FA9F-AF34-4480-9599-0973E7ADE65A}"/>
              </a:ext>
            </a:extLst>
          </p:cNvPr>
          <p:cNvSpPr>
            <a:spLocks xmlns:a="http://schemas.openxmlformats.org/drawingml/2006/main" noGrp="1"/>
          </p:cNvSpPr>
          <p:nvPr/>
        </p:nvSpPr>
        <p:spPr>
          <a:xfrm xmlns:a="http://schemas.openxmlformats.org/drawingml/2006/main">
            <a:off x="342900" y="191452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33424D"/>
                </a:solidFill>
                <a:latin typeface="Calibri"/>
                <a:ea typeface="Calibri"/>
                <a:cs typeface="Calibri"/>
              </a:defRPr>
            </a:defPPr>
          </a:lstStyle>
          <a:p xmlns:a="http://schemas.openxmlformats.org/drawingml/2006/main">
            <a:pPr algn="l">
              <a:defRPr sz="2400" b="0">
                <a:solidFill>
                  <a:srgbClr val="33424D"/>
                </a:solidFill>
                <a:latin typeface="Calibri"/>
                <a:ea typeface="Calibri"/>
                <a:cs typeface="Calibri"/>
              </a:defRPr>
            </a:pPr>
            <a:r>
              <a:rPr sz="2400" b="0">
                <a:solidFill>
                  <a:srgbClr val="33424D"/>
                </a:solidFill>
                <a:latin typeface="Calibri"/>
                <a:ea typeface="Calibri"/>
                <a:cs typeface="Calibri"/>
              </a:rPr>
              <a:t>Integrate credential checks with attendance records.</a:t>
            </a:r>
          </a:p>
        </p:txBody>
      </p:sp>
      <p:sp>
        <p:nvSpPr>
          <p:cNvPr id="6" name="Configure Fast, Standard, and High-Security modes.">
            <a:extLst xmlns:a="http://schemas.openxmlformats.org/drawingml/2006/main">
              <a:ext uri="{FF2B5EF4-FFF2-40B4-BE49-F238E27FC236}">
                <a16:creationId xmlns:a16="http://schemas.microsoft.com/office/drawing/2014/main" id="{977559B7-895D-4BB6-AE1C-689A4D293210}"/>
              </a:ext>
            </a:extLst>
          </p:cNvPr>
          <p:cNvSpPr>
            <a:spLocks xmlns:a="http://schemas.openxmlformats.org/drawingml/2006/main" noGrp="1"/>
          </p:cNvSpPr>
          <p:nvPr/>
        </p:nvSpPr>
        <p:spPr>
          <a:xfrm xmlns:a="http://schemas.openxmlformats.org/drawingml/2006/main">
            <a:off x="342900" y="242887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33424D"/>
                </a:solidFill>
                <a:latin typeface="Calibri"/>
                <a:ea typeface="Calibri"/>
                <a:cs typeface="Calibri"/>
              </a:defRPr>
            </a:defPPr>
          </a:lstStyle>
          <a:p xmlns:a="http://schemas.openxmlformats.org/drawingml/2006/main">
            <a:pPr algn="l">
              <a:defRPr sz="2400" b="0">
                <a:solidFill>
                  <a:srgbClr val="33424D"/>
                </a:solidFill>
                <a:latin typeface="Calibri"/>
                <a:ea typeface="Calibri"/>
                <a:cs typeface="Calibri"/>
              </a:defRPr>
            </a:pPr>
            <a:r>
              <a:rPr sz="2400" b="0">
                <a:solidFill>
                  <a:srgbClr val="33424D"/>
                </a:solidFill>
                <a:latin typeface="Calibri"/>
                <a:ea typeface="Calibri"/>
                <a:cs typeface="Calibri"/>
              </a:rPr>
              <a:t>Configure Fast, Standard, and High-Security modes.</a:t>
            </a:r>
          </a:p>
        </p:txBody>
      </p:sp>
      <p:sp>
        <p:nvSpPr>
          <p:cNvPr id="7" name="Handle entry, exit, and event eligibility.">
            <a:extLst xmlns:a="http://schemas.openxmlformats.org/drawingml/2006/main">
              <a:ext uri="{FF2B5EF4-FFF2-40B4-BE49-F238E27FC236}">
                <a16:creationId xmlns:a16="http://schemas.microsoft.com/office/drawing/2014/main" id="{DB23C13F-C465-4C04-B9C6-E18C4D3663A4}"/>
              </a:ext>
            </a:extLst>
          </p:cNvPr>
          <p:cNvSpPr>
            <a:spLocks xmlns:a="http://schemas.openxmlformats.org/drawingml/2006/main" noGrp="1"/>
          </p:cNvSpPr>
          <p:nvPr/>
        </p:nvSpPr>
        <p:spPr>
          <a:xfrm xmlns:a="http://schemas.openxmlformats.org/drawingml/2006/main">
            <a:off x="342900" y="294322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33424D"/>
                </a:solidFill>
                <a:latin typeface="Calibri"/>
                <a:ea typeface="Calibri"/>
                <a:cs typeface="Calibri"/>
              </a:defRPr>
            </a:defPPr>
          </a:lstStyle>
          <a:p xmlns:a="http://schemas.openxmlformats.org/drawingml/2006/main">
            <a:pPr algn="l">
              <a:defRPr sz="2400" b="0">
                <a:solidFill>
                  <a:srgbClr val="33424D"/>
                </a:solidFill>
                <a:latin typeface="Calibri"/>
                <a:ea typeface="Calibri"/>
                <a:cs typeface="Calibri"/>
              </a:defRPr>
            </a:pPr>
            <a:r>
              <a:rPr sz="2400" b="0">
                <a:solidFill>
                  <a:srgbClr val="33424D"/>
                </a:solidFill>
                <a:latin typeface="Calibri"/>
                <a:ea typeface="Calibri"/>
                <a:cs typeface="Calibri"/>
              </a:rPr>
              <a:t>Handle entry, exit, and event eligibility.</a:t>
            </a:r>
          </a:p>
        </p:txBody>
      </p:sp>
      <p:sp>
        <p:nvSpPr>
          <p:cNvPr id="8" name="Describe performance and perceived quality.">
            <a:extLst xmlns:a="http://schemas.openxmlformats.org/drawingml/2006/main">
              <a:ext uri="{FF2B5EF4-FFF2-40B4-BE49-F238E27FC236}">
                <a16:creationId xmlns:a16="http://schemas.microsoft.com/office/drawing/2014/main" id="{E45C0E6D-110C-4C3F-992D-E42DF24B1B3D}"/>
              </a:ext>
            </a:extLst>
          </p:cNvPr>
          <p:cNvSpPr>
            <a:spLocks xmlns:a="http://schemas.openxmlformats.org/drawingml/2006/main" noGrp="1"/>
          </p:cNvSpPr>
          <p:nvPr/>
        </p:nvSpPr>
        <p:spPr>
          <a:xfrm xmlns:a="http://schemas.openxmlformats.org/drawingml/2006/main">
            <a:off x="342900" y="345757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33424D"/>
                </a:solidFill>
                <a:latin typeface="Calibri"/>
                <a:ea typeface="Calibri"/>
                <a:cs typeface="Calibri"/>
              </a:defRPr>
            </a:defPPr>
          </a:lstStyle>
          <a:p xmlns:a="http://schemas.openxmlformats.org/drawingml/2006/main">
            <a:pPr algn="l">
              <a:defRPr sz="2400" b="0">
                <a:solidFill>
                  <a:srgbClr val="33424D"/>
                </a:solidFill>
                <a:latin typeface="Calibri"/>
                <a:ea typeface="Calibri"/>
                <a:cs typeface="Calibri"/>
              </a:defRPr>
            </a:pPr>
            <a:r>
              <a:rPr sz="2400" b="0">
                <a:solidFill>
                  <a:srgbClr val="33424D"/>
                </a:solidFill>
                <a:latin typeface="Calibri"/>
                <a:ea typeface="Calibri"/>
                <a:cs typeface="Calibri"/>
              </a:rPr>
              <a:t>Describe performance and perceived quality.</a:t>
            </a:r>
          </a:p>
        </p:txBody>
      </p:sp>
      <p:sp>
        <p:nvSpPr>
          <p:cNvPr id="9" name="Compare manual and system survey ratings.">
            <a:extLst xmlns:a="http://schemas.openxmlformats.org/drawingml/2006/main">
              <a:ext uri="{FF2B5EF4-FFF2-40B4-BE49-F238E27FC236}">
                <a16:creationId xmlns:a16="http://schemas.microsoft.com/office/drawing/2014/main" id="{DC23A25E-CB3B-4F10-A975-80686E6891DC}"/>
              </a:ext>
            </a:extLst>
          </p:cNvPr>
          <p:cNvSpPr>
            <a:spLocks xmlns:a="http://schemas.openxmlformats.org/drawingml/2006/main" noGrp="1"/>
          </p:cNvSpPr>
          <p:nvPr/>
        </p:nvSpPr>
        <p:spPr>
          <a:xfrm xmlns:a="http://schemas.openxmlformats.org/drawingml/2006/main">
            <a:off x="342900" y="397192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33424D"/>
                </a:solidFill>
                <a:latin typeface="Calibri"/>
                <a:ea typeface="Calibri"/>
                <a:cs typeface="Calibri"/>
              </a:defRPr>
            </a:defPPr>
          </a:lstStyle>
          <a:p xmlns:a="http://schemas.openxmlformats.org/drawingml/2006/main">
            <a:pPr algn="l">
              <a:defRPr sz="2400" b="0">
                <a:solidFill>
                  <a:srgbClr val="33424D"/>
                </a:solidFill>
                <a:latin typeface="Calibri"/>
                <a:ea typeface="Calibri"/>
                <a:cs typeface="Calibri"/>
              </a:defRPr>
            </a:pPr>
            <a:r>
              <a:rPr sz="2400" b="0">
                <a:solidFill>
                  <a:srgbClr val="33424D"/>
                </a:solidFill>
                <a:latin typeface="Calibri"/>
                <a:ea typeface="Calibri"/>
                <a:cs typeface="Calibri"/>
              </a:rPr>
              <a:t>Compare manual and system survey ratings.</a:t>
            </a:r>
          </a:p>
        </p:txBody>
      </p:sp>
    </p:spTree>
    <p:extLst>
      <p:ext uri="{BB962C8B-B14F-4D97-AF65-F5344CB8AC3E}">
        <p14:creationId xmlns:p14="http://schemas.microsoft.com/office/powerpoint/2010/main" val="120616912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I. INTRODUCTION">
            <a:extLst xmlns:a="http://schemas.openxmlformats.org/drawingml/2006/main">
              <a:ext uri="{FF2B5EF4-FFF2-40B4-BE49-F238E27FC236}">
                <a16:creationId xmlns:a16="http://schemas.microsoft.com/office/drawing/2014/main" id="{ECCB7CFB-9AB4-4078-862F-35EC9DC9563C}"/>
              </a:ext>
            </a:extLst>
          </p:cNvPr>
          <p:cNvSpPr>
            <a:spLocks xmlns:a="http://schemas.openxmlformats.org/drawingml/2006/main" noGrp="1"/>
          </p:cNvSpPr>
          <p:nvPr/>
        </p:nvSpPr>
        <p:spPr>
          <a:xfrm xmlns:a="http://schemas.openxmlformats.org/drawingml/2006/main">
            <a:off x="342900" y="247650"/>
            <a:ext cx="8458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007F86"/>
                </a:solidFill>
                <a:latin typeface="Calibri"/>
                <a:ea typeface="Calibri"/>
                <a:cs typeface="Calibri"/>
              </a:defRPr>
            </a:defPPr>
          </a:lstStyle>
          <a:p xmlns:a="http://schemas.openxmlformats.org/drawingml/2006/main">
            <a:pPr algn="l">
              <a:defRPr sz="1275" b="1">
                <a:solidFill>
                  <a:srgbClr val="007F86"/>
                </a:solidFill>
                <a:latin typeface="Calibri"/>
                <a:ea typeface="Calibri"/>
                <a:cs typeface="Calibri"/>
              </a:defRPr>
            </a:pPr>
            <a:r>
              <a:rPr sz="1275" b="1">
                <a:solidFill>
                  <a:srgbClr val="007F86"/>
                </a:solidFill>
                <a:latin typeface="Calibri"/>
                <a:ea typeface="Calibri"/>
                <a:cs typeface="Calibri"/>
              </a:rPr>
              <a:t>I. INTRODUCTION</a:t>
            </a:r>
          </a:p>
        </p:txBody>
      </p:sp>
      <p:sp>
        <p:nvSpPr>
          <p:cNvPr id="2" name="Configured Verification Modes">
            <a:extLst xmlns:a="http://schemas.openxmlformats.org/drawingml/2006/main">
              <a:ext uri="{FF2B5EF4-FFF2-40B4-BE49-F238E27FC236}">
                <a16:creationId xmlns:a16="http://schemas.microsoft.com/office/drawing/2014/main" id="{BC2FC586-A77D-4D85-A78D-ACDD59E58AFF}"/>
              </a:ext>
            </a:extLst>
          </p:cNvPr>
          <p:cNvSpPr>
            <a:spLocks xmlns:a="http://schemas.openxmlformats.org/drawingml/2006/main" noGrp="1"/>
          </p:cNvSpPr>
          <p:nvPr/>
        </p:nvSpPr>
        <p:spPr>
          <a:xfrm xmlns:a="http://schemas.openxmlformats.org/drawingml/2006/main">
            <a:off x="342900" y="619125"/>
            <a:ext cx="8458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42C45"/>
                </a:solidFill>
                <a:latin typeface="Calibri"/>
                <a:ea typeface="Calibri"/>
                <a:cs typeface="Calibri"/>
              </a:defRPr>
            </a:defPPr>
          </a:lstStyle>
          <a:p xmlns:a="http://schemas.openxmlformats.org/drawingml/2006/main">
            <a:pPr algn="l">
              <a:defRPr sz="3000" b="1">
                <a:solidFill>
                  <a:srgbClr val="142C45"/>
                </a:solidFill>
                <a:latin typeface="Calibri"/>
                <a:ea typeface="Calibri"/>
                <a:cs typeface="Calibri"/>
              </a:defRPr>
            </a:pPr>
            <a:r>
              <a:rPr sz="3000" b="1">
                <a:solidFill>
                  <a:srgbClr val="142C45"/>
                </a:solidFill>
                <a:latin typeface="Calibri"/>
                <a:ea typeface="Calibri"/>
                <a:cs typeface="Calibri"/>
              </a:rPr>
              <a:t>Configured Verification Modes</a:t>
            </a:r>
          </a:p>
        </p:txBody>
      </p:sp>
      <p:sp>
        <p:nvSpPr>
          <p:cNvPr id="3" name="06 / 24">
            <a:extLst xmlns:a="http://schemas.openxmlformats.org/drawingml/2006/main">
              <a:ext uri="{FF2B5EF4-FFF2-40B4-BE49-F238E27FC236}">
                <a16:creationId xmlns:a16="http://schemas.microsoft.com/office/drawing/2014/main" id="{809B61ED-9D7E-40CD-9DA0-0396A57E66C8}"/>
              </a:ext>
            </a:extLst>
          </p:cNvPr>
          <p:cNvSpPr>
            <a:spLocks xmlns:a="http://schemas.openxmlformats.org/drawingml/2006/main" noGrp="1"/>
          </p:cNvSpPr>
          <p:nvPr/>
        </p:nvSpPr>
        <p:spPr>
          <a:xfrm xmlns:a="http://schemas.openxmlformats.org/drawingml/2006/main">
            <a:off x="8172450" y="489585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607282"/>
                </a:solidFill>
                <a:latin typeface="Calibri"/>
                <a:ea typeface="Calibri"/>
                <a:cs typeface="Calibri"/>
              </a:defRPr>
            </a:defPPr>
          </a:lstStyle>
          <a:p xmlns:a="http://schemas.openxmlformats.org/drawingml/2006/main">
            <a:pPr algn="r">
              <a:defRPr sz="900" b="0">
                <a:solidFill>
                  <a:srgbClr val="607282"/>
                </a:solidFill>
                <a:latin typeface="Calibri"/>
                <a:ea typeface="Calibri"/>
                <a:cs typeface="Calibri"/>
              </a:defRPr>
            </a:pPr>
            <a:r>
              <a:rPr sz="900" b="0">
                <a:solidFill>
                  <a:srgbClr val="607282"/>
                </a:solidFill>
                <a:latin typeface="Calibri"/>
                <a:ea typeface="Calibri"/>
                <a:cs typeface="Calibri"/>
              </a:rPr>
              <a:t>06 / 24</a:t>
            </a:r>
          </a:p>
        </p:txBody>
      </p:sp>
      <p:graphicFrame>
        <p:nvGraphicFramePr>
          <p:cNvPr id="4" name="">
            <a:extLst xmlns:a="http://schemas.openxmlformats.org/drawingml/2006/main">
              <a:ext uri="{FF2B5EF4-FFF2-40B4-BE49-F238E27FC236}">
                <a16:creationId xmlns:a16="http://schemas.microsoft.com/office/drawing/2014/main" id="{DD6CEA74-2401-4D6D-B7CF-F735C60F4DFA}"/>
              </a:ext>
            </a:extLst>
          </p:cNvPr>
          <p:cNvGraphicFramePr/>
          <p:nvPr/>
        </p:nvGraphicFramePr>
        <p:xfrm>
          <a:off xmlns:a="http://schemas.openxmlformats.org/drawingml/2006/main" x="342900" y="1362075"/>
          <a:ext xmlns:a="http://schemas.openxmlformats.org/drawingml/2006/main" cx="8458200" cy="2133600"/>
        </p:xfrm>
        <a:graphic xmlns:a="http://schemas.openxmlformats.org/drawingml/2006/main">
          <a:graphicData uri="http://schemas.openxmlformats.org/drawingml/2006/table">
            <a:tbl>
              <a:tblPr/>
              <a:tblGrid>
                <a:gridCol w="3048000"/>
                <a:gridCol w="5410200"/>
              </a:tblGrid>
              <a:tr h="533400">
                <a:tc>
                  <a:txBody>
                    <a:bodyPr lIns="0" tIns="0" rIns="0" bIns="0">
                      <a:noAutofit/>
                    </a:bodyPr>
                    <a:lstStyle/>
                    <a:p>
                      <a:pPr algn="l"/>
                      <a:r>
                        <a:rPr sz="2400" b="1">
                          <a:solidFill>
                            <a:srgbClr val="FFFFFF"/>
                          </a:solidFill>
                          <a:latin typeface="Calibri"/>
                          <a:ea typeface="Calibri"/>
                          <a:cs typeface="Calibri"/>
                        </a:rPr>
                        <a:t>Mode</a:t>
                      </a:r>
                    </a:p>
                  </a:txBody>
                  <a:tcPr marL="95250" marR="95250" marT="47625" marB="47625" anchor="ctr">
                    <a:lnL w="6350">
                      <a:noFill/>
                      <a:prstDash val="solid"/>
                    </a:lnL>
                    <a:lnR w="6350">
                      <a:noFill/>
                      <a:prstDash val="solid"/>
                    </a:lnR>
                    <a:lnT w="6350">
                      <a:noFill/>
                      <a:prstDash val="solid"/>
                    </a:lnT>
                    <a:lnB w="6350">
                      <a:noFill/>
                      <a:prstDash val="solid"/>
                    </a:lnB>
                    <a:solidFill>
                      <a:srgbClr val="142C45"/>
                    </a:solidFill>
                  </a:tcPr>
                </a:tc>
                <a:tc>
                  <a:txBody>
                    <a:bodyPr lIns="0" tIns="0" rIns="0" bIns="0">
                      <a:noAutofit/>
                    </a:bodyPr>
                    <a:lstStyle/>
                    <a:p>
                      <a:pPr algn="l"/>
                      <a:r>
                        <a:rPr sz="2400" b="1">
                          <a:solidFill>
                            <a:srgbClr val="FFFFFF"/>
                          </a:solidFill>
                          <a:latin typeface="Calibri"/>
                          <a:ea typeface="Calibri"/>
                          <a:cs typeface="Calibri"/>
                        </a:rPr>
                        <a:t>Credentials</a:t>
                      </a:r>
                    </a:p>
                  </a:txBody>
                  <a:tcPr marL="95250" marR="95250" marT="47625" marB="47625" anchor="ctr">
                    <a:lnL w="6350">
                      <a:noFill/>
                      <a:prstDash val="solid"/>
                    </a:lnL>
                    <a:lnR w="6350">
                      <a:noFill/>
                      <a:prstDash val="solid"/>
                    </a:lnR>
                    <a:lnT w="6350">
                      <a:noFill/>
                      <a:prstDash val="solid"/>
                    </a:lnT>
                    <a:lnB w="6350">
                      <a:noFill/>
                      <a:prstDash val="solid"/>
                    </a:lnB>
                    <a:solidFill>
                      <a:srgbClr val="142C45"/>
                    </a:solidFill>
                  </a:tcPr>
                </a:tc>
              </a:tr>
              <a:tr h="533400">
                <a:tc>
                  <a:txBody>
                    <a:bodyPr lIns="0" tIns="0" rIns="0" bIns="0">
                      <a:noAutofit/>
                    </a:bodyPr>
                    <a:lstStyle/>
                    <a:p>
                      <a:pPr algn="l"/>
                      <a:r>
                        <a:rPr sz="2400" b="0">
                          <a:solidFill>
                            <a:srgbClr val="33424D"/>
                          </a:solidFill>
                          <a:latin typeface="Calibri"/>
                          <a:ea typeface="Calibri"/>
                          <a:cs typeface="Calibri"/>
                        </a:rPr>
                        <a:t>Fast</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l"/>
                      <a:r>
                        <a:rPr sz="2400" b="0">
                          <a:solidFill>
                            <a:srgbClr val="33424D"/>
                          </a:solidFill>
                          <a:latin typeface="Calibri"/>
                          <a:ea typeface="Calibri"/>
                          <a:cs typeface="Calibri"/>
                        </a:rPr>
                        <a:t>NFC</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r>
              <a:tr h="533400">
                <a:tc>
                  <a:txBody>
                    <a:bodyPr lIns="0" tIns="0" rIns="0" bIns="0">
                      <a:noAutofit/>
                    </a:bodyPr>
                    <a:lstStyle/>
                    <a:p>
                      <a:pPr algn="l"/>
                      <a:r>
                        <a:rPr sz="2400" b="0">
                          <a:solidFill>
                            <a:srgbClr val="33424D"/>
                          </a:solidFill>
                          <a:latin typeface="Calibri"/>
                          <a:ea typeface="Calibri"/>
                          <a:cs typeface="Calibri"/>
                        </a:rPr>
                        <a:t>Standard</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l"/>
                      <a:r>
                        <a:rPr sz="2400" b="0">
                          <a:solidFill>
                            <a:srgbClr val="33424D"/>
                          </a:solidFill>
                          <a:latin typeface="Calibri"/>
                          <a:ea typeface="Calibri"/>
                          <a:cs typeface="Calibri"/>
                        </a:rPr>
                        <a:t>NFC + PIN</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r>
              <a:tr h="533400">
                <a:tc>
                  <a:txBody>
                    <a:bodyPr lIns="0" tIns="0" rIns="0" bIns="0">
                      <a:noAutofit/>
                    </a:bodyPr>
                    <a:lstStyle/>
                    <a:p>
                      <a:pPr algn="l"/>
                      <a:r>
                        <a:rPr sz="2400" b="0">
                          <a:solidFill>
                            <a:srgbClr val="33424D"/>
                          </a:solidFill>
                          <a:latin typeface="Calibri"/>
                          <a:ea typeface="Calibri"/>
                          <a:cs typeface="Calibri"/>
                        </a:rPr>
                        <a:t>High-Security</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l"/>
                      <a:r>
                        <a:rPr sz="2400" b="0">
                          <a:solidFill>
                            <a:srgbClr val="33424D"/>
                          </a:solidFill>
                          <a:latin typeface="Calibri"/>
                          <a:ea typeface="Calibri"/>
                          <a:cs typeface="Calibri"/>
                        </a:rPr>
                        <a:t>NFC + PIN + QR</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r>
            </a:tbl>
          </a:graphicData>
        </a:graphic>
      </p:graphicFrame>
      <p:sp>
        <p:nvSpPr>
          <p:cNvPr id="5" name="Operators select the verification mode.">
            <a:extLst xmlns:a="http://schemas.openxmlformats.org/drawingml/2006/main">
              <a:ext uri="{FF2B5EF4-FFF2-40B4-BE49-F238E27FC236}">
                <a16:creationId xmlns:a16="http://schemas.microsoft.com/office/drawing/2014/main" id="{C2BB517F-F7A1-4679-9543-029160836DFC}"/>
              </a:ext>
            </a:extLst>
          </p:cNvPr>
          <p:cNvSpPr>
            <a:spLocks xmlns:a="http://schemas.openxmlformats.org/drawingml/2006/main" noGrp="1"/>
          </p:cNvSpPr>
          <p:nvPr/>
        </p:nvSpPr>
        <p:spPr>
          <a:xfrm xmlns:a="http://schemas.openxmlformats.org/drawingml/2006/main">
            <a:off x="342900" y="381952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33424D"/>
                </a:solidFill>
                <a:latin typeface="Calibri"/>
                <a:ea typeface="Calibri"/>
                <a:cs typeface="Calibri"/>
              </a:defRPr>
            </a:defPPr>
          </a:lstStyle>
          <a:p xmlns:a="http://schemas.openxmlformats.org/drawingml/2006/main">
            <a:pPr algn="l">
              <a:defRPr sz="2250" b="0">
                <a:solidFill>
                  <a:srgbClr val="33424D"/>
                </a:solidFill>
                <a:latin typeface="Calibri"/>
                <a:ea typeface="Calibri"/>
                <a:cs typeface="Calibri"/>
              </a:defRPr>
            </a:pPr>
            <a:r>
              <a:rPr sz="2250" b="0">
                <a:solidFill>
                  <a:srgbClr val="33424D"/>
                </a:solidFill>
                <a:latin typeface="Calibri"/>
                <a:ea typeface="Calibri"/>
                <a:cs typeface="Calibri"/>
              </a:rPr>
              <a:t>Operators select the verification mode.</a:t>
            </a:r>
          </a:p>
        </p:txBody>
      </p:sp>
      <p:sp>
        <p:nvSpPr>
          <p:cNvPr id="6" name="QR validates NFC-linked credential consistency.">
            <a:extLst xmlns:a="http://schemas.openxmlformats.org/drawingml/2006/main">
              <a:ext uri="{FF2B5EF4-FFF2-40B4-BE49-F238E27FC236}">
                <a16:creationId xmlns:a16="http://schemas.microsoft.com/office/drawing/2014/main" id="{DFBFB712-4208-4BA5-9C78-FE5E194CE26E}"/>
              </a:ext>
            </a:extLst>
          </p:cNvPr>
          <p:cNvSpPr>
            <a:spLocks xmlns:a="http://schemas.openxmlformats.org/drawingml/2006/main" noGrp="1"/>
          </p:cNvSpPr>
          <p:nvPr/>
        </p:nvSpPr>
        <p:spPr>
          <a:xfrm xmlns:a="http://schemas.openxmlformats.org/drawingml/2006/main">
            <a:off x="342900" y="427672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33424D"/>
                </a:solidFill>
                <a:latin typeface="Calibri"/>
                <a:ea typeface="Calibri"/>
                <a:cs typeface="Calibri"/>
              </a:defRPr>
            </a:defPPr>
          </a:lstStyle>
          <a:p xmlns:a="http://schemas.openxmlformats.org/drawingml/2006/main">
            <a:pPr algn="l">
              <a:defRPr sz="2250" b="0">
                <a:solidFill>
                  <a:srgbClr val="33424D"/>
                </a:solidFill>
                <a:latin typeface="Calibri"/>
                <a:ea typeface="Calibri"/>
                <a:cs typeface="Calibri"/>
              </a:defRPr>
            </a:pPr>
            <a:r>
              <a:rPr sz="2250" b="0">
                <a:solidFill>
                  <a:srgbClr val="33424D"/>
                </a:solidFill>
                <a:latin typeface="Calibri"/>
                <a:ea typeface="Calibri"/>
                <a:cs typeface="Calibri"/>
              </a:rPr>
              <a:t>QR validates NFC-linked credential consistency.</a:t>
            </a:r>
          </a:p>
        </p:txBody>
      </p:sp>
    </p:spTree>
    <p:extLst>
      <p:ext uri="{BB962C8B-B14F-4D97-AF65-F5344CB8AC3E}">
        <p14:creationId xmlns:p14="http://schemas.microsoft.com/office/powerpoint/2010/main" val="198225810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II. METHODOLOGY">
            <a:extLst xmlns:a="http://schemas.openxmlformats.org/drawingml/2006/main">
              <a:ext uri="{FF2B5EF4-FFF2-40B4-BE49-F238E27FC236}">
                <a16:creationId xmlns:a16="http://schemas.microsoft.com/office/drawing/2014/main" id="{81CF9D4B-7D0D-4B2F-AED2-0FBA60EB4A05}"/>
              </a:ext>
            </a:extLst>
          </p:cNvPr>
          <p:cNvSpPr>
            <a:spLocks xmlns:a="http://schemas.openxmlformats.org/drawingml/2006/main" noGrp="1"/>
          </p:cNvSpPr>
          <p:nvPr/>
        </p:nvSpPr>
        <p:spPr>
          <a:xfrm xmlns:a="http://schemas.openxmlformats.org/drawingml/2006/main">
            <a:off x="342900" y="247650"/>
            <a:ext cx="8458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007F86"/>
                </a:solidFill>
                <a:latin typeface="Calibri"/>
                <a:ea typeface="Calibri"/>
                <a:cs typeface="Calibri"/>
              </a:defRPr>
            </a:defPPr>
          </a:lstStyle>
          <a:p xmlns:a="http://schemas.openxmlformats.org/drawingml/2006/main">
            <a:pPr algn="l">
              <a:defRPr sz="1275" b="1">
                <a:solidFill>
                  <a:srgbClr val="007F86"/>
                </a:solidFill>
                <a:latin typeface="Calibri"/>
                <a:ea typeface="Calibri"/>
                <a:cs typeface="Calibri"/>
              </a:defRPr>
            </a:pPr>
            <a:r>
              <a:rPr sz="1275" b="1">
                <a:solidFill>
                  <a:srgbClr val="007F86"/>
                </a:solidFill>
                <a:latin typeface="Calibri"/>
                <a:ea typeface="Calibri"/>
                <a:cs typeface="Calibri"/>
              </a:rPr>
              <a:t>II. METHODOLOGY</a:t>
            </a:r>
          </a:p>
        </p:txBody>
      </p:sp>
      <p:sp>
        <p:nvSpPr>
          <p:cNvPr id="2" name="Research Design and Respondents">
            <a:extLst xmlns:a="http://schemas.openxmlformats.org/drawingml/2006/main">
              <a:ext uri="{FF2B5EF4-FFF2-40B4-BE49-F238E27FC236}">
                <a16:creationId xmlns:a16="http://schemas.microsoft.com/office/drawing/2014/main" id="{96F7C072-81A4-4CF6-9F74-A456758DDE9A}"/>
              </a:ext>
            </a:extLst>
          </p:cNvPr>
          <p:cNvSpPr>
            <a:spLocks xmlns:a="http://schemas.openxmlformats.org/drawingml/2006/main" noGrp="1"/>
          </p:cNvSpPr>
          <p:nvPr/>
        </p:nvSpPr>
        <p:spPr>
          <a:xfrm xmlns:a="http://schemas.openxmlformats.org/drawingml/2006/main">
            <a:off x="342900" y="619125"/>
            <a:ext cx="8458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42C45"/>
                </a:solidFill>
                <a:latin typeface="Calibri"/>
                <a:ea typeface="Calibri"/>
                <a:cs typeface="Calibri"/>
              </a:defRPr>
            </a:defPPr>
          </a:lstStyle>
          <a:p xmlns:a="http://schemas.openxmlformats.org/drawingml/2006/main">
            <a:pPr algn="l">
              <a:defRPr sz="3000" b="1">
                <a:solidFill>
                  <a:srgbClr val="142C45"/>
                </a:solidFill>
                <a:latin typeface="Calibri"/>
                <a:ea typeface="Calibri"/>
                <a:cs typeface="Calibri"/>
              </a:defRPr>
            </a:pPr>
            <a:r>
              <a:rPr sz="3000" b="1">
                <a:solidFill>
                  <a:srgbClr val="142C45"/>
                </a:solidFill>
                <a:latin typeface="Calibri"/>
                <a:ea typeface="Calibri"/>
                <a:cs typeface="Calibri"/>
              </a:rPr>
              <a:t>Research Design and Respondents</a:t>
            </a:r>
          </a:p>
        </p:txBody>
      </p:sp>
      <p:sp>
        <p:nvSpPr>
          <p:cNvPr id="3" name="07 / 24">
            <a:extLst xmlns:a="http://schemas.openxmlformats.org/drawingml/2006/main">
              <a:ext uri="{FF2B5EF4-FFF2-40B4-BE49-F238E27FC236}">
                <a16:creationId xmlns:a16="http://schemas.microsoft.com/office/drawing/2014/main" id="{A27C74EC-D39C-44ED-910F-90989539E511}"/>
              </a:ext>
            </a:extLst>
          </p:cNvPr>
          <p:cNvSpPr>
            <a:spLocks xmlns:a="http://schemas.openxmlformats.org/drawingml/2006/main" noGrp="1"/>
          </p:cNvSpPr>
          <p:nvPr/>
        </p:nvSpPr>
        <p:spPr>
          <a:xfrm xmlns:a="http://schemas.openxmlformats.org/drawingml/2006/main">
            <a:off x="8172450" y="489585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607282"/>
                </a:solidFill>
                <a:latin typeface="Calibri"/>
                <a:ea typeface="Calibri"/>
                <a:cs typeface="Calibri"/>
              </a:defRPr>
            </a:defPPr>
          </a:lstStyle>
          <a:p xmlns:a="http://schemas.openxmlformats.org/drawingml/2006/main">
            <a:pPr algn="r">
              <a:defRPr sz="900" b="0">
                <a:solidFill>
                  <a:srgbClr val="607282"/>
                </a:solidFill>
                <a:latin typeface="Calibri"/>
                <a:ea typeface="Calibri"/>
                <a:cs typeface="Calibri"/>
              </a:defRPr>
            </a:pPr>
            <a:r>
              <a:rPr sz="900" b="0">
                <a:solidFill>
                  <a:srgbClr val="607282"/>
                </a:solidFill>
                <a:latin typeface="Calibri"/>
                <a:ea typeface="Calibri"/>
                <a:cs typeface="Calibri"/>
              </a:rPr>
              <a:t>07 / 24</a:t>
            </a:r>
          </a:p>
        </p:txBody>
      </p:sp>
      <p:sp>
        <p:nvSpPr>
          <p:cNvPr id="4" name="Developmental, descriptive-evaluative research">
            <a:extLst xmlns:a="http://schemas.openxmlformats.org/drawingml/2006/main">
              <a:ext uri="{FF2B5EF4-FFF2-40B4-BE49-F238E27FC236}">
                <a16:creationId xmlns:a16="http://schemas.microsoft.com/office/drawing/2014/main" id="{A9FE0D2C-89F0-45A2-B67B-EE232C19B444}"/>
              </a:ext>
            </a:extLst>
          </p:cNvPr>
          <p:cNvSpPr>
            <a:spLocks xmlns:a="http://schemas.openxmlformats.org/drawingml/2006/main" noGrp="1"/>
          </p:cNvSpPr>
          <p:nvPr/>
        </p:nvSpPr>
        <p:spPr>
          <a:xfrm xmlns:a="http://schemas.openxmlformats.org/drawingml/2006/main">
            <a:off x="342900" y="1333500"/>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33424D"/>
                </a:solidFill>
                <a:latin typeface="Calibri"/>
                <a:ea typeface="Calibri"/>
                <a:cs typeface="Calibri"/>
              </a:defRPr>
            </a:defPPr>
          </a:lstStyle>
          <a:p xmlns:a="http://schemas.openxmlformats.org/drawingml/2006/main">
            <a:pPr algn="l">
              <a:defRPr sz="2325" b="0">
                <a:solidFill>
                  <a:srgbClr val="33424D"/>
                </a:solidFill>
                <a:latin typeface="Calibri"/>
                <a:ea typeface="Calibri"/>
                <a:cs typeface="Calibri"/>
              </a:defRPr>
            </a:pPr>
            <a:r>
              <a:rPr sz="2325" b="0">
                <a:solidFill>
                  <a:srgbClr val="33424D"/>
                </a:solidFill>
                <a:latin typeface="Calibri"/>
                <a:ea typeface="Calibri"/>
                <a:cs typeface="Calibri"/>
              </a:rPr>
              <a:t>Developmental, descriptive-evaluative research</a:t>
            </a:r>
          </a:p>
        </p:txBody>
      </p:sp>
      <p:sp>
        <p:nvSpPr>
          <p:cNvPr id="5" name="ISO/IEC 25010-based survey questionnaires">
            <a:extLst xmlns:a="http://schemas.openxmlformats.org/drawingml/2006/main">
              <a:ext uri="{FF2B5EF4-FFF2-40B4-BE49-F238E27FC236}">
                <a16:creationId xmlns:a16="http://schemas.microsoft.com/office/drawing/2014/main" id="{DF81F1D3-5699-496E-9152-FEF41219C3C6}"/>
              </a:ext>
            </a:extLst>
          </p:cNvPr>
          <p:cNvSpPr>
            <a:spLocks xmlns:a="http://schemas.openxmlformats.org/drawingml/2006/main" noGrp="1"/>
          </p:cNvSpPr>
          <p:nvPr/>
        </p:nvSpPr>
        <p:spPr>
          <a:xfrm xmlns:a="http://schemas.openxmlformats.org/drawingml/2006/main">
            <a:off x="342900" y="1790700"/>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33424D"/>
                </a:solidFill>
                <a:latin typeface="Calibri"/>
                <a:ea typeface="Calibri"/>
                <a:cs typeface="Calibri"/>
              </a:defRPr>
            </a:defPPr>
          </a:lstStyle>
          <a:p xmlns:a="http://schemas.openxmlformats.org/drawingml/2006/main">
            <a:pPr algn="l">
              <a:defRPr sz="2325" b="0">
                <a:solidFill>
                  <a:srgbClr val="33424D"/>
                </a:solidFill>
                <a:latin typeface="Calibri"/>
                <a:ea typeface="Calibri"/>
                <a:cs typeface="Calibri"/>
              </a:defRPr>
            </a:pPr>
            <a:r>
              <a:rPr sz="2325" b="0">
                <a:solidFill>
                  <a:srgbClr val="33424D"/>
                </a:solidFill>
                <a:latin typeface="Calibri"/>
                <a:ea typeface="Calibri"/>
                <a:cs typeface="Calibri"/>
              </a:rPr>
              <a:t>ISO/IEC 25010-based survey questionnaires</a:t>
            </a:r>
          </a:p>
        </p:txBody>
      </p:sp>
      <p:graphicFrame>
        <p:nvGraphicFramePr>
          <p:cNvPr id="6" name="">
            <a:extLst xmlns:a="http://schemas.openxmlformats.org/drawingml/2006/main">
              <a:ext uri="{FF2B5EF4-FFF2-40B4-BE49-F238E27FC236}">
                <a16:creationId xmlns:a16="http://schemas.microsoft.com/office/drawing/2014/main" id="{0FF7460C-9154-4A07-A863-9FD54E2E2884}"/>
              </a:ext>
            </a:extLst>
          </p:cNvPr>
          <p:cNvGraphicFramePr/>
          <p:nvPr/>
        </p:nvGraphicFramePr>
        <p:xfrm>
          <a:off xmlns:a="http://schemas.openxmlformats.org/drawingml/2006/main" x="342900" y="2371725"/>
          <a:ext xmlns:a="http://schemas.openxmlformats.org/drawingml/2006/main" cx="8458200" cy="2133600"/>
        </p:xfrm>
        <a:graphic xmlns:a="http://schemas.openxmlformats.org/drawingml/2006/main">
          <a:graphicData uri="http://schemas.openxmlformats.org/drawingml/2006/table">
            <a:tbl>
              <a:tblPr/>
              <a:tblGrid>
                <a:gridCol w="4933950"/>
                <a:gridCol w="3524250"/>
              </a:tblGrid>
              <a:tr h="533400">
                <a:tc>
                  <a:txBody>
                    <a:bodyPr lIns="0" tIns="0" rIns="0" bIns="0">
                      <a:noAutofit/>
                    </a:bodyPr>
                    <a:lstStyle/>
                    <a:p>
                      <a:pPr algn="l"/>
                      <a:r>
                        <a:rPr sz="2325" b="0">
                          <a:solidFill>
                            <a:srgbClr val="33424D"/>
                          </a:solidFill>
                          <a:latin typeface="Calibri"/>
                          <a:ea typeface="Calibri"/>
                          <a:cs typeface="Calibri"/>
                        </a:rPr>
                        <a:t>System students</a:t>
                      </a:r>
                    </a:p>
                  </a:txBody>
                  <a:tcPr marL="95250" marR="95250" marT="47625" marB="47625" anchor="ctr">
                    <a:lnL w="6350">
                      <a:noFill/>
                      <a:prstDash val="solid"/>
                    </a:lnL>
                    <a:lnR w="6350">
                      <a:noFill/>
                      <a:prstDash val="solid"/>
                    </a:lnR>
                    <a:lnT w="6350">
                      <a:noFill/>
                      <a:prstDash val="solid"/>
                    </a:lnT>
                    <a:lnB w="6350">
                      <a:noFill/>
                      <a:prstDash val="solid"/>
                    </a:lnB>
                    <a:solidFill>
                      <a:srgbClr val="F3F6F8"/>
                    </a:solidFill>
                  </a:tcPr>
                </a:tc>
                <a:tc>
                  <a:txBody>
                    <a:bodyPr lIns="0" tIns="0" rIns="0" bIns="0">
                      <a:noAutofit/>
                    </a:bodyPr>
                    <a:lstStyle/>
                    <a:p>
                      <a:pPr algn="l"/>
                      <a:r>
                        <a:rPr sz="2325" b="0">
                          <a:solidFill>
                            <a:srgbClr val="33424D"/>
                          </a:solidFill>
                          <a:latin typeface="Calibri"/>
                          <a:ea typeface="Calibri"/>
                          <a:cs typeface="Calibri"/>
                        </a:rPr>
                        <a:t>70</a:t>
                      </a:r>
                    </a:p>
                  </a:txBody>
                  <a:tcPr marL="95250" marR="95250" marT="47625" marB="47625" anchor="ctr">
                    <a:lnL w="6350">
                      <a:noFill/>
                      <a:prstDash val="solid"/>
                    </a:lnL>
                    <a:lnR w="6350">
                      <a:noFill/>
                      <a:prstDash val="solid"/>
                    </a:lnR>
                    <a:lnT w="6350">
                      <a:noFill/>
                      <a:prstDash val="solid"/>
                    </a:lnT>
                    <a:lnB w="6350">
                      <a:noFill/>
                      <a:prstDash val="solid"/>
                    </a:lnB>
                    <a:solidFill>
                      <a:srgbClr val="F3F6F8"/>
                    </a:solidFill>
                  </a:tcPr>
                </a:tc>
              </a:tr>
              <a:tr h="533400">
                <a:tc>
                  <a:txBody>
                    <a:bodyPr lIns="0" tIns="0" rIns="0" bIns="0">
                      <a:noAutofit/>
                    </a:bodyPr>
                    <a:lstStyle/>
                    <a:p>
                      <a:pPr algn="l"/>
                      <a:r>
                        <a:rPr sz="2325" b="0">
                          <a:solidFill>
                            <a:srgbClr val="33424D"/>
                          </a:solidFill>
                          <a:latin typeface="Calibri"/>
                          <a:ea typeface="Calibri"/>
                          <a:cs typeface="Calibri"/>
                        </a:rPr>
                        <a:t>Manual students</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l"/>
                      <a:r>
                        <a:rPr sz="2325" b="0">
                          <a:solidFill>
                            <a:srgbClr val="33424D"/>
                          </a:solidFill>
                          <a:latin typeface="Calibri"/>
                          <a:ea typeface="Calibri"/>
                          <a:cs typeface="Calibri"/>
                        </a:rPr>
                        <a:t>70, separate group</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r>
              <a:tr h="533400">
                <a:tc>
                  <a:txBody>
                    <a:bodyPr lIns="0" tIns="0" rIns="0" bIns="0">
                      <a:noAutofit/>
                    </a:bodyPr>
                    <a:lstStyle/>
                    <a:p>
                      <a:pPr algn="l"/>
                      <a:r>
                        <a:rPr sz="2325" b="0">
                          <a:solidFill>
                            <a:srgbClr val="33424D"/>
                          </a:solidFill>
                          <a:latin typeface="Calibri"/>
                          <a:ea typeface="Calibri"/>
                          <a:cs typeface="Calibri"/>
                        </a:rPr>
                        <a:t>Security personnel</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l"/>
                      <a:r>
                        <a:rPr sz="2325" b="0">
                          <a:solidFill>
                            <a:srgbClr val="33424D"/>
                          </a:solidFill>
                          <a:latin typeface="Calibri"/>
                          <a:ea typeface="Calibri"/>
                          <a:cs typeface="Calibri"/>
                        </a:rPr>
                        <a:t>5</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r>
              <a:tr h="533400">
                <a:tc>
                  <a:txBody>
                    <a:bodyPr lIns="0" tIns="0" rIns="0" bIns="0">
                      <a:noAutofit/>
                    </a:bodyPr>
                    <a:lstStyle/>
                    <a:p>
                      <a:pPr algn="l"/>
                      <a:r>
                        <a:rPr sz="2325" b="0">
                          <a:solidFill>
                            <a:srgbClr val="33424D"/>
                          </a:solidFill>
                          <a:latin typeface="Calibri"/>
                          <a:ea typeface="Calibri"/>
                          <a:cs typeface="Calibri"/>
                        </a:rPr>
                        <a:t>Faculty/organizer/admin</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l"/>
                      <a:r>
                        <a:rPr sz="2325" b="0">
                          <a:solidFill>
                            <a:srgbClr val="33424D"/>
                          </a:solidFill>
                          <a:latin typeface="Calibri"/>
                          <a:ea typeface="Calibri"/>
                          <a:cs typeface="Calibri"/>
                        </a:rPr>
                        <a:t>5</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r>
            </a:tbl>
          </a:graphicData>
        </a:graphic>
      </p:graphicFrame>
    </p:spTree>
    <p:extLst>
      <p:ext uri="{BB962C8B-B14F-4D97-AF65-F5344CB8AC3E}">
        <p14:creationId xmlns:p14="http://schemas.microsoft.com/office/powerpoint/2010/main" val="37944814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II. METHODOLOGY">
            <a:extLst xmlns:a="http://schemas.openxmlformats.org/drawingml/2006/main">
              <a:ext uri="{FF2B5EF4-FFF2-40B4-BE49-F238E27FC236}">
                <a16:creationId xmlns:a16="http://schemas.microsoft.com/office/drawing/2014/main" id="{3E068B21-21BB-4808-974F-FB904CA9D6F4}"/>
              </a:ext>
            </a:extLst>
          </p:cNvPr>
          <p:cNvSpPr>
            <a:spLocks xmlns:a="http://schemas.openxmlformats.org/drawingml/2006/main" noGrp="1"/>
          </p:cNvSpPr>
          <p:nvPr/>
        </p:nvSpPr>
        <p:spPr>
          <a:xfrm xmlns:a="http://schemas.openxmlformats.org/drawingml/2006/main">
            <a:off x="342900" y="247650"/>
            <a:ext cx="8458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007F86"/>
                </a:solidFill>
                <a:latin typeface="Calibri"/>
                <a:ea typeface="Calibri"/>
                <a:cs typeface="Calibri"/>
              </a:defRPr>
            </a:defPPr>
          </a:lstStyle>
          <a:p xmlns:a="http://schemas.openxmlformats.org/drawingml/2006/main">
            <a:pPr algn="l">
              <a:defRPr sz="1275" b="1">
                <a:solidFill>
                  <a:srgbClr val="007F86"/>
                </a:solidFill>
                <a:latin typeface="Calibri"/>
                <a:ea typeface="Calibri"/>
                <a:cs typeface="Calibri"/>
              </a:defRPr>
            </a:pPr>
            <a:r>
              <a:rPr sz="1275" b="1">
                <a:solidFill>
                  <a:srgbClr val="007F86"/>
                </a:solidFill>
                <a:latin typeface="Calibri"/>
                <a:ea typeface="Calibri"/>
                <a:cs typeface="Calibri"/>
              </a:rPr>
              <a:t>II. METHODOLOGY</a:t>
            </a:r>
          </a:p>
        </p:txBody>
      </p:sp>
      <p:sp>
        <p:nvSpPr>
          <p:cNvPr id="2" name="Controlled Observation">
            <a:extLst xmlns:a="http://schemas.openxmlformats.org/drawingml/2006/main">
              <a:ext uri="{FF2B5EF4-FFF2-40B4-BE49-F238E27FC236}">
                <a16:creationId xmlns:a16="http://schemas.microsoft.com/office/drawing/2014/main" id="{64D89B90-A1CE-4A5A-92A8-6F27FE10DE24}"/>
              </a:ext>
            </a:extLst>
          </p:cNvPr>
          <p:cNvSpPr>
            <a:spLocks xmlns:a="http://schemas.openxmlformats.org/drawingml/2006/main" noGrp="1"/>
          </p:cNvSpPr>
          <p:nvPr/>
        </p:nvSpPr>
        <p:spPr>
          <a:xfrm xmlns:a="http://schemas.openxmlformats.org/drawingml/2006/main">
            <a:off x="342900" y="619125"/>
            <a:ext cx="8458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42C45"/>
                </a:solidFill>
                <a:latin typeface="Calibri"/>
                <a:ea typeface="Calibri"/>
                <a:cs typeface="Calibri"/>
              </a:defRPr>
            </a:defPPr>
          </a:lstStyle>
          <a:p xmlns:a="http://schemas.openxmlformats.org/drawingml/2006/main">
            <a:pPr algn="l">
              <a:defRPr sz="3000" b="1">
                <a:solidFill>
                  <a:srgbClr val="142C45"/>
                </a:solidFill>
                <a:latin typeface="Calibri"/>
                <a:ea typeface="Calibri"/>
                <a:cs typeface="Calibri"/>
              </a:defRPr>
            </a:pPr>
            <a:r>
              <a:rPr sz="3000" b="1">
                <a:solidFill>
                  <a:srgbClr val="142C45"/>
                </a:solidFill>
                <a:latin typeface="Calibri"/>
                <a:ea typeface="Calibri"/>
                <a:cs typeface="Calibri"/>
              </a:rPr>
              <a:t>Controlled Observation</a:t>
            </a:r>
          </a:p>
        </p:txBody>
      </p:sp>
      <p:sp>
        <p:nvSpPr>
          <p:cNvPr id="3" name="08 / 24">
            <a:extLst xmlns:a="http://schemas.openxmlformats.org/drawingml/2006/main">
              <a:ext uri="{FF2B5EF4-FFF2-40B4-BE49-F238E27FC236}">
                <a16:creationId xmlns:a16="http://schemas.microsoft.com/office/drawing/2014/main" id="{EBBC92ED-134C-44B9-9B7D-900E11BCE674}"/>
              </a:ext>
            </a:extLst>
          </p:cNvPr>
          <p:cNvSpPr>
            <a:spLocks xmlns:a="http://schemas.openxmlformats.org/drawingml/2006/main" noGrp="1"/>
          </p:cNvSpPr>
          <p:nvPr/>
        </p:nvSpPr>
        <p:spPr>
          <a:xfrm xmlns:a="http://schemas.openxmlformats.org/drawingml/2006/main">
            <a:off x="8172450" y="489585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607282"/>
                </a:solidFill>
                <a:latin typeface="Calibri"/>
                <a:ea typeface="Calibri"/>
                <a:cs typeface="Calibri"/>
              </a:defRPr>
            </a:defPPr>
          </a:lstStyle>
          <a:p xmlns:a="http://schemas.openxmlformats.org/drawingml/2006/main">
            <a:pPr algn="r">
              <a:defRPr sz="900" b="0">
                <a:solidFill>
                  <a:srgbClr val="607282"/>
                </a:solidFill>
                <a:latin typeface="Calibri"/>
                <a:ea typeface="Calibri"/>
                <a:cs typeface="Calibri"/>
              </a:defRPr>
            </a:pPr>
            <a:r>
              <a:rPr sz="900" b="0">
                <a:solidFill>
                  <a:srgbClr val="607282"/>
                </a:solidFill>
                <a:latin typeface="Calibri"/>
                <a:ea typeface="Calibri"/>
                <a:cs typeface="Calibri"/>
              </a:rPr>
              <a:t>08 / 24</a:t>
            </a:r>
          </a:p>
        </p:txBody>
      </p:sp>
      <p:graphicFrame>
        <p:nvGraphicFramePr>
          <p:cNvPr id="4" name="">
            <a:extLst xmlns:a="http://schemas.openxmlformats.org/drawingml/2006/main">
              <a:ext uri="{FF2B5EF4-FFF2-40B4-BE49-F238E27FC236}">
                <a16:creationId xmlns:a16="http://schemas.microsoft.com/office/drawing/2014/main" id="{7614F0ED-F456-460A-BDC3-6A89909663CE}"/>
              </a:ext>
            </a:extLst>
          </p:cNvPr>
          <p:cNvGraphicFramePr/>
          <p:nvPr/>
        </p:nvGraphicFramePr>
        <p:xfrm>
          <a:off xmlns:a="http://schemas.openxmlformats.org/drawingml/2006/main" x="342900" y="1362075"/>
          <a:ext xmlns:a="http://schemas.openxmlformats.org/drawingml/2006/main" cx="8458200" cy="1657350"/>
        </p:xfrm>
        <a:graphic xmlns:a="http://schemas.openxmlformats.org/drawingml/2006/main">
          <a:graphicData uri="http://schemas.openxmlformats.org/drawingml/2006/table">
            <a:tbl>
              <a:tblPr/>
              <a:tblGrid>
                <a:gridCol w="2428875"/>
                <a:gridCol w="1952625"/>
                <a:gridCol w="4076700"/>
              </a:tblGrid>
              <a:tr h="552450">
                <a:tc>
                  <a:txBody>
                    <a:bodyPr lIns="0" tIns="0" rIns="0" bIns="0">
                      <a:noAutofit/>
                    </a:bodyPr>
                    <a:lstStyle/>
                    <a:p>
                      <a:pPr algn="l"/>
                      <a:r>
                        <a:rPr sz="2325" b="1">
                          <a:solidFill>
                            <a:srgbClr val="FFFFFF"/>
                          </a:solidFill>
                          <a:latin typeface="Calibri"/>
                          <a:ea typeface="Calibri"/>
                          <a:cs typeface="Calibri"/>
                        </a:rPr>
                        <a:t>Batch</a:t>
                      </a:r>
                    </a:p>
                  </a:txBody>
                  <a:tcPr marL="95250" marR="95250" marT="47625" marB="47625" anchor="ctr">
                    <a:lnL w="6350">
                      <a:noFill/>
                      <a:prstDash val="solid"/>
                    </a:lnL>
                    <a:lnR w="6350">
                      <a:noFill/>
                      <a:prstDash val="solid"/>
                    </a:lnR>
                    <a:lnT w="6350">
                      <a:noFill/>
                      <a:prstDash val="solid"/>
                    </a:lnT>
                    <a:lnB w="6350">
                      <a:noFill/>
                      <a:prstDash val="solid"/>
                    </a:lnB>
                    <a:solidFill>
                      <a:srgbClr val="142C45"/>
                    </a:solidFill>
                  </a:tcPr>
                </a:tc>
                <a:tc>
                  <a:txBody>
                    <a:bodyPr lIns="0" tIns="0" rIns="0" bIns="0">
                      <a:noAutofit/>
                    </a:bodyPr>
                    <a:lstStyle/>
                    <a:p>
                      <a:pPr algn="ctr"/>
                      <a:r>
                        <a:rPr sz="2325" b="1">
                          <a:solidFill>
                            <a:srgbClr val="FFFFFF"/>
                          </a:solidFill>
                          <a:latin typeface="Calibri"/>
                          <a:ea typeface="Calibri"/>
                          <a:cs typeface="Calibri"/>
                        </a:rPr>
                        <a:t>Students</a:t>
                      </a:r>
                    </a:p>
                  </a:txBody>
                  <a:tcPr marL="95250" marR="95250" marT="47625" marB="47625" anchor="ctr">
                    <a:lnL w="6350">
                      <a:noFill/>
                      <a:prstDash val="solid"/>
                    </a:lnL>
                    <a:lnR w="6350">
                      <a:noFill/>
                      <a:prstDash val="solid"/>
                    </a:lnR>
                    <a:lnT w="6350">
                      <a:noFill/>
                      <a:prstDash val="solid"/>
                    </a:lnT>
                    <a:lnB w="6350">
                      <a:noFill/>
                      <a:prstDash val="solid"/>
                    </a:lnB>
                    <a:solidFill>
                      <a:srgbClr val="142C45"/>
                    </a:solidFill>
                  </a:tcPr>
                </a:tc>
                <a:tc>
                  <a:txBody>
                    <a:bodyPr lIns="0" tIns="0" rIns="0" bIns="0">
                      <a:noAutofit/>
                    </a:bodyPr>
                    <a:lstStyle/>
                    <a:p>
                      <a:pPr algn="ctr"/>
                      <a:r>
                        <a:rPr sz="2325" b="1">
                          <a:solidFill>
                            <a:srgbClr val="FFFFFF"/>
                          </a:solidFill>
                          <a:latin typeface="Calibri"/>
                          <a:ea typeface="Calibri"/>
                          <a:cs typeface="Calibri"/>
                        </a:rPr>
                        <a:t>Rounds per mode</a:t>
                      </a:r>
                    </a:p>
                  </a:txBody>
                  <a:tcPr marL="95250" marR="95250" marT="47625" marB="47625" anchor="ctr">
                    <a:lnL w="6350">
                      <a:noFill/>
                      <a:prstDash val="solid"/>
                    </a:lnL>
                    <a:lnR w="6350">
                      <a:noFill/>
                      <a:prstDash val="solid"/>
                    </a:lnR>
                    <a:lnT w="6350">
                      <a:noFill/>
                      <a:prstDash val="solid"/>
                    </a:lnT>
                    <a:lnB w="6350">
                      <a:noFill/>
                      <a:prstDash val="solid"/>
                    </a:lnB>
                    <a:solidFill>
                      <a:srgbClr val="142C45"/>
                    </a:solidFill>
                  </a:tcPr>
                </a:tc>
              </a:tr>
              <a:tr h="552450">
                <a:tc>
                  <a:txBody>
                    <a:bodyPr lIns="0" tIns="0" rIns="0" bIns="0">
                      <a:noAutofit/>
                    </a:bodyPr>
                    <a:lstStyle/>
                    <a:p>
                      <a:pPr algn="l"/>
                      <a:r>
                        <a:rPr sz="2325" b="0">
                          <a:solidFill>
                            <a:srgbClr val="33424D"/>
                          </a:solidFill>
                          <a:latin typeface="Calibri"/>
                          <a:ea typeface="Calibri"/>
                          <a:cs typeface="Calibri"/>
                        </a:rPr>
                        <a:t>Aug 12</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r>
                        <a:rPr sz="2325" b="0">
                          <a:solidFill>
                            <a:srgbClr val="33424D"/>
                          </a:solidFill>
                          <a:latin typeface="Calibri"/>
                          <a:ea typeface="Calibri"/>
                          <a:cs typeface="Calibri"/>
                        </a:rPr>
                        <a:t>40</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r>
                        <a:rPr sz="2325" b="0">
                          <a:solidFill>
                            <a:srgbClr val="33424D"/>
                          </a:solidFill>
                          <a:latin typeface="Calibri"/>
                          <a:ea typeface="Calibri"/>
                          <a:cs typeface="Calibri"/>
                        </a:rPr>
                        <a:t>20 + 20</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r>
              <a:tr h="552450">
                <a:tc>
                  <a:txBody>
                    <a:bodyPr lIns="0" tIns="0" rIns="0" bIns="0">
                      <a:noAutofit/>
                    </a:bodyPr>
                    <a:lstStyle/>
                    <a:p>
                      <a:pPr algn="l"/>
                      <a:r>
                        <a:rPr sz="2325" b="0">
                          <a:solidFill>
                            <a:srgbClr val="33424D"/>
                          </a:solidFill>
                          <a:latin typeface="Calibri"/>
                          <a:ea typeface="Calibri"/>
                          <a:cs typeface="Calibri"/>
                        </a:rPr>
                        <a:t>Aug 13</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ctr"/>
                      <a:r>
                        <a:rPr sz="2325" b="0">
                          <a:solidFill>
                            <a:srgbClr val="33424D"/>
                          </a:solidFill>
                          <a:latin typeface="Calibri"/>
                          <a:ea typeface="Calibri"/>
                          <a:cs typeface="Calibri"/>
                        </a:rPr>
                        <a:t>30</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ctr"/>
                      <a:r>
                        <a:rPr sz="2325" b="0">
                          <a:solidFill>
                            <a:srgbClr val="33424D"/>
                          </a:solidFill>
                          <a:latin typeface="Calibri"/>
                          <a:ea typeface="Calibri"/>
                          <a:cs typeface="Calibri"/>
                        </a:rPr>
                        <a:t>20 + 10</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r>
            </a:tbl>
          </a:graphicData>
        </a:graphic>
      </p:graphicFrame>
      <p:sp>
        <p:nvSpPr>
          <p:cNvPr id="5" name="70 participants completed all three modes.">
            <a:extLst xmlns:a="http://schemas.openxmlformats.org/drawingml/2006/main">
              <a:ext uri="{FF2B5EF4-FFF2-40B4-BE49-F238E27FC236}">
                <a16:creationId xmlns:a16="http://schemas.microsoft.com/office/drawing/2014/main" id="{E688C851-B16D-4C95-B486-E45D8A92BAB7}"/>
              </a:ext>
            </a:extLst>
          </p:cNvPr>
          <p:cNvSpPr>
            <a:spLocks xmlns:a="http://schemas.openxmlformats.org/drawingml/2006/main" noGrp="1"/>
          </p:cNvSpPr>
          <p:nvPr/>
        </p:nvSpPr>
        <p:spPr>
          <a:xfrm xmlns:a="http://schemas.openxmlformats.org/drawingml/2006/main">
            <a:off x="342900" y="334327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33424D"/>
                </a:solidFill>
                <a:latin typeface="Calibri"/>
                <a:ea typeface="Calibri"/>
                <a:cs typeface="Calibri"/>
              </a:defRPr>
            </a:defPPr>
          </a:lstStyle>
          <a:p xmlns:a="http://schemas.openxmlformats.org/drawingml/2006/main">
            <a:pPr algn="l">
              <a:defRPr sz="2250" b="0">
                <a:solidFill>
                  <a:srgbClr val="33424D"/>
                </a:solidFill>
                <a:latin typeface="Calibri"/>
                <a:ea typeface="Calibri"/>
                <a:cs typeface="Calibri"/>
              </a:defRPr>
            </a:pPr>
            <a:r>
              <a:rPr sz="2250" b="0">
                <a:solidFill>
                  <a:srgbClr val="33424D"/>
                </a:solidFill>
                <a:latin typeface="Calibri"/>
                <a:ea typeface="Calibri"/>
                <a:cs typeface="Calibri"/>
              </a:rPr>
              <a:t>70 participants completed all three modes.</a:t>
            </a:r>
          </a:p>
        </p:txBody>
      </p:sp>
      <p:sp>
        <p:nvSpPr>
          <p:cNvPr id="6" name="20 cards reused after reset exits.">
            <a:extLst xmlns:a="http://schemas.openxmlformats.org/drawingml/2006/main">
              <a:ext uri="{FF2B5EF4-FFF2-40B4-BE49-F238E27FC236}">
                <a16:creationId xmlns:a16="http://schemas.microsoft.com/office/drawing/2014/main" id="{57669A99-9174-4F36-92AD-A49783F7AF6D}"/>
              </a:ext>
            </a:extLst>
          </p:cNvPr>
          <p:cNvSpPr>
            <a:spLocks xmlns:a="http://schemas.openxmlformats.org/drawingml/2006/main" noGrp="1"/>
          </p:cNvSpPr>
          <p:nvPr/>
        </p:nvSpPr>
        <p:spPr>
          <a:xfrm xmlns:a="http://schemas.openxmlformats.org/drawingml/2006/main">
            <a:off x="342900" y="3810000"/>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33424D"/>
                </a:solidFill>
                <a:latin typeface="Calibri"/>
                <a:ea typeface="Calibri"/>
                <a:cs typeface="Calibri"/>
              </a:defRPr>
            </a:defPPr>
          </a:lstStyle>
          <a:p xmlns:a="http://schemas.openxmlformats.org/drawingml/2006/main">
            <a:pPr algn="l">
              <a:defRPr sz="2250" b="0">
                <a:solidFill>
                  <a:srgbClr val="33424D"/>
                </a:solidFill>
                <a:latin typeface="Calibri"/>
                <a:ea typeface="Calibri"/>
                <a:cs typeface="Calibri"/>
              </a:defRPr>
            </a:pPr>
            <a:r>
              <a:rPr sz="2250" b="0">
                <a:solidFill>
                  <a:srgbClr val="33424D"/>
                </a:solidFill>
                <a:latin typeface="Calibri"/>
                <a:ea typeface="Calibri"/>
                <a:cs typeface="Calibri"/>
              </a:rPr>
              <a:t>20 cards reused after reset exits.</a:t>
            </a:r>
          </a:p>
        </p:txBody>
      </p:sp>
      <p:sp>
        <p:nvSpPr>
          <p:cNvPr id="7" name="Fixed order: Fast, Standard, High-Security.">
            <a:extLst xmlns:a="http://schemas.openxmlformats.org/drawingml/2006/main">
              <a:ext uri="{FF2B5EF4-FFF2-40B4-BE49-F238E27FC236}">
                <a16:creationId xmlns:a16="http://schemas.microsoft.com/office/drawing/2014/main" id="{31F548CA-78B7-4E92-8A02-5C645E882DCA}"/>
              </a:ext>
            </a:extLst>
          </p:cNvPr>
          <p:cNvSpPr>
            <a:spLocks xmlns:a="http://schemas.openxmlformats.org/drawingml/2006/main" noGrp="1"/>
          </p:cNvSpPr>
          <p:nvPr/>
        </p:nvSpPr>
        <p:spPr>
          <a:xfrm xmlns:a="http://schemas.openxmlformats.org/drawingml/2006/main">
            <a:off x="342900" y="427672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33424D"/>
                </a:solidFill>
                <a:latin typeface="Calibri"/>
                <a:ea typeface="Calibri"/>
                <a:cs typeface="Calibri"/>
              </a:defRPr>
            </a:defPPr>
          </a:lstStyle>
          <a:p xmlns:a="http://schemas.openxmlformats.org/drawingml/2006/main">
            <a:pPr algn="l">
              <a:defRPr sz="2250" b="0">
                <a:solidFill>
                  <a:srgbClr val="33424D"/>
                </a:solidFill>
                <a:latin typeface="Calibri"/>
                <a:ea typeface="Calibri"/>
                <a:cs typeface="Calibri"/>
              </a:defRPr>
            </a:pPr>
            <a:r>
              <a:rPr sz="2250" b="0">
                <a:solidFill>
                  <a:srgbClr val="33424D"/>
                </a:solidFill>
                <a:latin typeface="Calibri"/>
                <a:ea typeface="Calibri"/>
                <a:cs typeface="Calibri"/>
              </a:rPr>
              <a:t>Fixed order: Fast, Standard, High-Security.</a:t>
            </a:r>
          </a:p>
        </p:txBody>
      </p:sp>
    </p:spTree>
    <p:extLst>
      <p:ext uri="{BB962C8B-B14F-4D97-AF65-F5344CB8AC3E}">
        <p14:creationId xmlns:p14="http://schemas.microsoft.com/office/powerpoint/2010/main" val="10684666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II. METHODOLOGY">
            <a:extLst xmlns:a="http://schemas.openxmlformats.org/drawingml/2006/main">
              <a:ext uri="{FF2B5EF4-FFF2-40B4-BE49-F238E27FC236}">
                <a16:creationId xmlns:a16="http://schemas.microsoft.com/office/drawing/2014/main" id="{73771E1F-D510-4F97-845A-397F704AEAB6}"/>
              </a:ext>
            </a:extLst>
          </p:cNvPr>
          <p:cNvSpPr>
            <a:spLocks xmlns:a="http://schemas.openxmlformats.org/drawingml/2006/main" noGrp="1"/>
          </p:cNvSpPr>
          <p:nvPr/>
        </p:nvSpPr>
        <p:spPr>
          <a:xfrm xmlns:a="http://schemas.openxmlformats.org/drawingml/2006/main">
            <a:off x="342900" y="247650"/>
            <a:ext cx="8458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007F86"/>
                </a:solidFill>
                <a:latin typeface="Calibri"/>
                <a:ea typeface="Calibri"/>
                <a:cs typeface="Calibri"/>
              </a:defRPr>
            </a:defPPr>
          </a:lstStyle>
          <a:p xmlns:a="http://schemas.openxmlformats.org/drawingml/2006/main">
            <a:pPr algn="l">
              <a:defRPr sz="1275" b="1">
                <a:solidFill>
                  <a:srgbClr val="007F86"/>
                </a:solidFill>
                <a:latin typeface="Calibri"/>
                <a:ea typeface="Calibri"/>
                <a:cs typeface="Calibri"/>
              </a:defRPr>
            </a:pPr>
            <a:r>
              <a:rPr sz="1275" b="1">
                <a:solidFill>
                  <a:srgbClr val="007F86"/>
                </a:solidFill>
                <a:latin typeface="Calibri"/>
                <a:ea typeface="Calibri"/>
                <a:cs typeface="Calibri"/>
              </a:rPr>
              <a:t>II. METHODOLOGY</a:t>
            </a:r>
          </a:p>
        </p:txBody>
      </p:sp>
      <p:sp>
        <p:nvSpPr>
          <p:cNvPr id="2" name="System Architecture">
            <a:extLst xmlns:a="http://schemas.openxmlformats.org/drawingml/2006/main">
              <a:ext uri="{FF2B5EF4-FFF2-40B4-BE49-F238E27FC236}">
                <a16:creationId xmlns:a16="http://schemas.microsoft.com/office/drawing/2014/main" id="{CB037C25-B7E7-4889-B54D-253DEEEFE78D}"/>
              </a:ext>
            </a:extLst>
          </p:cNvPr>
          <p:cNvSpPr>
            <a:spLocks xmlns:a="http://schemas.openxmlformats.org/drawingml/2006/main" noGrp="1"/>
          </p:cNvSpPr>
          <p:nvPr/>
        </p:nvSpPr>
        <p:spPr>
          <a:xfrm xmlns:a="http://schemas.openxmlformats.org/drawingml/2006/main">
            <a:off x="342900" y="619125"/>
            <a:ext cx="8458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42C45"/>
                </a:solidFill>
                <a:latin typeface="Calibri"/>
                <a:ea typeface="Calibri"/>
                <a:cs typeface="Calibri"/>
              </a:defRPr>
            </a:defPPr>
          </a:lstStyle>
          <a:p xmlns:a="http://schemas.openxmlformats.org/drawingml/2006/main">
            <a:pPr algn="l">
              <a:defRPr sz="3000" b="1">
                <a:solidFill>
                  <a:srgbClr val="142C45"/>
                </a:solidFill>
                <a:latin typeface="Calibri"/>
                <a:ea typeface="Calibri"/>
                <a:cs typeface="Calibri"/>
              </a:defRPr>
            </a:pPr>
            <a:r>
              <a:rPr sz="3000" b="1">
                <a:solidFill>
                  <a:srgbClr val="142C45"/>
                </a:solidFill>
                <a:latin typeface="Calibri"/>
                <a:ea typeface="Calibri"/>
                <a:cs typeface="Calibri"/>
              </a:rPr>
              <a:t>System Architecture</a:t>
            </a:r>
          </a:p>
        </p:txBody>
      </p:sp>
      <p:sp>
        <p:nvSpPr>
          <p:cNvPr id="3" name="09 / 24">
            <a:extLst xmlns:a="http://schemas.openxmlformats.org/drawingml/2006/main">
              <a:ext uri="{FF2B5EF4-FFF2-40B4-BE49-F238E27FC236}">
                <a16:creationId xmlns:a16="http://schemas.microsoft.com/office/drawing/2014/main" id="{8547E3FF-53AB-4ADC-A911-D3927289E169}"/>
              </a:ext>
            </a:extLst>
          </p:cNvPr>
          <p:cNvSpPr>
            <a:spLocks xmlns:a="http://schemas.openxmlformats.org/drawingml/2006/main" noGrp="1"/>
          </p:cNvSpPr>
          <p:nvPr/>
        </p:nvSpPr>
        <p:spPr>
          <a:xfrm xmlns:a="http://schemas.openxmlformats.org/drawingml/2006/main">
            <a:off x="8172450" y="489585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607282"/>
                </a:solidFill>
                <a:latin typeface="Calibri"/>
                <a:ea typeface="Calibri"/>
                <a:cs typeface="Calibri"/>
              </a:defRPr>
            </a:defPPr>
          </a:lstStyle>
          <a:p xmlns:a="http://schemas.openxmlformats.org/drawingml/2006/main">
            <a:pPr algn="r">
              <a:defRPr sz="900" b="0">
                <a:solidFill>
                  <a:srgbClr val="607282"/>
                </a:solidFill>
                <a:latin typeface="Calibri"/>
                <a:ea typeface="Calibri"/>
                <a:cs typeface="Calibri"/>
              </a:defRPr>
            </a:pPr>
            <a:r>
              <a:rPr sz="900" b="0">
                <a:solidFill>
                  <a:srgbClr val="607282"/>
                </a:solidFill>
                <a:latin typeface="Calibri"/>
                <a:ea typeface="Calibri"/>
                <a:cs typeface="Calibri"/>
              </a:rPr>
              <a:t>09 / 24</a:t>
            </a:r>
          </a:p>
        </p:txBody>
      </p:sp>
      <p:graphicFrame>
        <p:nvGraphicFramePr>
          <p:cNvPr id="4" name="">
            <a:extLst xmlns:a="http://schemas.openxmlformats.org/drawingml/2006/main">
              <a:ext uri="{FF2B5EF4-FFF2-40B4-BE49-F238E27FC236}">
                <a16:creationId xmlns:a16="http://schemas.microsoft.com/office/drawing/2014/main" id="{A83ECD54-7D09-4F33-82A8-85D34A647AE5}"/>
              </a:ext>
            </a:extLst>
          </p:cNvPr>
          <p:cNvGraphicFramePr/>
          <p:nvPr/>
        </p:nvGraphicFramePr>
        <p:xfrm>
          <a:off xmlns:a="http://schemas.openxmlformats.org/drawingml/2006/main" x="342900" y="1362075"/>
          <a:ext xmlns:a="http://schemas.openxmlformats.org/drawingml/2006/main" cx="8458200" cy="2571750"/>
        </p:xfrm>
        <a:graphic xmlns:a="http://schemas.openxmlformats.org/drawingml/2006/main">
          <a:graphicData uri="http://schemas.openxmlformats.org/drawingml/2006/table">
            <a:tbl>
              <a:tblPr/>
              <a:tblGrid>
                <a:gridCol w="3619500"/>
                <a:gridCol w="4838700"/>
              </a:tblGrid>
              <a:tr h="514350">
                <a:tc>
                  <a:txBody>
                    <a:bodyPr lIns="0" tIns="0" rIns="0" bIns="0">
                      <a:noAutofit/>
                    </a:bodyPr>
                    <a:lstStyle/>
                    <a:p>
                      <a:pPr algn="l"/>
                      <a:r>
                        <a:rPr sz="2250" b="1">
                          <a:solidFill>
                            <a:srgbClr val="FFFFFF"/>
                          </a:solidFill>
                          <a:latin typeface="Calibri"/>
                          <a:ea typeface="Calibri"/>
                          <a:cs typeface="Calibri"/>
                        </a:rPr>
                        <a:t>Component</a:t>
                      </a:r>
                    </a:p>
                  </a:txBody>
                  <a:tcPr marL="95250" marR="95250" marT="47625" marB="47625" anchor="ctr">
                    <a:lnL w="6350">
                      <a:noFill/>
                      <a:prstDash val="solid"/>
                    </a:lnL>
                    <a:lnR w="6350">
                      <a:noFill/>
                      <a:prstDash val="solid"/>
                    </a:lnR>
                    <a:lnT w="6350">
                      <a:noFill/>
                      <a:prstDash val="solid"/>
                    </a:lnT>
                    <a:lnB w="6350">
                      <a:noFill/>
                      <a:prstDash val="solid"/>
                    </a:lnB>
                    <a:solidFill>
                      <a:srgbClr val="142C45"/>
                    </a:solidFill>
                  </a:tcPr>
                </a:tc>
                <a:tc>
                  <a:txBody>
                    <a:bodyPr lIns="0" tIns="0" rIns="0" bIns="0">
                      <a:noAutofit/>
                    </a:bodyPr>
                    <a:lstStyle/>
                    <a:p>
                      <a:pPr algn="l"/>
                      <a:r>
                        <a:rPr sz="2250" b="1">
                          <a:solidFill>
                            <a:srgbClr val="FFFFFF"/>
                          </a:solidFill>
                          <a:latin typeface="Calibri"/>
                          <a:ea typeface="Calibri"/>
                          <a:cs typeface="Calibri"/>
                        </a:rPr>
                        <a:t>Role</a:t>
                      </a:r>
                    </a:p>
                  </a:txBody>
                  <a:tcPr marL="95250" marR="95250" marT="47625" marB="47625" anchor="ctr">
                    <a:lnL w="6350">
                      <a:noFill/>
                      <a:prstDash val="solid"/>
                    </a:lnL>
                    <a:lnR w="6350">
                      <a:noFill/>
                      <a:prstDash val="solid"/>
                    </a:lnR>
                    <a:lnT w="6350">
                      <a:noFill/>
                      <a:prstDash val="solid"/>
                    </a:lnT>
                    <a:lnB w="6350">
                      <a:noFill/>
                      <a:prstDash val="solid"/>
                    </a:lnB>
                    <a:solidFill>
                      <a:srgbClr val="142C45"/>
                    </a:solidFill>
                  </a:tcPr>
                </a:tc>
              </a:tr>
              <a:tr h="514350">
                <a:tc>
                  <a:txBody>
                    <a:bodyPr lIns="0" tIns="0" rIns="0" bIns="0">
                      <a:noAutofit/>
                    </a:bodyPr>
                    <a:lstStyle/>
                    <a:p>
                      <a:pPr algn="l"/>
                      <a:r>
                        <a:rPr sz="2250" b="0">
                          <a:solidFill>
                            <a:srgbClr val="33424D"/>
                          </a:solidFill>
                          <a:latin typeface="Calibri"/>
                          <a:ea typeface="Calibri"/>
                          <a:cs typeface="Calibri"/>
                        </a:rPr>
                        <a:t>ESP32 + PN532</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l"/>
                      <a:r>
                        <a:rPr sz="2250" b="0">
                          <a:solidFill>
                            <a:srgbClr val="33424D"/>
                          </a:solidFill>
                          <a:latin typeface="Calibri"/>
                          <a:ea typeface="Calibri"/>
                          <a:cs typeface="Calibri"/>
                        </a:rPr>
                        <a:t>NFC UID reading</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r>
              <a:tr h="514350">
                <a:tc>
                  <a:txBody>
                    <a:bodyPr lIns="0" tIns="0" rIns="0" bIns="0">
                      <a:noAutofit/>
                    </a:bodyPr>
                    <a:lstStyle/>
                    <a:p>
                      <a:pPr algn="l"/>
                      <a:r>
                        <a:rPr sz="2250" b="0">
                          <a:solidFill>
                            <a:srgbClr val="33424D"/>
                          </a:solidFill>
                          <a:latin typeface="Calibri"/>
                          <a:ea typeface="Calibri"/>
                          <a:cs typeface="Calibri"/>
                        </a:rPr>
                        <a:t>WinUI 3</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l"/>
                      <a:r>
                        <a:rPr sz="2250" b="0">
                          <a:solidFill>
                            <a:srgbClr val="33424D"/>
                          </a:solidFill>
                          <a:latin typeface="Calibri"/>
                          <a:ea typeface="Calibri"/>
                          <a:cs typeface="Calibri"/>
                        </a:rPr>
                        <a:t>Rules and timestamps</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r>
              <a:tr h="514350">
                <a:tc>
                  <a:txBody>
                    <a:bodyPr lIns="0" tIns="0" rIns="0" bIns="0">
                      <a:noAutofit/>
                    </a:bodyPr>
                    <a:lstStyle/>
                    <a:p>
                      <a:pPr algn="l"/>
                      <a:r>
                        <a:rPr sz="2250" b="0">
                          <a:solidFill>
                            <a:srgbClr val="33424D"/>
                          </a:solidFill>
                          <a:latin typeface="Calibri"/>
                          <a:ea typeface="Calibri"/>
                          <a:cs typeface="Calibri"/>
                        </a:rPr>
                        <a:t>MySQL</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l"/>
                      <a:r>
                        <a:rPr sz="2250" b="0">
                          <a:solidFill>
                            <a:srgbClr val="33424D"/>
                          </a:solidFill>
                          <a:latin typeface="Calibri"/>
                          <a:ea typeface="Calibri"/>
                          <a:cs typeface="Calibri"/>
                        </a:rPr>
                        <a:t>Local record storage</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r>
              <a:tr h="514350">
                <a:tc>
                  <a:txBody>
                    <a:bodyPr lIns="0" tIns="0" rIns="0" bIns="0">
                      <a:noAutofit/>
                    </a:bodyPr>
                    <a:lstStyle/>
                    <a:p>
                      <a:pPr algn="l"/>
                      <a:r>
                        <a:rPr sz="2250" b="0">
                          <a:solidFill>
                            <a:srgbClr val="33424D"/>
                          </a:solidFill>
                          <a:latin typeface="Calibri"/>
                          <a:ea typeface="Calibri"/>
                          <a:cs typeface="Calibri"/>
                        </a:rPr>
                        <a:t>Firestore</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l"/>
                      <a:r>
                        <a:rPr sz="2250" b="0">
                          <a:solidFill>
                            <a:srgbClr val="33424D"/>
                          </a:solidFill>
                          <a:latin typeface="Calibri"/>
                          <a:ea typeface="Calibri"/>
                          <a:cs typeface="Calibri"/>
                        </a:rPr>
                        <a:t>Cloud sync and backup</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r>
            </a:tbl>
          </a:graphicData>
        </a:graphic>
      </p:graphicFrame>
      <p:sp>
        <p:nvSpPr>
          <p:cNvPr id="5" name="Later additions require separate evaluation.">
            <a:extLst xmlns:a="http://schemas.openxmlformats.org/drawingml/2006/main">
              <a:ext uri="{FF2B5EF4-FFF2-40B4-BE49-F238E27FC236}">
                <a16:creationId xmlns:a16="http://schemas.microsoft.com/office/drawing/2014/main" id="{CA043EB8-0099-49C3-8D75-8F317619F6DE}"/>
              </a:ext>
            </a:extLst>
          </p:cNvPr>
          <p:cNvSpPr>
            <a:spLocks xmlns:a="http://schemas.openxmlformats.org/drawingml/2006/main" noGrp="1"/>
          </p:cNvSpPr>
          <p:nvPr/>
        </p:nvSpPr>
        <p:spPr>
          <a:xfrm xmlns:a="http://schemas.openxmlformats.org/drawingml/2006/main">
            <a:off x="342900" y="429577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33424D"/>
                </a:solidFill>
                <a:latin typeface="Calibri"/>
                <a:ea typeface="Calibri"/>
                <a:cs typeface="Calibri"/>
              </a:defRPr>
            </a:defPPr>
          </a:lstStyle>
          <a:p xmlns:a="http://schemas.openxmlformats.org/drawingml/2006/main">
            <a:pPr algn="l">
              <a:defRPr sz="2250" b="0">
                <a:solidFill>
                  <a:srgbClr val="33424D"/>
                </a:solidFill>
                <a:latin typeface="Calibri"/>
                <a:ea typeface="Calibri"/>
                <a:cs typeface="Calibri"/>
              </a:defRPr>
            </a:pPr>
            <a:r>
              <a:rPr sz="2250" b="0">
                <a:solidFill>
                  <a:srgbClr val="33424D"/>
                </a:solidFill>
                <a:latin typeface="Calibri"/>
                <a:ea typeface="Calibri"/>
                <a:cs typeface="Calibri"/>
              </a:rPr>
              <a:t>Later additions require separate evaluation.</a:t>
            </a:r>
          </a:p>
        </p:txBody>
      </p:sp>
    </p:spTree>
    <p:extLst>
      <p:ext uri="{BB962C8B-B14F-4D97-AF65-F5344CB8AC3E}">
        <p14:creationId xmlns:p14="http://schemas.microsoft.com/office/powerpoint/2010/main" val="1028355674"/>
      </p:ext>
    </p:extLst>
  </p:cSld>
</p:sld>
</file>

<file path=ppt/slides/slide10.xml><?xml version="1.0" encoding="utf-8"?>
<p:sld xmlns:p="http://schemas.openxmlformats.org/presentationml/2006/main" show="1">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18" name="Google Shape;318;p13">
            <a:extLst xmlns:a="http://schemas.openxmlformats.org/drawingml/2006/main">
              <a:ext uri="{FF2B5EF4-FFF2-40B4-BE49-F238E27FC236}">
                <a16:creationId xmlns:a16="http://schemas.microsoft.com/office/drawing/2014/main" id="{8574405C-4091-4D7E-86F5-25B09398A5B8}"/>
              </a:ext>
            </a:extLst>
          </p:cNvPr>
          <p:cNvPicPr>
            <a:picLocks xmlns:a="http://schemas.openxmlformats.org/drawingml/2006/main" noChangeAspect="1"/>
          </p:cNvPicPr>
          <p:nvPr/>
        </p:nvPicPr>
        <p:blipFill>
          <a:blip xmlns:r="http://schemas.openxmlformats.org/officeDocument/2006/relationships" xmlns:a="http://schemas.openxmlformats.org/drawingml/2006/main" r:embed="R0d3c4aa6062c4fca">
            <a:alphaModFix/>
          </a:blip>
          <a:stretch xmlns:a="http://schemas.openxmlformats.org/drawingml/2006/main">
            <a:fillRect l="0" t="0" r="0" b="0"/>
          </a:stretch>
        </p:blipFill>
        <p:spPr>
          <a:xfrm xmlns:a="http://schemas.openxmlformats.org/drawingml/2006/main">
            <a:off x="671094" y="1552575"/>
            <a:ext cx="2010612" cy="1238250"/>
          </a:xfrm>
          <a:prstGeom xmlns:a="http://schemas.openxmlformats.org/drawingml/2006/main" prst="rect">
            <a:avLst/>
          </a:prstGeom>
          <a:ln xmlns:a="http://schemas.openxmlformats.org/drawingml/2006/main">
            <a:noFill/>
          </a:ln>
          <a:effectLst xmlns:a="http://schemas.openxmlformats.org/drawingml/2006/main">
            <a:outerShdw blurRad="57150" dist="19050" dir="5400000" algn="bl" rotWithShape="0">
              <a:srgbClr val="000000">
                <a:alpha val="50000"/>
              </a:srgbClr>
            </a:outerShdw>
          </a:effectLst>
        </p:spPr>
      </p:pic>
      <p:pic>
        <p:nvPicPr>
          <p:cNvPr id="319" name="Google Shape;319;p13">
            <a:extLst xmlns:a="http://schemas.openxmlformats.org/drawingml/2006/main">
              <a:ext uri="{FF2B5EF4-FFF2-40B4-BE49-F238E27FC236}">
                <a16:creationId xmlns:a16="http://schemas.microsoft.com/office/drawing/2014/main" id="{0ECC4DB2-08A9-4B46-ABF1-C3881CFED50D}"/>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a017fbe2e00f411e">
            <a:alphaModFix/>
          </a:blip>
          <a:srcRect xmlns:a="http://schemas.openxmlformats.org/drawingml/2006/main" l="0" t="30" r="0" b="30"/>
          <a:stretch xmlns:a="http://schemas.openxmlformats.org/drawingml/2006/main"/>
        </p:blipFill>
        <p:spPr>
          <a:xfrm xmlns:a="http://schemas.openxmlformats.org/drawingml/2006/main">
            <a:off x="3509544" y="1552575"/>
            <a:ext cx="2010613" cy="1238250"/>
          </a:xfrm>
          <a:prstGeom xmlns:a="http://schemas.openxmlformats.org/drawingml/2006/main" prst="rect">
            <a:avLst/>
          </a:prstGeom>
          <a:ln xmlns:a="http://schemas.openxmlformats.org/drawingml/2006/main">
            <a:noFill/>
          </a:ln>
          <a:effectLst xmlns:a="http://schemas.openxmlformats.org/drawingml/2006/main">
            <a:outerShdw blurRad="57150" dist="19050" dir="5400000" algn="bl" rotWithShape="0">
              <a:srgbClr val="000000">
                <a:alpha val="50000"/>
              </a:srgbClr>
            </a:outerShdw>
          </a:effectLst>
        </p:spPr>
      </p:pic>
      <p:pic>
        <p:nvPicPr>
          <p:cNvPr id="320" name="Google Shape;320;p13">
            <a:extLst xmlns:a="http://schemas.openxmlformats.org/drawingml/2006/main">
              <a:ext uri="{FF2B5EF4-FFF2-40B4-BE49-F238E27FC236}">
                <a16:creationId xmlns:a16="http://schemas.microsoft.com/office/drawing/2014/main" id="{727CC6E5-EF90-4F19-92A4-4D1E47B3E5EF}"/>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91d0283519f7465b">
            <a:alphaModFix/>
          </a:blip>
          <a:srcRect xmlns:a="http://schemas.openxmlformats.org/drawingml/2006/main" l="0" t="239" r="0" b="239"/>
          <a:stretch xmlns:a="http://schemas.openxmlformats.org/drawingml/2006/main"/>
        </p:blipFill>
        <p:spPr>
          <a:xfrm xmlns:a="http://schemas.openxmlformats.org/drawingml/2006/main">
            <a:off x="6268640" y="1552575"/>
            <a:ext cx="2169321" cy="1238250"/>
          </a:xfrm>
          <a:prstGeom xmlns:a="http://schemas.openxmlformats.org/drawingml/2006/main" prst="rect">
            <a:avLst/>
          </a:prstGeom>
          <a:ln xmlns:a="http://schemas.openxmlformats.org/drawingml/2006/main">
            <a:noFill/>
          </a:ln>
          <a:effectLst xmlns:a="http://schemas.openxmlformats.org/drawingml/2006/main">
            <a:outerShdw blurRad="57150" dist="19050" dir="5400000" algn="bl" rotWithShape="0">
              <a:srgbClr val="000000">
                <a:alpha val="50000"/>
              </a:srgbClr>
            </a:outerShdw>
          </a:effectLst>
        </p:spPr>
      </p:pic>
      <p:pic>
        <p:nvPicPr>
          <p:cNvPr id="321" name="Google Shape;321;p13">
            <a:extLst xmlns:a="http://schemas.openxmlformats.org/drawingml/2006/main">
              <a:ext uri="{FF2B5EF4-FFF2-40B4-BE49-F238E27FC236}">
                <a16:creationId xmlns:a16="http://schemas.microsoft.com/office/drawing/2014/main" id="{2B3A2DB4-7D3E-4C01-A5E4-8173F9D18B6F}"/>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7ad06be8497847d9">
            <a:alphaModFix/>
          </a:blip>
          <a:srcRect xmlns:a="http://schemas.openxmlformats.org/drawingml/2006/main" l="0" t="239" r="0" b="239"/>
          <a:stretch xmlns:a="http://schemas.openxmlformats.org/drawingml/2006/main"/>
        </p:blipFill>
        <p:spPr>
          <a:xfrm xmlns:a="http://schemas.openxmlformats.org/drawingml/2006/main">
            <a:off x="458000" y="3143250"/>
            <a:ext cx="2436801" cy="1238250"/>
          </a:xfrm>
          <a:prstGeom xmlns:a="http://schemas.openxmlformats.org/drawingml/2006/main" prst="rect">
            <a:avLst/>
          </a:prstGeom>
          <a:ln xmlns:a="http://schemas.openxmlformats.org/drawingml/2006/main">
            <a:noFill/>
          </a:ln>
          <a:effectLst xmlns:a="http://schemas.openxmlformats.org/drawingml/2006/main">
            <a:outerShdw blurRad="57150" dist="19050" dir="5400000" algn="bl" rotWithShape="0">
              <a:srgbClr val="000000">
                <a:alpha val="50000"/>
              </a:srgbClr>
            </a:outerShdw>
          </a:effectLst>
        </p:spPr>
      </p:pic>
      <p:pic>
        <p:nvPicPr>
          <p:cNvPr id="322" name="Google Shape;322;p13">
            <a:extLst xmlns:a="http://schemas.openxmlformats.org/drawingml/2006/main">
              <a:ext uri="{FF2B5EF4-FFF2-40B4-BE49-F238E27FC236}">
                <a16:creationId xmlns:a16="http://schemas.microsoft.com/office/drawing/2014/main" id="{5904A52A-B499-42C2-B7DB-2FBD56B58EA3}"/>
              </a:ext>
            </a:extLst>
          </p:cNvPr>
          <p:cNvPicPr>
            <a:picLocks xmlns:a="http://schemas.openxmlformats.org/drawingml/2006/main" noChangeAspect="1"/>
          </p:cNvPicPr>
          <p:nvPr/>
        </p:nvPicPr>
        <p:blipFill>
          <a:blip xmlns:r="http://schemas.openxmlformats.org/officeDocument/2006/relationships" xmlns:a="http://schemas.openxmlformats.org/drawingml/2006/main" r:embed="Rbb12e86cd0754594">
            <a:alphaModFix/>
          </a:blip>
          <a:stretch xmlns:a="http://schemas.openxmlformats.org/drawingml/2006/main">
            <a:fillRect l="0" t="0" r="0" b="0"/>
          </a:stretch>
        </p:blipFill>
        <p:spPr>
          <a:xfrm xmlns:a="http://schemas.openxmlformats.org/drawingml/2006/main">
            <a:off x="3370139" y="3143250"/>
            <a:ext cx="2289423" cy="1238250"/>
          </a:xfrm>
          <a:prstGeom xmlns:a="http://schemas.openxmlformats.org/drawingml/2006/main" prst="rect">
            <a:avLst/>
          </a:prstGeom>
          <a:ln xmlns:a="http://schemas.openxmlformats.org/drawingml/2006/main">
            <a:noFill/>
          </a:ln>
        </p:spPr>
      </p:pic>
      <p:pic>
        <p:nvPicPr>
          <p:cNvPr id="323" name="Google Shape;323;p13">
            <a:extLst xmlns:a="http://schemas.openxmlformats.org/drawingml/2006/main">
              <a:ext uri="{FF2B5EF4-FFF2-40B4-BE49-F238E27FC236}">
                <a16:creationId xmlns:a16="http://schemas.microsoft.com/office/drawing/2014/main" id="{74024CEA-460B-4F18-AE7D-E7AF07CEC26A}"/>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72e8d14578514be1">
            <a:alphaModFix/>
          </a:blip>
          <a:srcRect xmlns:a="http://schemas.openxmlformats.org/drawingml/2006/main" l="0" t="1923" r="0" b="1923"/>
          <a:stretch xmlns:a="http://schemas.openxmlformats.org/drawingml/2006/main"/>
        </p:blipFill>
        <p:spPr>
          <a:xfrm xmlns:a="http://schemas.openxmlformats.org/drawingml/2006/main">
            <a:off x="6208581" y="3143250"/>
            <a:ext cx="2289439" cy="1238250"/>
          </a:xfrm>
          <a:prstGeom xmlns:a="http://schemas.openxmlformats.org/drawingml/2006/main" prst="rect">
            <a:avLst/>
          </a:prstGeom>
          <a:ln xmlns:a="http://schemas.openxmlformats.org/drawingml/2006/main">
            <a:noFill/>
          </a:ln>
        </p:spPr>
      </p:pic>
      <p:sp>
        <p:nvSpPr>
          <p:cNvPr id="324" name="II. METHODOLOGY">
            <a:extLst xmlns:a="http://schemas.openxmlformats.org/drawingml/2006/main">
              <a:ext uri="{FF2B5EF4-FFF2-40B4-BE49-F238E27FC236}">
                <a16:creationId xmlns:a16="http://schemas.microsoft.com/office/drawing/2014/main" id="{B29A1D2B-F6C6-46FD-AF0D-75DAEC4B8B47}"/>
              </a:ext>
            </a:extLst>
          </p:cNvPr>
          <p:cNvSpPr>
            <a:spLocks xmlns:a="http://schemas.openxmlformats.org/drawingml/2006/main" noGrp="1"/>
          </p:cNvSpPr>
          <p:nvPr/>
        </p:nvSpPr>
        <p:spPr>
          <a:xfrm xmlns:a="http://schemas.openxmlformats.org/drawingml/2006/main">
            <a:off x="342900" y="247650"/>
            <a:ext cx="8458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007F86"/>
                </a:solidFill>
                <a:latin typeface="Calibri"/>
                <a:ea typeface="Calibri"/>
                <a:cs typeface="Calibri"/>
              </a:defRPr>
            </a:defPPr>
          </a:lstStyle>
          <a:p xmlns:a="http://schemas.openxmlformats.org/drawingml/2006/main">
            <a:pPr algn="l">
              <a:defRPr sz="1275" b="1">
                <a:solidFill>
                  <a:srgbClr val="007F86"/>
                </a:solidFill>
                <a:latin typeface="Calibri"/>
                <a:ea typeface="Calibri"/>
                <a:cs typeface="Calibri"/>
              </a:defRPr>
            </a:pPr>
            <a:r>
              <a:rPr sz="1275" b="1">
                <a:solidFill>
                  <a:srgbClr val="007F86"/>
                </a:solidFill>
                <a:latin typeface="Calibri"/>
                <a:ea typeface="Calibri"/>
                <a:cs typeface="Calibri"/>
              </a:rPr>
              <a:t>II. METHODOLOGY</a:t>
            </a:r>
          </a:p>
        </p:txBody>
      </p:sp>
      <p:sp>
        <p:nvSpPr>
          <p:cNvPr id="325" name="Prototype Interfaces">
            <a:extLst xmlns:a="http://schemas.openxmlformats.org/drawingml/2006/main">
              <a:ext uri="{FF2B5EF4-FFF2-40B4-BE49-F238E27FC236}">
                <a16:creationId xmlns:a16="http://schemas.microsoft.com/office/drawing/2014/main" id="{3F2878A1-0485-4CEF-8BA5-09398BB2C429}"/>
              </a:ext>
            </a:extLst>
          </p:cNvPr>
          <p:cNvSpPr>
            <a:spLocks xmlns:a="http://schemas.openxmlformats.org/drawingml/2006/main" noGrp="1"/>
          </p:cNvSpPr>
          <p:nvPr/>
        </p:nvSpPr>
        <p:spPr>
          <a:xfrm xmlns:a="http://schemas.openxmlformats.org/drawingml/2006/main">
            <a:off x="342900" y="619125"/>
            <a:ext cx="8458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42C45"/>
                </a:solidFill>
                <a:latin typeface="Calibri"/>
                <a:ea typeface="Calibri"/>
                <a:cs typeface="Calibri"/>
              </a:defRPr>
            </a:defPPr>
          </a:lstStyle>
          <a:p xmlns:a="http://schemas.openxmlformats.org/drawingml/2006/main">
            <a:pPr algn="l">
              <a:defRPr sz="3000" b="1">
                <a:solidFill>
                  <a:srgbClr val="142C45"/>
                </a:solidFill>
                <a:latin typeface="Calibri"/>
                <a:ea typeface="Calibri"/>
                <a:cs typeface="Calibri"/>
              </a:defRPr>
            </a:pPr>
            <a:r>
              <a:rPr sz="3000" b="1">
                <a:solidFill>
                  <a:srgbClr val="142C45"/>
                </a:solidFill>
                <a:latin typeface="Calibri"/>
                <a:ea typeface="Calibri"/>
                <a:cs typeface="Calibri"/>
              </a:rPr>
              <a:t>Prototype Interfaces</a:t>
            </a:r>
          </a:p>
        </p:txBody>
      </p:sp>
      <p:sp>
        <p:nvSpPr>
          <p:cNvPr id="326" name="10 / 24">
            <a:extLst xmlns:a="http://schemas.openxmlformats.org/drawingml/2006/main">
              <a:ext uri="{FF2B5EF4-FFF2-40B4-BE49-F238E27FC236}">
                <a16:creationId xmlns:a16="http://schemas.microsoft.com/office/drawing/2014/main" id="{CFB8CB6B-1044-4A5B-9757-4DC46E869818}"/>
              </a:ext>
            </a:extLst>
          </p:cNvPr>
          <p:cNvSpPr>
            <a:spLocks xmlns:a="http://schemas.openxmlformats.org/drawingml/2006/main" noGrp="1"/>
          </p:cNvSpPr>
          <p:nvPr/>
        </p:nvSpPr>
        <p:spPr>
          <a:xfrm xmlns:a="http://schemas.openxmlformats.org/drawingml/2006/main">
            <a:off x="8172450" y="489585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607282"/>
                </a:solidFill>
                <a:latin typeface="Calibri"/>
                <a:ea typeface="Calibri"/>
                <a:cs typeface="Calibri"/>
              </a:defRPr>
            </a:defPPr>
          </a:lstStyle>
          <a:p xmlns:a="http://schemas.openxmlformats.org/drawingml/2006/main">
            <a:pPr algn="r">
              <a:defRPr sz="900" b="0">
                <a:solidFill>
                  <a:srgbClr val="607282"/>
                </a:solidFill>
                <a:latin typeface="Calibri"/>
                <a:ea typeface="Calibri"/>
                <a:cs typeface="Calibri"/>
              </a:defRPr>
            </a:pPr>
            <a:r>
              <a:rPr sz="900" b="0">
                <a:solidFill>
                  <a:srgbClr val="607282"/>
                </a:solidFill>
                <a:latin typeface="Calibri"/>
                <a:ea typeface="Calibri"/>
                <a:cs typeface="Calibri"/>
              </a:rPr>
              <a:t>10 / 24</a:t>
            </a:r>
          </a:p>
        </p:txBody>
      </p:sp>
      <p:sp>
        <p:nvSpPr>
          <p:cNvPr id="327" name="Authentication">
            <a:extLst xmlns:a="http://schemas.openxmlformats.org/drawingml/2006/main">
              <a:ext uri="{FF2B5EF4-FFF2-40B4-BE49-F238E27FC236}">
                <a16:creationId xmlns:a16="http://schemas.microsoft.com/office/drawing/2014/main" id="{37BEED52-8B85-48B3-8D1B-BEB8C3983E73}"/>
              </a:ext>
            </a:extLst>
          </p:cNvPr>
          <p:cNvSpPr>
            <a:spLocks xmlns:a="http://schemas.openxmlformats.org/drawingml/2006/main" noGrp="1"/>
          </p:cNvSpPr>
          <p:nvPr/>
        </p:nvSpPr>
        <p:spPr>
          <a:xfrm xmlns:a="http://schemas.openxmlformats.org/drawingml/2006/main">
            <a:off x="342900" y="1228725"/>
            <a:ext cx="2667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42C45"/>
                </a:solidFill>
                <a:latin typeface="Calibri"/>
                <a:ea typeface="Calibri"/>
                <a:cs typeface="Calibri"/>
              </a:defRPr>
            </a:defPPr>
          </a:lstStyle>
          <a:p xmlns:a="http://schemas.openxmlformats.org/drawingml/2006/main">
            <a:pPr algn="l">
              <a:defRPr sz="2025" b="1">
                <a:solidFill>
                  <a:srgbClr val="142C45"/>
                </a:solidFill>
                <a:latin typeface="Calibri"/>
                <a:ea typeface="Calibri"/>
                <a:cs typeface="Calibri"/>
              </a:defRPr>
            </a:pPr>
            <a:r>
              <a:rPr sz="2025" b="1">
                <a:solidFill>
                  <a:srgbClr val="142C45"/>
                </a:solidFill>
                <a:latin typeface="Calibri"/>
                <a:ea typeface="Calibri"/>
                <a:cs typeface="Calibri"/>
              </a:rPr>
              <a:t>Authentication</a:t>
            </a:r>
          </a:p>
        </p:txBody>
      </p:sp>
      <p:sp>
        <p:nvSpPr>
          <p:cNvPr id="328" name="Admin Dashboard">
            <a:extLst xmlns:a="http://schemas.openxmlformats.org/drawingml/2006/main">
              <a:ext uri="{FF2B5EF4-FFF2-40B4-BE49-F238E27FC236}">
                <a16:creationId xmlns:a16="http://schemas.microsoft.com/office/drawing/2014/main" id="{31FAE0A1-FB4F-4B61-8F9C-C90AE6FF9725}"/>
              </a:ext>
            </a:extLst>
          </p:cNvPr>
          <p:cNvSpPr>
            <a:spLocks xmlns:a="http://schemas.openxmlformats.org/drawingml/2006/main" noGrp="1"/>
          </p:cNvSpPr>
          <p:nvPr/>
        </p:nvSpPr>
        <p:spPr>
          <a:xfrm xmlns:a="http://schemas.openxmlformats.org/drawingml/2006/main">
            <a:off x="3181350" y="1228725"/>
            <a:ext cx="2667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42C45"/>
                </a:solidFill>
                <a:latin typeface="Calibri"/>
                <a:ea typeface="Calibri"/>
                <a:cs typeface="Calibri"/>
              </a:defRPr>
            </a:defPPr>
          </a:lstStyle>
          <a:p xmlns:a="http://schemas.openxmlformats.org/drawingml/2006/main">
            <a:pPr algn="l">
              <a:defRPr sz="2025" b="1">
                <a:solidFill>
                  <a:srgbClr val="142C45"/>
                </a:solidFill>
                <a:latin typeface="Calibri"/>
                <a:ea typeface="Calibri"/>
                <a:cs typeface="Calibri"/>
              </a:defRPr>
            </a:pPr>
            <a:r>
              <a:rPr sz="2025" b="1">
                <a:solidFill>
                  <a:srgbClr val="142C45"/>
                </a:solidFill>
                <a:latin typeface="Calibri"/>
                <a:ea typeface="Calibri"/>
                <a:cs typeface="Calibri"/>
              </a:rPr>
              <a:t>Admin Dashboard</a:t>
            </a:r>
          </a:p>
        </p:txBody>
      </p:sp>
      <p:sp>
        <p:nvSpPr>
          <p:cNvPr id="329" name="Security Dashboard">
            <a:extLst xmlns:a="http://schemas.openxmlformats.org/drawingml/2006/main">
              <a:ext uri="{FF2B5EF4-FFF2-40B4-BE49-F238E27FC236}">
                <a16:creationId xmlns:a16="http://schemas.microsoft.com/office/drawing/2014/main" id="{3E7ABC8E-A998-46BD-A27F-ADDA2F18A483}"/>
              </a:ext>
            </a:extLst>
          </p:cNvPr>
          <p:cNvSpPr>
            <a:spLocks xmlns:a="http://schemas.openxmlformats.org/drawingml/2006/main" noGrp="1"/>
          </p:cNvSpPr>
          <p:nvPr/>
        </p:nvSpPr>
        <p:spPr>
          <a:xfrm xmlns:a="http://schemas.openxmlformats.org/drawingml/2006/main">
            <a:off x="6019800" y="1228725"/>
            <a:ext cx="2667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42C45"/>
                </a:solidFill>
                <a:latin typeface="Calibri"/>
                <a:ea typeface="Calibri"/>
                <a:cs typeface="Calibri"/>
              </a:defRPr>
            </a:defPPr>
          </a:lstStyle>
          <a:p xmlns:a="http://schemas.openxmlformats.org/drawingml/2006/main">
            <a:pPr algn="l">
              <a:defRPr sz="2025" b="1">
                <a:solidFill>
                  <a:srgbClr val="142C45"/>
                </a:solidFill>
                <a:latin typeface="Calibri"/>
                <a:ea typeface="Calibri"/>
                <a:cs typeface="Calibri"/>
              </a:defRPr>
            </a:pPr>
            <a:r>
              <a:rPr sz="2025" b="1">
                <a:solidFill>
                  <a:srgbClr val="142C45"/>
                </a:solidFill>
                <a:latin typeface="Calibri"/>
                <a:ea typeface="Calibri"/>
                <a:cs typeface="Calibri"/>
              </a:rPr>
              <a:t>Security Dashboard</a:t>
            </a:r>
          </a:p>
        </p:txBody>
      </p:sp>
      <p:sp>
        <p:nvSpPr>
          <p:cNvPr id="330" name="Event Organizer">
            <a:extLst xmlns:a="http://schemas.openxmlformats.org/drawingml/2006/main">
              <a:ext uri="{FF2B5EF4-FFF2-40B4-BE49-F238E27FC236}">
                <a16:creationId xmlns:a16="http://schemas.microsoft.com/office/drawing/2014/main" id="{37A9A2EB-A157-4D8C-8527-7EA31145A37F}"/>
              </a:ext>
            </a:extLst>
          </p:cNvPr>
          <p:cNvSpPr>
            <a:spLocks xmlns:a="http://schemas.openxmlformats.org/drawingml/2006/main" noGrp="1"/>
          </p:cNvSpPr>
          <p:nvPr/>
        </p:nvSpPr>
        <p:spPr>
          <a:xfrm xmlns:a="http://schemas.openxmlformats.org/drawingml/2006/main">
            <a:off x="342900" y="2819400"/>
            <a:ext cx="2667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42C45"/>
                </a:solidFill>
                <a:latin typeface="Calibri"/>
                <a:ea typeface="Calibri"/>
                <a:cs typeface="Calibri"/>
              </a:defRPr>
            </a:defPPr>
          </a:lstStyle>
          <a:p xmlns:a="http://schemas.openxmlformats.org/drawingml/2006/main">
            <a:pPr algn="l">
              <a:defRPr sz="2025" b="1">
                <a:solidFill>
                  <a:srgbClr val="142C45"/>
                </a:solidFill>
                <a:latin typeface="Calibri"/>
                <a:ea typeface="Calibri"/>
                <a:cs typeface="Calibri"/>
              </a:defRPr>
            </a:pPr>
            <a:r>
              <a:rPr sz="2025" b="1">
                <a:solidFill>
                  <a:srgbClr val="142C45"/>
                </a:solidFill>
                <a:latin typeface="Calibri"/>
                <a:ea typeface="Calibri"/>
                <a:cs typeface="Calibri"/>
              </a:rPr>
              <a:t>Event Organizer</a:t>
            </a:r>
          </a:p>
        </p:txBody>
      </p:sp>
      <p:sp>
        <p:nvSpPr>
          <p:cNvPr id="331" name="Active Monitoring">
            <a:extLst xmlns:a="http://schemas.openxmlformats.org/drawingml/2006/main">
              <a:ext uri="{FF2B5EF4-FFF2-40B4-BE49-F238E27FC236}">
                <a16:creationId xmlns:a16="http://schemas.microsoft.com/office/drawing/2014/main" id="{261296CC-2ED0-4504-B300-35ACE8CEDB28}"/>
              </a:ext>
            </a:extLst>
          </p:cNvPr>
          <p:cNvSpPr>
            <a:spLocks xmlns:a="http://schemas.openxmlformats.org/drawingml/2006/main" noGrp="1"/>
          </p:cNvSpPr>
          <p:nvPr/>
        </p:nvSpPr>
        <p:spPr>
          <a:xfrm xmlns:a="http://schemas.openxmlformats.org/drawingml/2006/main">
            <a:off x="3181350" y="2819400"/>
            <a:ext cx="2667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42C45"/>
                </a:solidFill>
                <a:latin typeface="Calibri"/>
                <a:ea typeface="Calibri"/>
                <a:cs typeface="Calibri"/>
              </a:defRPr>
            </a:defPPr>
          </a:lstStyle>
          <a:p xmlns:a="http://schemas.openxmlformats.org/drawingml/2006/main">
            <a:pPr algn="l">
              <a:defRPr sz="2025" b="1">
                <a:solidFill>
                  <a:srgbClr val="142C45"/>
                </a:solidFill>
                <a:latin typeface="Calibri"/>
                <a:ea typeface="Calibri"/>
                <a:cs typeface="Calibri"/>
              </a:defRPr>
            </a:pPr>
            <a:r>
              <a:rPr sz="2025" b="1">
                <a:solidFill>
                  <a:srgbClr val="142C45"/>
                </a:solidFill>
                <a:latin typeface="Calibri"/>
                <a:ea typeface="Calibri"/>
                <a:cs typeface="Calibri"/>
              </a:rPr>
              <a:t>Active Monitoring</a:t>
            </a:r>
          </a:p>
        </p:txBody>
      </p:sp>
      <p:sp>
        <p:nvSpPr>
          <p:cNvPr id="332" name="Student Kiosk">
            <a:extLst xmlns:a="http://schemas.openxmlformats.org/drawingml/2006/main">
              <a:ext uri="{FF2B5EF4-FFF2-40B4-BE49-F238E27FC236}">
                <a16:creationId xmlns:a16="http://schemas.microsoft.com/office/drawing/2014/main" id="{6FD56DCB-2E06-45A5-BF56-B739F8F6F232}"/>
              </a:ext>
            </a:extLst>
          </p:cNvPr>
          <p:cNvSpPr>
            <a:spLocks xmlns:a="http://schemas.openxmlformats.org/drawingml/2006/main" noGrp="1"/>
          </p:cNvSpPr>
          <p:nvPr/>
        </p:nvSpPr>
        <p:spPr>
          <a:xfrm xmlns:a="http://schemas.openxmlformats.org/drawingml/2006/main">
            <a:off x="6019800" y="2819400"/>
            <a:ext cx="2667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42C45"/>
                </a:solidFill>
                <a:latin typeface="Calibri"/>
                <a:ea typeface="Calibri"/>
                <a:cs typeface="Calibri"/>
              </a:defRPr>
            </a:defPPr>
          </a:lstStyle>
          <a:p xmlns:a="http://schemas.openxmlformats.org/drawingml/2006/main">
            <a:pPr algn="l">
              <a:defRPr sz="2025" b="1">
                <a:solidFill>
                  <a:srgbClr val="142C45"/>
                </a:solidFill>
                <a:latin typeface="Calibri"/>
                <a:ea typeface="Calibri"/>
                <a:cs typeface="Calibri"/>
              </a:defRPr>
            </a:pPr>
            <a:r>
              <a:rPr sz="2025" b="1">
                <a:solidFill>
                  <a:srgbClr val="142C45"/>
                </a:solidFill>
                <a:latin typeface="Calibri"/>
                <a:ea typeface="Calibri"/>
                <a:cs typeface="Calibri"/>
              </a:rPr>
              <a:t>Student Kiosk</a:t>
            </a:r>
          </a:p>
        </p:txBody>
      </p:sp>
      <p:sp>
        <p:nvSpPr>
          <p:cNvPr id="333" name="Prototype screenshots. Current build in demonstration.">
            <a:extLst xmlns:a="http://schemas.openxmlformats.org/drawingml/2006/main">
              <a:ext uri="{FF2B5EF4-FFF2-40B4-BE49-F238E27FC236}">
                <a16:creationId xmlns:a16="http://schemas.microsoft.com/office/drawing/2014/main" id="{EAE585DC-65F8-4B1E-8923-C033DFB2D9CE}"/>
              </a:ext>
            </a:extLst>
          </p:cNvPr>
          <p:cNvSpPr>
            <a:spLocks xmlns:a="http://schemas.openxmlformats.org/drawingml/2006/main" noGrp="1"/>
          </p:cNvSpPr>
          <p:nvPr/>
        </p:nvSpPr>
        <p:spPr>
          <a:xfrm xmlns:a="http://schemas.openxmlformats.org/drawingml/2006/main">
            <a:off x="342900" y="452437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07282"/>
                </a:solidFill>
                <a:latin typeface="Calibri"/>
                <a:ea typeface="Calibri"/>
                <a:cs typeface="Calibri"/>
              </a:defRPr>
            </a:defPPr>
          </a:lstStyle>
          <a:p xmlns:a="http://schemas.openxmlformats.org/drawingml/2006/main">
            <a:pPr algn="l">
              <a:defRPr sz="1875" b="0">
                <a:solidFill>
                  <a:srgbClr val="607282"/>
                </a:solidFill>
                <a:latin typeface="Calibri"/>
                <a:ea typeface="Calibri"/>
                <a:cs typeface="Calibri"/>
              </a:defRPr>
            </a:pPr>
            <a:r>
              <a:rPr sz="1875" b="0">
                <a:solidFill>
                  <a:srgbClr val="607282"/>
                </a:solidFill>
                <a:latin typeface="Calibri"/>
                <a:ea typeface="Calibri"/>
                <a:cs typeface="Calibri"/>
              </a:rPr>
              <a:t>Prototype screenshots. Current build in demonstration.</a:t>
            </a:r>
          </a:p>
        </p:txBody>
      </p:sp>
    </p:spTree>
    <p:extLst>
      <p:ext uri="{BB962C8B-B14F-4D97-AF65-F5344CB8AC3E}">
        <p14:creationId xmlns:p14="http://schemas.microsoft.com/office/powerpoint/2010/main" val="65704006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II. METHODOLOGY">
            <a:extLst xmlns:a="http://schemas.openxmlformats.org/drawingml/2006/main">
              <a:ext uri="{FF2B5EF4-FFF2-40B4-BE49-F238E27FC236}">
                <a16:creationId xmlns:a16="http://schemas.microsoft.com/office/drawing/2014/main" id="{C4D4A140-0819-4555-B1BA-E1D2DDC75EE4}"/>
              </a:ext>
            </a:extLst>
          </p:cNvPr>
          <p:cNvSpPr>
            <a:spLocks xmlns:a="http://schemas.openxmlformats.org/drawingml/2006/main" noGrp="1"/>
          </p:cNvSpPr>
          <p:nvPr/>
        </p:nvSpPr>
        <p:spPr>
          <a:xfrm xmlns:a="http://schemas.openxmlformats.org/drawingml/2006/main">
            <a:off x="342900" y="247650"/>
            <a:ext cx="8458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007F86"/>
                </a:solidFill>
                <a:latin typeface="Calibri"/>
                <a:ea typeface="Calibri"/>
                <a:cs typeface="Calibri"/>
              </a:defRPr>
            </a:defPPr>
          </a:lstStyle>
          <a:p xmlns:a="http://schemas.openxmlformats.org/drawingml/2006/main">
            <a:pPr algn="l">
              <a:defRPr sz="1275" b="1">
                <a:solidFill>
                  <a:srgbClr val="007F86"/>
                </a:solidFill>
                <a:latin typeface="Calibri"/>
                <a:ea typeface="Calibri"/>
                <a:cs typeface="Calibri"/>
              </a:defRPr>
            </a:pPr>
            <a:r>
              <a:rPr sz="1275" b="1">
                <a:solidFill>
                  <a:srgbClr val="007F86"/>
                </a:solidFill>
                <a:latin typeface="Calibri"/>
                <a:ea typeface="Calibri"/>
                <a:cs typeface="Calibri"/>
              </a:rPr>
              <a:t>II. METHODOLOGY</a:t>
            </a:r>
          </a:p>
        </p:txBody>
      </p:sp>
      <p:sp>
        <p:nvSpPr>
          <p:cNvPr id="2" name="Statistical Treatment">
            <a:extLst xmlns:a="http://schemas.openxmlformats.org/drawingml/2006/main">
              <a:ext uri="{FF2B5EF4-FFF2-40B4-BE49-F238E27FC236}">
                <a16:creationId xmlns:a16="http://schemas.microsoft.com/office/drawing/2014/main" id="{1E4D0CB0-1D2B-4D95-A870-DBD52BE02F5A}"/>
              </a:ext>
            </a:extLst>
          </p:cNvPr>
          <p:cNvSpPr>
            <a:spLocks xmlns:a="http://schemas.openxmlformats.org/drawingml/2006/main" noGrp="1"/>
          </p:cNvSpPr>
          <p:nvPr/>
        </p:nvSpPr>
        <p:spPr>
          <a:xfrm xmlns:a="http://schemas.openxmlformats.org/drawingml/2006/main">
            <a:off x="342900" y="619125"/>
            <a:ext cx="8458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42C45"/>
                </a:solidFill>
                <a:latin typeface="Calibri"/>
                <a:ea typeface="Calibri"/>
                <a:cs typeface="Calibri"/>
              </a:defRPr>
            </a:defPPr>
          </a:lstStyle>
          <a:p xmlns:a="http://schemas.openxmlformats.org/drawingml/2006/main">
            <a:pPr algn="l">
              <a:defRPr sz="3000" b="1">
                <a:solidFill>
                  <a:srgbClr val="142C45"/>
                </a:solidFill>
                <a:latin typeface="Calibri"/>
                <a:ea typeface="Calibri"/>
                <a:cs typeface="Calibri"/>
              </a:defRPr>
            </a:pPr>
            <a:r>
              <a:rPr sz="3000" b="1">
                <a:solidFill>
                  <a:srgbClr val="142C45"/>
                </a:solidFill>
                <a:latin typeface="Calibri"/>
                <a:ea typeface="Calibri"/>
                <a:cs typeface="Calibri"/>
              </a:rPr>
              <a:t>Statistical Treatment</a:t>
            </a:r>
          </a:p>
        </p:txBody>
      </p:sp>
      <p:sp>
        <p:nvSpPr>
          <p:cNvPr id="3" name="11 / 24">
            <a:extLst xmlns:a="http://schemas.openxmlformats.org/drawingml/2006/main">
              <a:ext uri="{FF2B5EF4-FFF2-40B4-BE49-F238E27FC236}">
                <a16:creationId xmlns:a16="http://schemas.microsoft.com/office/drawing/2014/main" id="{DC206F36-C12C-48FF-A295-064FE0B49397}"/>
              </a:ext>
            </a:extLst>
          </p:cNvPr>
          <p:cNvSpPr>
            <a:spLocks xmlns:a="http://schemas.openxmlformats.org/drawingml/2006/main" noGrp="1"/>
          </p:cNvSpPr>
          <p:nvPr/>
        </p:nvSpPr>
        <p:spPr>
          <a:xfrm xmlns:a="http://schemas.openxmlformats.org/drawingml/2006/main">
            <a:off x="8172450" y="489585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607282"/>
                </a:solidFill>
                <a:latin typeface="Calibri"/>
                <a:ea typeface="Calibri"/>
                <a:cs typeface="Calibri"/>
              </a:defRPr>
            </a:defPPr>
          </a:lstStyle>
          <a:p xmlns:a="http://schemas.openxmlformats.org/drawingml/2006/main">
            <a:pPr algn="r">
              <a:defRPr sz="900" b="0">
                <a:solidFill>
                  <a:srgbClr val="607282"/>
                </a:solidFill>
                <a:latin typeface="Calibri"/>
                <a:ea typeface="Calibri"/>
                <a:cs typeface="Calibri"/>
              </a:defRPr>
            </a:pPr>
            <a:r>
              <a:rPr sz="900" b="0">
                <a:solidFill>
                  <a:srgbClr val="607282"/>
                </a:solidFill>
                <a:latin typeface="Calibri"/>
                <a:ea typeface="Calibri"/>
                <a:cs typeface="Calibri"/>
              </a:rPr>
              <a:t>11 / 24</a:t>
            </a:r>
          </a:p>
        </p:txBody>
      </p:sp>
      <p:sp>
        <p:nvSpPr>
          <p:cNvPr id="4" name="Means and respondent-level sample SDs">
            <a:extLst xmlns:a="http://schemas.openxmlformats.org/drawingml/2006/main">
              <a:ext uri="{FF2B5EF4-FFF2-40B4-BE49-F238E27FC236}">
                <a16:creationId xmlns:a16="http://schemas.microsoft.com/office/drawing/2014/main" id="{1AD8A7DE-560D-47D9-9EA4-ED8AC0FE7994}"/>
              </a:ext>
            </a:extLst>
          </p:cNvPr>
          <p:cNvSpPr>
            <a:spLocks xmlns:a="http://schemas.openxmlformats.org/drawingml/2006/main" noGrp="1"/>
          </p:cNvSpPr>
          <p:nvPr/>
        </p:nvSpPr>
        <p:spPr>
          <a:xfrm xmlns:a="http://schemas.openxmlformats.org/drawingml/2006/main">
            <a:off x="342900" y="140017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33424D"/>
                </a:solidFill>
                <a:latin typeface="Calibri"/>
                <a:ea typeface="Calibri"/>
                <a:cs typeface="Calibri"/>
              </a:defRPr>
            </a:defPPr>
          </a:lstStyle>
          <a:p xmlns:a="http://schemas.openxmlformats.org/drawingml/2006/main">
            <a:pPr algn="l">
              <a:defRPr sz="2400" b="0">
                <a:solidFill>
                  <a:srgbClr val="33424D"/>
                </a:solidFill>
                <a:latin typeface="Calibri"/>
                <a:ea typeface="Calibri"/>
                <a:cs typeface="Calibri"/>
              </a:defRPr>
            </a:pPr>
            <a:r>
              <a:rPr sz="2400" b="0">
                <a:solidFill>
                  <a:srgbClr val="33424D"/>
                </a:solidFill>
                <a:latin typeface="Calibri"/>
                <a:ea typeface="Calibri"/>
                <a:cs typeface="Calibri"/>
              </a:rPr>
              <a:t>Means and respondent-level sample SDs</a:t>
            </a:r>
          </a:p>
        </p:txBody>
      </p:sp>
      <p:sp>
        <p:nvSpPr>
          <p:cNvPr id="5" name="Welch independent-samples t-test">
            <a:extLst xmlns:a="http://schemas.openxmlformats.org/drawingml/2006/main">
              <a:ext uri="{FF2B5EF4-FFF2-40B4-BE49-F238E27FC236}">
                <a16:creationId xmlns:a16="http://schemas.microsoft.com/office/drawing/2014/main" id="{EB2EAC80-9E1E-4D7D-95A2-36BDA4690760}"/>
              </a:ext>
            </a:extLst>
          </p:cNvPr>
          <p:cNvSpPr>
            <a:spLocks xmlns:a="http://schemas.openxmlformats.org/drawingml/2006/main" noGrp="1"/>
          </p:cNvSpPr>
          <p:nvPr/>
        </p:nvSpPr>
        <p:spPr>
          <a:xfrm xmlns:a="http://schemas.openxmlformats.org/drawingml/2006/main">
            <a:off x="342900" y="191452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33424D"/>
                </a:solidFill>
                <a:latin typeface="Calibri"/>
                <a:ea typeface="Calibri"/>
                <a:cs typeface="Calibri"/>
              </a:defRPr>
            </a:defPPr>
          </a:lstStyle>
          <a:p xmlns:a="http://schemas.openxmlformats.org/drawingml/2006/main">
            <a:pPr algn="l">
              <a:defRPr sz="2400" b="0">
                <a:solidFill>
                  <a:srgbClr val="33424D"/>
                </a:solidFill>
                <a:latin typeface="Calibri"/>
                <a:ea typeface="Calibri"/>
                <a:cs typeface="Calibri"/>
              </a:defRPr>
            </a:pPr>
            <a:r>
              <a:rPr sz="2400" b="0">
                <a:solidFill>
                  <a:srgbClr val="33424D"/>
                </a:solidFill>
                <a:latin typeface="Calibri"/>
                <a:ea typeface="Calibri"/>
                <a:cs typeface="Calibri"/>
              </a:rPr>
              <a:t>Welch independent-samples t-test</a:t>
            </a:r>
          </a:p>
        </p:txBody>
      </p:sp>
      <p:sp>
        <p:nvSpPr>
          <p:cNvPr id="6" name="Two-tailed threshold: alpha = 0.05">
            <a:extLst xmlns:a="http://schemas.openxmlformats.org/drawingml/2006/main">
              <a:ext uri="{FF2B5EF4-FFF2-40B4-BE49-F238E27FC236}">
                <a16:creationId xmlns:a16="http://schemas.microsoft.com/office/drawing/2014/main" id="{C1790A65-7D98-4042-8618-594524E3363C}"/>
              </a:ext>
            </a:extLst>
          </p:cNvPr>
          <p:cNvSpPr>
            <a:spLocks xmlns:a="http://schemas.openxmlformats.org/drawingml/2006/main" noGrp="1"/>
          </p:cNvSpPr>
          <p:nvPr/>
        </p:nvSpPr>
        <p:spPr>
          <a:xfrm xmlns:a="http://schemas.openxmlformats.org/drawingml/2006/main">
            <a:off x="342900" y="242887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33424D"/>
                </a:solidFill>
                <a:latin typeface="Calibri"/>
                <a:ea typeface="Calibri"/>
                <a:cs typeface="Calibri"/>
              </a:defRPr>
            </a:defPPr>
          </a:lstStyle>
          <a:p xmlns:a="http://schemas.openxmlformats.org/drawingml/2006/main">
            <a:pPr algn="l">
              <a:defRPr sz="2400" b="0">
                <a:solidFill>
                  <a:srgbClr val="33424D"/>
                </a:solidFill>
                <a:latin typeface="Calibri"/>
                <a:ea typeface="Calibri"/>
                <a:cs typeface="Calibri"/>
              </a:defRPr>
            </a:pPr>
            <a:r>
              <a:rPr sz="2400" b="0">
                <a:solidFill>
                  <a:srgbClr val="33424D"/>
                </a:solidFill>
                <a:latin typeface="Calibri"/>
                <a:ea typeface="Calibri"/>
                <a:cs typeface="Calibri"/>
              </a:rPr>
              <a:t>Two-tailed threshold: alpha = 0.05</a:t>
            </a:r>
          </a:p>
        </p:txBody>
      </p:sp>
      <p:sp>
        <p:nvSpPr>
          <p:cNvPr id="7" name="H0: Equal overall mean survey ratings.">
            <a:extLst xmlns:a="http://schemas.openxmlformats.org/drawingml/2006/main">
              <a:ext uri="{FF2B5EF4-FFF2-40B4-BE49-F238E27FC236}">
                <a16:creationId xmlns:a16="http://schemas.microsoft.com/office/drawing/2014/main" id="{E54965FD-9BEB-4859-B58F-C2313F5032D4}"/>
              </a:ext>
            </a:extLst>
          </p:cNvPr>
          <p:cNvSpPr>
            <a:spLocks xmlns:a="http://schemas.openxmlformats.org/drawingml/2006/main" noGrp="1"/>
          </p:cNvSpPr>
          <p:nvPr/>
        </p:nvSpPr>
        <p:spPr>
          <a:xfrm xmlns:a="http://schemas.openxmlformats.org/drawingml/2006/main">
            <a:off x="342900" y="294322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33424D"/>
                </a:solidFill>
                <a:latin typeface="Calibri"/>
                <a:ea typeface="Calibri"/>
                <a:cs typeface="Calibri"/>
              </a:defRPr>
            </a:defPPr>
          </a:lstStyle>
          <a:p xmlns:a="http://schemas.openxmlformats.org/drawingml/2006/main">
            <a:pPr algn="l">
              <a:defRPr sz="2400" b="0">
                <a:solidFill>
                  <a:srgbClr val="33424D"/>
                </a:solidFill>
                <a:latin typeface="Calibri"/>
                <a:ea typeface="Calibri"/>
                <a:cs typeface="Calibri"/>
              </a:defRPr>
            </a:pPr>
            <a:r>
              <a:rPr sz="2400" b="0">
                <a:solidFill>
                  <a:srgbClr val="33424D"/>
                </a:solidFill>
                <a:latin typeface="Calibri"/>
                <a:ea typeface="Calibri"/>
                <a:cs typeface="Calibri"/>
              </a:rPr>
              <a:t>H0: Equal overall mean survey ratings.</a:t>
            </a:r>
          </a:p>
        </p:txBody>
      </p:sp>
      <p:sp>
        <p:nvSpPr>
          <p:cNvPr id="8" name="H1: Different overall mean survey ratings.">
            <a:extLst xmlns:a="http://schemas.openxmlformats.org/drawingml/2006/main">
              <a:ext uri="{FF2B5EF4-FFF2-40B4-BE49-F238E27FC236}">
                <a16:creationId xmlns:a16="http://schemas.microsoft.com/office/drawing/2014/main" id="{563C6E9B-24BE-4811-822B-D75721C3AC3F}"/>
              </a:ext>
            </a:extLst>
          </p:cNvPr>
          <p:cNvSpPr>
            <a:spLocks xmlns:a="http://schemas.openxmlformats.org/drawingml/2006/main" noGrp="1"/>
          </p:cNvSpPr>
          <p:nvPr/>
        </p:nvSpPr>
        <p:spPr>
          <a:xfrm xmlns:a="http://schemas.openxmlformats.org/drawingml/2006/main">
            <a:off x="342900" y="345757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33424D"/>
                </a:solidFill>
                <a:latin typeface="Calibri"/>
                <a:ea typeface="Calibri"/>
                <a:cs typeface="Calibri"/>
              </a:defRPr>
            </a:defPPr>
          </a:lstStyle>
          <a:p xmlns:a="http://schemas.openxmlformats.org/drawingml/2006/main">
            <a:pPr algn="l">
              <a:defRPr sz="2400" b="0">
                <a:solidFill>
                  <a:srgbClr val="33424D"/>
                </a:solidFill>
                <a:latin typeface="Calibri"/>
                <a:ea typeface="Calibri"/>
                <a:cs typeface="Calibri"/>
              </a:defRPr>
            </a:pPr>
            <a:r>
              <a:rPr sz="2400" b="0">
                <a:solidFill>
                  <a:srgbClr val="33424D"/>
                </a:solidFill>
                <a:latin typeface="Calibri"/>
                <a:ea typeface="Calibri"/>
                <a:cs typeface="Calibri"/>
              </a:rPr>
              <a:t>H1: Different overall mean survey ratings.</a:t>
            </a:r>
          </a:p>
        </p:txBody>
      </p:sp>
      <p:sp>
        <p:nvSpPr>
          <p:cNvPr id="9" name="t = mean difference / SE">
            <a:extLst xmlns:a="http://schemas.openxmlformats.org/drawingml/2006/main">
              <a:ext uri="{FF2B5EF4-FFF2-40B4-BE49-F238E27FC236}">
                <a16:creationId xmlns:a16="http://schemas.microsoft.com/office/drawing/2014/main" id="{021DD19E-5CF6-410B-A4A3-D9D0FF80EC8E}"/>
              </a:ext>
            </a:extLst>
          </p:cNvPr>
          <p:cNvSpPr>
            <a:spLocks xmlns:a="http://schemas.openxmlformats.org/drawingml/2006/main" noGrp="1"/>
          </p:cNvSpPr>
          <p:nvPr/>
        </p:nvSpPr>
        <p:spPr>
          <a:xfrm xmlns:a="http://schemas.openxmlformats.org/drawingml/2006/main">
            <a:off x="342900" y="397192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33424D"/>
                </a:solidFill>
                <a:latin typeface="Calibri"/>
                <a:ea typeface="Calibri"/>
                <a:cs typeface="Calibri"/>
              </a:defRPr>
            </a:defPPr>
          </a:lstStyle>
          <a:p xmlns:a="http://schemas.openxmlformats.org/drawingml/2006/main">
            <a:pPr algn="l">
              <a:defRPr sz="2400" b="0">
                <a:solidFill>
                  <a:srgbClr val="33424D"/>
                </a:solidFill>
                <a:latin typeface="Calibri"/>
                <a:ea typeface="Calibri"/>
                <a:cs typeface="Calibri"/>
              </a:defRPr>
            </a:pPr>
            <a:r>
              <a:rPr sz="2400" b="0">
                <a:solidFill>
                  <a:srgbClr val="33424D"/>
                </a:solidFill>
                <a:latin typeface="Calibri"/>
                <a:ea typeface="Calibri"/>
                <a:cs typeface="Calibri"/>
              </a:rPr>
              <a:t>t = mean difference / SE</a:t>
            </a:r>
          </a:p>
        </p:txBody>
      </p:sp>
    </p:spTree>
    <p:extLst>
      <p:ext uri="{BB962C8B-B14F-4D97-AF65-F5344CB8AC3E}">
        <p14:creationId xmlns:p14="http://schemas.microsoft.com/office/powerpoint/2010/main" val="158055981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III. RESULTS">
            <a:extLst xmlns:a="http://schemas.openxmlformats.org/drawingml/2006/main">
              <a:ext uri="{FF2B5EF4-FFF2-40B4-BE49-F238E27FC236}">
                <a16:creationId xmlns:a16="http://schemas.microsoft.com/office/drawing/2014/main" id="{B0EB6AEA-64C3-48EC-9070-FFA4BE6CACE5}"/>
              </a:ext>
            </a:extLst>
          </p:cNvPr>
          <p:cNvSpPr>
            <a:spLocks xmlns:a="http://schemas.openxmlformats.org/drawingml/2006/main" noGrp="1"/>
          </p:cNvSpPr>
          <p:nvPr/>
        </p:nvSpPr>
        <p:spPr>
          <a:xfrm xmlns:a="http://schemas.openxmlformats.org/drawingml/2006/main">
            <a:off x="342900" y="247650"/>
            <a:ext cx="8458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007F86"/>
                </a:solidFill>
                <a:latin typeface="Calibri"/>
                <a:ea typeface="Calibri"/>
                <a:cs typeface="Calibri"/>
              </a:defRPr>
            </a:defPPr>
          </a:lstStyle>
          <a:p xmlns:a="http://schemas.openxmlformats.org/drawingml/2006/main">
            <a:pPr algn="l">
              <a:defRPr sz="1275" b="1">
                <a:solidFill>
                  <a:srgbClr val="007F86"/>
                </a:solidFill>
                <a:latin typeface="Calibri"/>
                <a:ea typeface="Calibri"/>
                <a:cs typeface="Calibri"/>
              </a:defRPr>
            </a:pPr>
            <a:r>
              <a:rPr sz="1275" b="1">
                <a:solidFill>
                  <a:srgbClr val="007F86"/>
                </a:solidFill>
                <a:latin typeface="Calibri"/>
                <a:ea typeface="Calibri"/>
                <a:cs typeface="Calibri"/>
              </a:rPr>
              <a:t>III. RESULTS</a:t>
            </a:r>
          </a:p>
        </p:txBody>
      </p:sp>
      <p:sp>
        <p:nvSpPr>
          <p:cNvPr id="2" name="Records and Selected Test Cases">
            <a:extLst xmlns:a="http://schemas.openxmlformats.org/drawingml/2006/main">
              <a:ext uri="{FF2B5EF4-FFF2-40B4-BE49-F238E27FC236}">
                <a16:creationId xmlns:a16="http://schemas.microsoft.com/office/drawing/2014/main" id="{492CF22C-2A31-43EF-BA03-BC56C0AB01DD}"/>
              </a:ext>
            </a:extLst>
          </p:cNvPr>
          <p:cNvSpPr>
            <a:spLocks xmlns:a="http://schemas.openxmlformats.org/drawingml/2006/main" noGrp="1"/>
          </p:cNvSpPr>
          <p:nvPr/>
        </p:nvSpPr>
        <p:spPr>
          <a:xfrm xmlns:a="http://schemas.openxmlformats.org/drawingml/2006/main">
            <a:off x="342900" y="619125"/>
            <a:ext cx="8458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42C45"/>
                </a:solidFill>
                <a:latin typeface="Calibri"/>
                <a:ea typeface="Calibri"/>
                <a:cs typeface="Calibri"/>
              </a:defRPr>
            </a:defPPr>
          </a:lstStyle>
          <a:p xmlns:a="http://schemas.openxmlformats.org/drawingml/2006/main">
            <a:pPr algn="l">
              <a:defRPr sz="3000" b="1">
                <a:solidFill>
                  <a:srgbClr val="142C45"/>
                </a:solidFill>
                <a:latin typeface="Calibri"/>
                <a:ea typeface="Calibri"/>
                <a:cs typeface="Calibri"/>
              </a:defRPr>
            </a:pPr>
            <a:r>
              <a:rPr sz="3000" b="1">
                <a:solidFill>
                  <a:srgbClr val="142C45"/>
                </a:solidFill>
                <a:latin typeface="Calibri"/>
                <a:ea typeface="Calibri"/>
                <a:cs typeface="Calibri"/>
              </a:rPr>
              <a:t>Records and Selected Test Cases</a:t>
            </a:r>
          </a:p>
        </p:txBody>
      </p:sp>
      <p:sp>
        <p:nvSpPr>
          <p:cNvPr id="3" name="12 / 24">
            <a:extLst xmlns:a="http://schemas.openxmlformats.org/drawingml/2006/main">
              <a:ext uri="{FF2B5EF4-FFF2-40B4-BE49-F238E27FC236}">
                <a16:creationId xmlns:a16="http://schemas.microsoft.com/office/drawing/2014/main" id="{029375F5-3198-437F-8179-319DCECDC59F}"/>
              </a:ext>
            </a:extLst>
          </p:cNvPr>
          <p:cNvSpPr>
            <a:spLocks xmlns:a="http://schemas.openxmlformats.org/drawingml/2006/main" noGrp="1"/>
          </p:cNvSpPr>
          <p:nvPr/>
        </p:nvSpPr>
        <p:spPr>
          <a:xfrm xmlns:a="http://schemas.openxmlformats.org/drawingml/2006/main">
            <a:off x="8172450" y="489585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607282"/>
                </a:solidFill>
                <a:latin typeface="Calibri"/>
                <a:ea typeface="Calibri"/>
                <a:cs typeface="Calibri"/>
              </a:defRPr>
            </a:defPPr>
          </a:lstStyle>
          <a:p xmlns:a="http://schemas.openxmlformats.org/drawingml/2006/main">
            <a:pPr algn="r">
              <a:defRPr sz="900" b="0">
                <a:solidFill>
                  <a:srgbClr val="607282"/>
                </a:solidFill>
                <a:latin typeface="Calibri"/>
                <a:ea typeface="Calibri"/>
                <a:cs typeface="Calibri"/>
              </a:defRPr>
            </a:pPr>
            <a:r>
              <a:rPr sz="900" b="0">
                <a:solidFill>
                  <a:srgbClr val="607282"/>
                </a:solidFill>
                <a:latin typeface="Calibri"/>
                <a:ea typeface="Calibri"/>
                <a:cs typeface="Calibri"/>
              </a:rPr>
              <a:t>12 / 24</a:t>
            </a:r>
          </a:p>
        </p:txBody>
      </p:sp>
      <p:graphicFrame>
        <p:nvGraphicFramePr>
          <p:cNvPr id="4" name="">
            <a:extLst xmlns:a="http://schemas.openxmlformats.org/drawingml/2006/main">
              <a:ext uri="{FF2B5EF4-FFF2-40B4-BE49-F238E27FC236}">
                <a16:creationId xmlns:a16="http://schemas.microsoft.com/office/drawing/2014/main" id="{3201D468-8028-4660-989D-4CF6903B8B85}"/>
              </a:ext>
            </a:extLst>
          </p:cNvPr>
          <p:cNvGraphicFramePr/>
          <p:nvPr/>
        </p:nvGraphicFramePr>
        <p:xfrm>
          <a:off xmlns:a="http://schemas.openxmlformats.org/drawingml/2006/main" x="342900" y="1362075"/>
          <a:ext xmlns:a="http://schemas.openxmlformats.org/drawingml/2006/main" cx="8458200" cy="2762250"/>
        </p:xfrm>
        <a:graphic xmlns:a="http://schemas.openxmlformats.org/drawingml/2006/main">
          <a:graphicData uri="http://schemas.openxmlformats.org/drawingml/2006/table">
            <a:tbl>
              <a:tblPr/>
              <a:tblGrid>
                <a:gridCol w="2438400"/>
                <a:gridCol w="1504950"/>
                <a:gridCol w="1504950"/>
                <a:gridCol w="1504950"/>
                <a:gridCol w="1504950"/>
              </a:tblGrid>
              <a:tr h="552450">
                <a:tc>
                  <a:txBody>
                    <a:bodyPr lIns="0" tIns="0" rIns="0" bIns="0">
                      <a:noAutofit/>
                    </a:bodyPr>
                    <a:lstStyle/>
                    <a:p>
                      <a:pPr algn="l"/>
                      <a:r>
                        <a:rPr sz="2175" b="1">
                          <a:solidFill>
                            <a:srgbClr val="FFFFFF"/>
                          </a:solidFill>
                          <a:latin typeface="Calibri"/>
                          <a:ea typeface="Calibri"/>
                          <a:cs typeface="Calibri"/>
                        </a:rPr>
                        <a:t>Mode</a:t>
                      </a:r>
                    </a:p>
                  </a:txBody>
                  <a:tcPr marL="95250" marR="95250" marT="47625" marB="47625" anchor="ctr">
                    <a:lnL w="6350">
                      <a:noFill/>
                      <a:prstDash val="solid"/>
                    </a:lnL>
                    <a:lnR w="6350">
                      <a:noFill/>
                      <a:prstDash val="solid"/>
                    </a:lnR>
                    <a:lnT w="6350">
                      <a:noFill/>
                      <a:prstDash val="solid"/>
                    </a:lnT>
                    <a:lnB w="6350">
                      <a:noFill/>
                      <a:prstDash val="solid"/>
                    </a:lnB>
                    <a:solidFill>
                      <a:srgbClr val="142C45"/>
                    </a:solidFill>
                  </a:tcPr>
                </a:tc>
                <a:tc>
                  <a:txBody>
                    <a:bodyPr lIns="0" tIns="0" rIns="0" bIns="0">
                      <a:noAutofit/>
                    </a:bodyPr>
                    <a:lstStyle/>
                    <a:p>
                      <a:pPr algn="ctr"/>
                      <a:r>
                        <a:rPr sz="2175" b="1">
                          <a:solidFill>
                            <a:srgbClr val="FFFFFF"/>
                          </a:solidFill>
                          <a:latin typeface="Calibri"/>
                          <a:ea typeface="Calibri"/>
                          <a:cs typeface="Calibri"/>
                        </a:rPr>
                        <a:t>Entries</a:t>
                      </a:r>
                    </a:p>
                  </a:txBody>
                  <a:tcPr marL="95250" marR="95250" marT="47625" marB="47625" anchor="ctr">
                    <a:lnL w="6350">
                      <a:noFill/>
                      <a:prstDash val="solid"/>
                    </a:lnL>
                    <a:lnR w="6350">
                      <a:noFill/>
                      <a:prstDash val="solid"/>
                    </a:lnR>
                    <a:lnT w="6350">
                      <a:noFill/>
                      <a:prstDash val="solid"/>
                    </a:lnT>
                    <a:lnB w="6350">
                      <a:noFill/>
                      <a:prstDash val="solid"/>
                    </a:lnB>
                    <a:solidFill>
                      <a:srgbClr val="142C45"/>
                    </a:solidFill>
                  </a:tcPr>
                </a:tc>
                <a:tc>
                  <a:txBody>
                    <a:bodyPr lIns="0" tIns="0" rIns="0" bIns="0">
                      <a:noAutofit/>
                    </a:bodyPr>
                    <a:lstStyle/>
                    <a:p>
                      <a:pPr algn="ctr"/>
                      <a:r>
                        <a:rPr sz="2175" b="1">
                          <a:solidFill>
                            <a:srgbClr val="FFFFFF"/>
                          </a:solidFill>
                          <a:latin typeface="Calibri"/>
                          <a:ea typeface="Calibri"/>
                          <a:cs typeface="Calibri"/>
                        </a:rPr>
                        <a:t>Resets</a:t>
                      </a:r>
                    </a:p>
                  </a:txBody>
                  <a:tcPr marL="95250" marR="95250" marT="47625" marB="47625" anchor="ctr">
                    <a:lnL w="6350">
                      <a:noFill/>
                      <a:prstDash val="solid"/>
                    </a:lnL>
                    <a:lnR w="6350">
                      <a:noFill/>
                      <a:prstDash val="solid"/>
                    </a:lnR>
                    <a:lnT w="6350">
                      <a:noFill/>
                      <a:prstDash val="solid"/>
                    </a:lnT>
                    <a:lnB w="6350">
                      <a:noFill/>
                      <a:prstDash val="solid"/>
                    </a:lnB>
                    <a:solidFill>
                      <a:srgbClr val="142C45"/>
                    </a:solidFill>
                  </a:tcPr>
                </a:tc>
                <a:tc>
                  <a:txBody>
                    <a:bodyPr lIns="0" tIns="0" rIns="0" bIns="0">
                      <a:noAutofit/>
                    </a:bodyPr>
                    <a:lstStyle/>
                    <a:p>
                      <a:pPr algn="ctr"/>
                      <a:r>
                        <a:rPr sz="2175" b="1">
                          <a:solidFill>
                            <a:srgbClr val="FFFFFF"/>
                          </a:solidFill>
                          <a:latin typeface="Calibri"/>
                          <a:ea typeface="Calibri"/>
                          <a:cs typeface="Calibri"/>
                        </a:rPr>
                        <a:t>Denials</a:t>
                      </a:r>
                    </a:p>
                  </a:txBody>
                  <a:tcPr marL="95250" marR="95250" marT="47625" marB="47625" anchor="ctr">
                    <a:lnL w="6350">
                      <a:noFill/>
                      <a:prstDash val="solid"/>
                    </a:lnL>
                    <a:lnR w="6350">
                      <a:noFill/>
                      <a:prstDash val="solid"/>
                    </a:lnR>
                    <a:lnT w="6350">
                      <a:noFill/>
                      <a:prstDash val="solid"/>
                    </a:lnT>
                    <a:lnB w="6350">
                      <a:noFill/>
                      <a:prstDash val="solid"/>
                    </a:lnB>
                    <a:solidFill>
                      <a:srgbClr val="142C45"/>
                    </a:solidFill>
                  </a:tcPr>
                </a:tc>
                <a:tc>
                  <a:txBody>
                    <a:bodyPr lIns="0" tIns="0" rIns="0" bIns="0">
                      <a:noAutofit/>
                    </a:bodyPr>
                    <a:lstStyle/>
                    <a:p>
                      <a:pPr algn="ctr"/>
                      <a:r>
                        <a:rPr sz="2175" b="1">
                          <a:solidFill>
                            <a:srgbClr val="FFFFFF"/>
                          </a:solidFill>
                          <a:latin typeface="Calibri"/>
                          <a:ea typeface="Calibri"/>
                          <a:cs typeface="Calibri"/>
                        </a:rPr>
                        <a:t>Total</a:t>
                      </a:r>
                    </a:p>
                  </a:txBody>
                  <a:tcPr marL="95250" marR="95250" marT="47625" marB="47625" anchor="ctr">
                    <a:lnL w="6350">
                      <a:noFill/>
                      <a:prstDash val="solid"/>
                    </a:lnL>
                    <a:lnR w="6350">
                      <a:noFill/>
                      <a:prstDash val="solid"/>
                    </a:lnR>
                    <a:lnT w="6350">
                      <a:noFill/>
                      <a:prstDash val="solid"/>
                    </a:lnT>
                    <a:lnB w="6350">
                      <a:noFill/>
                      <a:prstDash val="solid"/>
                    </a:lnB>
                    <a:solidFill>
                      <a:srgbClr val="142C45"/>
                    </a:solidFill>
                  </a:tcPr>
                </a:tc>
              </a:tr>
              <a:tr h="552450">
                <a:tc>
                  <a:txBody>
                    <a:bodyPr lIns="0" tIns="0" rIns="0" bIns="0">
                      <a:noAutofit/>
                    </a:bodyPr>
                    <a:lstStyle/>
                    <a:p>
                      <a:pPr algn="l"/>
                      <a:r>
                        <a:rPr sz="2175" b="0">
                          <a:solidFill>
                            <a:srgbClr val="33424D"/>
                          </a:solidFill>
                          <a:latin typeface="Calibri"/>
                          <a:ea typeface="Calibri"/>
                          <a:cs typeface="Calibri"/>
                        </a:rPr>
                        <a:t>Fast</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r>
                        <a:rPr sz="2175" b="0">
                          <a:solidFill>
                            <a:srgbClr val="33424D"/>
                          </a:solidFill>
                          <a:latin typeface="Calibri"/>
                          <a:ea typeface="Calibri"/>
                          <a:cs typeface="Calibri"/>
                        </a:rPr>
                        <a:t>70</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r>
                        <a:rPr sz="2175" b="0">
                          <a:solidFill>
                            <a:srgbClr val="33424D"/>
                          </a:solidFill>
                          <a:latin typeface="Calibri"/>
                          <a:ea typeface="Calibri"/>
                          <a:cs typeface="Calibri"/>
                        </a:rPr>
                        <a:t>70</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r>
                        <a:rPr sz="2175" b="0">
                          <a:solidFill>
                            <a:srgbClr val="33424D"/>
                          </a:solidFill>
                          <a:latin typeface="Calibri"/>
                          <a:ea typeface="Calibri"/>
                          <a:cs typeface="Calibri"/>
                        </a:rPr>
                        <a:t>2</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r>
                        <a:rPr sz="2175" b="0">
                          <a:solidFill>
                            <a:srgbClr val="33424D"/>
                          </a:solidFill>
                          <a:latin typeface="Calibri"/>
                          <a:ea typeface="Calibri"/>
                          <a:cs typeface="Calibri"/>
                        </a:rPr>
                        <a:t>142</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r>
              <a:tr h="552450">
                <a:tc>
                  <a:txBody>
                    <a:bodyPr lIns="0" tIns="0" rIns="0" bIns="0">
                      <a:noAutofit/>
                    </a:bodyPr>
                    <a:lstStyle/>
                    <a:p>
                      <a:pPr algn="l"/>
                      <a:r>
                        <a:rPr sz="2175" b="0">
                          <a:solidFill>
                            <a:srgbClr val="33424D"/>
                          </a:solidFill>
                          <a:latin typeface="Calibri"/>
                          <a:ea typeface="Calibri"/>
                          <a:cs typeface="Calibri"/>
                        </a:rPr>
                        <a:t>Standard</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ctr"/>
                      <a:r>
                        <a:rPr sz="2175" b="0">
                          <a:solidFill>
                            <a:srgbClr val="33424D"/>
                          </a:solidFill>
                          <a:latin typeface="Calibri"/>
                          <a:ea typeface="Calibri"/>
                          <a:cs typeface="Calibri"/>
                        </a:rPr>
                        <a:t>70</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ctr"/>
                      <a:r>
                        <a:rPr sz="2175" b="0">
                          <a:solidFill>
                            <a:srgbClr val="33424D"/>
                          </a:solidFill>
                          <a:latin typeface="Calibri"/>
                          <a:ea typeface="Calibri"/>
                          <a:cs typeface="Calibri"/>
                        </a:rPr>
                        <a:t>70</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ctr"/>
                      <a:r>
                        <a:rPr sz="2175" b="0">
                          <a:solidFill>
                            <a:srgbClr val="33424D"/>
                          </a:solidFill>
                          <a:latin typeface="Calibri"/>
                          <a:ea typeface="Calibri"/>
                          <a:cs typeface="Calibri"/>
                        </a:rPr>
                        <a:t>12</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ctr"/>
                      <a:r>
                        <a:rPr sz="2175" b="0">
                          <a:solidFill>
                            <a:srgbClr val="33424D"/>
                          </a:solidFill>
                          <a:latin typeface="Calibri"/>
                          <a:ea typeface="Calibri"/>
                          <a:cs typeface="Calibri"/>
                        </a:rPr>
                        <a:t>152</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r>
              <a:tr h="552450">
                <a:tc>
                  <a:txBody>
                    <a:bodyPr lIns="0" tIns="0" rIns="0" bIns="0">
                      <a:noAutofit/>
                    </a:bodyPr>
                    <a:lstStyle/>
                    <a:p>
                      <a:pPr algn="l"/>
                      <a:r>
                        <a:rPr sz="2175" b="0">
                          <a:solidFill>
                            <a:srgbClr val="33424D"/>
                          </a:solidFill>
                          <a:latin typeface="Calibri"/>
                          <a:ea typeface="Calibri"/>
                          <a:cs typeface="Calibri"/>
                        </a:rPr>
                        <a:t>High-Security</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r>
                        <a:rPr sz="2175" b="0">
                          <a:solidFill>
                            <a:srgbClr val="33424D"/>
                          </a:solidFill>
                          <a:latin typeface="Calibri"/>
                          <a:ea typeface="Calibri"/>
                          <a:cs typeface="Calibri"/>
                        </a:rPr>
                        <a:t>70</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r>
                        <a:rPr sz="2175" b="0">
                          <a:solidFill>
                            <a:srgbClr val="33424D"/>
                          </a:solidFill>
                          <a:latin typeface="Calibri"/>
                          <a:ea typeface="Calibri"/>
                          <a:cs typeface="Calibri"/>
                        </a:rPr>
                        <a:t>70</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r>
                        <a:rPr sz="2175" b="0">
                          <a:solidFill>
                            <a:srgbClr val="33424D"/>
                          </a:solidFill>
                          <a:latin typeface="Calibri"/>
                          <a:ea typeface="Calibri"/>
                          <a:cs typeface="Calibri"/>
                        </a:rPr>
                        <a:t>4</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r>
                        <a:rPr sz="2175" b="0">
                          <a:solidFill>
                            <a:srgbClr val="33424D"/>
                          </a:solidFill>
                          <a:latin typeface="Calibri"/>
                          <a:ea typeface="Calibri"/>
                          <a:cs typeface="Calibri"/>
                        </a:rPr>
                        <a:t>144</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r>
              <a:tr h="552450">
                <a:tc>
                  <a:txBody>
                    <a:bodyPr lIns="0" tIns="0" rIns="0" bIns="0">
                      <a:noAutofit/>
                    </a:bodyPr>
                    <a:lstStyle/>
                    <a:p>
                      <a:pPr algn="l"/>
                      <a:r>
                        <a:rPr sz="2175" b="1">
                          <a:solidFill>
                            <a:srgbClr val="007F86"/>
                          </a:solidFill>
                          <a:latin typeface="Calibri"/>
                          <a:ea typeface="Calibri"/>
                          <a:cs typeface="Calibri"/>
                        </a:rPr>
                        <a:t>Total</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E7F3F3"/>
                    </a:solidFill>
                  </a:tcPr>
                </a:tc>
                <a:tc>
                  <a:txBody>
                    <a:bodyPr lIns="0" tIns="0" rIns="0" bIns="0">
                      <a:noAutofit/>
                    </a:bodyPr>
                    <a:lstStyle/>
                    <a:p>
                      <a:pPr algn="ctr"/>
                      <a:r>
                        <a:rPr sz="2175" b="1">
                          <a:solidFill>
                            <a:srgbClr val="007F86"/>
                          </a:solidFill>
                          <a:latin typeface="Calibri"/>
                          <a:ea typeface="Calibri"/>
                          <a:cs typeface="Calibri"/>
                        </a:rPr>
                        <a:t>210</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E7F3F3"/>
                    </a:solidFill>
                  </a:tcPr>
                </a:tc>
                <a:tc>
                  <a:txBody>
                    <a:bodyPr lIns="0" tIns="0" rIns="0" bIns="0">
                      <a:noAutofit/>
                    </a:bodyPr>
                    <a:lstStyle/>
                    <a:p>
                      <a:pPr algn="ctr"/>
                      <a:r>
                        <a:rPr sz="2175" b="1">
                          <a:solidFill>
                            <a:srgbClr val="007F86"/>
                          </a:solidFill>
                          <a:latin typeface="Calibri"/>
                          <a:ea typeface="Calibri"/>
                          <a:cs typeface="Calibri"/>
                        </a:rPr>
                        <a:t>210</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E7F3F3"/>
                    </a:solidFill>
                  </a:tcPr>
                </a:tc>
                <a:tc>
                  <a:txBody>
                    <a:bodyPr lIns="0" tIns="0" rIns="0" bIns="0">
                      <a:noAutofit/>
                    </a:bodyPr>
                    <a:lstStyle/>
                    <a:p>
                      <a:pPr algn="ctr"/>
                      <a:r>
                        <a:rPr sz="2175" b="1">
                          <a:solidFill>
                            <a:srgbClr val="007F86"/>
                          </a:solidFill>
                          <a:latin typeface="Calibri"/>
                          <a:ea typeface="Calibri"/>
                          <a:cs typeface="Calibri"/>
                        </a:rPr>
                        <a:t>18</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E7F3F3"/>
                    </a:solidFill>
                  </a:tcPr>
                </a:tc>
                <a:tc>
                  <a:txBody>
                    <a:bodyPr lIns="0" tIns="0" rIns="0" bIns="0">
                      <a:noAutofit/>
                    </a:bodyPr>
                    <a:lstStyle/>
                    <a:p>
                      <a:pPr algn="ctr"/>
                      <a:r>
                        <a:rPr sz="2175" b="1">
                          <a:solidFill>
                            <a:srgbClr val="007F86"/>
                          </a:solidFill>
                          <a:latin typeface="Calibri"/>
                          <a:ea typeface="Calibri"/>
                          <a:cs typeface="Calibri"/>
                        </a:rPr>
                        <a:t>438</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E7F3F3"/>
                    </a:solidFill>
                  </a:tcPr>
                </a:tc>
              </a:tr>
            </a:tbl>
          </a:graphicData>
        </a:graphic>
      </p:graphicFrame>
      <p:sp>
        <p:nvSpPr>
          <p:cNvPr id="5" name="16 listed PASS cases, limited scope.">
            <a:extLst xmlns:a="http://schemas.openxmlformats.org/drawingml/2006/main">
              <a:ext uri="{FF2B5EF4-FFF2-40B4-BE49-F238E27FC236}">
                <a16:creationId xmlns:a16="http://schemas.microsoft.com/office/drawing/2014/main" id="{A624A349-C8A4-4051-AA12-FFADA24A221D}"/>
              </a:ext>
            </a:extLst>
          </p:cNvPr>
          <p:cNvSpPr>
            <a:spLocks xmlns:a="http://schemas.openxmlformats.org/drawingml/2006/main" noGrp="1"/>
          </p:cNvSpPr>
          <p:nvPr/>
        </p:nvSpPr>
        <p:spPr>
          <a:xfrm xmlns:a="http://schemas.openxmlformats.org/drawingml/2006/main">
            <a:off x="342900" y="4400550"/>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607282"/>
                </a:solidFill>
                <a:latin typeface="Calibri"/>
                <a:ea typeface="Calibri"/>
                <a:cs typeface="Calibri"/>
              </a:defRPr>
            </a:defPPr>
          </a:lstStyle>
          <a:p xmlns:a="http://schemas.openxmlformats.org/drawingml/2006/main">
            <a:pPr algn="l">
              <a:defRPr sz="2100" b="0">
                <a:solidFill>
                  <a:srgbClr val="607282"/>
                </a:solidFill>
                <a:latin typeface="Calibri"/>
                <a:ea typeface="Calibri"/>
                <a:cs typeface="Calibri"/>
              </a:defRPr>
            </a:pPr>
            <a:r>
              <a:rPr sz="2100" b="0">
                <a:solidFill>
                  <a:srgbClr val="607282"/>
                </a:solidFill>
                <a:latin typeface="Calibri"/>
                <a:ea typeface="Calibri"/>
                <a:cs typeface="Calibri"/>
              </a:rPr>
              <a:t>16 listed PASS cases, limited scope.</a:t>
            </a:r>
          </a:p>
        </p:txBody>
      </p:sp>
    </p:spTree>
    <p:extLst>
      <p:ext uri="{BB962C8B-B14F-4D97-AF65-F5344CB8AC3E}">
        <p14:creationId xmlns:p14="http://schemas.microsoft.com/office/powerpoint/2010/main" val="71604494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graphicFrame>
        <p:nvGraphicFramePr>
          <p:cNvPr id="5" name="Chart">
            <a:extLst xmlns:a="http://schemas.openxmlformats.org/drawingml/2006/main">
              <a:ext uri="{FF2B5EF4-FFF2-40B4-BE49-F238E27FC236}">
                <a16:creationId xmlns:a16="http://schemas.microsoft.com/office/drawing/2014/main" id="{87B0EFFF-87E8-40F2-A26A-205C24144DD5}"/>
              </a:ext>
            </a:extLst>
          </p:cNvPr>
          <p:cNvGraphicFramePr/>
          <p:nvPr/>
        </p:nvGraphicFramePr>
        <p:xfrm>
          <a:off xmlns:a="http://schemas.openxmlformats.org/drawingml/2006/main" x="4772025" y="1362075"/>
          <a:ext xmlns:a="http://schemas.openxmlformats.org/drawingml/2006/main" cx="4029075" cy="2533650"/>
        </p:xfrm>
        <a:graphic xmlns:a="http://schemas.openxmlformats.org/drawingml/2006/main">
          <a:graphicData uri="http://schemas.openxmlformats.org/drawingml/2006/chart">
            <c:chart xmlns:r="http://schemas.openxmlformats.org/officeDocument/2006/relationships" xmlns:c="http://schemas.openxmlformats.org/drawingml/2006/chart" r:id="Rd5845968dd654d90"/>
          </a:graphicData>
        </a:graphic>
      </p:graphicFrame>
      <p:sp>
        <p:nvSpPr>
          <p:cNvPr id="6" name="III. RESULTS">
            <a:extLst xmlns:a="http://schemas.openxmlformats.org/drawingml/2006/main">
              <a:ext uri="{FF2B5EF4-FFF2-40B4-BE49-F238E27FC236}">
                <a16:creationId xmlns:a16="http://schemas.microsoft.com/office/drawing/2014/main" id="{50BBA750-511C-4CE9-AF24-C6F4F3E51A50}"/>
              </a:ext>
            </a:extLst>
          </p:cNvPr>
          <p:cNvSpPr>
            <a:spLocks xmlns:a="http://schemas.openxmlformats.org/drawingml/2006/main" noGrp="1"/>
          </p:cNvSpPr>
          <p:nvPr/>
        </p:nvSpPr>
        <p:spPr>
          <a:xfrm xmlns:a="http://schemas.openxmlformats.org/drawingml/2006/main">
            <a:off x="342900" y="247650"/>
            <a:ext cx="8458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007F86"/>
                </a:solidFill>
                <a:latin typeface="Calibri"/>
                <a:ea typeface="Calibri"/>
                <a:cs typeface="Calibri"/>
              </a:defRPr>
            </a:defPPr>
          </a:lstStyle>
          <a:p xmlns:a="http://schemas.openxmlformats.org/drawingml/2006/main">
            <a:pPr algn="l">
              <a:defRPr sz="1275" b="1">
                <a:solidFill>
                  <a:srgbClr val="007F86"/>
                </a:solidFill>
                <a:latin typeface="Calibri"/>
                <a:ea typeface="Calibri"/>
                <a:cs typeface="Calibri"/>
              </a:defRPr>
            </a:pPr>
            <a:r>
              <a:rPr sz="1275" b="1">
                <a:solidFill>
                  <a:srgbClr val="007F86"/>
                </a:solidFill>
                <a:latin typeface="Calibri"/>
                <a:ea typeface="Calibri"/>
                <a:cs typeface="Calibri"/>
              </a:rPr>
              <a:t>III. RESULTS</a:t>
            </a:r>
          </a:p>
        </p:txBody>
      </p:sp>
      <p:sp>
        <p:nvSpPr>
          <p:cNvPr id="7" name="Internal Latency (ms)">
            <a:extLst xmlns:a="http://schemas.openxmlformats.org/drawingml/2006/main">
              <a:ext uri="{FF2B5EF4-FFF2-40B4-BE49-F238E27FC236}">
                <a16:creationId xmlns:a16="http://schemas.microsoft.com/office/drawing/2014/main" id="{07EED020-DB37-4A61-BA4D-56F68073443D}"/>
              </a:ext>
            </a:extLst>
          </p:cNvPr>
          <p:cNvSpPr>
            <a:spLocks xmlns:a="http://schemas.openxmlformats.org/drawingml/2006/main" noGrp="1"/>
          </p:cNvSpPr>
          <p:nvPr/>
        </p:nvSpPr>
        <p:spPr>
          <a:xfrm xmlns:a="http://schemas.openxmlformats.org/drawingml/2006/main">
            <a:off x="342900" y="619125"/>
            <a:ext cx="8458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42C45"/>
                </a:solidFill>
                <a:latin typeface="Calibri"/>
                <a:ea typeface="Calibri"/>
                <a:cs typeface="Calibri"/>
              </a:defRPr>
            </a:defPPr>
          </a:lstStyle>
          <a:p xmlns:a="http://schemas.openxmlformats.org/drawingml/2006/main">
            <a:pPr algn="l">
              <a:defRPr sz="3000" b="1">
                <a:solidFill>
                  <a:srgbClr val="142C45"/>
                </a:solidFill>
                <a:latin typeface="Calibri"/>
                <a:ea typeface="Calibri"/>
                <a:cs typeface="Calibri"/>
              </a:defRPr>
            </a:pPr>
            <a:r>
              <a:rPr sz="3000" b="1">
                <a:solidFill>
                  <a:srgbClr val="142C45"/>
                </a:solidFill>
                <a:latin typeface="Calibri"/>
                <a:ea typeface="Calibri"/>
                <a:cs typeface="Calibri"/>
              </a:rPr>
              <a:t>Internal Latency (ms)</a:t>
            </a:r>
          </a:p>
        </p:txBody>
      </p:sp>
      <p:sp>
        <p:nvSpPr>
          <p:cNvPr id="8" name="13 / 24">
            <a:extLst xmlns:a="http://schemas.openxmlformats.org/drawingml/2006/main">
              <a:ext uri="{FF2B5EF4-FFF2-40B4-BE49-F238E27FC236}">
                <a16:creationId xmlns:a16="http://schemas.microsoft.com/office/drawing/2014/main" id="{19172F27-4DC9-4BF4-9915-2CEADE1F960A}"/>
              </a:ext>
            </a:extLst>
          </p:cNvPr>
          <p:cNvSpPr>
            <a:spLocks xmlns:a="http://schemas.openxmlformats.org/drawingml/2006/main" noGrp="1"/>
          </p:cNvSpPr>
          <p:nvPr/>
        </p:nvSpPr>
        <p:spPr>
          <a:xfrm xmlns:a="http://schemas.openxmlformats.org/drawingml/2006/main">
            <a:off x="8172450" y="489585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607282"/>
                </a:solidFill>
                <a:latin typeface="Calibri"/>
                <a:ea typeface="Calibri"/>
                <a:cs typeface="Calibri"/>
              </a:defRPr>
            </a:defPPr>
          </a:lstStyle>
          <a:p xmlns:a="http://schemas.openxmlformats.org/drawingml/2006/main">
            <a:pPr algn="r">
              <a:defRPr sz="900" b="0">
                <a:solidFill>
                  <a:srgbClr val="607282"/>
                </a:solidFill>
                <a:latin typeface="Calibri"/>
                <a:ea typeface="Calibri"/>
                <a:cs typeface="Calibri"/>
              </a:defRPr>
            </a:pPr>
            <a:r>
              <a:rPr sz="900" b="0">
                <a:solidFill>
                  <a:srgbClr val="607282"/>
                </a:solidFill>
                <a:latin typeface="Calibri"/>
                <a:ea typeface="Calibri"/>
                <a:cs typeface="Calibri"/>
              </a:rPr>
              <a:t>13 / 24</a:t>
            </a:r>
          </a:p>
        </p:txBody>
      </p:sp>
      <p:graphicFrame>
        <p:nvGraphicFramePr>
          <p:cNvPr id="9" name="">
            <a:extLst xmlns:a="http://schemas.openxmlformats.org/drawingml/2006/main">
              <a:ext uri="{FF2B5EF4-FFF2-40B4-BE49-F238E27FC236}">
                <a16:creationId xmlns:a16="http://schemas.microsoft.com/office/drawing/2014/main" id="{407D46D3-F8FD-4B29-9E13-B0563A6B9064}"/>
              </a:ext>
            </a:extLst>
          </p:cNvPr>
          <p:cNvGraphicFramePr/>
          <p:nvPr/>
        </p:nvGraphicFramePr>
        <p:xfrm>
          <a:off xmlns:a="http://schemas.openxmlformats.org/drawingml/2006/main" x="342900" y="1438275"/>
          <a:ext xmlns:a="http://schemas.openxmlformats.org/drawingml/2006/main" cx="4333875" cy="2209800"/>
        </p:xfrm>
        <a:graphic xmlns:a="http://schemas.openxmlformats.org/drawingml/2006/main">
          <a:graphicData uri="http://schemas.openxmlformats.org/drawingml/2006/table">
            <a:tbl>
              <a:tblPr/>
              <a:tblGrid>
                <a:gridCol w="1733550"/>
                <a:gridCol w="866775"/>
                <a:gridCol w="866775"/>
                <a:gridCol w="866775"/>
              </a:tblGrid>
              <a:tr h="552450">
                <a:tc>
                  <a:txBody>
                    <a:bodyPr lIns="0" tIns="0" rIns="0" bIns="0">
                      <a:noAutofit/>
                    </a:bodyPr>
                    <a:lstStyle/>
                    <a:p>
                      <a:pPr algn="l"/>
                      <a:r>
                        <a:rPr sz="2025" b="1">
                          <a:solidFill>
                            <a:srgbClr val="FFFFFF"/>
                          </a:solidFill>
                          <a:latin typeface="Calibri"/>
                          <a:ea typeface="Calibri"/>
                          <a:cs typeface="Calibri"/>
                        </a:rPr>
                        <a:t>Mode</a:t>
                      </a:r>
                    </a:p>
                  </a:txBody>
                  <a:tcPr marL="95250" marR="95250" marT="47625" marB="47625" anchor="ctr">
                    <a:lnL w="6350">
                      <a:noFill/>
                      <a:prstDash val="solid"/>
                    </a:lnL>
                    <a:lnR w="6350">
                      <a:noFill/>
                      <a:prstDash val="solid"/>
                    </a:lnR>
                    <a:lnT w="6350">
                      <a:noFill/>
                      <a:prstDash val="solid"/>
                    </a:lnT>
                    <a:lnB w="6350">
                      <a:noFill/>
                      <a:prstDash val="solid"/>
                    </a:lnB>
                    <a:solidFill>
                      <a:srgbClr val="142C45"/>
                    </a:solidFill>
                  </a:tcPr>
                </a:tc>
                <a:tc>
                  <a:txBody>
                    <a:bodyPr lIns="0" tIns="0" rIns="0" bIns="0">
                      <a:noAutofit/>
                    </a:bodyPr>
                    <a:lstStyle/>
                    <a:p>
                      <a:pPr algn="ctr"/>
                      <a:r>
                        <a:rPr sz="2025" b="1">
                          <a:solidFill>
                            <a:srgbClr val="FFFFFF"/>
                          </a:solidFill>
                          <a:latin typeface="Calibri"/>
                          <a:ea typeface="Calibri"/>
                          <a:cs typeface="Calibri"/>
                        </a:rPr>
                        <a:t>Mean</a:t>
                      </a:r>
                    </a:p>
                  </a:txBody>
                  <a:tcPr marL="95250" marR="95250" marT="47625" marB="47625" anchor="ctr">
                    <a:lnL w="6350">
                      <a:noFill/>
                      <a:prstDash val="solid"/>
                    </a:lnL>
                    <a:lnR w="6350">
                      <a:noFill/>
                      <a:prstDash val="solid"/>
                    </a:lnR>
                    <a:lnT w="6350">
                      <a:noFill/>
                      <a:prstDash val="solid"/>
                    </a:lnT>
                    <a:lnB w="6350">
                      <a:noFill/>
                      <a:prstDash val="solid"/>
                    </a:lnB>
                    <a:solidFill>
                      <a:srgbClr val="142C45"/>
                    </a:solidFill>
                  </a:tcPr>
                </a:tc>
                <a:tc>
                  <a:txBody>
                    <a:bodyPr lIns="0" tIns="0" rIns="0" bIns="0">
                      <a:noAutofit/>
                    </a:bodyPr>
                    <a:lstStyle/>
                    <a:p>
                      <a:pPr algn="ctr"/>
                      <a:r>
                        <a:rPr sz="2025" b="1">
                          <a:solidFill>
                            <a:srgbClr val="FFFFFF"/>
                          </a:solidFill>
                          <a:latin typeface="Calibri"/>
                          <a:ea typeface="Calibri"/>
                          <a:cs typeface="Calibri"/>
                        </a:rPr>
                        <a:t>SD</a:t>
                      </a:r>
                    </a:p>
                  </a:txBody>
                  <a:tcPr marL="95250" marR="95250" marT="47625" marB="47625" anchor="ctr">
                    <a:lnL w="6350">
                      <a:noFill/>
                      <a:prstDash val="solid"/>
                    </a:lnL>
                    <a:lnR w="6350">
                      <a:noFill/>
                      <a:prstDash val="solid"/>
                    </a:lnR>
                    <a:lnT w="6350">
                      <a:noFill/>
                      <a:prstDash val="solid"/>
                    </a:lnT>
                    <a:lnB w="6350">
                      <a:noFill/>
                      <a:prstDash val="solid"/>
                    </a:lnB>
                    <a:solidFill>
                      <a:srgbClr val="142C45"/>
                    </a:solidFill>
                  </a:tcPr>
                </a:tc>
                <a:tc>
                  <a:txBody>
                    <a:bodyPr lIns="0" tIns="0" rIns="0" bIns="0">
                      <a:noAutofit/>
                    </a:bodyPr>
                    <a:lstStyle/>
                    <a:p>
                      <a:pPr algn="ctr"/>
                      <a:r>
                        <a:rPr sz="2025" b="1">
                          <a:solidFill>
                            <a:srgbClr val="FFFFFF"/>
                          </a:solidFill>
                          <a:latin typeface="Calibri"/>
                          <a:ea typeface="Calibri"/>
                          <a:cs typeface="Calibri"/>
                        </a:rPr>
                        <a:t>DB</a:t>
                      </a:r>
                    </a:p>
                  </a:txBody>
                  <a:tcPr marL="95250" marR="95250" marT="47625" marB="47625" anchor="ctr">
                    <a:lnL w="6350">
                      <a:noFill/>
                      <a:prstDash val="solid"/>
                    </a:lnL>
                    <a:lnR w="6350">
                      <a:noFill/>
                      <a:prstDash val="solid"/>
                    </a:lnR>
                    <a:lnT w="6350">
                      <a:noFill/>
                      <a:prstDash val="solid"/>
                    </a:lnT>
                    <a:lnB w="6350">
                      <a:noFill/>
                      <a:prstDash val="solid"/>
                    </a:lnB>
                    <a:solidFill>
                      <a:srgbClr val="142C45"/>
                    </a:solidFill>
                  </a:tcPr>
                </a:tc>
              </a:tr>
              <a:tr h="552450">
                <a:tc>
                  <a:txBody>
                    <a:bodyPr lIns="0" tIns="0" rIns="0" bIns="0">
                      <a:noAutofit/>
                    </a:bodyPr>
                    <a:lstStyle/>
                    <a:p>
                      <a:pPr algn="l"/>
                      <a:r>
                        <a:rPr sz="2025" b="0">
                          <a:solidFill>
                            <a:srgbClr val="33424D"/>
                          </a:solidFill>
                          <a:latin typeface="Calibri"/>
                          <a:ea typeface="Calibri"/>
                          <a:cs typeface="Calibri"/>
                        </a:rPr>
                        <a:t>Fast</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r>
                        <a:rPr sz="2025" b="0">
                          <a:solidFill>
                            <a:srgbClr val="33424D"/>
                          </a:solidFill>
                          <a:latin typeface="Calibri"/>
                          <a:ea typeface="Calibri"/>
                          <a:cs typeface="Calibri"/>
                        </a:rPr>
                        <a:t>11.49</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r>
                        <a:rPr sz="2025" b="0">
                          <a:solidFill>
                            <a:srgbClr val="33424D"/>
                          </a:solidFill>
                          <a:latin typeface="Calibri"/>
                          <a:ea typeface="Calibri"/>
                          <a:cs typeface="Calibri"/>
                        </a:rPr>
                        <a:t>2.20</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r>
                        <a:rPr sz="2025" b="0">
                          <a:solidFill>
                            <a:srgbClr val="33424D"/>
                          </a:solidFill>
                          <a:latin typeface="Calibri"/>
                          <a:ea typeface="Calibri"/>
                          <a:cs typeface="Calibri"/>
                        </a:rPr>
                        <a:t>2.88</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r>
              <a:tr h="552450">
                <a:tc>
                  <a:txBody>
                    <a:bodyPr lIns="0" tIns="0" rIns="0" bIns="0">
                      <a:noAutofit/>
                    </a:bodyPr>
                    <a:lstStyle/>
                    <a:p>
                      <a:pPr algn="l"/>
                      <a:r>
                        <a:rPr sz="2025" b="0">
                          <a:solidFill>
                            <a:srgbClr val="33424D"/>
                          </a:solidFill>
                          <a:latin typeface="Calibri"/>
                          <a:ea typeface="Calibri"/>
                          <a:cs typeface="Calibri"/>
                        </a:rPr>
                        <a:t>Standard</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ctr"/>
                      <a:r>
                        <a:rPr sz="2025" b="0">
                          <a:solidFill>
                            <a:srgbClr val="33424D"/>
                          </a:solidFill>
                          <a:latin typeface="Calibri"/>
                          <a:ea typeface="Calibri"/>
                          <a:cs typeface="Calibri"/>
                        </a:rPr>
                        <a:t>57.37</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ctr"/>
                      <a:r>
                        <a:rPr sz="2025" b="0">
                          <a:solidFill>
                            <a:srgbClr val="33424D"/>
                          </a:solidFill>
                          <a:latin typeface="Calibri"/>
                          <a:ea typeface="Calibri"/>
                          <a:cs typeface="Calibri"/>
                        </a:rPr>
                        <a:t>17.46</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ctr"/>
                      <a:r>
                        <a:rPr sz="2025" b="0">
                          <a:solidFill>
                            <a:srgbClr val="33424D"/>
                          </a:solidFill>
                          <a:latin typeface="Calibri"/>
                          <a:ea typeface="Calibri"/>
                          <a:cs typeface="Calibri"/>
                        </a:rPr>
                        <a:t>47.95</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r>
              <a:tr h="552450">
                <a:tc>
                  <a:txBody>
                    <a:bodyPr lIns="0" tIns="0" rIns="0" bIns="0">
                      <a:noAutofit/>
                    </a:bodyPr>
                    <a:lstStyle/>
                    <a:p>
                      <a:pPr algn="l"/>
                      <a:r>
                        <a:rPr sz="2025" b="0">
                          <a:solidFill>
                            <a:srgbClr val="33424D"/>
                          </a:solidFill>
                          <a:latin typeface="Calibri"/>
                          <a:ea typeface="Calibri"/>
                          <a:cs typeface="Calibri"/>
                        </a:rPr>
                        <a:t>High-Security</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r>
                        <a:rPr sz="2025" b="0">
                          <a:solidFill>
                            <a:srgbClr val="33424D"/>
                          </a:solidFill>
                          <a:latin typeface="Calibri"/>
                          <a:ea typeface="Calibri"/>
                          <a:cs typeface="Calibri"/>
                        </a:rPr>
                        <a:t>54.06</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r>
                        <a:rPr sz="2025" b="0">
                          <a:solidFill>
                            <a:srgbClr val="33424D"/>
                          </a:solidFill>
                          <a:latin typeface="Calibri"/>
                          <a:ea typeface="Calibri"/>
                          <a:cs typeface="Calibri"/>
                        </a:rPr>
                        <a:t>6.34</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r>
                        <a:rPr sz="2025" b="0">
                          <a:solidFill>
                            <a:srgbClr val="33424D"/>
                          </a:solidFill>
                          <a:latin typeface="Calibri"/>
                          <a:ea typeface="Calibri"/>
                          <a:cs typeface="Calibri"/>
                        </a:rPr>
                        <a:t>44.90</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r>
            </a:tbl>
          </a:graphicData>
        </a:graphic>
      </p:graphicFrame>
      <p:sp>
        <p:nvSpPr>
          <p:cNvPr id="10" name="70 successful entries per mode.">
            <a:extLst xmlns:a="http://schemas.openxmlformats.org/drawingml/2006/main">
              <a:ext uri="{FF2B5EF4-FFF2-40B4-BE49-F238E27FC236}">
                <a16:creationId xmlns:a16="http://schemas.microsoft.com/office/drawing/2014/main" id="{82C5B2AE-C3A0-4D34-A73B-9611AAE136E7}"/>
              </a:ext>
            </a:extLst>
          </p:cNvPr>
          <p:cNvSpPr>
            <a:spLocks xmlns:a="http://schemas.openxmlformats.org/drawingml/2006/main" noGrp="1"/>
          </p:cNvSpPr>
          <p:nvPr/>
        </p:nvSpPr>
        <p:spPr>
          <a:xfrm xmlns:a="http://schemas.openxmlformats.org/drawingml/2006/main">
            <a:off x="342900" y="4038600"/>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33424D"/>
                </a:solidFill>
                <a:latin typeface="Calibri"/>
                <a:ea typeface="Calibri"/>
                <a:cs typeface="Calibri"/>
              </a:defRPr>
            </a:defPPr>
          </a:lstStyle>
          <a:p xmlns:a="http://schemas.openxmlformats.org/drawingml/2006/main">
            <a:pPr algn="l">
              <a:defRPr sz="2100" b="0">
                <a:solidFill>
                  <a:srgbClr val="33424D"/>
                </a:solidFill>
                <a:latin typeface="Calibri"/>
                <a:ea typeface="Calibri"/>
                <a:cs typeface="Calibri"/>
              </a:defRPr>
            </a:pPr>
            <a:r>
              <a:rPr sz="2100" b="0">
                <a:solidFill>
                  <a:srgbClr val="33424D"/>
                </a:solidFill>
                <a:latin typeface="Calibri"/>
                <a:ea typeface="Calibri"/>
                <a:cs typeface="Calibri"/>
              </a:rPr>
              <a:t>70 successful entries per mode.</a:t>
            </a:r>
          </a:p>
        </p:txBody>
      </p:sp>
      <p:sp>
        <p:nvSpPr>
          <p:cNvPr id="11" name="DB timing overlaps internal latency.">
            <a:extLst xmlns:a="http://schemas.openxmlformats.org/drawingml/2006/main">
              <a:ext uri="{FF2B5EF4-FFF2-40B4-BE49-F238E27FC236}">
                <a16:creationId xmlns:a16="http://schemas.microsoft.com/office/drawing/2014/main" id="{CCB9ABFC-9B46-4320-9E97-BFC7FC47BF70}"/>
              </a:ext>
            </a:extLst>
          </p:cNvPr>
          <p:cNvSpPr>
            <a:spLocks xmlns:a="http://schemas.openxmlformats.org/drawingml/2006/main" noGrp="1"/>
          </p:cNvSpPr>
          <p:nvPr/>
        </p:nvSpPr>
        <p:spPr>
          <a:xfrm xmlns:a="http://schemas.openxmlformats.org/drawingml/2006/main">
            <a:off x="342900" y="448627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33424D"/>
                </a:solidFill>
                <a:latin typeface="Calibri"/>
                <a:ea typeface="Calibri"/>
                <a:cs typeface="Calibri"/>
              </a:defRPr>
            </a:defPPr>
          </a:lstStyle>
          <a:p xmlns:a="http://schemas.openxmlformats.org/drawingml/2006/main">
            <a:pPr algn="l">
              <a:defRPr sz="2100" b="0">
                <a:solidFill>
                  <a:srgbClr val="33424D"/>
                </a:solidFill>
                <a:latin typeface="Calibri"/>
                <a:ea typeface="Calibri"/>
                <a:cs typeface="Calibri"/>
              </a:defRPr>
            </a:pPr>
            <a:r>
              <a:rPr sz="2100" b="0">
                <a:solidFill>
                  <a:srgbClr val="33424D"/>
                </a:solidFill>
                <a:latin typeface="Calibri"/>
                <a:ea typeface="Calibri"/>
                <a:cs typeface="Calibri"/>
              </a:rPr>
              <a:t>DB timing overlaps internal latency.</a:t>
            </a:r>
          </a:p>
        </p:txBody>
      </p:sp>
    </p:spTree>
    <p:extLst>
      <p:ext uri="{BB962C8B-B14F-4D97-AF65-F5344CB8AC3E}">
        <p14:creationId xmlns:p14="http://schemas.microsoft.com/office/powerpoint/2010/main" val="14975666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graphicFrame>
        <p:nvGraphicFramePr>
          <p:cNvPr id="4" name="Chart">
            <a:extLst xmlns:a="http://schemas.openxmlformats.org/drawingml/2006/main">
              <a:ext uri="{FF2B5EF4-FFF2-40B4-BE49-F238E27FC236}">
                <a16:creationId xmlns:a16="http://schemas.microsoft.com/office/drawing/2014/main" id="{7CB892FD-70B2-449C-90DC-82A8B0C326CC}"/>
              </a:ext>
            </a:extLst>
          </p:cNvPr>
          <p:cNvGraphicFramePr/>
          <p:nvPr/>
        </p:nvGraphicFramePr>
        <p:xfrm>
          <a:off xmlns:a="http://schemas.openxmlformats.org/drawingml/2006/main" x="342900" y="1352550"/>
          <a:ext xmlns:a="http://schemas.openxmlformats.org/drawingml/2006/main" cx="4619625" cy="2800350"/>
        </p:xfrm>
        <a:graphic xmlns:a="http://schemas.openxmlformats.org/drawingml/2006/main">
          <a:graphicData uri="http://schemas.openxmlformats.org/drawingml/2006/chart">
            <c:chart xmlns:r="http://schemas.openxmlformats.org/officeDocument/2006/relationships" xmlns:c="http://schemas.openxmlformats.org/drawingml/2006/chart" r:id="R3db1708cf8a24b68"/>
          </a:graphicData>
        </a:graphic>
      </p:graphicFrame>
      <p:sp>
        <p:nvSpPr>
          <p:cNvPr id="5" name="III. RESULTS">
            <a:extLst xmlns:a="http://schemas.openxmlformats.org/drawingml/2006/main">
              <a:ext uri="{FF2B5EF4-FFF2-40B4-BE49-F238E27FC236}">
                <a16:creationId xmlns:a16="http://schemas.microsoft.com/office/drawing/2014/main" id="{118671BC-1D82-44AB-B5E1-A81117900DC3}"/>
              </a:ext>
            </a:extLst>
          </p:cNvPr>
          <p:cNvSpPr>
            <a:spLocks xmlns:a="http://schemas.openxmlformats.org/drawingml/2006/main" noGrp="1"/>
          </p:cNvSpPr>
          <p:nvPr/>
        </p:nvSpPr>
        <p:spPr>
          <a:xfrm xmlns:a="http://schemas.openxmlformats.org/drawingml/2006/main">
            <a:off x="342900" y="247650"/>
            <a:ext cx="8458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007F86"/>
                </a:solidFill>
                <a:latin typeface="Calibri"/>
                <a:ea typeface="Calibri"/>
                <a:cs typeface="Calibri"/>
              </a:defRPr>
            </a:defPPr>
          </a:lstStyle>
          <a:p xmlns:a="http://schemas.openxmlformats.org/drawingml/2006/main">
            <a:pPr algn="l">
              <a:defRPr sz="1275" b="1">
                <a:solidFill>
                  <a:srgbClr val="007F86"/>
                </a:solidFill>
                <a:latin typeface="Calibri"/>
                <a:ea typeface="Calibri"/>
                <a:cs typeface="Calibri"/>
              </a:defRPr>
            </a:pPr>
            <a:r>
              <a:rPr sz="1275" b="1">
                <a:solidFill>
                  <a:srgbClr val="007F86"/>
                </a:solidFill>
                <a:latin typeface="Calibri"/>
                <a:ea typeface="Calibri"/>
                <a:cs typeface="Calibri"/>
              </a:rPr>
              <a:t>III. RESULTS</a:t>
            </a:r>
          </a:p>
        </p:txBody>
      </p:sp>
      <p:sp>
        <p:nvSpPr>
          <p:cNvPr id="6" name="PIN/QR Interaction (s)">
            <a:extLst xmlns:a="http://schemas.openxmlformats.org/drawingml/2006/main">
              <a:ext uri="{FF2B5EF4-FFF2-40B4-BE49-F238E27FC236}">
                <a16:creationId xmlns:a16="http://schemas.microsoft.com/office/drawing/2014/main" id="{332F544F-7C8C-491B-B5F6-885332B50225}"/>
              </a:ext>
            </a:extLst>
          </p:cNvPr>
          <p:cNvSpPr>
            <a:spLocks xmlns:a="http://schemas.openxmlformats.org/drawingml/2006/main" noGrp="1"/>
          </p:cNvSpPr>
          <p:nvPr/>
        </p:nvSpPr>
        <p:spPr>
          <a:xfrm xmlns:a="http://schemas.openxmlformats.org/drawingml/2006/main">
            <a:off x="342900" y="619125"/>
            <a:ext cx="8458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42C45"/>
                </a:solidFill>
                <a:latin typeface="Calibri"/>
                <a:ea typeface="Calibri"/>
                <a:cs typeface="Calibri"/>
              </a:defRPr>
            </a:defPPr>
          </a:lstStyle>
          <a:p xmlns:a="http://schemas.openxmlformats.org/drawingml/2006/main">
            <a:pPr algn="l">
              <a:defRPr sz="3000" b="1">
                <a:solidFill>
                  <a:srgbClr val="142C45"/>
                </a:solidFill>
                <a:latin typeface="Calibri"/>
                <a:ea typeface="Calibri"/>
                <a:cs typeface="Calibri"/>
              </a:defRPr>
            </a:pPr>
            <a:r>
              <a:rPr sz="3000" b="1">
                <a:solidFill>
                  <a:srgbClr val="142C45"/>
                </a:solidFill>
                <a:latin typeface="Calibri"/>
                <a:ea typeface="Calibri"/>
                <a:cs typeface="Calibri"/>
              </a:rPr>
              <a:t>PIN/QR Interaction (s)</a:t>
            </a:r>
          </a:p>
        </p:txBody>
      </p:sp>
      <p:sp>
        <p:nvSpPr>
          <p:cNvPr id="7" name="14 / 24">
            <a:extLst xmlns:a="http://schemas.openxmlformats.org/drawingml/2006/main">
              <a:ext uri="{FF2B5EF4-FFF2-40B4-BE49-F238E27FC236}">
                <a16:creationId xmlns:a16="http://schemas.microsoft.com/office/drawing/2014/main" id="{65E7271A-9502-4581-B8AE-AE767C4D60C3}"/>
              </a:ext>
            </a:extLst>
          </p:cNvPr>
          <p:cNvSpPr>
            <a:spLocks xmlns:a="http://schemas.openxmlformats.org/drawingml/2006/main" noGrp="1"/>
          </p:cNvSpPr>
          <p:nvPr/>
        </p:nvSpPr>
        <p:spPr>
          <a:xfrm xmlns:a="http://schemas.openxmlformats.org/drawingml/2006/main">
            <a:off x="8172450" y="489585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607282"/>
                </a:solidFill>
                <a:latin typeface="Calibri"/>
                <a:ea typeface="Calibri"/>
                <a:cs typeface="Calibri"/>
              </a:defRPr>
            </a:defPPr>
          </a:lstStyle>
          <a:p xmlns:a="http://schemas.openxmlformats.org/drawingml/2006/main">
            <a:pPr algn="r">
              <a:defRPr sz="900" b="0">
                <a:solidFill>
                  <a:srgbClr val="607282"/>
                </a:solidFill>
                <a:latin typeface="Calibri"/>
                <a:ea typeface="Calibri"/>
                <a:cs typeface="Calibri"/>
              </a:defRPr>
            </a:pPr>
            <a:r>
              <a:rPr sz="900" b="0">
                <a:solidFill>
                  <a:srgbClr val="607282"/>
                </a:solidFill>
                <a:latin typeface="Calibri"/>
                <a:ea typeface="Calibri"/>
                <a:cs typeface="Calibri"/>
              </a:rPr>
              <a:t>14 / 24</a:t>
            </a:r>
          </a:p>
        </p:txBody>
      </p:sp>
      <p:graphicFrame>
        <p:nvGraphicFramePr>
          <p:cNvPr id="8" name="">
            <a:extLst xmlns:a="http://schemas.openxmlformats.org/drawingml/2006/main">
              <a:ext uri="{FF2B5EF4-FFF2-40B4-BE49-F238E27FC236}">
                <a16:creationId xmlns:a16="http://schemas.microsoft.com/office/drawing/2014/main" id="{52437F08-D09A-4A3A-8485-10A9DE7F2284}"/>
              </a:ext>
            </a:extLst>
          </p:cNvPr>
          <p:cNvGraphicFramePr/>
          <p:nvPr/>
        </p:nvGraphicFramePr>
        <p:xfrm>
          <a:off xmlns:a="http://schemas.openxmlformats.org/drawingml/2006/main" x="5191125" y="1476375"/>
          <a:ext xmlns:a="http://schemas.openxmlformats.org/drawingml/2006/main" cx="3609975" cy="2476500"/>
        </p:xfrm>
        <a:graphic xmlns:a="http://schemas.openxmlformats.org/drawingml/2006/main">
          <a:graphicData uri="http://schemas.openxmlformats.org/drawingml/2006/table">
            <a:tbl>
              <a:tblPr/>
              <a:tblGrid>
                <a:gridCol w="1285875"/>
                <a:gridCol w="1162050"/>
                <a:gridCol w="1162050"/>
              </a:tblGrid>
              <a:tr h="495300">
                <a:tc>
                  <a:txBody>
                    <a:bodyPr lIns="0" tIns="0" rIns="0" bIns="0">
                      <a:noAutofit/>
                    </a:bodyPr>
                    <a:lstStyle/>
                    <a:p>
                      <a:pPr algn="l"/>
                      <a:r>
                        <a:rPr sz="1950" b="1">
                          <a:solidFill>
                            <a:srgbClr val="FFFFFF"/>
                          </a:solidFill>
                          <a:latin typeface="Calibri"/>
                          <a:ea typeface="Calibri"/>
                          <a:cs typeface="Calibri"/>
                        </a:rPr>
                        <a:t>Metric</a:t>
                      </a:r>
                    </a:p>
                  </a:txBody>
                  <a:tcPr marL="95250" marR="95250" marT="47625" marB="47625" anchor="ctr">
                    <a:lnL w="6350">
                      <a:noFill/>
                      <a:prstDash val="solid"/>
                    </a:lnL>
                    <a:lnR w="6350">
                      <a:noFill/>
                      <a:prstDash val="solid"/>
                    </a:lnR>
                    <a:lnT w="6350">
                      <a:noFill/>
                      <a:prstDash val="solid"/>
                    </a:lnT>
                    <a:lnB w="6350">
                      <a:noFill/>
                      <a:prstDash val="solid"/>
                    </a:lnB>
                    <a:solidFill>
                      <a:srgbClr val="142C45"/>
                    </a:solidFill>
                  </a:tcPr>
                </a:tc>
                <a:tc>
                  <a:txBody>
                    <a:bodyPr lIns="0" tIns="0" rIns="0" bIns="0">
                      <a:noAutofit/>
                    </a:bodyPr>
                    <a:lstStyle/>
                    <a:p>
                      <a:pPr algn="ctr"/>
                      <a:r>
                        <a:rPr sz="1950" b="1">
                          <a:solidFill>
                            <a:srgbClr val="FFFFFF"/>
                          </a:solidFill>
                          <a:latin typeface="Calibri"/>
                          <a:ea typeface="Calibri"/>
                          <a:cs typeface="Calibri"/>
                        </a:rPr>
                        <a:t>Standard</a:t>
                      </a:r>
                    </a:p>
                  </a:txBody>
                  <a:tcPr marL="95250" marR="95250" marT="47625" marB="47625" anchor="ctr">
                    <a:lnL w="6350">
                      <a:noFill/>
                      <a:prstDash val="solid"/>
                    </a:lnL>
                    <a:lnR w="6350">
                      <a:noFill/>
                      <a:prstDash val="solid"/>
                    </a:lnR>
                    <a:lnT w="6350">
                      <a:noFill/>
                      <a:prstDash val="solid"/>
                    </a:lnT>
                    <a:lnB w="6350">
                      <a:noFill/>
                      <a:prstDash val="solid"/>
                    </a:lnB>
                    <a:solidFill>
                      <a:srgbClr val="142C45"/>
                    </a:solidFill>
                  </a:tcPr>
                </a:tc>
                <a:tc>
                  <a:txBody>
                    <a:bodyPr lIns="0" tIns="0" rIns="0" bIns="0">
                      <a:noAutofit/>
                    </a:bodyPr>
                    <a:lstStyle/>
                    <a:p>
                      <a:pPr algn="ctr"/>
                      <a:r>
                        <a:rPr sz="1950" b="1">
                          <a:solidFill>
                            <a:srgbClr val="FFFFFF"/>
                          </a:solidFill>
                          <a:latin typeface="Calibri"/>
                          <a:ea typeface="Calibri"/>
                          <a:cs typeface="Calibri"/>
                        </a:rPr>
                        <a:t>High</a:t>
                      </a:r>
                    </a:p>
                  </a:txBody>
                  <a:tcPr marL="95250" marR="95250" marT="47625" marB="47625" anchor="ctr">
                    <a:lnL w="6350">
                      <a:noFill/>
                      <a:prstDash val="solid"/>
                    </a:lnL>
                    <a:lnR w="6350">
                      <a:noFill/>
                      <a:prstDash val="solid"/>
                    </a:lnR>
                    <a:lnT w="6350">
                      <a:noFill/>
                      <a:prstDash val="solid"/>
                    </a:lnT>
                    <a:lnB w="6350">
                      <a:noFill/>
                      <a:prstDash val="solid"/>
                    </a:lnB>
                    <a:solidFill>
                      <a:srgbClr val="142C45"/>
                    </a:solidFill>
                  </a:tcPr>
                </a:tc>
              </a:tr>
              <a:tr h="495300">
                <a:tc>
                  <a:txBody>
                    <a:bodyPr lIns="0" tIns="0" rIns="0" bIns="0">
                      <a:noAutofit/>
                    </a:bodyPr>
                    <a:lstStyle/>
                    <a:p>
                      <a:pPr algn="l"/>
                      <a:r>
                        <a:rPr sz="1950" b="0">
                          <a:solidFill>
                            <a:srgbClr val="33424D"/>
                          </a:solidFill>
                          <a:latin typeface="Calibri"/>
                          <a:ea typeface="Calibri"/>
                          <a:cs typeface="Calibri"/>
                        </a:rPr>
                        <a:t>Mean</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r>
                        <a:rPr sz="1950" b="0">
                          <a:solidFill>
                            <a:srgbClr val="33424D"/>
                          </a:solidFill>
                          <a:latin typeface="Calibri"/>
                          <a:ea typeface="Calibri"/>
                          <a:cs typeface="Calibri"/>
                        </a:rPr>
                        <a:t>2.505</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r>
                        <a:rPr sz="1950" b="0">
                          <a:solidFill>
                            <a:srgbClr val="33424D"/>
                          </a:solidFill>
                          <a:latin typeface="Calibri"/>
                          <a:ea typeface="Calibri"/>
                          <a:cs typeface="Calibri"/>
                        </a:rPr>
                        <a:t>5.799</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r>
              <a:tr h="495300">
                <a:tc>
                  <a:txBody>
                    <a:bodyPr lIns="0" tIns="0" rIns="0" bIns="0">
                      <a:noAutofit/>
                    </a:bodyPr>
                    <a:lstStyle/>
                    <a:p>
                      <a:pPr algn="l"/>
                      <a:r>
                        <a:rPr sz="1950" b="0">
                          <a:solidFill>
                            <a:srgbClr val="33424D"/>
                          </a:solidFill>
                          <a:latin typeface="Calibri"/>
                          <a:ea typeface="Calibri"/>
                          <a:cs typeface="Calibri"/>
                        </a:rPr>
                        <a:t>Median</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ctr"/>
                      <a:r>
                        <a:rPr sz="1950" b="0">
                          <a:solidFill>
                            <a:srgbClr val="33424D"/>
                          </a:solidFill>
                          <a:latin typeface="Calibri"/>
                          <a:ea typeface="Calibri"/>
                          <a:cs typeface="Calibri"/>
                        </a:rPr>
                        <a:t>2.035</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ctr"/>
                      <a:r>
                        <a:rPr sz="1950" b="0">
                          <a:solidFill>
                            <a:srgbClr val="33424D"/>
                          </a:solidFill>
                          <a:latin typeface="Calibri"/>
                          <a:ea typeface="Calibri"/>
                          <a:cs typeface="Calibri"/>
                        </a:rPr>
                        <a:t>4.348</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r>
              <a:tr h="495300">
                <a:tc>
                  <a:txBody>
                    <a:bodyPr lIns="0" tIns="0" rIns="0" bIns="0">
                      <a:noAutofit/>
                    </a:bodyPr>
                    <a:lstStyle/>
                    <a:p>
                      <a:pPr algn="l"/>
                      <a:r>
                        <a:rPr sz="1950" b="0">
                          <a:solidFill>
                            <a:srgbClr val="33424D"/>
                          </a:solidFill>
                          <a:latin typeface="Calibri"/>
                          <a:ea typeface="Calibri"/>
                          <a:cs typeface="Calibri"/>
                        </a:rPr>
                        <a:t>SD</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r>
                        <a:rPr sz="1950" b="0">
                          <a:solidFill>
                            <a:srgbClr val="33424D"/>
                          </a:solidFill>
                          <a:latin typeface="Calibri"/>
                          <a:ea typeface="Calibri"/>
                          <a:cs typeface="Calibri"/>
                        </a:rPr>
                        <a:t>1.152</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r>
                        <a:rPr sz="1950" b="0">
                          <a:solidFill>
                            <a:srgbClr val="33424D"/>
                          </a:solidFill>
                          <a:latin typeface="Calibri"/>
                          <a:ea typeface="Calibri"/>
                          <a:cs typeface="Calibri"/>
                        </a:rPr>
                        <a:t>3.878</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r>
              <a:tr h="495300">
                <a:tc>
                  <a:txBody>
                    <a:bodyPr lIns="0" tIns="0" rIns="0" bIns="0">
                      <a:noAutofit/>
                    </a:bodyPr>
                    <a:lstStyle/>
                    <a:p>
                      <a:pPr algn="l"/>
                      <a:r>
                        <a:rPr sz="1950" b="0">
                          <a:solidFill>
                            <a:srgbClr val="33424D"/>
                          </a:solidFill>
                          <a:latin typeface="Calibri"/>
                          <a:ea typeface="Calibri"/>
                          <a:cs typeface="Calibri"/>
                        </a:rPr>
                        <a:t>Maximum</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ctr"/>
                      <a:r>
                        <a:rPr sz="1950" b="0">
                          <a:solidFill>
                            <a:srgbClr val="33424D"/>
                          </a:solidFill>
                          <a:latin typeface="Calibri"/>
                          <a:ea typeface="Calibri"/>
                          <a:cs typeface="Calibri"/>
                        </a:rPr>
                        <a:t>6.875</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ctr"/>
                      <a:r>
                        <a:rPr sz="1950" b="0">
                          <a:solidFill>
                            <a:srgbClr val="33424D"/>
                          </a:solidFill>
                          <a:latin typeface="Calibri"/>
                          <a:ea typeface="Calibri"/>
                          <a:cs typeface="Calibri"/>
                        </a:rPr>
                        <a:t>22.604</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r>
            </a:tbl>
          </a:graphicData>
        </a:graphic>
      </p:graphicFrame>
      <p:sp>
        <p:nvSpPr>
          <p:cNvPr id="9" name="Fast stage N/A. Each mode: n=70.">
            <a:extLst xmlns:a="http://schemas.openxmlformats.org/drawingml/2006/main">
              <a:ext uri="{FF2B5EF4-FFF2-40B4-BE49-F238E27FC236}">
                <a16:creationId xmlns:a16="http://schemas.microsoft.com/office/drawing/2014/main" id="{2B4598E9-5D12-49F8-8EAB-6F64AD994028}"/>
              </a:ext>
            </a:extLst>
          </p:cNvPr>
          <p:cNvSpPr>
            <a:spLocks xmlns:a="http://schemas.openxmlformats.org/drawingml/2006/main" noGrp="1"/>
          </p:cNvSpPr>
          <p:nvPr/>
        </p:nvSpPr>
        <p:spPr>
          <a:xfrm xmlns:a="http://schemas.openxmlformats.org/drawingml/2006/main">
            <a:off x="342900" y="444817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607282"/>
                </a:solidFill>
                <a:latin typeface="Calibri"/>
                <a:ea typeface="Calibri"/>
                <a:cs typeface="Calibri"/>
              </a:defRPr>
            </a:defPPr>
          </a:lstStyle>
          <a:p xmlns:a="http://schemas.openxmlformats.org/drawingml/2006/main">
            <a:pPr algn="l">
              <a:defRPr sz="2100" b="0">
                <a:solidFill>
                  <a:srgbClr val="607282"/>
                </a:solidFill>
                <a:latin typeface="Calibri"/>
                <a:ea typeface="Calibri"/>
                <a:cs typeface="Calibri"/>
              </a:defRPr>
            </a:pPr>
            <a:r>
              <a:rPr sz="2100" b="0">
                <a:solidFill>
                  <a:srgbClr val="607282"/>
                </a:solidFill>
                <a:latin typeface="Calibri"/>
                <a:ea typeface="Calibri"/>
                <a:cs typeface="Calibri"/>
              </a:rPr>
              <a:t>Fast stage N/A. Each mode: n=70.</a:t>
            </a:r>
          </a:p>
        </p:txBody>
      </p:sp>
    </p:spTree>
    <p:extLst>
      <p:ext uri="{BB962C8B-B14F-4D97-AF65-F5344CB8AC3E}">
        <p14:creationId xmlns:p14="http://schemas.microsoft.com/office/powerpoint/2010/main" val="77829915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graphicFrame>
        <p:nvGraphicFramePr>
          <p:cNvPr id="7" name="Chart">
            <a:extLst xmlns:a="http://schemas.openxmlformats.org/drawingml/2006/main">
              <a:ext uri="{FF2B5EF4-FFF2-40B4-BE49-F238E27FC236}">
                <a16:creationId xmlns:a16="http://schemas.microsoft.com/office/drawing/2014/main" id="{67B47AA0-53C6-4B03-AD6A-5D8413B87D1B}"/>
              </a:ext>
            </a:extLst>
          </p:cNvPr>
          <p:cNvGraphicFramePr/>
          <p:nvPr/>
        </p:nvGraphicFramePr>
        <p:xfrm>
          <a:off xmlns:a="http://schemas.openxmlformats.org/drawingml/2006/main" x="4638675" y="1352550"/>
          <a:ext xmlns:a="http://schemas.openxmlformats.org/drawingml/2006/main" cx="4162425" cy="2895600"/>
        </p:xfrm>
        <a:graphic xmlns:a="http://schemas.openxmlformats.org/drawingml/2006/main">
          <a:graphicData uri="http://schemas.openxmlformats.org/drawingml/2006/chart">
            <c:chart xmlns:r="http://schemas.openxmlformats.org/officeDocument/2006/relationships" xmlns:c="http://schemas.openxmlformats.org/drawingml/2006/chart" r:id="Rf40b64efc11a4e88"/>
          </a:graphicData>
        </a:graphic>
      </p:graphicFrame>
      <p:sp>
        <p:nvSpPr>
          <p:cNvPr id="8" name="III. RESULTS">
            <a:extLst xmlns:a="http://schemas.openxmlformats.org/drawingml/2006/main">
              <a:ext uri="{FF2B5EF4-FFF2-40B4-BE49-F238E27FC236}">
                <a16:creationId xmlns:a16="http://schemas.microsoft.com/office/drawing/2014/main" id="{DE3BA89F-AAAA-4253-B8E1-782DC5162888}"/>
              </a:ext>
            </a:extLst>
          </p:cNvPr>
          <p:cNvSpPr>
            <a:spLocks xmlns:a="http://schemas.openxmlformats.org/drawingml/2006/main" noGrp="1"/>
          </p:cNvSpPr>
          <p:nvPr/>
        </p:nvSpPr>
        <p:spPr>
          <a:xfrm xmlns:a="http://schemas.openxmlformats.org/drawingml/2006/main">
            <a:off x="342900" y="247650"/>
            <a:ext cx="8458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007F86"/>
                </a:solidFill>
                <a:latin typeface="Calibri"/>
                <a:ea typeface="Calibri"/>
                <a:cs typeface="Calibri"/>
              </a:defRPr>
            </a:defPPr>
          </a:lstStyle>
          <a:p xmlns:a="http://schemas.openxmlformats.org/drawingml/2006/main">
            <a:pPr algn="l">
              <a:defRPr sz="1275" b="1">
                <a:solidFill>
                  <a:srgbClr val="007F86"/>
                </a:solidFill>
                <a:latin typeface="Calibri"/>
                <a:ea typeface="Calibri"/>
                <a:cs typeface="Calibri"/>
              </a:defRPr>
            </a:pPr>
            <a:r>
              <a:rPr sz="1275" b="1">
                <a:solidFill>
                  <a:srgbClr val="007F86"/>
                </a:solidFill>
                <a:latin typeface="Calibri"/>
                <a:ea typeface="Calibri"/>
                <a:cs typeface="Calibri"/>
              </a:rPr>
              <a:t>III. RESULTS</a:t>
            </a:r>
          </a:p>
        </p:txBody>
      </p:sp>
      <p:sp>
        <p:nvSpPr>
          <p:cNvPr id="9" name="Manual Attendance Baseline">
            <a:extLst xmlns:a="http://schemas.openxmlformats.org/drawingml/2006/main">
              <a:ext uri="{FF2B5EF4-FFF2-40B4-BE49-F238E27FC236}">
                <a16:creationId xmlns:a16="http://schemas.microsoft.com/office/drawing/2014/main" id="{704F2435-889D-425F-A040-00DCBF90959C}"/>
              </a:ext>
            </a:extLst>
          </p:cNvPr>
          <p:cNvSpPr>
            <a:spLocks xmlns:a="http://schemas.openxmlformats.org/drawingml/2006/main" noGrp="1"/>
          </p:cNvSpPr>
          <p:nvPr/>
        </p:nvSpPr>
        <p:spPr>
          <a:xfrm xmlns:a="http://schemas.openxmlformats.org/drawingml/2006/main">
            <a:off x="342900" y="619125"/>
            <a:ext cx="8458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42C45"/>
                </a:solidFill>
                <a:latin typeface="Calibri"/>
                <a:ea typeface="Calibri"/>
                <a:cs typeface="Calibri"/>
              </a:defRPr>
            </a:defPPr>
          </a:lstStyle>
          <a:p xmlns:a="http://schemas.openxmlformats.org/drawingml/2006/main">
            <a:pPr algn="l">
              <a:defRPr sz="3000" b="1">
                <a:solidFill>
                  <a:srgbClr val="142C45"/>
                </a:solidFill>
                <a:latin typeface="Calibri"/>
                <a:ea typeface="Calibri"/>
                <a:cs typeface="Calibri"/>
              </a:defRPr>
            </a:pPr>
            <a:r>
              <a:rPr sz="3000" b="1">
                <a:solidFill>
                  <a:srgbClr val="142C45"/>
                </a:solidFill>
                <a:latin typeface="Calibri"/>
                <a:ea typeface="Calibri"/>
                <a:cs typeface="Calibri"/>
              </a:rPr>
              <a:t>Manual Attendance Baseline</a:t>
            </a:r>
          </a:p>
        </p:txBody>
      </p:sp>
      <p:sp>
        <p:nvSpPr>
          <p:cNvPr id="10" name="15 / 24">
            <a:extLst xmlns:a="http://schemas.openxmlformats.org/drawingml/2006/main">
              <a:ext uri="{FF2B5EF4-FFF2-40B4-BE49-F238E27FC236}">
                <a16:creationId xmlns:a16="http://schemas.microsoft.com/office/drawing/2014/main" id="{5B53AA06-6F54-425D-BA86-D179BC42F421}"/>
              </a:ext>
            </a:extLst>
          </p:cNvPr>
          <p:cNvSpPr>
            <a:spLocks xmlns:a="http://schemas.openxmlformats.org/drawingml/2006/main" noGrp="1"/>
          </p:cNvSpPr>
          <p:nvPr/>
        </p:nvSpPr>
        <p:spPr>
          <a:xfrm xmlns:a="http://schemas.openxmlformats.org/drawingml/2006/main">
            <a:off x="8172450" y="489585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607282"/>
                </a:solidFill>
                <a:latin typeface="Calibri"/>
                <a:ea typeface="Calibri"/>
                <a:cs typeface="Calibri"/>
              </a:defRPr>
            </a:defPPr>
          </a:lstStyle>
          <a:p xmlns:a="http://schemas.openxmlformats.org/drawingml/2006/main">
            <a:pPr algn="r">
              <a:defRPr sz="900" b="0">
                <a:solidFill>
                  <a:srgbClr val="607282"/>
                </a:solidFill>
                <a:latin typeface="Calibri"/>
                <a:ea typeface="Calibri"/>
                <a:cs typeface="Calibri"/>
              </a:defRPr>
            </a:pPr>
            <a:r>
              <a:rPr sz="900" b="0">
                <a:solidFill>
                  <a:srgbClr val="607282"/>
                </a:solidFill>
                <a:latin typeface="Calibri"/>
                <a:ea typeface="Calibri"/>
                <a:cs typeface="Calibri"/>
              </a:rPr>
              <a:t>15 / 24</a:t>
            </a:r>
          </a:p>
        </p:txBody>
      </p:sp>
      <p:sp>
        <p:nvSpPr>
          <p:cNvPr id="11" name="Mean: 21.803 s">
            <a:extLst xmlns:a="http://schemas.openxmlformats.org/drawingml/2006/main">
              <a:ext uri="{FF2B5EF4-FFF2-40B4-BE49-F238E27FC236}">
                <a16:creationId xmlns:a16="http://schemas.microsoft.com/office/drawing/2014/main" id="{F0D55789-85BA-4B1C-8189-CFC8C3B04997}"/>
              </a:ext>
            </a:extLst>
          </p:cNvPr>
          <p:cNvSpPr>
            <a:spLocks xmlns:a="http://schemas.openxmlformats.org/drawingml/2006/main" noGrp="1"/>
          </p:cNvSpPr>
          <p:nvPr/>
        </p:nvSpPr>
        <p:spPr>
          <a:xfrm xmlns:a="http://schemas.openxmlformats.org/drawingml/2006/main">
            <a:off x="342900" y="1390650"/>
            <a:ext cx="4143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C98D32"/>
                </a:solidFill>
                <a:latin typeface="Calibri"/>
                <a:ea typeface="Calibri"/>
                <a:cs typeface="Calibri"/>
              </a:defRPr>
            </a:defPPr>
          </a:lstStyle>
          <a:p xmlns:a="http://schemas.openxmlformats.org/drawingml/2006/main">
            <a:pPr algn="l">
              <a:defRPr sz="3225" b="1">
                <a:solidFill>
                  <a:srgbClr val="C98D32"/>
                </a:solidFill>
                <a:latin typeface="Calibri"/>
                <a:ea typeface="Calibri"/>
                <a:cs typeface="Calibri"/>
              </a:defRPr>
            </a:pPr>
            <a:r>
              <a:rPr sz="3225" b="1">
                <a:solidFill>
                  <a:srgbClr val="C98D32"/>
                </a:solidFill>
                <a:latin typeface="Calibri"/>
                <a:ea typeface="Calibri"/>
                <a:cs typeface="Calibri"/>
              </a:rPr>
              <a:t>Mean: 21.803 s</a:t>
            </a:r>
          </a:p>
        </p:txBody>
      </p:sp>
      <p:sp>
        <p:nvSpPr>
          <p:cNvPr id="12" name="SD: 4.436 s">
            <a:extLst xmlns:a="http://schemas.openxmlformats.org/drawingml/2006/main">
              <a:ext uri="{FF2B5EF4-FFF2-40B4-BE49-F238E27FC236}">
                <a16:creationId xmlns:a16="http://schemas.microsoft.com/office/drawing/2014/main" id="{DBC79A15-6408-4ABE-9666-BB95DC9F4C98}"/>
              </a:ext>
            </a:extLst>
          </p:cNvPr>
          <p:cNvSpPr>
            <a:spLocks xmlns:a="http://schemas.openxmlformats.org/drawingml/2006/main" noGrp="1"/>
          </p:cNvSpPr>
          <p:nvPr/>
        </p:nvSpPr>
        <p:spPr>
          <a:xfrm xmlns:a="http://schemas.openxmlformats.org/drawingml/2006/main">
            <a:off x="342900" y="2228850"/>
            <a:ext cx="4143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33424D"/>
                </a:solidFill>
                <a:latin typeface="Calibri"/>
                <a:ea typeface="Calibri"/>
                <a:cs typeface="Calibri"/>
              </a:defRPr>
            </a:defPPr>
          </a:lstStyle>
          <a:p xmlns:a="http://schemas.openxmlformats.org/drawingml/2006/main">
            <a:pPr algn="l">
              <a:defRPr sz="2325" b="0">
                <a:solidFill>
                  <a:srgbClr val="33424D"/>
                </a:solidFill>
                <a:latin typeface="Calibri"/>
                <a:ea typeface="Calibri"/>
                <a:cs typeface="Calibri"/>
              </a:defRPr>
            </a:pPr>
            <a:r>
              <a:rPr sz="2325" b="0">
                <a:solidFill>
                  <a:srgbClr val="33424D"/>
                </a:solidFill>
                <a:latin typeface="Calibri"/>
                <a:ea typeface="Calibri"/>
                <a:cs typeface="Calibri"/>
              </a:rPr>
              <a:t>SD: 4.436 s</a:t>
            </a:r>
          </a:p>
        </p:txBody>
      </p:sp>
      <p:sp>
        <p:nvSpPr>
          <p:cNvPr id="13" name="Median: 21.135 s">
            <a:extLst xmlns:a="http://schemas.openxmlformats.org/drawingml/2006/main">
              <a:ext uri="{FF2B5EF4-FFF2-40B4-BE49-F238E27FC236}">
                <a16:creationId xmlns:a16="http://schemas.microsoft.com/office/drawing/2014/main" id="{8DA4CDBB-5FF6-4373-9767-CCFAADA07A2D}"/>
              </a:ext>
            </a:extLst>
          </p:cNvPr>
          <p:cNvSpPr>
            <a:spLocks xmlns:a="http://schemas.openxmlformats.org/drawingml/2006/main" noGrp="1"/>
          </p:cNvSpPr>
          <p:nvPr/>
        </p:nvSpPr>
        <p:spPr>
          <a:xfrm xmlns:a="http://schemas.openxmlformats.org/drawingml/2006/main">
            <a:off x="342900" y="2733675"/>
            <a:ext cx="4143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33424D"/>
                </a:solidFill>
                <a:latin typeface="Calibri"/>
                <a:ea typeface="Calibri"/>
                <a:cs typeface="Calibri"/>
              </a:defRPr>
            </a:defPPr>
          </a:lstStyle>
          <a:p xmlns:a="http://schemas.openxmlformats.org/drawingml/2006/main">
            <a:pPr algn="l">
              <a:defRPr sz="2325" b="0">
                <a:solidFill>
                  <a:srgbClr val="33424D"/>
                </a:solidFill>
                <a:latin typeface="Calibri"/>
                <a:ea typeface="Calibri"/>
                <a:cs typeface="Calibri"/>
              </a:defRPr>
            </a:pPr>
            <a:r>
              <a:rPr sz="2325" b="0">
                <a:solidFill>
                  <a:srgbClr val="33424D"/>
                </a:solidFill>
                <a:latin typeface="Calibri"/>
                <a:ea typeface="Calibri"/>
                <a:cs typeface="Calibri"/>
              </a:rPr>
              <a:t>Median: 21.135 s</a:t>
            </a:r>
          </a:p>
        </p:txBody>
      </p:sp>
      <p:sp>
        <p:nvSpPr>
          <p:cNvPr id="14" name="Range: 13.21-37.63 s">
            <a:extLst xmlns:a="http://schemas.openxmlformats.org/drawingml/2006/main">
              <a:ext uri="{FF2B5EF4-FFF2-40B4-BE49-F238E27FC236}">
                <a16:creationId xmlns:a16="http://schemas.microsoft.com/office/drawing/2014/main" id="{7BDBA858-71C5-46AD-A04D-F15B4D8470DA}"/>
              </a:ext>
            </a:extLst>
          </p:cNvPr>
          <p:cNvSpPr>
            <a:spLocks xmlns:a="http://schemas.openxmlformats.org/drawingml/2006/main" noGrp="1"/>
          </p:cNvSpPr>
          <p:nvPr/>
        </p:nvSpPr>
        <p:spPr>
          <a:xfrm xmlns:a="http://schemas.openxmlformats.org/drawingml/2006/main">
            <a:off x="342900" y="3238500"/>
            <a:ext cx="4143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33424D"/>
                </a:solidFill>
                <a:latin typeface="Calibri"/>
                <a:ea typeface="Calibri"/>
                <a:cs typeface="Calibri"/>
              </a:defRPr>
            </a:defPPr>
          </a:lstStyle>
          <a:p xmlns:a="http://schemas.openxmlformats.org/drawingml/2006/main">
            <a:pPr algn="l">
              <a:defRPr sz="2325" b="0">
                <a:solidFill>
                  <a:srgbClr val="33424D"/>
                </a:solidFill>
                <a:latin typeface="Calibri"/>
                <a:ea typeface="Calibri"/>
                <a:cs typeface="Calibri"/>
              </a:defRPr>
            </a:pPr>
            <a:r>
              <a:rPr sz="2325" b="0">
                <a:solidFill>
                  <a:srgbClr val="33424D"/>
                </a:solidFill>
                <a:latin typeface="Calibri"/>
                <a:ea typeface="Calibri"/>
                <a:cs typeface="Calibri"/>
              </a:rPr>
              <a:t>Range: 13.21-37.63 s</a:t>
            </a:r>
          </a:p>
        </p:txBody>
      </p:sp>
      <p:sp>
        <p:nvSpPr>
          <p:cNvPr id="15" name="70 active-writing observations">
            <a:extLst xmlns:a="http://schemas.openxmlformats.org/drawingml/2006/main">
              <a:ext uri="{FF2B5EF4-FFF2-40B4-BE49-F238E27FC236}">
                <a16:creationId xmlns:a16="http://schemas.microsoft.com/office/drawing/2014/main" id="{4BF1A595-CEFF-4847-9AF8-10A0746A796E}"/>
              </a:ext>
            </a:extLst>
          </p:cNvPr>
          <p:cNvSpPr>
            <a:spLocks xmlns:a="http://schemas.openxmlformats.org/drawingml/2006/main" noGrp="1"/>
          </p:cNvSpPr>
          <p:nvPr/>
        </p:nvSpPr>
        <p:spPr>
          <a:xfrm xmlns:a="http://schemas.openxmlformats.org/drawingml/2006/main">
            <a:off x="342900" y="3743325"/>
            <a:ext cx="4143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33424D"/>
                </a:solidFill>
                <a:latin typeface="Calibri"/>
                <a:ea typeface="Calibri"/>
                <a:cs typeface="Calibri"/>
              </a:defRPr>
            </a:defPPr>
          </a:lstStyle>
          <a:p xmlns:a="http://schemas.openxmlformats.org/drawingml/2006/main">
            <a:pPr algn="l">
              <a:defRPr sz="2325" b="0">
                <a:solidFill>
                  <a:srgbClr val="33424D"/>
                </a:solidFill>
                <a:latin typeface="Calibri"/>
                <a:ea typeface="Calibri"/>
                <a:cs typeface="Calibri"/>
              </a:defRPr>
            </a:pPr>
            <a:r>
              <a:rPr sz="2325" b="0">
                <a:solidFill>
                  <a:srgbClr val="33424D"/>
                </a:solidFill>
                <a:latin typeface="Calibri"/>
                <a:ea typeface="Calibri"/>
                <a:cs typeface="Calibri"/>
              </a:rPr>
              <a:t>70 active-writing observations</a:t>
            </a:r>
          </a:p>
        </p:txBody>
      </p:sp>
      <p:sp>
        <p:nvSpPr>
          <p:cNvPr id="16" name="Task boundaries differ from system measures.">
            <a:extLst xmlns:a="http://schemas.openxmlformats.org/drawingml/2006/main">
              <a:ext uri="{FF2B5EF4-FFF2-40B4-BE49-F238E27FC236}">
                <a16:creationId xmlns:a16="http://schemas.microsoft.com/office/drawing/2014/main" id="{E9496F38-489D-4808-BC72-CB08A2498941}"/>
              </a:ext>
            </a:extLst>
          </p:cNvPr>
          <p:cNvSpPr>
            <a:spLocks xmlns:a="http://schemas.openxmlformats.org/drawingml/2006/main" noGrp="1"/>
          </p:cNvSpPr>
          <p:nvPr/>
        </p:nvSpPr>
        <p:spPr>
          <a:xfrm xmlns:a="http://schemas.openxmlformats.org/drawingml/2006/main">
            <a:off x="342900" y="4495800"/>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607282"/>
                </a:solidFill>
                <a:latin typeface="Calibri"/>
                <a:ea typeface="Calibri"/>
                <a:cs typeface="Calibri"/>
              </a:defRPr>
            </a:defPPr>
          </a:lstStyle>
          <a:p xmlns:a="http://schemas.openxmlformats.org/drawingml/2006/main">
            <a:pPr algn="l">
              <a:defRPr sz="2100" b="0">
                <a:solidFill>
                  <a:srgbClr val="607282"/>
                </a:solidFill>
                <a:latin typeface="Calibri"/>
                <a:ea typeface="Calibri"/>
                <a:cs typeface="Calibri"/>
              </a:defRPr>
            </a:pPr>
            <a:r>
              <a:rPr sz="2100" b="0">
                <a:solidFill>
                  <a:srgbClr val="607282"/>
                </a:solidFill>
                <a:latin typeface="Calibri"/>
                <a:ea typeface="Calibri"/>
                <a:cs typeface="Calibri"/>
              </a:rPr>
              <a:t>Task boundaries differ from system measures.</a:t>
            </a:r>
          </a:p>
        </p:txBody>
      </p:sp>
    </p:spTree>
    <p:extLst>
      <p:ext uri="{BB962C8B-B14F-4D97-AF65-F5344CB8AC3E}">
        <p14:creationId xmlns:p14="http://schemas.microsoft.com/office/powerpoint/2010/main" val="137849879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III. RESULTS">
            <a:extLst xmlns:a="http://schemas.openxmlformats.org/drawingml/2006/main">
              <a:ext uri="{FF2B5EF4-FFF2-40B4-BE49-F238E27FC236}">
                <a16:creationId xmlns:a16="http://schemas.microsoft.com/office/drawing/2014/main" id="{844EC265-6F02-4FBF-A87A-4AA01A7AF9AF}"/>
              </a:ext>
            </a:extLst>
          </p:cNvPr>
          <p:cNvSpPr>
            <a:spLocks xmlns:a="http://schemas.openxmlformats.org/drawingml/2006/main" noGrp="1"/>
          </p:cNvSpPr>
          <p:nvPr/>
        </p:nvSpPr>
        <p:spPr>
          <a:xfrm xmlns:a="http://schemas.openxmlformats.org/drawingml/2006/main">
            <a:off x="342900" y="247650"/>
            <a:ext cx="8458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007F86"/>
                </a:solidFill>
                <a:latin typeface="Calibri"/>
                <a:ea typeface="Calibri"/>
                <a:cs typeface="Calibri"/>
              </a:defRPr>
            </a:defPPr>
          </a:lstStyle>
          <a:p xmlns:a="http://schemas.openxmlformats.org/drawingml/2006/main">
            <a:pPr algn="l">
              <a:defRPr sz="1275" b="1">
                <a:solidFill>
                  <a:srgbClr val="007F86"/>
                </a:solidFill>
                <a:latin typeface="Calibri"/>
                <a:ea typeface="Calibri"/>
                <a:cs typeface="Calibri"/>
              </a:defRPr>
            </a:pPr>
            <a:r>
              <a:rPr sz="1275" b="1">
                <a:solidFill>
                  <a:srgbClr val="007F86"/>
                </a:solidFill>
                <a:latin typeface="Calibri"/>
                <a:ea typeface="Calibri"/>
                <a:cs typeface="Calibri"/>
              </a:rPr>
              <a:t>III. RESULTS</a:t>
            </a:r>
          </a:p>
        </p:txBody>
      </p:sp>
      <p:sp>
        <p:nvSpPr>
          <p:cNvPr id="2" name="Recorded Entry Spacing and Rate">
            <a:extLst xmlns:a="http://schemas.openxmlformats.org/drawingml/2006/main">
              <a:ext uri="{FF2B5EF4-FFF2-40B4-BE49-F238E27FC236}">
                <a16:creationId xmlns:a16="http://schemas.microsoft.com/office/drawing/2014/main" id="{2420D3BE-3A6B-488B-81AE-C2E6CDBCD986}"/>
              </a:ext>
            </a:extLst>
          </p:cNvPr>
          <p:cNvSpPr>
            <a:spLocks xmlns:a="http://schemas.openxmlformats.org/drawingml/2006/main" noGrp="1"/>
          </p:cNvSpPr>
          <p:nvPr/>
        </p:nvSpPr>
        <p:spPr>
          <a:xfrm xmlns:a="http://schemas.openxmlformats.org/drawingml/2006/main">
            <a:off x="342900" y="619125"/>
            <a:ext cx="8458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42C45"/>
                </a:solidFill>
                <a:latin typeface="Calibri"/>
                <a:ea typeface="Calibri"/>
                <a:cs typeface="Calibri"/>
              </a:defRPr>
            </a:defPPr>
          </a:lstStyle>
          <a:p xmlns:a="http://schemas.openxmlformats.org/drawingml/2006/main">
            <a:pPr algn="l">
              <a:defRPr sz="3000" b="1">
                <a:solidFill>
                  <a:srgbClr val="142C45"/>
                </a:solidFill>
                <a:latin typeface="Calibri"/>
                <a:ea typeface="Calibri"/>
                <a:cs typeface="Calibri"/>
              </a:defRPr>
            </a:pPr>
            <a:r>
              <a:rPr sz="3000" b="1">
                <a:solidFill>
                  <a:srgbClr val="142C45"/>
                </a:solidFill>
                <a:latin typeface="Calibri"/>
                <a:ea typeface="Calibri"/>
                <a:cs typeface="Calibri"/>
              </a:rPr>
              <a:t>Recorded Entry Spacing and Rate</a:t>
            </a:r>
          </a:p>
        </p:txBody>
      </p:sp>
      <p:sp>
        <p:nvSpPr>
          <p:cNvPr id="3" name="16 / 24">
            <a:extLst xmlns:a="http://schemas.openxmlformats.org/drawingml/2006/main">
              <a:ext uri="{FF2B5EF4-FFF2-40B4-BE49-F238E27FC236}">
                <a16:creationId xmlns:a16="http://schemas.microsoft.com/office/drawing/2014/main" id="{79A00258-CE32-4850-8561-9EE19C64340F}"/>
              </a:ext>
            </a:extLst>
          </p:cNvPr>
          <p:cNvSpPr>
            <a:spLocks xmlns:a="http://schemas.openxmlformats.org/drawingml/2006/main" noGrp="1"/>
          </p:cNvSpPr>
          <p:nvPr/>
        </p:nvSpPr>
        <p:spPr>
          <a:xfrm xmlns:a="http://schemas.openxmlformats.org/drawingml/2006/main">
            <a:off x="8172450" y="489585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607282"/>
                </a:solidFill>
                <a:latin typeface="Calibri"/>
                <a:ea typeface="Calibri"/>
                <a:cs typeface="Calibri"/>
              </a:defRPr>
            </a:defPPr>
          </a:lstStyle>
          <a:p xmlns:a="http://schemas.openxmlformats.org/drawingml/2006/main">
            <a:pPr algn="r">
              <a:defRPr sz="900" b="0">
                <a:solidFill>
                  <a:srgbClr val="607282"/>
                </a:solidFill>
                <a:latin typeface="Calibri"/>
                <a:ea typeface="Calibri"/>
                <a:cs typeface="Calibri"/>
              </a:defRPr>
            </a:pPr>
            <a:r>
              <a:rPr sz="900" b="0">
                <a:solidFill>
                  <a:srgbClr val="607282"/>
                </a:solidFill>
                <a:latin typeface="Calibri"/>
                <a:ea typeface="Calibri"/>
                <a:cs typeface="Calibri"/>
              </a:rPr>
              <a:t>16 / 24</a:t>
            </a:r>
          </a:p>
        </p:txBody>
      </p:sp>
      <p:graphicFrame>
        <p:nvGraphicFramePr>
          <p:cNvPr id="4" name="">
            <a:extLst xmlns:a="http://schemas.openxmlformats.org/drawingml/2006/main">
              <a:ext uri="{FF2B5EF4-FFF2-40B4-BE49-F238E27FC236}">
                <a16:creationId xmlns:a16="http://schemas.microsoft.com/office/drawing/2014/main" id="{872BCE3E-A796-47ED-BF00-0A06C8D1ADFB}"/>
              </a:ext>
            </a:extLst>
          </p:cNvPr>
          <p:cNvGraphicFramePr/>
          <p:nvPr/>
        </p:nvGraphicFramePr>
        <p:xfrm>
          <a:off xmlns:a="http://schemas.openxmlformats.org/drawingml/2006/main" x="342900" y="1362075"/>
          <a:ext xmlns:a="http://schemas.openxmlformats.org/drawingml/2006/main" cx="8458200" cy="2209800"/>
        </p:xfrm>
        <a:graphic xmlns:a="http://schemas.openxmlformats.org/drawingml/2006/main">
          <a:graphicData uri="http://schemas.openxmlformats.org/drawingml/2006/table">
            <a:tbl>
              <a:tblPr/>
              <a:tblGrid>
                <a:gridCol w="2743200"/>
                <a:gridCol w="1333500"/>
                <a:gridCol w="2190750"/>
                <a:gridCol w="2190750"/>
              </a:tblGrid>
              <a:tr h="552450">
                <a:tc>
                  <a:txBody>
                    <a:bodyPr lIns="0" tIns="0" rIns="0" bIns="0">
                      <a:noAutofit/>
                    </a:bodyPr>
                    <a:lstStyle/>
                    <a:p>
                      <a:pPr algn="l"/>
                      <a:r>
                        <a:rPr sz="2250" b="1">
                          <a:solidFill>
                            <a:srgbClr val="FFFFFF"/>
                          </a:solidFill>
                          <a:latin typeface="Calibri"/>
                          <a:ea typeface="Calibri"/>
                          <a:cs typeface="Calibri"/>
                        </a:rPr>
                        <a:t>Mode</a:t>
                      </a:r>
                    </a:p>
                  </a:txBody>
                  <a:tcPr marL="95250" marR="95250" marT="47625" marB="47625" anchor="ctr">
                    <a:lnL w="6350">
                      <a:noFill/>
                      <a:prstDash val="solid"/>
                    </a:lnL>
                    <a:lnR w="6350">
                      <a:noFill/>
                      <a:prstDash val="solid"/>
                    </a:lnR>
                    <a:lnT w="6350">
                      <a:noFill/>
                      <a:prstDash val="solid"/>
                    </a:lnT>
                    <a:lnB w="6350">
                      <a:noFill/>
                      <a:prstDash val="solid"/>
                    </a:lnB>
                    <a:solidFill>
                      <a:srgbClr val="142C45"/>
                    </a:solidFill>
                  </a:tcPr>
                </a:tc>
                <a:tc>
                  <a:txBody>
                    <a:bodyPr lIns="0" tIns="0" rIns="0" bIns="0">
                      <a:noAutofit/>
                    </a:bodyPr>
                    <a:lstStyle/>
                    <a:p>
                      <a:pPr algn="ctr"/>
                      <a:r>
                        <a:rPr sz="2250" b="1">
                          <a:solidFill>
                            <a:srgbClr val="FFFFFF"/>
                          </a:solidFill>
                          <a:latin typeface="Calibri"/>
                          <a:ea typeface="Calibri"/>
                          <a:cs typeface="Calibri"/>
                        </a:rPr>
                        <a:t>Gaps</a:t>
                      </a:r>
                    </a:p>
                  </a:txBody>
                  <a:tcPr marL="95250" marR="95250" marT="47625" marB="47625" anchor="ctr">
                    <a:lnL w="6350">
                      <a:noFill/>
                      <a:prstDash val="solid"/>
                    </a:lnL>
                    <a:lnR w="6350">
                      <a:noFill/>
                      <a:prstDash val="solid"/>
                    </a:lnR>
                    <a:lnT w="6350">
                      <a:noFill/>
                      <a:prstDash val="solid"/>
                    </a:lnT>
                    <a:lnB w="6350">
                      <a:noFill/>
                      <a:prstDash val="solid"/>
                    </a:lnB>
                    <a:solidFill>
                      <a:srgbClr val="142C45"/>
                    </a:solidFill>
                  </a:tcPr>
                </a:tc>
                <a:tc>
                  <a:txBody>
                    <a:bodyPr lIns="0" tIns="0" rIns="0" bIns="0">
                      <a:noAutofit/>
                    </a:bodyPr>
                    <a:lstStyle/>
                    <a:p>
                      <a:pPr algn="ctr"/>
                      <a:r>
                        <a:rPr sz="2250" b="1">
                          <a:solidFill>
                            <a:srgbClr val="FFFFFF"/>
                          </a:solidFill>
                          <a:latin typeface="Calibri"/>
                          <a:ea typeface="Calibri"/>
                          <a:cs typeface="Calibri"/>
                        </a:rPr>
                        <a:t>Mean(s)</a:t>
                      </a:r>
                    </a:p>
                  </a:txBody>
                  <a:tcPr marL="95250" marR="95250" marT="47625" marB="47625" anchor="ctr">
                    <a:lnL w="6350">
                      <a:noFill/>
                      <a:prstDash val="solid"/>
                    </a:lnL>
                    <a:lnR w="6350">
                      <a:noFill/>
                      <a:prstDash val="solid"/>
                    </a:lnR>
                    <a:lnT w="6350">
                      <a:noFill/>
                      <a:prstDash val="solid"/>
                    </a:lnT>
                    <a:lnB w="6350">
                      <a:noFill/>
                      <a:prstDash val="solid"/>
                    </a:lnB>
                    <a:solidFill>
                      <a:srgbClr val="142C45"/>
                    </a:solidFill>
                  </a:tcPr>
                </a:tc>
                <a:tc>
                  <a:txBody>
                    <a:bodyPr lIns="0" tIns="0" rIns="0" bIns="0">
                      <a:noAutofit/>
                    </a:bodyPr>
                    <a:lstStyle/>
                    <a:p>
                      <a:pPr algn="ctr"/>
                      <a:r>
                        <a:rPr sz="2250" b="1">
                          <a:solidFill>
                            <a:srgbClr val="FFFFFF"/>
                          </a:solidFill>
                          <a:latin typeface="Calibri"/>
                          <a:ea typeface="Calibri"/>
                          <a:cs typeface="Calibri"/>
                        </a:rPr>
                        <a:t>Gaps/min</a:t>
                      </a:r>
                    </a:p>
                  </a:txBody>
                  <a:tcPr marL="95250" marR="95250" marT="47625" marB="47625" anchor="ctr">
                    <a:lnL w="6350">
                      <a:noFill/>
                      <a:prstDash val="solid"/>
                    </a:lnL>
                    <a:lnR w="6350">
                      <a:noFill/>
                      <a:prstDash val="solid"/>
                    </a:lnR>
                    <a:lnT w="6350">
                      <a:noFill/>
                      <a:prstDash val="solid"/>
                    </a:lnT>
                    <a:lnB w="6350">
                      <a:noFill/>
                      <a:prstDash val="solid"/>
                    </a:lnB>
                    <a:solidFill>
                      <a:srgbClr val="142C45"/>
                    </a:solidFill>
                  </a:tcPr>
                </a:tc>
              </a:tr>
              <a:tr h="552450">
                <a:tc>
                  <a:txBody>
                    <a:bodyPr lIns="0" tIns="0" rIns="0" bIns="0">
                      <a:noAutofit/>
                    </a:bodyPr>
                    <a:lstStyle/>
                    <a:p>
                      <a:pPr algn="l"/>
                      <a:r>
                        <a:rPr sz="2250" b="0">
                          <a:solidFill>
                            <a:srgbClr val="33424D"/>
                          </a:solidFill>
                          <a:latin typeface="Calibri"/>
                          <a:ea typeface="Calibri"/>
                          <a:cs typeface="Calibri"/>
                        </a:rPr>
                        <a:t>Fast</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r>
                        <a:rPr sz="2250" b="0">
                          <a:solidFill>
                            <a:srgbClr val="33424D"/>
                          </a:solidFill>
                          <a:latin typeface="Calibri"/>
                          <a:ea typeface="Calibri"/>
                          <a:cs typeface="Calibri"/>
                        </a:rPr>
                        <a:t>66</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r>
                        <a:rPr sz="2250" b="0">
                          <a:solidFill>
                            <a:srgbClr val="33424D"/>
                          </a:solidFill>
                          <a:latin typeface="Calibri"/>
                          <a:ea typeface="Calibri"/>
                          <a:cs typeface="Calibri"/>
                        </a:rPr>
                        <a:t>2.730</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r>
                        <a:rPr sz="2250" b="0">
                          <a:solidFill>
                            <a:srgbClr val="33424D"/>
                          </a:solidFill>
                          <a:latin typeface="Calibri"/>
                          <a:ea typeface="Calibri"/>
                          <a:cs typeface="Calibri"/>
                        </a:rPr>
                        <a:t>21.98</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r>
              <a:tr h="552450">
                <a:tc>
                  <a:txBody>
                    <a:bodyPr lIns="0" tIns="0" rIns="0" bIns="0">
                      <a:noAutofit/>
                    </a:bodyPr>
                    <a:lstStyle/>
                    <a:p>
                      <a:pPr algn="l"/>
                      <a:r>
                        <a:rPr sz="2250" b="0">
                          <a:solidFill>
                            <a:srgbClr val="33424D"/>
                          </a:solidFill>
                          <a:latin typeface="Calibri"/>
                          <a:ea typeface="Calibri"/>
                          <a:cs typeface="Calibri"/>
                        </a:rPr>
                        <a:t>Standard</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ctr"/>
                      <a:r>
                        <a:rPr sz="2250" b="0">
                          <a:solidFill>
                            <a:srgbClr val="33424D"/>
                          </a:solidFill>
                          <a:latin typeface="Calibri"/>
                          <a:ea typeface="Calibri"/>
                          <a:cs typeface="Calibri"/>
                        </a:rPr>
                        <a:t>66</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ctr"/>
                      <a:r>
                        <a:rPr sz="2250" b="0">
                          <a:solidFill>
                            <a:srgbClr val="33424D"/>
                          </a:solidFill>
                          <a:latin typeface="Calibri"/>
                          <a:ea typeface="Calibri"/>
                          <a:cs typeface="Calibri"/>
                        </a:rPr>
                        <a:t>8.048</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ctr"/>
                      <a:r>
                        <a:rPr sz="2250" b="0">
                          <a:solidFill>
                            <a:srgbClr val="33424D"/>
                          </a:solidFill>
                          <a:latin typeface="Calibri"/>
                          <a:ea typeface="Calibri"/>
                          <a:cs typeface="Calibri"/>
                        </a:rPr>
                        <a:t>7.46</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r>
              <a:tr h="552450">
                <a:tc>
                  <a:txBody>
                    <a:bodyPr lIns="0" tIns="0" rIns="0" bIns="0">
                      <a:noAutofit/>
                    </a:bodyPr>
                    <a:lstStyle/>
                    <a:p>
                      <a:pPr algn="l"/>
                      <a:r>
                        <a:rPr sz="2250" b="0">
                          <a:solidFill>
                            <a:srgbClr val="33424D"/>
                          </a:solidFill>
                          <a:latin typeface="Calibri"/>
                          <a:ea typeface="Calibri"/>
                          <a:cs typeface="Calibri"/>
                        </a:rPr>
                        <a:t>High-Security</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r>
                        <a:rPr sz="2250" b="0">
                          <a:solidFill>
                            <a:srgbClr val="33424D"/>
                          </a:solidFill>
                          <a:latin typeface="Calibri"/>
                          <a:ea typeface="Calibri"/>
                          <a:cs typeface="Calibri"/>
                        </a:rPr>
                        <a:t>66</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r>
                        <a:rPr sz="2250" b="0">
                          <a:solidFill>
                            <a:srgbClr val="33424D"/>
                          </a:solidFill>
                          <a:latin typeface="Calibri"/>
                          <a:ea typeface="Calibri"/>
                          <a:cs typeface="Calibri"/>
                        </a:rPr>
                        <a:t>12.129</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r>
                        <a:rPr sz="2250" b="0">
                          <a:solidFill>
                            <a:srgbClr val="33424D"/>
                          </a:solidFill>
                          <a:latin typeface="Calibri"/>
                          <a:ea typeface="Calibri"/>
                          <a:cs typeface="Calibri"/>
                        </a:rPr>
                        <a:t>4.95</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r>
            </a:tbl>
          </a:graphicData>
        </a:graphic>
      </p:graphicFrame>
      <p:sp>
        <p:nvSpPr>
          <p:cNvPr id="5" name="Four rounds: 19+19+19+9 = 66 gaps.">
            <a:extLst xmlns:a="http://schemas.openxmlformats.org/drawingml/2006/main">
              <a:ext uri="{FF2B5EF4-FFF2-40B4-BE49-F238E27FC236}">
                <a16:creationId xmlns:a16="http://schemas.microsoft.com/office/drawing/2014/main" id="{6438AE16-8A65-46E3-933D-63DE290A835F}"/>
              </a:ext>
            </a:extLst>
          </p:cNvPr>
          <p:cNvSpPr>
            <a:spLocks xmlns:a="http://schemas.openxmlformats.org/drawingml/2006/main" noGrp="1"/>
          </p:cNvSpPr>
          <p:nvPr/>
        </p:nvSpPr>
        <p:spPr>
          <a:xfrm xmlns:a="http://schemas.openxmlformats.org/drawingml/2006/main">
            <a:off x="342900" y="3962400"/>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33424D"/>
                </a:solidFill>
                <a:latin typeface="Calibri"/>
                <a:ea typeface="Calibri"/>
                <a:cs typeface="Calibri"/>
              </a:defRPr>
            </a:defPPr>
          </a:lstStyle>
          <a:p xmlns:a="http://schemas.openxmlformats.org/drawingml/2006/main">
            <a:pPr algn="l">
              <a:defRPr sz="2250" b="0">
                <a:solidFill>
                  <a:srgbClr val="33424D"/>
                </a:solidFill>
                <a:latin typeface="Calibri"/>
                <a:ea typeface="Calibri"/>
                <a:cs typeface="Calibri"/>
              </a:defRPr>
            </a:pPr>
            <a:r>
              <a:rPr sz="2250" b="0">
                <a:solidFill>
                  <a:srgbClr val="33424D"/>
                </a:solidFill>
                <a:latin typeface="Calibri"/>
                <a:ea typeface="Calibri"/>
                <a:cs typeface="Calibri"/>
              </a:rPr>
              <a:t>Four rounds: 19+19+19+9 = 66 gaps.</a:t>
            </a:r>
          </a:p>
        </p:txBody>
      </p:sp>
      <p:sp>
        <p:nvSpPr>
          <p:cNvPr id="6" name="Complete-round throughput remains unmeasured.">
            <a:extLst xmlns:a="http://schemas.openxmlformats.org/drawingml/2006/main">
              <a:ext uri="{FF2B5EF4-FFF2-40B4-BE49-F238E27FC236}">
                <a16:creationId xmlns:a16="http://schemas.microsoft.com/office/drawing/2014/main" id="{05051647-32F3-4DA0-808D-06E70AA7E3D0}"/>
              </a:ext>
            </a:extLst>
          </p:cNvPr>
          <p:cNvSpPr>
            <a:spLocks xmlns:a="http://schemas.openxmlformats.org/drawingml/2006/main" noGrp="1"/>
          </p:cNvSpPr>
          <p:nvPr/>
        </p:nvSpPr>
        <p:spPr>
          <a:xfrm xmlns:a="http://schemas.openxmlformats.org/drawingml/2006/main">
            <a:off x="342900" y="446722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33424D"/>
                </a:solidFill>
                <a:latin typeface="Calibri"/>
                <a:ea typeface="Calibri"/>
                <a:cs typeface="Calibri"/>
              </a:defRPr>
            </a:defPPr>
          </a:lstStyle>
          <a:p xmlns:a="http://schemas.openxmlformats.org/drawingml/2006/main">
            <a:pPr algn="l">
              <a:defRPr sz="2250" b="0">
                <a:solidFill>
                  <a:srgbClr val="33424D"/>
                </a:solidFill>
                <a:latin typeface="Calibri"/>
                <a:ea typeface="Calibri"/>
                <a:cs typeface="Calibri"/>
              </a:defRPr>
            </a:pPr>
            <a:r>
              <a:rPr sz="2250" b="0">
                <a:solidFill>
                  <a:srgbClr val="33424D"/>
                </a:solidFill>
                <a:latin typeface="Calibri"/>
                <a:ea typeface="Calibri"/>
                <a:cs typeface="Calibri"/>
              </a:rPr>
              <a:t>Complete-round throughput remains unmeasured.</a:t>
            </a:r>
          </a:p>
        </p:txBody>
      </p:sp>
    </p:spTree>
    <p:extLst>
      <p:ext uri="{BB962C8B-B14F-4D97-AF65-F5344CB8AC3E}">
        <p14:creationId xmlns:p14="http://schemas.microsoft.com/office/powerpoint/2010/main" val="922449556"/>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III. RESULTS">
            <a:extLst xmlns:a="http://schemas.openxmlformats.org/drawingml/2006/main">
              <a:ext uri="{FF2B5EF4-FFF2-40B4-BE49-F238E27FC236}">
                <a16:creationId xmlns:a16="http://schemas.microsoft.com/office/drawing/2014/main" id="{A2CBB806-653B-4C3E-97AF-E9EA6C5EECFA}"/>
              </a:ext>
            </a:extLst>
          </p:cNvPr>
          <p:cNvSpPr>
            <a:spLocks xmlns:a="http://schemas.openxmlformats.org/drawingml/2006/main" noGrp="1"/>
          </p:cNvSpPr>
          <p:nvPr/>
        </p:nvSpPr>
        <p:spPr>
          <a:xfrm xmlns:a="http://schemas.openxmlformats.org/drawingml/2006/main">
            <a:off x="342900" y="247650"/>
            <a:ext cx="8458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007F86"/>
                </a:solidFill>
                <a:latin typeface="Calibri"/>
                <a:ea typeface="Calibri"/>
                <a:cs typeface="Calibri"/>
              </a:defRPr>
            </a:defPPr>
          </a:lstStyle>
          <a:p xmlns:a="http://schemas.openxmlformats.org/drawingml/2006/main">
            <a:pPr algn="l">
              <a:defRPr sz="1275" b="1">
                <a:solidFill>
                  <a:srgbClr val="007F86"/>
                </a:solidFill>
                <a:latin typeface="Calibri"/>
                <a:ea typeface="Calibri"/>
                <a:cs typeface="Calibri"/>
              </a:defRPr>
            </a:pPr>
            <a:r>
              <a:rPr sz="1275" b="1">
                <a:solidFill>
                  <a:srgbClr val="007F86"/>
                </a:solidFill>
                <a:latin typeface="Calibri"/>
                <a:ea typeface="Calibri"/>
                <a:cs typeface="Calibri"/>
              </a:rPr>
              <a:t>III. RESULTS</a:t>
            </a:r>
          </a:p>
        </p:txBody>
      </p:sp>
      <p:sp>
        <p:nvSpPr>
          <p:cNvPr id="2" name="Controlled Security Results">
            <a:extLst xmlns:a="http://schemas.openxmlformats.org/drawingml/2006/main">
              <a:ext uri="{FF2B5EF4-FFF2-40B4-BE49-F238E27FC236}">
                <a16:creationId xmlns:a16="http://schemas.microsoft.com/office/drawing/2014/main" id="{E5B85A33-FDC9-471B-B723-4C445AB8CAB7}"/>
              </a:ext>
            </a:extLst>
          </p:cNvPr>
          <p:cNvSpPr>
            <a:spLocks xmlns:a="http://schemas.openxmlformats.org/drawingml/2006/main" noGrp="1"/>
          </p:cNvSpPr>
          <p:nvPr/>
        </p:nvSpPr>
        <p:spPr>
          <a:xfrm xmlns:a="http://schemas.openxmlformats.org/drawingml/2006/main">
            <a:off x="342900" y="619125"/>
            <a:ext cx="8458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42C45"/>
                </a:solidFill>
                <a:latin typeface="Calibri"/>
                <a:ea typeface="Calibri"/>
                <a:cs typeface="Calibri"/>
              </a:defRPr>
            </a:defPPr>
          </a:lstStyle>
          <a:p xmlns:a="http://schemas.openxmlformats.org/drawingml/2006/main">
            <a:pPr algn="l">
              <a:defRPr sz="3000" b="1">
                <a:solidFill>
                  <a:srgbClr val="142C45"/>
                </a:solidFill>
                <a:latin typeface="Calibri"/>
                <a:ea typeface="Calibri"/>
                <a:cs typeface="Calibri"/>
              </a:defRPr>
            </a:pPr>
            <a:r>
              <a:rPr sz="3000" b="1">
                <a:solidFill>
                  <a:srgbClr val="142C45"/>
                </a:solidFill>
                <a:latin typeface="Calibri"/>
                <a:ea typeface="Calibri"/>
                <a:cs typeface="Calibri"/>
              </a:rPr>
              <a:t>Controlled Security Results</a:t>
            </a:r>
          </a:p>
        </p:txBody>
      </p:sp>
      <p:sp>
        <p:nvSpPr>
          <p:cNvPr id="3" name="17 / 24">
            <a:extLst xmlns:a="http://schemas.openxmlformats.org/drawingml/2006/main">
              <a:ext uri="{FF2B5EF4-FFF2-40B4-BE49-F238E27FC236}">
                <a16:creationId xmlns:a16="http://schemas.microsoft.com/office/drawing/2014/main" id="{0373F970-EA4A-4C93-B0D4-D7C73731B310}"/>
              </a:ext>
            </a:extLst>
          </p:cNvPr>
          <p:cNvSpPr>
            <a:spLocks xmlns:a="http://schemas.openxmlformats.org/drawingml/2006/main" noGrp="1"/>
          </p:cNvSpPr>
          <p:nvPr/>
        </p:nvSpPr>
        <p:spPr>
          <a:xfrm xmlns:a="http://schemas.openxmlformats.org/drawingml/2006/main">
            <a:off x="8172450" y="489585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607282"/>
                </a:solidFill>
                <a:latin typeface="Calibri"/>
                <a:ea typeface="Calibri"/>
                <a:cs typeface="Calibri"/>
              </a:defRPr>
            </a:defPPr>
          </a:lstStyle>
          <a:p xmlns:a="http://schemas.openxmlformats.org/drawingml/2006/main">
            <a:pPr algn="r">
              <a:defRPr sz="900" b="0">
                <a:solidFill>
                  <a:srgbClr val="607282"/>
                </a:solidFill>
                <a:latin typeface="Calibri"/>
                <a:ea typeface="Calibri"/>
                <a:cs typeface="Calibri"/>
              </a:defRPr>
            </a:pPr>
            <a:r>
              <a:rPr sz="900" b="0">
                <a:solidFill>
                  <a:srgbClr val="607282"/>
                </a:solidFill>
                <a:latin typeface="Calibri"/>
                <a:ea typeface="Calibri"/>
                <a:cs typeface="Calibri"/>
              </a:rPr>
              <a:t>17 / 24</a:t>
            </a:r>
          </a:p>
        </p:txBody>
      </p:sp>
      <p:graphicFrame>
        <p:nvGraphicFramePr>
          <p:cNvPr id="4" name="">
            <a:extLst xmlns:a="http://schemas.openxmlformats.org/drawingml/2006/main">
              <a:ext uri="{FF2B5EF4-FFF2-40B4-BE49-F238E27FC236}">
                <a16:creationId xmlns:a16="http://schemas.microsoft.com/office/drawing/2014/main" id="{DFA1E0DE-D694-43F4-8037-49A484C9C8A5}"/>
              </a:ext>
            </a:extLst>
          </p:cNvPr>
          <p:cNvGraphicFramePr/>
          <p:nvPr/>
        </p:nvGraphicFramePr>
        <p:xfrm>
          <a:off xmlns:a="http://schemas.openxmlformats.org/drawingml/2006/main" x="342900" y="1362075"/>
          <a:ext xmlns:a="http://schemas.openxmlformats.org/drawingml/2006/main" cx="8458200" cy="2400300"/>
        </p:xfrm>
        <a:graphic xmlns:a="http://schemas.openxmlformats.org/drawingml/2006/main">
          <a:graphicData uri="http://schemas.openxmlformats.org/drawingml/2006/table">
            <a:tbl>
              <a:tblPr/>
              <a:tblGrid>
                <a:gridCol w="4286250"/>
                <a:gridCol w="2000250"/>
                <a:gridCol w="2171700"/>
              </a:tblGrid>
              <a:tr h="600075">
                <a:tc>
                  <a:txBody>
                    <a:bodyPr lIns="0" tIns="0" rIns="0" bIns="0">
                      <a:noAutofit/>
                    </a:bodyPr>
                    <a:lstStyle/>
                    <a:p>
                      <a:pPr algn="l"/>
                      <a:r>
                        <a:rPr sz="2175" b="1">
                          <a:solidFill>
                            <a:srgbClr val="FFFFFF"/>
                          </a:solidFill>
                          <a:latin typeface="Calibri"/>
                          <a:ea typeface="Calibri"/>
                          <a:cs typeface="Calibri"/>
                        </a:rPr>
                        <a:t>Measure</a:t>
                      </a:r>
                    </a:p>
                  </a:txBody>
                  <a:tcPr marL="95250" marR="95250" marT="47625" marB="47625" anchor="ctr">
                    <a:lnL w="6350">
                      <a:noFill/>
                      <a:prstDash val="solid"/>
                    </a:lnL>
                    <a:lnR w="6350">
                      <a:noFill/>
                      <a:prstDash val="solid"/>
                    </a:lnR>
                    <a:lnT w="6350">
                      <a:noFill/>
                      <a:prstDash val="solid"/>
                    </a:lnT>
                    <a:lnB w="6350">
                      <a:noFill/>
                      <a:prstDash val="solid"/>
                    </a:lnB>
                    <a:solidFill>
                      <a:srgbClr val="142C45"/>
                    </a:solidFill>
                  </a:tcPr>
                </a:tc>
                <a:tc>
                  <a:txBody>
                    <a:bodyPr lIns="0" tIns="0" rIns="0" bIns="0">
                      <a:noAutofit/>
                    </a:bodyPr>
                    <a:lstStyle/>
                    <a:p>
                      <a:pPr algn="ctr"/>
                      <a:r>
                        <a:rPr sz="2175" b="1">
                          <a:solidFill>
                            <a:srgbClr val="FFFFFF"/>
                          </a:solidFill>
                          <a:latin typeface="Calibri"/>
                          <a:ea typeface="Calibri"/>
                          <a:cs typeface="Calibri"/>
                        </a:rPr>
                        <a:t>Rate</a:t>
                      </a:r>
                    </a:p>
                  </a:txBody>
                  <a:tcPr marL="95250" marR="95250" marT="47625" marB="47625" anchor="ctr">
                    <a:lnL w="6350">
                      <a:noFill/>
                      <a:prstDash val="solid"/>
                    </a:lnL>
                    <a:lnR w="6350">
                      <a:noFill/>
                      <a:prstDash val="solid"/>
                    </a:lnR>
                    <a:lnT w="6350">
                      <a:noFill/>
                      <a:prstDash val="solid"/>
                    </a:lnT>
                    <a:lnB w="6350">
                      <a:noFill/>
                      <a:prstDash val="solid"/>
                    </a:lnB>
                    <a:solidFill>
                      <a:srgbClr val="142C45"/>
                    </a:solidFill>
                  </a:tcPr>
                </a:tc>
                <a:tc>
                  <a:txBody>
                    <a:bodyPr lIns="0" tIns="0" rIns="0" bIns="0">
                      <a:noAutofit/>
                    </a:bodyPr>
                    <a:lstStyle/>
                    <a:p>
                      <a:pPr algn="ctr"/>
                      <a:r>
                        <a:rPr sz="2175" b="1">
                          <a:solidFill>
                            <a:srgbClr val="FFFFFF"/>
                          </a:solidFill>
                          <a:latin typeface="Calibri"/>
                          <a:ea typeface="Calibri"/>
                          <a:cs typeface="Calibri"/>
                        </a:rPr>
                        <a:t>Recorded count</a:t>
                      </a:r>
                    </a:p>
                  </a:txBody>
                  <a:tcPr marL="95250" marR="95250" marT="47625" marB="47625" anchor="ctr">
                    <a:lnL w="6350">
                      <a:noFill/>
                      <a:prstDash val="solid"/>
                    </a:lnL>
                    <a:lnR w="6350">
                      <a:noFill/>
                      <a:prstDash val="solid"/>
                    </a:lnR>
                    <a:lnT w="6350">
                      <a:noFill/>
                      <a:prstDash val="solid"/>
                    </a:lnT>
                    <a:lnB w="6350">
                      <a:noFill/>
                      <a:prstDash val="solid"/>
                    </a:lnB>
                    <a:solidFill>
                      <a:srgbClr val="142C45"/>
                    </a:solidFill>
                  </a:tcPr>
                </a:tc>
              </a:tr>
              <a:tr h="600075">
                <a:tc>
                  <a:txBody>
                    <a:bodyPr lIns="0" tIns="0" rIns="0" bIns="0">
                      <a:noAutofit/>
                    </a:bodyPr>
                    <a:lstStyle/>
                    <a:p>
                      <a:pPr algn="l"/>
                      <a:r>
                        <a:rPr sz="2175" b="0">
                          <a:solidFill>
                            <a:srgbClr val="33424D"/>
                          </a:solidFill>
                          <a:latin typeface="Calibri"/>
                          <a:ea typeface="Calibri"/>
                          <a:cs typeface="Calibri"/>
                        </a:rPr>
                        <a:t>Correct credential decisions</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r>
                        <a:rPr sz="2175" b="0">
                          <a:solidFill>
                            <a:srgbClr val="33424D"/>
                          </a:solidFill>
                          <a:latin typeface="Calibri"/>
                          <a:ea typeface="Calibri"/>
                          <a:cs typeface="Calibri"/>
                        </a:rPr>
                        <a:t>100%</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r>
                        <a:rPr sz="2175" b="0">
                          <a:solidFill>
                            <a:srgbClr val="33424D"/>
                          </a:solidFill>
                          <a:latin typeface="Calibri"/>
                          <a:ea typeface="Calibri"/>
                          <a:cs typeface="Calibri"/>
                        </a:rPr>
                        <a:t>222/222</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r>
              <a:tr h="600075">
                <a:tc>
                  <a:txBody>
                    <a:bodyPr lIns="0" tIns="0" rIns="0" bIns="0">
                      <a:noAutofit/>
                    </a:bodyPr>
                    <a:lstStyle/>
                    <a:p>
                      <a:pPr algn="l"/>
                      <a:r>
                        <a:rPr sz="2175" b="0">
                          <a:solidFill>
                            <a:srgbClr val="33424D"/>
                          </a:solidFill>
                          <a:latin typeface="Calibri"/>
                          <a:ea typeface="Calibri"/>
                          <a:cs typeface="Calibri"/>
                        </a:rPr>
                        <a:t>Denied/all records</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ctr"/>
                      <a:r>
                        <a:rPr sz="2175" b="0">
                          <a:solidFill>
                            <a:srgbClr val="33424D"/>
                          </a:solidFill>
                          <a:latin typeface="Calibri"/>
                          <a:ea typeface="Calibri"/>
                          <a:cs typeface="Calibri"/>
                        </a:rPr>
                        <a:t>4.11%</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ctr"/>
                      <a:r>
                        <a:rPr sz="2175" b="0">
                          <a:solidFill>
                            <a:srgbClr val="33424D"/>
                          </a:solidFill>
                          <a:latin typeface="Calibri"/>
                          <a:ea typeface="Calibri"/>
                          <a:cs typeface="Calibri"/>
                        </a:rPr>
                        <a:t>18/438</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r>
              <a:tr h="600075">
                <a:tc>
                  <a:txBody>
                    <a:bodyPr lIns="0" tIns="0" rIns="0" bIns="0">
                      <a:noAutofit/>
                    </a:bodyPr>
                    <a:lstStyle/>
                    <a:p>
                      <a:pPr algn="l"/>
                      <a:r>
                        <a:rPr sz="2175" b="0">
                          <a:solidFill>
                            <a:srgbClr val="33424D"/>
                          </a:solidFill>
                          <a:latin typeface="Calibri"/>
                          <a:ea typeface="Calibri"/>
                          <a:cs typeface="Calibri"/>
                        </a:rPr>
                        <a:t>Lockouts/PIN submissions</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r>
                        <a:rPr sz="2175" b="0">
                          <a:solidFill>
                            <a:srgbClr val="33424D"/>
                          </a:solidFill>
                          <a:latin typeface="Calibri"/>
                          <a:ea typeface="Calibri"/>
                          <a:cs typeface="Calibri"/>
                        </a:rPr>
                        <a:t>1.32%</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r>
                        <a:rPr sz="2175" b="0">
                          <a:solidFill>
                            <a:srgbClr val="33424D"/>
                          </a:solidFill>
                          <a:latin typeface="Calibri"/>
                          <a:ea typeface="Calibri"/>
                          <a:cs typeface="Calibri"/>
                        </a:rPr>
                        <a:t>2/152</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r>
            </a:tbl>
          </a:graphicData>
        </a:graphic>
      </p:graphicFrame>
      <p:sp>
        <p:nvSpPr>
          <p:cNvPr id="5" name="Researcher-labelled outcomes under controlled conditions.">
            <a:extLst xmlns:a="http://schemas.openxmlformats.org/drawingml/2006/main">
              <a:ext uri="{FF2B5EF4-FFF2-40B4-BE49-F238E27FC236}">
                <a16:creationId xmlns:a16="http://schemas.microsoft.com/office/drawing/2014/main" id="{7570E302-659D-4EE6-9E0B-9310A917D9C0}"/>
              </a:ext>
            </a:extLst>
          </p:cNvPr>
          <p:cNvSpPr>
            <a:spLocks xmlns:a="http://schemas.openxmlformats.org/drawingml/2006/main" noGrp="1"/>
          </p:cNvSpPr>
          <p:nvPr/>
        </p:nvSpPr>
        <p:spPr>
          <a:xfrm xmlns:a="http://schemas.openxmlformats.org/drawingml/2006/main">
            <a:off x="342900" y="4057650"/>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33424D"/>
                </a:solidFill>
                <a:latin typeface="Calibri"/>
                <a:ea typeface="Calibri"/>
                <a:cs typeface="Calibri"/>
              </a:defRPr>
            </a:defPPr>
          </a:lstStyle>
          <a:p xmlns:a="http://schemas.openxmlformats.org/drawingml/2006/main">
            <a:pPr algn="l">
              <a:defRPr sz="2100" b="0">
                <a:solidFill>
                  <a:srgbClr val="33424D"/>
                </a:solidFill>
                <a:latin typeface="Calibri"/>
                <a:ea typeface="Calibri"/>
                <a:cs typeface="Calibri"/>
              </a:defRPr>
            </a:pPr>
            <a:r>
              <a:rPr sz="2100" b="0">
                <a:solidFill>
                  <a:srgbClr val="33424D"/>
                </a:solidFill>
                <a:latin typeface="Calibri"/>
                <a:ea typeface="Calibri"/>
                <a:cs typeface="Calibri"/>
              </a:rPr>
              <a:t>Researcher-labelled outcomes under controlled conditions.</a:t>
            </a:r>
          </a:p>
        </p:txBody>
      </p:sp>
      <p:sp>
        <p:nvSpPr>
          <p:cNvPr id="6" name="Demonstrations contributed to denials and lockouts.">
            <a:extLst xmlns:a="http://schemas.openxmlformats.org/drawingml/2006/main">
              <a:ext uri="{FF2B5EF4-FFF2-40B4-BE49-F238E27FC236}">
                <a16:creationId xmlns:a16="http://schemas.microsoft.com/office/drawing/2014/main" id="{92C3E07F-1F14-42C3-9276-D9C6B59EA474}"/>
              </a:ext>
            </a:extLst>
          </p:cNvPr>
          <p:cNvSpPr>
            <a:spLocks xmlns:a="http://schemas.openxmlformats.org/drawingml/2006/main" noGrp="1"/>
          </p:cNvSpPr>
          <p:nvPr/>
        </p:nvSpPr>
        <p:spPr>
          <a:xfrm xmlns:a="http://schemas.openxmlformats.org/drawingml/2006/main">
            <a:off x="342900" y="450532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33424D"/>
                </a:solidFill>
                <a:latin typeface="Calibri"/>
                <a:ea typeface="Calibri"/>
                <a:cs typeface="Calibri"/>
              </a:defRPr>
            </a:defPPr>
          </a:lstStyle>
          <a:p xmlns:a="http://schemas.openxmlformats.org/drawingml/2006/main">
            <a:pPr algn="l">
              <a:defRPr sz="2100" b="0">
                <a:solidFill>
                  <a:srgbClr val="33424D"/>
                </a:solidFill>
                <a:latin typeface="Calibri"/>
                <a:ea typeface="Calibri"/>
                <a:cs typeface="Calibri"/>
              </a:defRPr>
            </a:pPr>
            <a:r>
              <a:rPr sz="2100" b="0">
                <a:solidFill>
                  <a:srgbClr val="33424D"/>
                </a:solidFill>
                <a:latin typeface="Calibri"/>
                <a:ea typeface="Calibri"/>
                <a:cs typeface="Calibri"/>
              </a:rPr>
              <a:t>Demonstrations contributed to denials and lockouts.</a:t>
            </a:r>
          </a:p>
        </p:txBody>
      </p:sp>
    </p:spTree>
    <p:extLst>
      <p:ext uri="{BB962C8B-B14F-4D97-AF65-F5344CB8AC3E}">
        <p14:creationId xmlns:p14="http://schemas.microsoft.com/office/powerpoint/2010/main" val="739685777"/>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graphicFrame>
        <p:nvGraphicFramePr>
          <p:cNvPr id="4" name="Chart">
            <a:extLst xmlns:a="http://schemas.openxmlformats.org/drawingml/2006/main">
              <a:ext uri="{FF2B5EF4-FFF2-40B4-BE49-F238E27FC236}">
                <a16:creationId xmlns:a16="http://schemas.microsoft.com/office/drawing/2014/main" id="{E7683D34-6F52-4AF8-82C9-78C096DC535F}"/>
              </a:ext>
            </a:extLst>
          </p:cNvPr>
          <p:cNvGraphicFramePr/>
          <p:nvPr/>
        </p:nvGraphicFramePr>
        <p:xfrm>
          <a:off xmlns:a="http://schemas.openxmlformats.org/drawingml/2006/main" x="342900" y="1343025"/>
          <a:ext xmlns:a="http://schemas.openxmlformats.org/drawingml/2006/main" cx="8458200" cy="2695575"/>
        </p:xfrm>
        <a:graphic xmlns:a="http://schemas.openxmlformats.org/drawingml/2006/main">
          <a:graphicData uri="http://schemas.openxmlformats.org/drawingml/2006/chart">
            <c:chart xmlns:r="http://schemas.openxmlformats.org/officeDocument/2006/relationships" xmlns:c="http://schemas.openxmlformats.org/drawingml/2006/chart" r:id="Ra3146f188d574d1c"/>
          </a:graphicData>
        </a:graphic>
      </p:graphicFrame>
      <p:sp>
        <p:nvSpPr>
          <p:cNvPr id="5" name="III. RESULTS">
            <a:extLst xmlns:a="http://schemas.openxmlformats.org/drawingml/2006/main">
              <a:ext uri="{FF2B5EF4-FFF2-40B4-BE49-F238E27FC236}">
                <a16:creationId xmlns:a16="http://schemas.microsoft.com/office/drawing/2014/main" id="{D53E0F07-A736-4876-89AA-91CDFEE786BE}"/>
              </a:ext>
            </a:extLst>
          </p:cNvPr>
          <p:cNvSpPr>
            <a:spLocks xmlns:a="http://schemas.openxmlformats.org/drawingml/2006/main" noGrp="1"/>
          </p:cNvSpPr>
          <p:nvPr/>
        </p:nvSpPr>
        <p:spPr>
          <a:xfrm xmlns:a="http://schemas.openxmlformats.org/drawingml/2006/main">
            <a:off x="342900" y="247650"/>
            <a:ext cx="8458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007F86"/>
                </a:solidFill>
                <a:latin typeface="Calibri"/>
                <a:ea typeface="Calibri"/>
                <a:cs typeface="Calibri"/>
              </a:defRPr>
            </a:defPPr>
          </a:lstStyle>
          <a:p xmlns:a="http://schemas.openxmlformats.org/drawingml/2006/main">
            <a:pPr algn="l">
              <a:defRPr sz="1275" b="1">
                <a:solidFill>
                  <a:srgbClr val="007F86"/>
                </a:solidFill>
                <a:latin typeface="Calibri"/>
                <a:ea typeface="Calibri"/>
                <a:cs typeface="Calibri"/>
              </a:defRPr>
            </a:pPr>
            <a:r>
              <a:rPr sz="1275" b="1">
                <a:solidFill>
                  <a:srgbClr val="007F86"/>
                </a:solidFill>
                <a:latin typeface="Calibri"/>
                <a:ea typeface="Calibri"/>
                <a:cs typeface="Calibri"/>
              </a:rPr>
              <a:t>III. RESULTS</a:t>
            </a:r>
          </a:p>
        </p:txBody>
      </p:sp>
      <p:sp>
        <p:nvSpPr>
          <p:cNvPr id="6" name="Student Survey Comparison">
            <a:extLst xmlns:a="http://schemas.openxmlformats.org/drawingml/2006/main">
              <a:ext uri="{FF2B5EF4-FFF2-40B4-BE49-F238E27FC236}">
                <a16:creationId xmlns:a16="http://schemas.microsoft.com/office/drawing/2014/main" id="{A149A82F-FD3B-4C1E-922A-525A8200ED9A}"/>
              </a:ext>
            </a:extLst>
          </p:cNvPr>
          <p:cNvSpPr>
            <a:spLocks xmlns:a="http://schemas.openxmlformats.org/drawingml/2006/main" noGrp="1"/>
          </p:cNvSpPr>
          <p:nvPr/>
        </p:nvSpPr>
        <p:spPr>
          <a:xfrm xmlns:a="http://schemas.openxmlformats.org/drawingml/2006/main">
            <a:off x="342900" y="619125"/>
            <a:ext cx="8458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42C45"/>
                </a:solidFill>
                <a:latin typeface="Calibri"/>
                <a:ea typeface="Calibri"/>
                <a:cs typeface="Calibri"/>
              </a:defRPr>
            </a:defPPr>
          </a:lstStyle>
          <a:p xmlns:a="http://schemas.openxmlformats.org/drawingml/2006/main">
            <a:pPr algn="l">
              <a:defRPr sz="3000" b="1">
                <a:solidFill>
                  <a:srgbClr val="142C45"/>
                </a:solidFill>
                <a:latin typeface="Calibri"/>
                <a:ea typeface="Calibri"/>
                <a:cs typeface="Calibri"/>
              </a:defRPr>
            </a:pPr>
            <a:r>
              <a:rPr sz="3000" b="1">
                <a:solidFill>
                  <a:srgbClr val="142C45"/>
                </a:solidFill>
                <a:latin typeface="Calibri"/>
                <a:ea typeface="Calibri"/>
                <a:cs typeface="Calibri"/>
              </a:rPr>
              <a:t>Student Survey Comparison</a:t>
            </a:r>
          </a:p>
        </p:txBody>
      </p:sp>
      <p:sp>
        <p:nvSpPr>
          <p:cNvPr id="7" name="18 / 24">
            <a:extLst xmlns:a="http://schemas.openxmlformats.org/drawingml/2006/main">
              <a:ext uri="{FF2B5EF4-FFF2-40B4-BE49-F238E27FC236}">
                <a16:creationId xmlns:a16="http://schemas.microsoft.com/office/drawing/2014/main" id="{B85945AF-2BBE-41E3-B4DA-7E7DC853B73A}"/>
              </a:ext>
            </a:extLst>
          </p:cNvPr>
          <p:cNvSpPr>
            <a:spLocks xmlns:a="http://schemas.openxmlformats.org/drawingml/2006/main" noGrp="1"/>
          </p:cNvSpPr>
          <p:nvPr/>
        </p:nvSpPr>
        <p:spPr>
          <a:xfrm xmlns:a="http://schemas.openxmlformats.org/drawingml/2006/main">
            <a:off x="8172450" y="489585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607282"/>
                </a:solidFill>
                <a:latin typeface="Calibri"/>
                <a:ea typeface="Calibri"/>
                <a:cs typeface="Calibri"/>
              </a:defRPr>
            </a:defPPr>
          </a:lstStyle>
          <a:p xmlns:a="http://schemas.openxmlformats.org/drawingml/2006/main">
            <a:pPr algn="r">
              <a:defRPr sz="900" b="0">
                <a:solidFill>
                  <a:srgbClr val="607282"/>
                </a:solidFill>
                <a:latin typeface="Calibri"/>
                <a:ea typeface="Calibri"/>
                <a:cs typeface="Calibri"/>
              </a:defRPr>
            </a:pPr>
            <a:r>
              <a:rPr sz="900" b="0">
                <a:solidFill>
                  <a:srgbClr val="607282"/>
                </a:solidFill>
                <a:latin typeface="Calibri"/>
                <a:ea typeface="Calibri"/>
                <a:cs typeface="Calibri"/>
              </a:rPr>
              <a:t>18 / 24</a:t>
            </a:r>
          </a:p>
        </p:txBody>
      </p:sp>
      <p:sp>
        <p:nvSpPr>
          <p:cNvPr id="8" name="Performance difference: 1.811 rating points.">
            <a:extLst xmlns:a="http://schemas.openxmlformats.org/drawingml/2006/main">
              <a:ext uri="{FF2B5EF4-FFF2-40B4-BE49-F238E27FC236}">
                <a16:creationId xmlns:a16="http://schemas.microsoft.com/office/drawing/2014/main" id="{F47175D1-2786-40F4-AC77-2ECDE354C8AF}"/>
              </a:ext>
            </a:extLst>
          </p:cNvPr>
          <p:cNvSpPr>
            <a:spLocks xmlns:a="http://schemas.openxmlformats.org/drawingml/2006/main" noGrp="1"/>
          </p:cNvSpPr>
          <p:nvPr/>
        </p:nvSpPr>
        <p:spPr>
          <a:xfrm xmlns:a="http://schemas.openxmlformats.org/drawingml/2006/main">
            <a:off x="342900" y="412432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3424D"/>
                </a:solidFill>
                <a:latin typeface="Calibri"/>
                <a:ea typeface="Calibri"/>
                <a:cs typeface="Calibri"/>
              </a:defRPr>
            </a:defPPr>
          </a:lstStyle>
          <a:p xmlns:a="http://schemas.openxmlformats.org/drawingml/2006/main">
            <a:pPr algn="l">
              <a:defRPr sz="2025" b="0">
                <a:solidFill>
                  <a:srgbClr val="33424D"/>
                </a:solidFill>
                <a:latin typeface="Calibri"/>
                <a:ea typeface="Calibri"/>
                <a:cs typeface="Calibri"/>
              </a:defRPr>
            </a:pPr>
            <a:r>
              <a:rPr sz="2025" b="0">
                <a:solidFill>
                  <a:srgbClr val="33424D"/>
                </a:solidFill>
                <a:latin typeface="Calibri"/>
                <a:ea typeface="Calibri"/>
                <a:cs typeface="Calibri"/>
              </a:rPr>
              <a:t>Performance difference: 1.811 rating points.</a:t>
            </a:r>
          </a:p>
        </p:txBody>
      </p:sp>
      <p:sp>
        <p:nvSpPr>
          <p:cNvPr id="9" name="Different students. Categories are descriptive comparisons.">
            <a:extLst xmlns:a="http://schemas.openxmlformats.org/drawingml/2006/main">
              <a:ext uri="{FF2B5EF4-FFF2-40B4-BE49-F238E27FC236}">
                <a16:creationId xmlns:a16="http://schemas.microsoft.com/office/drawing/2014/main" id="{8547C80D-AC6E-4DAA-9755-8EA78A04A883}"/>
              </a:ext>
            </a:extLst>
          </p:cNvPr>
          <p:cNvSpPr>
            <a:spLocks xmlns:a="http://schemas.openxmlformats.org/drawingml/2006/main" noGrp="1"/>
          </p:cNvSpPr>
          <p:nvPr/>
        </p:nvSpPr>
        <p:spPr>
          <a:xfrm xmlns:a="http://schemas.openxmlformats.org/drawingml/2006/main">
            <a:off x="342900" y="456247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3424D"/>
                </a:solidFill>
                <a:latin typeface="Calibri"/>
                <a:ea typeface="Calibri"/>
                <a:cs typeface="Calibri"/>
              </a:defRPr>
            </a:defPPr>
          </a:lstStyle>
          <a:p xmlns:a="http://schemas.openxmlformats.org/drawingml/2006/main">
            <a:pPr algn="l">
              <a:defRPr sz="2025" b="0">
                <a:solidFill>
                  <a:srgbClr val="33424D"/>
                </a:solidFill>
                <a:latin typeface="Calibri"/>
                <a:ea typeface="Calibri"/>
                <a:cs typeface="Calibri"/>
              </a:defRPr>
            </a:pPr>
            <a:r>
              <a:rPr sz="2025" b="0">
                <a:solidFill>
                  <a:srgbClr val="33424D"/>
                </a:solidFill>
                <a:latin typeface="Calibri"/>
                <a:ea typeface="Calibri"/>
                <a:cs typeface="Calibri"/>
              </a:rPr>
              <a:t>Different students. Categories are descriptive comparisons.</a:t>
            </a:r>
          </a:p>
        </p:txBody>
      </p:sp>
    </p:spTree>
    <p:extLst>
      <p:ext uri="{BB962C8B-B14F-4D97-AF65-F5344CB8AC3E}">
        <p14:creationId xmlns:p14="http://schemas.microsoft.com/office/powerpoint/2010/main" val="808269909"/>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graphicFrame>
        <p:nvGraphicFramePr>
          <p:cNvPr id="4" name="Chart">
            <a:extLst xmlns:a="http://schemas.openxmlformats.org/drawingml/2006/main">
              <a:ext uri="{FF2B5EF4-FFF2-40B4-BE49-F238E27FC236}">
                <a16:creationId xmlns:a16="http://schemas.microsoft.com/office/drawing/2014/main" id="{2FF04039-9382-48FE-9802-71D4EE17BDFF}"/>
              </a:ext>
            </a:extLst>
          </p:cNvPr>
          <p:cNvGraphicFramePr/>
          <p:nvPr/>
        </p:nvGraphicFramePr>
        <p:xfrm>
          <a:off xmlns:a="http://schemas.openxmlformats.org/drawingml/2006/main" x="342900" y="1371600"/>
          <a:ext xmlns:a="http://schemas.openxmlformats.org/drawingml/2006/main" cx="5305425" cy="3067050"/>
        </p:xfrm>
        <a:graphic xmlns:a="http://schemas.openxmlformats.org/drawingml/2006/main">
          <a:graphicData uri="http://schemas.openxmlformats.org/drawingml/2006/chart">
            <c:chart xmlns:r="http://schemas.openxmlformats.org/officeDocument/2006/relationships" xmlns:c="http://schemas.openxmlformats.org/drawingml/2006/chart" r:id="R283df01d3df245c3"/>
          </a:graphicData>
        </a:graphic>
      </p:graphicFrame>
      <p:sp>
        <p:nvSpPr>
          <p:cNvPr id="5" name="III. RESULTS">
            <a:extLst xmlns:a="http://schemas.openxmlformats.org/drawingml/2006/main">
              <a:ext uri="{FF2B5EF4-FFF2-40B4-BE49-F238E27FC236}">
                <a16:creationId xmlns:a16="http://schemas.microsoft.com/office/drawing/2014/main" id="{0288AC1D-1F83-44B2-AD88-D7DC643B2274}"/>
              </a:ext>
            </a:extLst>
          </p:cNvPr>
          <p:cNvSpPr>
            <a:spLocks xmlns:a="http://schemas.openxmlformats.org/drawingml/2006/main" noGrp="1"/>
          </p:cNvSpPr>
          <p:nvPr/>
        </p:nvSpPr>
        <p:spPr>
          <a:xfrm xmlns:a="http://schemas.openxmlformats.org/drawingml/2006/main">
            <a:off x="342900" y="247650"/>
            <a:ext cx="8458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007F86"/>
                </a:solidFill>
                <a:latin typeface="Calibri"/>
                <a:ea typeface="Calibri"/>
                <a:cs typeface="Calibri"/>
              </a:defRPr>
            </a:defPPr>
          </a:lstStyle>
          <a:p xmlns:a="http://schemas.openxmlformats.org/drawingml/2006/main">
            <a:pPr algn="l">
              <a:defRPr sz="1275" b="1">
                <a:solidFill>
                  <a:srgbClr val="007F86"/>
                </a:solidFill>
                <a:latin typeface="Calibri"/>
                <a:ea typeface="Calibri"/>
                <a:cs typeface="Calibri"/>
              </a:defRPr>
            </a:pPr>
            <a:r>
              <a:rPr sz="1275" b="1">
                <a:solidFill>
                  <a:srgbClr val="007F86"/>
                </a:solidFill>
                <a:latin typeface="Calibri"/>
                <a:ea typeface="Calibri"/>
                <a:cs typeface="Calibri"/>
              </a:rPr>
              <a:t>III. RESULTS</a:t>
            </a:r>
          </a:p>
        </p:txBody>
      </p:sp>
      <p:sp>
        <p:nvSpPr>
          <p:cNvPr id="6" name="System Survey Evaluation by Group">
            <a:extLst xmlns:a="http://schemas.openxmlformats.org/drawingml/2006/main">
              <a:ext uri="{FF2B5EF4-FFF2-40B4-BE49-F238E27FC236}">
                <a16:creationId xmlns:a16="http://schemas.microsoft.com/office/drawing/2014/main" id="{4A6D0488-515C-4003-AA35-AA5949DF33C4}"/>
              </a:ext>
            </a:extLst>
          </p:cNvPr>
          <p:cNvSpPr>
            <a:spLocks xmlns:a="http://schemas.openxmlformats.org/drawingml/2006/main" noGrp="1"/>
          </p:cNvSpPr>
          <p:nvPr/>
        </p:nvSpPr>
        <p:spPr>
          <a:xfrm xmlns:a="http://schemas.openxmlformats.org/drawingml/2006/main">
            <a:off x="342900" y="619125"/>
            <a:ext cx="8458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42C45"/>
                </a:solidFill>
                <a:latin typeface="Calibri"/>
                <a:ea typeface="Calibri"/>
                <a:cs typeface="Calibri"/>
              </a:defRPr>
            </a:defPPr>
          </a:lstStyle>
          <a:p xmlns:a="http://schemas.openxmlformats.org/drawingml/2006/main">
            <a:pPr algn="l">
              <a:defRPr sz="3000" b="1">
                <a:solidFill>
                  <a:srgbClr val="142C45"/>
                </a:solidFill>
                <a:latin typeface="Calibri"/>
                <a:ea typeface="Calibri"/>
                <a:cs typeface="Calibri"/>
              </a:defRPr>
            </a:pPr>
            <a:r>
              <a:rPr sz="3000" b="1">
                <a:solidFill>
                  <a:srgbClr val="142C45"/>
                </a:solidFill>
                <a:latin typeface="Calibri"/>
                <a:ea typeface="Calibri"/>
                <a:cs typeface="Calibri"/>
              </a:rPr>
              <a:t>System Survey Evaluation by Group</a:t>
            </a:r>
          </a:p>
        </p:txBody>
      </p:sp>
      <p:sp>
        <p:nvSpPr>
          <p:cNvPr id="7" name="19 / 24">
            <a:extLst xmlns:a="http://schemas.openxmlformats.org/drawingml/2006/main">
              <a:ext uri="{FF2B5EF4-FFF2-40B4-BE49-F238E27FC236}">
                <a16:creationId xmlns:a16="http://schemas.microsoft.com/office/drawing/2014/main" id="{0FACB1E0-01AB-435B-B0E9-2693C3D1D18B}"/>
              </a:ext>
            </a:extLst>
          </p:cNvPr>
          <p:cNvSpPr>
            <a:spLocks xmlns:a="http://schemas.openxmlformats.org/drawingml/2006/main" noGrp="1"/>
          </p:cNvSpPr>
          <p:nvPr/>
        </p:nvSpPr>
        <p:spPr>
          <a:xfrm xmlns:a="http://schemas.openxmlformats.org/drawingml/2006/main">
            <a:off x="8172450" y="489585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607282"/>
                </a:solidFill>
                <a:latin typeface="Calibri"/>
                <a:ea typeface="Calibri"/>
                <a:cs typeface="Calibri"/>
              </a:defRPr>
            </a:defPPr>
          </a:lstStyle>
          <a:p xmlns:a="http://schemas.openxmlformats.org/drawingml/2006/main">
            <a:pPr algn="r">
              <a:defRPr sz="900" b="0">
                <a:solidFill>
                  <a:srgbClr val="607282"/>
                </a:solidFill>
                <a:latin typeface="Calibri"/>
                <a:ea typeface="Calibri"/>
                <a:cs typeface="Calibri"/>
              </a:defRPr>
            </a:pPr>
            <a:r>
              <a:rPr sz="900" b="0">
                <a:solidFill>
                  <a:srgbClr val="607282"/>
                </a:solidFill>
                <a:latin typeface="Calibri"/>
                <a:ea typeface="Calibri"/>
                <a:cs typeface="Calibri"/>
              </a:rPr>
              <a:t>19 / 24</a:t>
            </a:r>
          </a:p>
        </p:txBody>
      </p:sp>
      <p:sp>
        <p:nvSpPr>
          <p:cNvPr id="8" name="Highly Satisfactory">
            <a:extLst xmlns:a="http://schemas.openxmlformats.org/drawingml/2006/main">
              <a:ext uri="{FF2B5EF4-FFF2-40B4-BE49-F238E27FC236}">
                <a16:creationId xmlns:a16="http://schemas.microsoft.com/office/drawing/2014/main" id="{36659A44-774A-40AC-96F1-0C0E6C2DB9C3}"/>
              </a:ext>
            </a:extLst>
          </p:cNvPr>
          <p:cNvSpPr>
            <a:spLocks xmlns:a="http://schemas.openxmlformats.org/drawingml/2006/main" noGrp="1"/>
          </p:cNvSpPr>
          <p:nvPr/>
        </p:nvSpPr>
        <p:spPr>
          <a:xfrm xmlns:a="http://schemas.openxmlformats.org/drawingml/2006/main">
            <a:off x="5876925" y="1409700"/>
            <a:ext cx="29241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3424D"/>
                </a:solidFill>
                <a:latin typeface="Calibri"/>
                <a:ea typeface="Calibri"/>
                <a:cs typeface="Calibri"/>
              </a:defRPr>
            </a:defPPr>
          </a:lstStyle>
          <a:p xmlns:a="http://schemas.openxmlformats.org/drawingml/2006/main">
            <a:pPr algn="l">
              <a:defRPr sz="2025" b="0">
                <a:solidFill>
                  <a:srgbClr val="33424D"/>
                </a:solidFill>
                <a:latin typeface="Calibri"/>
                <a:ea typeface="Calibri"/>
                <a:cs typeface="Calibri"/>
              </a:defRPr>
            </a:pPr>
            <a:r>
              <a:rPr sz="2025" b="0">
                <a:solidFill>
                  <a:srgbClr val="33424D"/>
                </a:solidFill>
                <a:latin typeface="Calibri"/>
                <a:ea typeface="Calibri"/>
                <a:cs typeface="Calibri"/>
              </a:rPr>
              <a:t>Highly Satisfactory</a:t>
            </a:r>
          </a:p>
        </p:txBody>
      </p:sp>
      <p:sp>
        <p:nvSpPr>
          <p:cNvPr id="9" name="All three groups">
            <a:extLst xmlns:a="http://schemas.openxmlformats.org/drawingml/2006/main">
              <a:ext uri="{FF2B5EF4-FFF2-40B4-BE49-F238E27FC236}">
                <a16:creationId xmlns:a16="http://schemas.microsoft.com/office/drawing/2014/main" id="{AC29DDE4-E850-4B4A-A8A1-7327A6A77687}"/>
              </a:ext>
            </a:extLst>
          </p:cNvPr>
          <p:cNvSpPr>
            <a:spLocks xmlns:a="http://schemas.openxmlformats.org/drawingml/2006/main" noGrp="1"/>
          </p:cNvSpPr>
          <p:nvPr/>
        </p:nvSpPr>
        <p:spPr>
          <a:xfrm xmlns:a="http://schemas.openxmlformats.org/drawingml/2006/main">
            <a:off x="5876925" y="1905000"/>
            <a:ext cx="29241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3424D"/>
                </a:solidFill>
                <a:latin typeface="Calibri"/>
                <a:ea typeface="Calibri"/>
                <a:cs typeface="Calibri"/>
              </a:defRPr>
            </a:defPPr>
          </a:lstStyle>
          <a:p xmlns:a="http://schemas.openxmlformats.org/drawingml/2006/main">
            <a:pPr algn="l">
              <a:defRPr sz="2025" b="0">
                <a:solidFill>
                  <a:srgbClr val="33424D"/>
                </a:solidFill>
                <a:latin typeface="Calibri"/>
                <a:ea typeface="Calibri"/>
                <a:cs typeface="Calibri"/>
              </a:defRPr>
            </a:pPr>
            <a:r>
              <a:rPr sz="2025" b="0">
                <a:solidFill>
                  <a:srgbClr val="33424D"/>
                </a:solidFill>
                <a:latin typeface="Calibri"/>
                <a:ea typeface="Calibri"/>
                <a:cs typeface="Calibri"/>
              </a:rPr>
              <a:t>All three groups</a:t>
            </a:r>
          </a:p>
        </p:txBody>
      </p:sp>
      <p:sp>
        <p:nvSpPr>
          <p:cNvPr id="10" name="Staff minimum: 3.45">
            <a:extLst xmlns:a="http://schemas.openxmlformats.org/drawingml/2006/main">
              <a:ext uri="{FF2B5EF4-FFF2-40B4-BE49-F238E27FC236}">
                <a16:creationId xmlns:a16="http://schemas.microsoft.com/office/drawing/2014/main" id="{18B22A7B-3703-4918-B479-5BCC691C2CA5}"/>
              </a:ext>
            </a:extLst>
          </p:cNvPr>
          <p:cNvSpPr>
            <a:spLocks xmlns:a="http://schemas.openxmlformats.org/drawingml/2006/main" noGrp="1"/>
          </p:cNvSpPr>
          <p:nvPr/>
        </p:nvSpPr>
        <p:spPr>
          <a:xfrm xmlns:a="http://schemas.openxmlformats.org/drawingml/2006/main">
            <a:off x="5876925" y="2400300"/>
            <a:ext cx="29241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3424D"/>
                </a:solidFill>
                <a:latin typeface="Calibri"/>
                <a:ea typeface="Calibri"/>
                <a:cs typeface="Calibri"/>
              </a:defRPr>
            </a:defPPr>
          </a:lstStyle>
          <a:p xmlns:a="http://schemas.openxmlformats.org/drawingml/2006/main">
            <a:pPr algn="l">
              <a:defRPr sz="2025" b="0">
                <a:solidFill>
                  <a:srgbClr val="33424D"/>
                </a:solidFill>
                <a:latin typeface="Calibri"/>
                <a:ea typeface="Calibri"/>
                <a:cs typeface="Calibri"/>
              </a:defRPr>
            </a:pPr>
            <a:r>
              <a:rPr sz="2025" b="0">
                <a:solidFill>
                  <a:srgbClr val="33424D"/>
                </a:solidFill>
                <a:latin typeface="Calibri"/>
                <a:ea typeface="Calibri"/>
                <a:cs typeface="Calibri"/>
              </a:rPr>
              <a:t>Staff minimum: 3.45</a:t>
            </a:r>
          </a:p>
        </p:txBody>
      </p:sp>
      <p:sp>
        <p:nvSpPr>
          <p:cNvPr id="11" name="Performance Efficiency">
            <a:extLst xmlns:a="http://schemas.openxmlformats.org/drawingml/2006/main">
              <a:ext uri="{FF2B5EF4-FFF2-40B4-BE49-F238E27FC236}">
                <a16:creationId xmlns:a16="http://schemas.microsoft.com/office/drawing/2014/main" id="{4B818607-3985-4DA3-AC95-C3F7DAB2A5B8}"/>
              </a:ext>
            </a:extLst>
          </p:cNvPr>
          <p:cNvSpPr>
            <a:spLocks xmlns:a="http://schemas.openxmlformats.org/drawingml/2006/main" noGrp="1"/>
          </p:cNvSpPr>
          <p:nvPr/>
        </p:nvSpPr>
        <p:spPr>
          <a:xfrm xmlns:a="http://schemas.openxmlformats.org/drawingml/2006/main">
            <a:off x="5876925" y="2895600"/>
            <a:ext cx="29241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3424D"/>
                </a:solidFill>
                <a:latin typeface="Calibri"/>
                <a:ea typeface="Calibri"/>
                <a:cs typeface="Calibri"/>
              </a:defRPr>
            </a:defPPr>
          </a:lstStyle>
          <a:p xmlns:a="http://schemas.openxmlformats.org/drawingml/2006/main">
            <a:pPr algn="l">
              <a:defRPr sz="2025" b="0">
                <a:solidFill>
                  <a:srgbClr val="33424D"/>
                </a:solidFill>
                <a:latin typeface="Calibri"/>
                <a:ea typeface="Calibri"/>
                <a:cs typeface="Calibri"/>
              </a:defRPr>
            </a:pPr>
            <a:r>
              <a:rPr sz="2025" b="0">
                <a:solidFill>
                  <a:srgbClr val="33424D"/>
                </a:solidFill>
                <a:latin typeface="Calibri"/>
                <a:ea typeface="Calibri"/>
                <a:cs typeface="Calibri"/>
              </a:rPr>
              <a:t>Performance Efficiency</a:t>
            </a:r>
          </a:p>
        </p:txBody>
      </p:sp>
      <p:sp>
        <p:nvSpPr>
          <p:cNvPr id="12" name="Admin: eight categories">
            <a:extLst xmlns:a="http://schemas.openxmlformats.org/drawingml/2006/main">
              <a:ext uri="{FF2B5EF4-FFF2-40B4-BE49-F238E27FC236}">
                <a16:creationId xmlns:a16="http://schemas.microsoft.com/office/drawing/2014/main" id="{35286188-231A-4873-88E3-56EDB3FA0051}"/>
              </a:ext>
            </a:extLst>
          </p:cNvPr>
          <p:cNvSpPr>
            <a:spLocks xmlns:a="http://schemas.openxmlformats.org/drawingml/2006/main" noGrp="1"/>
          </p:cNvSpPr>
          <p:nvPr/>
        </p:nvSpPr>
        <p:spPr>
          <a:xfrm xmlns:a="http://schemas.openxmlformats.org/drawingml/2006/main">
            <a:off x="5876925" y="3390900"/>
            <a:ext cx="29241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3424D"/>
                </a:solidFill>
                <a:latin typeface="Calibri"/>
                <a:ea typeface="Calibri"/>
                <a:cs typeface="Calibri"/>
              </a:defRPr>
            </a:defPPr>
          </a:lstStyle>
          <a:p xmlns:a="http://schemas.openxmlformats.org/drawingml/2006/main">
            <a:pPr algn="l">
              <a:defRPr sz="2025" b="0">
                <a:solidFill>
                  <a:srgbClr val="33424D"/>
                </a:solidFill>
                <a:latin typeface="Calibri"/>
                <a:ea typeface="Calibri"/>
                <a:cs typeface="Calibri"/>
              </a:defRPr>
            </a:pPr>
            <a:r>
              <a:rPr sz="2025" b="0">
                <a:solidFill>
                  <a:srgbClr val="33424D"/>
                </a:solidFill>
                <a:latin typeface="Calibri"/>
                <a:ea typeface="Calibri"/>
                <a:cs typeface="Calibri"/>
              </a:rPr>
              <a:t>Admin: eight categories</a:t>
            </a:r>
          </a:p>
        </p:txBody>
      </p:sp>
      <p:sp>
        <p:nvSpPr>
          <p:cNvPr id="13" name="Other groups: five">
            <a:extLst xmlns:a="http://schemas.openxmlformats.org/drawingml/2006/main">
              <a:ext uri="{FF2B5EF4-FFF2-40B4-BE49-F238E27FC236}">
                <a16:creationId xmlns:a16="http://schemas.microsoft.com/office/drawing/2014/main" id="{38B778AD-1652-4EE4-A699-97AE9B8BFA42}"/>
              </a:ext>
            </a:extLst>
          </p:cNvPr>
          <p:cNvSpPr>
            <a:spLocks xmlns:a="http://schemas.openxmlformats.org/drawingml/2006/main" noGrp="1"/>
          </p:cNvSpPr>
          <p:nvPr/>
        </p:nvSpPr>
        <p:spPr>
          <a:xfrm xmlns:a="http://schemas.openxmlformats.org/drawingml/2006/main">
            <a:off x="5876925" y="3886200"/>
            <a:ext cx="29241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3424D"/>
                </a:solidFill>
                <a:latin typeface="Calibri"/>
                <a:ea typeface="Calibri"/>
                <a:cs typeface="Calibri"/>
              </a:defRPr>
            </a:defPPr>
          </a:lstStyle>
          <a:p xmlns:a="http://schemas.openxmlformats.org/drawingml/2006/main">
            <a:pPr algn="l">
              <a:defRPr sz="2025" b="0">
                <a:solidFill>
                  <a:srgbClr val="33424D"/>
                </a:solidFill>
                <a:latin typeface="Calibri"/>
                <a:ea typeface="Calibri"/>
                <a:cs typeface="Calibri"/>
              </a:defRPr>
            </a:pPr>
            <a:r>
              <a:rPr sz="2025" b="0">
                <a:solidFill>
                  <a:srgbClr val="33424D"/>
                </a:solidFill>
                <a:latin typeface="Calibri"/>
                <a:ea typeface="Calibri"/>
                <a:cs typeface="Calibri"/>
              </a:rPr>
              <a:t>Other groups: five</a:t>
            </a:r>
          </a:p>
        </p:txBody>
      </p:sp>
    </p:spTree>
    <p:extLst>
      <p:ext uri="{BB962C8B-B14F-4D97-AF65-F5344CB8AC3E}">
        <p14:creationId xmlns:p14="http://schemas.microsoft.com/office/powerpoint/2010/main" val="420449802"/>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III. RESULTS">
            <a:extLst xmlns:a="http://schemas.openxmlformats.org/drawingml/2006/main">
              <a:ext uri="{FF2B5EF4-FFF2-40B4-BE49-F238E27FC236}">
                <a16:creationId xmlns:a16="http://schemas.microsoft.com/office/drawing/2014/main" id="{1D0858FD-D3E5-4290-992F-70F10B9EE8FA}"/>
              </a:ext>
            </a:extLst>
          </p:cNvPr>
          <p:cNvSpPr>
            <a:spLocks xmlns:a="http://schemas.openxmlformats.org/drawingml/2006/main" noGrp="1"/>
          </p:cNvSpPr>
          <p:nvPr/>
        </p:nvSpPr>
        <p:spPr>
          <a:xfrm xmlns:a="http://schemas.openxmlformats.org/drawingml/2006/main">
            <a:off x="342900" y="247650"/>
            <a:ext cx="8458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007F86"/>
                </a:solidFill>
                <a:latin typeface="Calibri"/>
                <a:ea typeface="Calibri"/>
                <a:cs typeface="Calibri"/>
              </a:defRPr>
            </a:defPPr>
          </a:lstStyle>
          <a:p xmlns:a="http://schemas.openxmlformats.org/drawingml/2006/main">
            <a:pPr algn="l">
              <a:defRPr sz="1275" b="1">
                <a:solidFill>
                  <a:srgbClr val="007F86"/>
                </a:solidFill>
                <a:latin typeface="Calibri"/>
                <a:ea typeface="Calibri"/>
                <a:cs typeface="Calibri"/>
              </a:defRPr>
            </a:pPr>
            <a:r>
              <a:rPr sz="1275" b="1">
                <a:solidFill>
                  <a:srgbClr val="007F86"/>
                </a:solidFill>
                <a:latin typeface="Calibri"/>
                <a:ea typeface="Calibri"/>
                <a:cs typeface="Calibri"/>
              </a:rPr>
              <a:t>III. RESULTS</a:t>
            </a:r>
          </a:p>
        </p:txBody>
      </p:sp>
      <p:sp>
        <p:nvSpPr>
          <p:cNvPr id="2" name="Welch Survey Comparison">
            <a:extLst xmlns:a="http://schemas.openxmlformats.org/drawingml/2006/main">
              <a:ext uri="{FF2B5EF4-FFF2-40B4-BE49-F238E27FC236}">
                <a16:creationId xmlns:a16="http://schemas.microsoft.com/office/drawing/2014/main" id="{2AE68F70-0FDD-49AE-B8E1-597EF5A12CB5}"/>
              </a:ext>
            </a:extLst>
          </p:cNvPr>
          <p:cNvSpPr>
            <a:spLocks xmlns:a="http://schemas.openxmlformats.org/drawingml/2006/main" noGrp="1"/>
          </p:cNvSpPr>
          <p:nvPr/>
        </p:nvSpPr>
        <p:spPr>
          <a:xfrm xmlns:a="http://schemas.openxmlformats.org/drawingml/2006/main">
            <a:off x="342900" y="619125"/>
            <a:ext cx="8458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42C45"/>
                </a:solidFill>
                <a:latin typeface="Calibri"/>
                <a:ea typeface="Calibri"/>
                <a:cs typeface="Calibri"/>
              </a:defRPr>
            </a:defPPr>
          </a:lstStyle>
          <a:p xmlns:a="http://schemas.openxmlformats.org/drawingml/2006/main">
            <a:pPr algn="l">
              <a:defRPr sz="3000" b="1">
                <a:solidFill>
                  <a:srgbClr val="142C45"/>
                </a:solidFill>
                <a:latin typeface="Calibri"/>
                <a:ea typeface="Calibri"/>
                <a:cs typeface="Calibri"/>
              </a:defRPr>
            </a:pPr>
            <a:r>
              <a:rPr sz="3000" b="1">
                <a:solidFill>
                  <a:srgbClr val="142C45"/>
                </a:solidFill>
                <a:latin typeface="Calibri"/>
                <a:ea typeface="Calibri"/>
                <a:cs typeface="Calibri"/>
              </a:rPr>
              <a:t>Welch Survey Comparison</a:t>
            </a:r>
          </a:p>
        </p:txBody>
      </p:sp>
      <p:sp>
        <p:nvSpPr>
          <p:cNvPr id="3" name="20 / 24">
            <a:extLst xmlns:a="http://schemas.openxmlformats.org/drawingml/2006/main">
              <a:ext uri="{FF2B5EF4-FFF2-40B4-BE49-F238E27FC236}">
                <a16:creationId xmlns:a16="http://schemas.microsoft.com/office/drawing/2014/main" id="{DEC2A15A-B69E-4E06-BAAC-3241384738C2}"/>
              </a:ext>
            </a:extLst>
          </p:cNvPr>
          <p:cNvSpPr>
            <a:spLocks xmlns:a="http://schemas.openxmlformats.org/drawingml/2006/main" noGrp="1"/>
          </p:cNvSpPr>
          <p:nvPr/>
        </p:nvSpPr>
        <p:spPr>
          <a:xfrm xmlns:a="http://schemas.openxmlformats.org/drawingml/2006/main">
            <a:off x="8172450" y="489585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607282"/>
                </a:solidFill>
                <a:latin typeface="Calibri"/>
                <a:ea typeface="Calibri"/>
                <a:cs typeface="Calibri"/>
              </a:defRPr>
            </a:defPPr>
          </a:lstStyle>
          <a:p xmlns:a="http://schemas.openxmlformats.org/drawingml/2006/main">
            <a:pPr algn="r">
              <a:defRPr sz="900" b="0">
                <a:solidFill>
                  <a:srgbClr val="607282"/>
                </a:solidFill>
                <a:latin typeface="Calibri"/>
                <a:ea typeface="Calibri"/>
                <a:cs typeface="Calibri"/>
              </a:defRPr>
            </a:pPr>
            <a:r>
              <a:rPr sz="900" b="0">
                <a:solidFill>
                  <a:srgbClr val="607282"/>
                </a:solidFill>
                <a:latin typeface="Calibri"/>
                <a:ea typeface="Calibri"/>
                <a:cs typeface="Calibri"/>
              </a:rPr>
              <a:t>20 / 24</a:t>
            </a:r>
          </a:p>
        </p:txBody>
      </p:sp>
      <p:graphicFrame>
        <p:nvGraphicFramePr>
          <p:cNvPr id="4" name="">
            <a:extLst xmlns:a="http://schemas.openxmlformats.org/drawingml/2006/main">
              <a:ext uri="{FF2B5EF4-FFF2-40B4-BE49-F238E27FC236}">
                <a16:creationId xmlns:a16="http://schemas.microsoft.com/office/drawing/2014/main" id="{912CC119-D530-4997-98E5-02769759938B}"/>
              </a:ext>
            </a:extLst>
          </p:cNvPr>
          <p:cNvGraphicFramePr/>
          <p:nvPr/>
        </p:nvGraphicFramePr>
        <p:xfrm>
          <a:off xmlns:a="http://schemas.openxmlformats.org/drawingml/2006/main" x="342900" y="1362075"/>
          <a:ext xmlns:a="http://schemas.openxmlformats.org/drawingml/2006/main" cx="8458200" cy="1714500"/>
        </p:xfrm>
        <a:graphic xmlns:a="http://schemas.openxmlformats.org/drawingml/2006/main">
          <a:graphicData uri="http://schemas.openxmlformats.org/drawingml/2006/table">
            <a:tbl>
              <a:tblPr/>
              <a:tblGrid>
                <a:gridCol w="3429000"/>
                <a:gridCol w="1047750"/>
                <a:gridCol w="1905000"/>
                <a:gridCol w="2076450"/>
              </a:tblGrid>
              <a:tr h="571500">
                <a:tc>
                  <a:txBody>
                    <a:bodyPr lIns="0" tIns="0" rIns="0" bIns="0">
                      <a:noAutofit/>
                    </a:bodyPr>
                    <a:lstStyle/>
                    <a:p>
                      <a:pPr algn="l"/>
                      <a:r>
                        <a:rPr sz="2325" b="1">
                          <a:solidFill>
                            <a:srgbClr val="FFFFFF"/>
                          </a:solidFill>
                          <a:latin typeface="Calibri"/>
                          <a:ea typeface="Calibri"/>
                          <a:cs typeface="Calibri"/>
                        </a:rPr>
                        <a:t>Group</a:t>
                      </a:r>
                    </a:p>
                  </a:txBody>
                  <a:tcPr marL="95250" marR="95250" marT="47625" marB="47625" anchor="ctr">
                    <a:lnL w="6350">
                      <a:noFill/>
                      <a:prstDash val="solid"/>
                    </a:lnL>
                    <a:lnR w="6350">
                      <a:noFill/>
                      <a:prstDash val="solid"/>
                    </a:lnR>
                    <a:lnT w="6350">
                      <a:noFill/>
                      <a:prstDash val="solid"/>
                    </a:lnT>
                    <a:lnB w="6350">
                      <a:noFill/>
                      <a:prstDash val="solid"/>
                    </a:lnB>
                    <a:solidFill>
                      <a:srgbClr val="142C45"/>
                    </a:solidFill>
                  </a:tcPr>
                </a:tc>
                <a:tc>
                  <a:txBody>
                    <a:bodyPr lIns="0" tIns="0" rIns="0" bIns="0">
                      <a:noAutofit/>
                    </a:bodyPr>
                    <a:lstStyle/>
                    <a:p>
                      <a:pPr algn="ctr"/>
                      <a:r>
                        <a:rPr sz="2325" b="1">
                          <a:solidFill>
                            <a:srgbClr val="FFFFFF"/>
                          </a:solidFill>
                          <a:latin typeface="Calibri"/>
                          <a:ea typeface="Calibri"/>
                          <a:cs typeface="Calibri"/>
                        </a:rPr>
                        <a:t>n</a:t>
                      </a:r>
                    </a:p>
                  </a:txBody>
                  <a:tcPr marL="95250" marR="95250" marT="47625" marB="47625" anchor="ctr">
                    <a:lnL w="6350">
                      <a:noFill/>
                      <a:prstDash val="solid"/>
                    </a:lnL>
                    <a:lnR w="6350">
                      <a:noFill/>
                      <a:prstDash val="solid"/>
                    </a:lnR>
                    <a:lnT w="6350">
                      <a:noFill/>
                      <a:prstDash val="solid"/>
                    </a:lnT>
                    <a:lnB w="6350">
                      <a:noFill/>
                      <a:prstDash val="solid"/>
                    </a:lnB>
                    <a:solidFill>
                      <a:srgbClr val="142C45"/>
                    </a:solidFill>
                  </a:tcPr>
                </a:tc>
                <a:tc>
                  <a:txBody>
                    <a:bodyPr lIns="0" tIns="0" rIns="0" bIns="0">
                      <a:noAutofit/>
                    </a:bodyPr>
                    <a:lstStyle/>
                    <a:p>
                      <a:pPr algn="ctr"/>
                      <a:r>
                        <a:rPr sz="2325" b="1">
                          <a:solidFill>
                            <a:srgbClr val="FFFFFF"/>
                          </a:solidFill>
                          <a:latin typeface="Calibri"/>
                          <a:ea typeface="Calibri"/>
                          <a:cs typeface="Calibri"/>
                        </a:rPr>
                        <a:t>Mean</a:t>
                      </a:r>
                    </a:p>
                  </a:txBody>
                  <a:tcPr marL="95250" marR="95250" marT="47625" marB="47625" anchor="ctr">
                    <a:lnL w="6350">
                      <a:noFill/>
                      <a:prstDash val="solid"/>
                    </a:lnL>
                    <a:lnR w="6350">
                      <a:noFill/>
                      <a:prstDash val="solid"/>
                    </a:lnR>
                    <a:lnT w="6350">
                      <a:noFill/>
                      <a:prstDash val="solid"/>
                    </a:lnT>
                    <a:lnB w="6350">
                      <a:noFill/>
                      <a:prstDash val="solid"/>
                    </a:lnB>
                    <a:solidFill>
                      <a:srgbClr val="142C45"/>
                    </a:solidFill>
                  </a:tcPr>
                </a:tc>
                <a:tc>
                  <a:txBody>
                    <a:bodyPr lIns="0" tIns="0" rIns="0" bIns="0">
                      <a:noAutofit/>
                    </a:bodyPr>
                    <a:lstStyle/>
                    <a:p>
                      <a:pPr algn="ctr"/>
                      <a:r>
                        <a:rPr sz="2325" b="1">
                          <a:solidFill>
                            <a:srgbClr val="FFFFFF"/>
                          </a:solidFill>
                          <a:latin typeface="Calibri"/>
                          <a:ea typeface="Calibri"/>
                          <a:cs typeface="Calibri"/>
                        </a:rPr>
                        <a:t>Sample SD</a:t>
                      </a:r>
                    </a:p>
                  </a:txBody>
                  <a:tcPr marL="95250" marR="95250" marT="47625" marB="47625" anchor="ctr">
                    <a:lnL w="6350">
                      <a:noFill/>
                      <a:prstDash val="solid"/>
                    </a:lnL>
                    <a:lnR w="6350">
                      <a:noFill/>
                      <a:prstDash val="solid"/>
                    </a:lnR>
                    <a:lnT w="6350">
                      <a:noFill/>
                      <a:prstDash val="solid"/>
                    </a:lnT>
                    <a:lnB w="6350">
                      <a:noFill/>
                      <a:prstDash val="solid"/>
                    </a:lnB>
                    <a:solidFill>
                      <a:srgbClr val="142C45"/>
                    </a:solidFill>
                  </a:tcPr>
                </a:tc>
              </a:tr>
              <a:tr h="571500">
                <a:tc>
                  <a:txBody>
                    <a:bodyPr lIns="0" tIns="0" rIns="0" bIns="0">
                      <a:noAutofit/>
                    </a:bodyPr>
                    <a:lstStyle/>
                    <a:p>
                      <a:pPr algn="l"/>
                      <a:r>
                        <a:rPr sz="2325" b="0">
                          <a:solidFill>
                            <a:srgbClr val="33424D"/>
                          </a:solidFill>
                          <a:latin typeface="Calibri"/>
                          <a:ea typeface="Calibri"/>
                          <a:cs typeface="Calibri"/>
                        </a:rPr>
                        <a:t>Manual process</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r>
                        <a:rPr sz="2325" b="0">
                          <a:solidFill>
                            <a:srgbClr val="33424D"/>
                          </a:solidFill>
                          <a:latin typeface="Calibri"/>
                          <a:ea typeface="Calibri"/>
                          <a:cs typeface="Calibri"/>
                        </a:rPr>
                        <a:t>70</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r>
                        <a:rPr sz="2325" b="0">
                          <a:solidFill>
                            <a:srgbClr val="33424D"/>
                          </a:solidFill>
                          <a:latin typeface="Calibri"/>
                          <a:ea typeface="Calibri"/>
                          <a:cs typeface="Calibri"/>
                        </a:rPr>
                        <a:t>2.284</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r>
                        <a:rPr sz="2325" b="0">
                          <a:solidFill>
                            <a:srgbClr val="33424D"/>
                          </a:solidFill>
                          <a:latin typeface="Calibri"/>
                          <a:ea typeface="Calibri"/>
                          <a:cs typeface="Calibri"/>
                        </a:rPr>
                        <a:t>0.753</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r>
              <a:tr h="571500">
                <a:tc>
                  <a:txBody>
                    <a:bodyPr lIns="0" tIns="0" rIns="0" bIns="0">
                      <a:noAutofit/>
                    </a:bodyPr>
                    <a:lstStyle/>
                    <a:p>
                      <a:pPr algn="l"/>
                      <a:r>
                        <a:rPr sz="2325" b="0">
                          <a:solidFill>
                            <a:srgbClr val="33424D"/>
                          </a:solidFill>
                          <a:latin typeface="Calibri"/>
                          <a:ea typeface="Calibri"/>
                          <a:cs typeface="Calibri"/>
                        </a:rPr>
                        <a:t>Proposed system</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ctr"/>
                      <a:r>
                        <a:rPr sz="2325" b="0">
                          <a:solidFill>
                            <a:srgbClr val="33424D"/>
                          </a:solidFill>
                          <a:latin typeface="Calibri"/>
                          <a:ea typeface="Calibri"/>
                          <a:cs typeface="Calibri"/>
                        </a:rPr>
                        <a:t>70</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ctr"/>
                      <a:r>
                        <a:rPr sz="2325" b="0">
                          <a:solidFill>
                            <a:srgbClr val="33424D"/>
                          </a:solidFill>
                          <a:latin typeface="Calibri"/>
                          <a:ea typeface="Calibri"/>
                          <a:cs typeface="Calibri"/>
                        </a:rPr>
                        <a:t>3.742</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ctr"/>
                      <a:r>
                        <a:rPr sz="2325" b="0">
                          <a:solidFill>
                            <a:srgbClr val="33424D"/>
                          </a:solidFill>
                          <a:latin typeface="Calibri"/>
                          <a:ea typeface="Calibri"/>
                          <a:cs typeface="Calibri"/>
                        </a:rPr>
                        <a:t>0.290</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r>
            </a:tbl>
          </a:graphicData>
        </a:graphic>
      </p:graphicFrame>
      <p:sp>
        <p:nvSpPr>
          <p:cNvPr id="5" name="t(89.076)=15.124, p&lt;.001">
            <a:extLst xmlns:a="http://schemas.openxmlformats.org/drawingml/2006/main">
              <a:ext uri="{FF2B5EF4-FFF2-40B4-BE49-F238E27FC236}">
                <a16:creationId xmlns:a16="http://schemas.microsoft.com/office/drawing/2014/main" id="{CCE26892-D00F-4729-B5F9-7A62429BE9FE}"/>
              </a:ext>
            </a:extLst>
          </p:cNvPr>
          <p:cNvSpPr>
            <a:spLocks xmlns:a="http://schemas.openxmlformats.org/drawingml/2006/main" noGrp="1"/>
          </p:cNvSpPr>
          <p:nvPr/>
        </p:nvSpPr>
        <p:spPr>
          <a:xfrm xmlns:a="http://schemas.openxmlformats.org/drawingml/2006/main">
            <a:off x="342900" y="338137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0">
                <a:solidFill>
                  <a:srgbClr val="007F86"/>
                </a:solidFill>
                <a:latin typeface="Calibri"/>
                <a:ea typeface="Calibri"/>
                <a:cs typeface="Calibri"/>
              </a:defRPr>
            </a:defPPr>
          </a:lstStyle>
          <a:p xmlns:a="http://schemas.openxmlformats.org/drawingml/2006/main">
            <a:pPr algn="l">
              <a:defRPr sz="2700" b="0">
                <a:solidFill>
                  <a:srgbClr val="007F86"/>
                </a:solidFill>
                <a:latin typeface="Calibri"/>
                <a:ea typeface="Calibri"/>
                <a:cs typeface="Calibri"/>
              </a:defRPr>
            </a:pPr>
            <a:r>
              <a:rPr sz="2700" b="0">
                <a:solidFill>
                  <a:srgbClr val="007F86"/>
                </a:solidFill>
                <a:latin typeface="Calibri"/>
                <a:ea typeface="Calibri"/>
                <a:cs typeface="Calibri"/>
              </a:rPr>
              <a:t>t(89.076)=15.124, p&lt;.001</a:t>
            </a:r>
          </a:p>
        </p:txBody>
      </p:sp>
      <p:sp>
        <p:nvSpPr>
          <p:cNvPr id="6" name="Difference=1.458, 95% CI=[1.267, 1.650]">
            <a:extLst xmlns:a="http://schemas.openxmlformats.org/drawingml/2006/main">
              <a:ext uri="{FF2B5EF4-FFF2-40B4-BE49-F238E27FC236}">
                <a16:creationId xmlns:a16="http://schemas.microsoft.com/office/drawing/2014/main" id="{55CB3D70-66C8-4BA2-A7BD-1C15DAE5200F}"/>
              </a:ext>
            </a:extLst>
          </p:cNvPr>
          <p:cNvSpPr>
            <a:spLocks xmlns:a="http://schemas.openxmlformats.org/drawingml/2006/main" noGrp="1"/>
          </p:cNvSpPr>
          <p:nvPr/>
        </p:nvSpPr>
        <p:spPr>
          <a:xfrm xmlns:a="http://schemas.openxmlformats.org/drawingml/2006/main">
            <a:off x="342900" y="393382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33424D"/>
                </a:solidFill>
                <a:latin typeface="Calibri"/>
                <a:ea typeface="Calibri"/>
                <a:cs typeface="Calibri"/>
              </a:defRPr>
            </a:defPPr>
          </a:lstStyle>
          <a:p xmlns:a="http://schemas.openxmlformats.org/drawingml/2006/main">
            <a:pPr algn="l">
              <a:defRPr sz="2325" b="0">
                <a:solidFill>
                  <a:srgbClr val="33424D"/>
                </a:solidFill>
                <a:latin typeface="Calibri"/>
                <a:ea typeface="Calibri"/>
                <a:cs typeface="Calibri"/>
              </a:defRPr>
            </a:pPr>
            <a:r>
              <a:rPr sz="2325" b="0">
                <a:solidFill>
                  <a:srgbClr val="33424D"/>
                </a:solidFill>
                <a:latin typeface="Calibri"/>
                <a:ea typeface="Calibri"/>
                <a:cs typeface="Calibri"/>
              </a:rPr>
              <a:t>Difference=1.458, 95% CI=[1.267, 1.650]</a:t>
            </a:r>
          </a:p>
        </p:txBody>
      </p:sp>
      <p:sp>
        <p:nvSpPr>
          <p:cNvPr id="7" name="Reject H0: Overall survey ratings differ.">
            <a:extLst xmlns:a="http://schemas.openxmlformats.org/drawingml/2006/main">
              <a:ext uri="{FF2B5EF4-FFF2-40B4-BE49-F238E27FC236}">
                <a16:creationId xmlns:a16="http://schemas.microsoft.com/office/drawing/2014/main" id="{D00B9D2A-A65D-42CD-AFBB-FCB64C1E8F98}"/>
              </a:ext>
            </a:extLst>
          </p:cNvPr>
          <p:cNvSpPr>
            <a:spLocks xmlns:a="http://schemas.openxmlformats.org/drawingml/2006/main" noGrp="1"/>
          </p:cNvSpPr>
          <p:nvPr/>
        </p:nvSpPr>
        <p:spPr>
          <a:xfrm xmlns:a="http://schemas.openxmlformats.org/drawingml/2006/main">
            <a:off x="342900" y="446722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607282"/>
                </a:solidFill>
                <a:latin typeface="Calibri"/>
                <a:ea typeface="Calibri"/>
                <a:cs typeface="Calibri"/>
              </a:defRPr>
            </a:defPPr>
          </a:lstStyle>
          <a:p xmlns:a="http://schemas.openxmlformats.org/drawingml/2006/main">
            <a:pPr algn="l">
              <a:defRPr sz="2175" b="0">
                <a:solidFill>
                  <a:srgbClr val="607282"/>
                </a:solidFill>
                <a:latin typeface="Calibri"/>
                <a:ea typeface="Calibri"/>
                <a:cs typeface="Calibri"/>
              </a:defRPr>
            </a:pPr>
            <a:r>
              <a:rPr sz="2175" b="0">
                <a:solidFill>
                  <a:srgbClr val="607282"/>
                </a:solidFill>
                <a:latin typeface="Calibri"/>
                <a:ea typeface="Calibri"/>
                <a:cs typeface="Calibri"/>
              </a:rPr>
              <a:t>Reject H0: Overall survey ratings differ.</a:t>
            </a:r>
          </a:p>
        </p:txBody>
      </p:sp>
    </p:spTree>
    <p:extLst>
      <p:ext uri="{BB962C8B-B14F-4D97-AF65-F5344CB8AC3E}">
        <p14:creationId xmlns:p14="http://schemas.microsoft.com/office/powerpoint/2010/main" val="1258625731"/>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IV. DISCUSSION">
            <a:extLst xmlns:a="http://schemas.openxmlformats.org/drawingml/2006/main">
              <a:ext uri="{FF2B5EF4-FFF2-40B4-BE49-F238E27FC236}">
                <a16:creationId xmlns:a16="http://schemas.microsoft.com/office/drawing/2014/main" id="{C5387658-1867-4D8E-A9CC-B055FB8A9F59}"/>
              </a:ext>
            </a:extLst>
          </p:cNvPr>
          <p:cNvSpPr>
            <a:spLocks xmlns:a="http://schemas.openxmlformats.org/drawingml/2006/main" noGrp="1"/>
          </p:cNvSpPr>
          <p:nvPr/>
        </p:nvSpPr>
        <p:spPr>
          <a:xfrm xmlns:a="http://schemas.openxmlformats.org/drawingml/2006/main">
            <a:off x="342900" y="247650"/>
            <a:ext cx="8458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007F86"/>
                </a:solidFill>
                <a:latin typeface="Calibri"/>
                <a:ea typeface="Calibri"/>
                <a:cs typeface="Calibri"/>
              </a:defRPr>
            </a:defPPr>
          </a:lstStyle>
          <a:p xmlns:a="http://schemas.openxmlformats.org/drawingml/2006/main">
            <a:pPr algn="l">
              <a:defRPr sz="1275" b="1">
                <a:solidFill>
                  <a:srgbClr val="007F86"/>
                </a:solidFill>
                <a:latin typeface="Calibri"/>
                <a:ea typeface="Calibri"/>
                <a:cs typeface="Calibri"/>
              </a:defRPr>
            </a:pPr>
            <a:r>
              <a:rPr sz="1275" b="1">
                <a:solidFill>
                  <a:srgbClr val="007F86"/>
                </a:solidFill>
                <a:latin typeface="Calibri"/>
                <a:ea typeface="Calibri"/>
                <a:cs typeface="Calibri"/>
              </a:rPr>
              <a:t>IV. DISCUSSION</a:t>
            </a:r>
          </a:p>
        </p:txBody>
      </p:sp>
      <p:sp>
        <p:nvSpPr>
          <p:cNvPr id="2" name="Study Limitations">
            <a:extLst xmlns:a="http://schemas.openxmlformats.org/drawingml/2006/main">
              <a:ext uri="{FF2B5EF4-FFF2-40B4-BE49-F238E27FC236}">
                <a16:creationId xmlns:a16="http://schemas.microsoft.com/office/drawing/2014/main" id="{923C877F-3EBF-4BEE-8ADC-FC7CC4BF4BCF}"/>
              </a:ext>
            </a:extLst>
          </p:cNvPr>
          <p:cNvSpPr>
            <a:spLocks xmlns:a="http://schemas.openxmlformats.org/drawingml/2006/main" noGrp="1"/>
          </p:cNvSpPr>
          <p:nvPr/>
        </p:nvSpPr>
        <p:spPr>
          <a:xfrm xmlns:a="http://schemas.openxmlformats.org/drawingml/2006/main">
            <a:off x="342900" y="619125"/>
            <a:ext cx="8458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42C45"/>
                </a:solidFill>
                <a:latin typeface="Calibri"/>
                <a:ea typeface="Calibri"/>
                <a:cs typeface="Calibri"/>
              </a:defRPr>
            </a:defPPr>
          </a:lstStyle>
          <a:p xmlns:a="http://schemas.openxmlformats.org/drawingml/2006/main">
            <a:pPr algn="l">
              <a:defRPr sz="3000" b="1">
                <a:solidFill>
                  <a:srgbClr val="142C45"/>
                </a:solidFill>
                <a:latin typeface="Calibri"/>
                <a:ea typeface="Calibri"/>
                <a:cs typeface="Calibri"/>
              </a:defRPr>
            </a:pPr>
            <a:r>
              <a:rPr sz="3000" b="1">
                <a:solidFill>
                  <a:srgbClr val="142C45"/>
                </a:solidFill>
                <a:latin typeface="Calibri"/>
                <a:ea typeface="Calibri"/>
                <a:cs typeface="Calibri"/>
              </a:rPr>
              <a:t>Study Limitations</a:t>
            </a:r>
          </a:p>
        </p:txBody>
      </p:sp>
      <p:sp>
        <p:nvSpPr>
          <p:cNvPr id="3" name="21 / 24">
            <a:extLst xmlns:a="http://schemas.openxmlformats.org/drawingml/2006/main">
              <a:ext uri="{FF2B5EF4-FFF2-40B4-BE49-F238E27FC236}">
                <a16:creationId xmlns:a16="http://schemas.microsoft.com/office/drawing/2014/main" id="{64288D1D-F40E-4FE6-9187-ABDE8AB25EFA}"/>
              </a:ext>
            </a:extLst>
          </p:cNvPr>
          <p:cNvSpPr>
            <a:spLocks xmlns:a="http://schemas.openxmlformats.org/drawingml/2006/main" noGrp="1"/>
          </p:cNvSpPr>
          <p:nvPr/>
        </p:nvSpPr>
        <p:spPr>
          <a:xfrm xmlns:a="http://schemas.openxmlformats.org/drawingml/2006/main">
            <a:off x="8172450" y="489585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607282"/>
                </a:solidFill>
                <a:latin typeface="Calibri"/>
                <a:ea typeface="Calibri"/>
                <a:cs typeface="Calibri"/>
              </a:defRPr>
            </a:defPPr>
          </a:lstStyle>
          <a:p xmlns:a="http://schemas.openxmlformats.org/drawingml/2006/main">
            <a:pPr algn="r">
              <a:defRPr sz="900" b="0">
                <a:solidFill>
                  <a:srgbClr val="607282"/>
                </a:solidFill>
                <a:latin typeface="Calibri"/>
                <a:ea typeface="Calibri"/>
                <a:cs typeface="Calibri"/>
              </a:defRPr>
            </a:pPr>
            <a:r>
              <a:rPr sz="900" b="0">
                <a:solidFill>
                  <a:srgbClr val="607282"/>
                </a:solidFill>
                <a:latin typeface="Calibri"/>
                <a:ea typeface="Calibri"/>
                <a:cs typeface="Calibri"/>
              </a:rPr>
              <a:t>21 / 24</a:t>
            </a:r>
          </a:p>
        </p:txBody>
      </p:sp>
      <p:sp>
        <p:nvSpPr>
          <p:cNvPr id="4" name="Physical tailgating prevention remains unverified.">
            <a:extLst xmlns:a="http://schemas.openxmlformats.org/drawingml/2006/main">
              <a:ext uri="{FF2B5EF4-FFF2-40B4-BE49-F238E27FC236}">
                <a16:creationId xmlns:a16="http://schemas.microsoft.com/office/drawing/2014/main" id="{15350396-6AD3-44B5-9291-CD65C5DDE96F}"/>
              </a:ext>
            </a:extLst>
          </p:cNvPr>
          <p:cNvSpPr>
            <a:spLocks xmlns:a="http://schemas.openxmlformats.org/drawingml/2006/main" noGrp="1"/>
          </p:cNvSpPr>
          <p:nvPr/>
        </p:nvSpPr>
        <p:spPr>
          <a:xfrm xmlns:a="http://schemas.openxmlformats.org/drawingml/2006/main">
            <a:off x="342900" y="140017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33424D"/>
                </a:solidFill>
                <a:latin typeface="Calibri"/>
                <a:ea typeface="Calibri"/>
                <a:cs typeface="Calibri"/>
              </a:defRPr>
            </a:defPPr>
          </a:lstStyle>
          <a:p xmlns:a="http://schemas.openxmlformats.org/drawingml/2006/main">
            <a:pPr algn="l">
              <a:defRPr sz="2400" b="0">
                <a:solidFill>
                  <a:srgbClr val="33424D"/>
                </a:solidFill>
                <a:latin typeface="Calibri"/>
                <a:ea typeface="Calibri"/>
                <a:cs typeface="Calibri"/>
              </a:defRPr>
            </a:pPr>
            <a:r>
              <a:rPr sz="2400" b="0">
                <a:solidFill>
                  <a:srgbClr val="33424D"/>
                </a:solidFill>
                <a:latin typeface="Calibri"/>
                <a:ea typeface="Calibri"/>
                <a:cs typeface="Calibri"/>
              </a:rPr>
              <a:t>Physical tailgating prevention remains unverified.</a:t>
            </a:r>
          </a:p>
        </p:txBody>
      </p:sp>
      <p:sp>
        <p:nvSpPr>
          <p:cNvPr id="5" name="Complete-task processing speed remains unmeasured.">
            <a:extLst xmlns:a="http://schemas.openxmlformats.org/drawingml/2006/main">
              <a:ext uri="{FF2B5EF4-FFF2-40B4-BE49-F238E27FC236}">
                <a16:creationId xmlns:a16="http://schemas.microsoft.com/office/drawing/2014/main" id="{9E363A7D-6E14-49B2-BE7A-F8877FCB4112}"/>
              </a:ext>
            </a:extLst>
          </p:cNvPr>
          <p:cNvSpPr>
            <a:spLocks xmlns:a="http://schemas.openxmlformats.org/drawingml/2006/main" noGrp="1"/>
          </p:cNvSpPr>
          <p:nvPr/>
        </p:nvSpPr>
        <p:spPr>
          <a:xfrm xmlns:a="http://schemas.openxmlformats.org/drawingml/2006/main">
            <a:off x="342900" y="191452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33424D"/>
                </a:solidFill>
                <a:latin typeface="Calibri"/>
                <a:ea typeface="Calibri"/>
                <a:cs typeface="Calibri"/>
              </a:defRPr>
            </a:defPPr>
          </a:lstStyle>
          <a:p xmlns:a="http://schemas.openxmlformats.org/drawingml/2006/main">
            <a:pPr algn="l">
              <a:defRPr sz="2400" b="0">
                <a:solidFill>
                  <a:srgbClr val="33424D"/>
                </a:solidFill>
                <a:latin typeface="Calibri"/>
                <a:ea typeface="Calibri"/>
                <a:cs typeface="Calibri"/>
              </a:defRPr>
            </a:pPr>
            <a:r>
              <a:rPr sz="2400" b="0">
                <a:solidFill>
                  <a:srgbClr val="33424D"/>
                </a:solidFill>
                <a:latin typeface="Calibri"/>
                <a:ea typeface="Calibri"/>
                <a:cs typeface="Calibri"/>
              </a:rPr>
              <a:t>Complete-task processing speed remains unmeasured.</a:t>
            </a:r>
          </a:p>
        </p:txBody>
      </p:sp>
      <p:sp>
        <p:nvSpPr>
          <p:cNvPr id="6" name="Shared cards limit individual-identity conclusions.">
            <a:extLst xmlns:a="http://schemas.openxmlformats.org/drawingml/2006/main">
              <a:ext uri="{FF2B5EF4-FFF2-40B4-BE49-F238E27FC236}">
                <a16:creationId xmlns:a16="http://schemas.microsoft.com/office/drawing/2014/main" id="{1370BE47-641B-464A-9DED-A21FC89A65E2}"/>
              </a:ext>
            </a:extLst>
          </p:cNvPr>
          <p:cNvSpPr>
            <a:spLocks xmlns:a="http://schemas.openxmlformats.org/drawingml/2006/main" noGrp="1"/>
          </p:cNvSpPr>
          <p:nvPr/>
        </p:nvSpPr>
        <p:spPr>
          <a:xfrm xmlns:a="http://schemas.openxmlformats.org/drawingml/2006/main">
            <a:off x="342900" y="242887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33424D"/>
                </a:solidFill>
                <a:latin typeface="Calibri"/>
                <a:ea typeface="Calibri"/>
                <a:cs typeface="Calibri"/>
              </a:defRPr>
            </a:defPPr>
          </a:lstStyle>
          <a:p xmlns:a="http://schemas.openxmlformats.org/drawingml/2006/main">
            <a:pPr algn="l">
              <a:defRPr sz="2400" b="0">
                <a:solidFill>
                  <a:srgbClr val="33424D"/>
                </a:solidFill>
                <a:latin typeface="Calibri"/>
                <a:ea typeface="Calibri"/>
                <a:cs typeface="Calibri"/>
              </a:defRPr>
            </a:pPr>
            <a:r>
              <a:rPr sz="2400" b="0">
                <a:solidFill>
                  <a:srgbClr val="33424D"/>
                </a:solidFill>
                <a:latin typeface="Calibri"/>
                <a:ea typeface="Calibri"/>
                <a:cs typeface="Calibri"/>
              </a:rPr>
              <a:t>Shared cards limit individual-identity conclusions.</a:t>
            </a:r>
          </a:p>
        </p:txBody>
      </p:sp>
      <p:sp>
        <p:nvSpPr>
          <p:cNvPr id="7" name="Fixed mode order permits practice effects.">
            <a:extLst xmlns:a="http://schemas.openxmlformats.org/drawingml/2006/main">
              <a:ext uri="{FF2B5EF4-FFF2-40B4-BE49-F238E27FC236}">
                <a16:creationId xmlns:a16="http://schemas.microsoft.com/office/drawing/2014/main" id="{DA1FA474-480F-4A82-AE34-380C421B56CD}"/>
              </a:ext>
            </a:extLst>
          </p:cNvPr>
          <p:cNvSpPr>
            <a:spLocks xmlns:a="http://schemas.openxmlformats.org/drawingml/2006/main" noGrp="1"/>
          </p:cNvSpPr>
          <p:nvPr/>
        </p:nvSpPr>
        <p:spPr>
          <a:xfrm xmlns:a="http://schemas.openxmlformats.org/drawingml/2006/main">
            <a:off x="342900" y="294322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33424D"/>
                </a:solidFill>
                <a:latin typeface="Calibri"/>
                <a:ea typeface="Calibri"/>
                <a:cs typeface="Calibri"/>
              </a:defRPr>
            </a:defPPr>
          </a:lstStyle>
          <a:p xmlns:a="http://schemas.openxmlformats.org/drawingml/2006/main">
            <a:pPr algn="l">
              <a:defRPr sz="2400" b="0">
                <a:solidFill>
                  <a:srgbClr val="33424D"/>
                </a:solidFill>
                <a:latin typeface="Calibri"/>
                <a:ea typeface="Calibri"/>
                <a:cs typeface="Calibri"/>
              </a:defRPr>
            </a:pPr>
            <a:r>
              <a:rPr sz="2400" b="0">
                <a:solidFill>
                  <a:srgbClr val="33424D"/>
                </a:solidFill>
                <a:latin typeface="Calibri"/>
                <a:ea typeface="Calibri"/>
                <a:cs typeface="Calibri"/>
              </a:rPr>
              <a:t>Fixed mode order permits practice effects.</a:t>
            </a:r>
          </a:p>
        </p:txBody>
      </p:sp>
      <p:sp>
        <p:nvSpPr>
          <p:cNvPr id="8" name="Different survey groups limit causal interpretation.">
            <a:extLst xmlns:a="http://schemas.openxmlformats.org/drawingml/2006/main">
              <a:ext uri="{FF2B5EF4-FFF2-40B4-BE49-F238E27FC236}">
                <a16:creationId xmlns:a16="http://schemas.microsoft.com/office/drawing/2014/main" id="{2348770E-0263-4BB9-9274-B62306D99995}"/>
              </a:ext>
            </a:extLst>
          </p:cNvPr>
          <p:cNvSpPr>
            <a:spLocks xmlns:a="http://schemas.openxmlformats.org/drawingml/2006/main" noGrp="1"/>
          </p:cNvSpPr>
          <p:nvPr/>
        </p:nvSpPr>
        <p:spPr>
          <a:xfrm xmlns:a="http://schemas.openxmlformats.org/drawingml/2006/main">
            <a:off x="342900" y="345757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33424D"/>
                </a:solidFill>
                <a:latin typeface="Calibri"/>
                <a:ea typeface="Calibri"/>
                <a:cs typeface="Calibri"/>
              </a:defRPr>
            </a:defPPr>
          </a:lstStyle>
          <a:p xmlns:a="http://schemas.openxmlformats.org/drawingml/2006/main">
            <a:pPr algn="l">
              <a:defRPr sz="2400" b="0">
                <a:solidFill>
                  <a:srgbClr val="33424D"/>
                </a:solidFill>
                <a:latin typeface="Calibri"/>
                <a:ea typeface="Calibri"/>
                <a:cs typeface="Calibri"/>
              </a:defRPr>
            </a:pPr>
            <a:r>
              <a:rPr sz="2400" b="0">
                <a:solidFill>
                  <a:srgbClr val="33424D"/>
                </a:solidFill>
                <a:latin typeface="Calibri"/>
                <a:ea typeface="Calibri"/>
                <a:cs typeface="Calibri"/>
              </a:rPr>
              <a:t>Different survey groups limit causal interpretation.</a:t>
            </a:r>
          </a:p>
        </p:txBody>
      </p:sp>
      <p:sp>
        <p:nvSpPr>
          <p:cNvPr id="9" name="Small, non-random samples limit generalization.">
            <a:extLst xmlns:a="http://schemas.openxmlformats.org/drawingml/2006/main">
              <a:ext uri="{FF2B5EF4-FFF2-40B4-BE49-F238E27FC236}">
                <a16:creationId xmlns:a16="http://schemas.microsoft.com/office/drawing/2014/main" id="{16199CF5-78F5-49CC-881E-355811C08CD1}"/>
              </a:ext>
            </a:extLst>
          </p:cNvPr>
          <p:cNvSpPr>
            <a:spLocks xmlns:a="http://schemas.openxmlformats.org/drawingml/2006/main" noGrp="1"/>
          </p:cNvSpPr>
          <p:nvPr/>
        </p:nvSpPr>
        <p:spPr>
          <a:xfrm xmlns:a="http://schemas.openxmlformats.org/drawingml/2006/main">
            <a:off x="342900" y="397192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33424D"/>
                </a:solidFill>
                <a:latin typeface="Calibri"/>
                <a:ea typeface="Calibri"/>
                <a:cs typeface="Calibri"/>
              </a:defRPr>
            </a:defPPr>
          </a:lstStyle>
          <a:p xmlns:a="http://schemas.openxmlformats.org/drawingml/2006/main">
            <a:pPr algn="l">
              <a:defRPr sz="2400" b="0">
                <a:solidFill>
                  <a:srgbClr val="33424D"/>
                </a:solidFill>
                <a:latin typeface="Calibri"/>
                <a:ea typeface="Calibri"/>
                <a:cs typeface="Calibri"/>
              </a:defRPr>
            </a:pPr>
            <a:r>
              <a:rPr sz="2400" b="0">
                <a:solidFill>
                  <a:srgbClr val="33424D"/>
                </a:solidFill>
                <a:latin typeface="Calibri"/>
                <a:ea typeface="Calibri"/>
                <a:cs typeface="Calibri"/>
              </a:rPr>
              <a:t>Small, non-random samples limit generalization.</a:t>
            </a:r>
          </a:p>
        </p:txBody>
      </p:sp>
    </p:spTree>
    <p:extLst>
      <p:ext uri="{BB962C8B-B14F-4D97-AF65-F5344CB8AC3E}">
        <p14:creationId xmlns:p14="http://schemas.microsoft.com/office/powerpoint/2010/main" val="1275493691"/>
      </p:ext>
    </p:extLst>
  </p:cSld>
</p:sld>
</file>

<file path=ppt/slides/slide22.xml><?xml version="1.0" encoding="utf-8"?>
<p:sld xmlns:p="http://schemas.openxmlformats.org/presentationml/2006/main">
  <p:cSld>
    <p:bg>
      <p:bgPr>
        <a:solidFill xmlns:a="http://schemas.openxmlformats.org/drawingml/2006/main">
          <a:srgbClr val="142C45"/>
        </a:solidFill>
      </p:bgPr>
    </p:bg>
    <p:spTree>
      <p:nvGrpSpPr>
        <p:cNvPr id="1" name=""/>
        <p:cNvGrpSpPr/>
        <p:nvPr/>
      </p:nvGrpSpPr>
      <p:grpSpPr>
        <a:xfrm xmlns:a="http://schemas.openxmlformats.org/drawingml/2006/main"/>
      </p:grpSpPr>
      <p:sp>
        <p:nvSpPr>
          <p:cNvPr id="10" name="IV. DISCUSSION">
            <a:extLst xmlns:a="http://schemas.openxmlformats.org/drawingml/2006/main">
              <a:ext uri="{FF2B5EF4-FFF2-40B4-BE49-F238E27FC236}">
                <a16:creationId xmlns:a16="http://schemas.microsoft.com/office/drawing/2014/main" id="{E4329C40-5A99-4C70-8FBD-DDCCDEAB59EC}"/>
              </a:ext>
            </a:extLst>
          </p:cNvPr>
          <p:cNvSpPr>
            <a:spLocks xmlns:a="http://schemas.openxmlformats.org/drawingml/2006/main" noGrp="1"/>
          </p:cNvSpPr>
          <p:nvPr/>
        </p:nvSpPr>
        <p:spPr>
          <a:xfrm xmlns:a="http://schemas.openxmlformats.org/drawingml/2006/main">
            <a:off x="342900" y="247650"/>
            <a:ext cx="8458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6AD0D4"/>
                </a:solidFill>
                <a:latin typeface="Calibri"/>
                <a:ea typeface="Calibri"/>
                <a:cs typeface="Calibri"/>
              </a:defRPr>
            </a:defPPr>
          </a:lstStyle>
          <a:p xmlns:a="http://schemas.openxmlformats.org/drawingml/2006/main">
            <a:pPr algn="l">
              <a:defRPr sz="1275" b="1">
                <a:solidFill>
                  <a:srgbClr val="6AD0D4"/>
                </a:solidFill>
                <a:latin typeface="Calibri"/>
                <a:ea typeface="Calibri"/>
                <a:cs typeface="Calibri"/>
              </a:defRPr>
            </a:pPr>
            <a:r>
              <a:rPr sz="1275" b="1">
                <a:solidFill>
                  <a:srgbClr val="6AD0D4"/>
                </a:solidFill>
                <a:latin typeface="Calibri"/>
                <a:ea typeface="Calibri"/>
                <a:cs typeface="Calibri"/>
              </a:rPr>
              <a:t>IV. DISCUSSION</a:t>
            </a:r>
          </a:p>
        </p:txBody>
      </p:sp>
      <p:sp>
        <p:nvSpPr>
          <p:cNvPr id="2" name="Conclusion">
            <a:extLst xmlns:a="http://schemas.openxmlformats.org/drawingml/2006/main">
              <a:ext uri="{FF2B5EF4-FFF2-40B4-BE49-F238E27FC236}">
                <a16:creationId xmlns:a16="http://schemas.microsoft.com/office/drawing/2014/main" id="{646862F6-846C-4AC0-905D-4E571C9AA354}"/>
              </a:ext>
            </a:extLst>
          </p:cNvPr>
          <p:cNvSpPr>
            <a:spLocks xmlns:a="http://schemas.openxmlformats.org/drawingml/2006/main" noGrp="1"/>
          </p:cNvSpPr>
          <p:nvPr/>
        </p:nvSpPr>
        <p:spPr>
          <a:xfrm xmlns:a="http://schemas.openxmlformats.org/drawingml/2006/main">
            <a:off x="342900" y="619125"/>
            <a:ext cx="8458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FFFFFF"/>
                </a:solidFill>
                <a:latin typeface="Calibri"/>
                <a:ea typeface="Calibri"/>
                <a:cs typeface="Calibri"/>
              </a:defRPr>
            </a:defPPr>
          </a:lstStyle>
          <a:p xmlns:a="http://schemas.openxmlformats.org/drawingml/2006/main">
            <a:pPr algn="l">
              <a:defRPr sz="3000" b="1">
                <a:solidFill>
                  <a:srgbClr val="FFFFFF"/>
                </a:solidFill>
                <a:latin typeface="Calibri"/>
                <a:ea typeface="Calibri"/>
                <a:cs typeface="Calibri"/>
              </a:defRPr>
            </a:pPr>
            <a:r>
              <a:rPr sz="3000" b="1">
                <a:solidFill>
                  <a:srgbClr val="FFFFFF"/>
                </a:solidFill>
                <a:latin typeface="Calibri"/>
                <a:ea typeface="Calibri"/>
                <a:cs typeface="Calibri"/>
              </a:rPr>
              <a:t>Conclusion</a:t>
            </a:r>
          </a:p>
        </p:txBody>
      </p:sp>
      <p:sp>
        <p:nvSpPr>
          <p:cNvPr id="3" name="22 / 24">
            <a:extLst xmlns:a="http://schemas.openxmlformats.org/drawingml/2006/main">
              <a:ext uri="{FF2B5EF4-FFF2-40B4-BE49-F238E27FC236}">
                <a16:creationId xmlns:a16="http://schemas.microsoft.com/office/drawing/2014/main" id="{73A71A8E-76E1-490D-82CC-542CC22471F1}"/>
              </a:ext>
            </a:extLst>
          </p:cNvPr>
          <p:cNvSpPr>
            <a:spLocks xmlns:a="http://schemas.openxmlformats.org/drawingml/2006/main" noGrp="1"/>
          </p:cNvSpPr>
          <p:nvPr/>
        </p:nvSpPr>
        <p:spPr>
          <a:xfrm xmlns:a="http://schemas.openxmlformats.org/drawingml/2006/main">
            <a:off x="8172450" y="489585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AEC0CB"/>
                </a:solidFill>
                <a:latin typeface="Calibri"/>
                <a:ea typeface="Calibri"/>
                <a:cs typeface="Calibri"/>
              </a:defRPr>
            </a:defPPr>
          </a:lstStyle>
          <a:p xmlns:a="http://schemas.openxmlformats.org/drawingml/2006/main">
            <a:pPr algn="r">
              <a:defRPr sz="900" b="0">
                <a:solidFill>
                  <a:srgbClr val="AEC0CB"/>
                </a:solidFill>
                <a:latin typeface="Calibri"/>
                <a:ea typeface="Calibri"/>
                <a:cs typeface="Calibri"/>
              </a:defRPr>
            </a:pPr>
            <a:r>
              <a:rPr sz="900" b="0">
                <a:solidFill>
                  <a:srgbClr val="AEC0CB"/>
                </a:solidFill>
                <a:latin typeface="Calibri"/>
                <a:ea typeface="Calibri"/>
                <a:cs typeface="Calibri"/>
              </a:rPr>
              <a:t>22 / 24</a:t>
            </a:r>
          </a:p>
        </p:txBody>
      </p:sp>
      <p:sp>
        <p:nvSpPr>
          <p:cNvPr id="4" name="Prototype integrates credential validation and attendance.">
            <a:extLst xmlns:a="http://schemas.openxmlformats.org/drawingml/2006/main">
              <a:ext uri="{FF2B5EF4-FFF2-40B4-BE49-F238E27FC236}">
                <a16:creationId xmlns:a16="http://schemas.microsoft.com/office/drawing/2014/main" id="{B238EA49-6EEC-4495-BD36-17BBD9740BDF}"/>
              </a:ext>
            </a:extLst>
          </p:cNvPr>
          <p:cNvSpPr>
            <a:spLocks xmlns:a="http://schemas.openxmlformats.org/drawingml/2006/main" noGrp="1"/>
          </p:cNvSpPr>
          <p:nvPr/>
        </p:nvSpPr>
        <p:spPr>
          <a:xfrm xmlns:a="http://schemas.openxmlformats.org/drawingml/2006/main">
            <a:off x="342900" y="140017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E3EBEF"/>
                </a:solidFill>
                <a:latin typeface="Calibri"/>
                <a:ea typeface="Calibri"/>
                <a:cs typeface="Calibri"/>
              </a:defRPr>
            </a:defPPr>
          </a:lstStyle>
          <a:p xmlns:a="http://schemas.openxmlformats.org/drawingml/2006/main">
            <a:pPr algn="l">
              <a:defRPr sz="2400" b="0">
                <a:solidFill>
                  <a:srgbClr val="E3EBEF"/>
                </a:solidFill>
                <a:latin typeface="Calibri"/>
                <a:ea typeface="Calibri"/>
                <a:cs typeface="Calibri"/>
              </a:defRPr>
            </a:pPr>
            <a:r>
              <a:rPr sz="2400" b="0">
                <a:solidFill>
                  <a:srgbClr val="E3EBEF"/>
                </a:solidFill>
                <a:latin typeface="Calibri"/>
                <a:ea typeface="Calibri"/>
                <a:cs typeface="Calibri"/>
              </a:rPr>
              <a:t>Prototype integrates credential validation and attendance.</a:t>
            </a:r>
          </a:p>
        </p:txBody>
      </p:sp>
      <p:sp>
        <p:nvSpPr>
          <p:cNvPr id="5" name="Configured modes support different verification requirements">
            <a:extLst xmlns:a="http://schemas.openxmlformats.org/drawingml/2006/main">
              <a:ext uri="{FF2B5EF4-FFF2-40B4-BE49-F238E27FC236}">
                <a16:creationId xmlns:a16="http://schemas.microsoft.com/office/drawing/2014/main" id="{48383A44-C755-4BA2-ACE5-610403585EF2}"/>
              </a:ext>
            </a:extLst>
          </p:cNvPr>
          <p:cNvSpPr>
            <a:spLocks xmlns:a="http://schemas.openxmlformats.org/drawingml/2006/main" noGrp="1"/>
          </p:cNvSpPr>
          <p:nvPr/>
        </p:nvSpPr>
        <p:spPr>
          <a:xfrm xmlns:a="http://schemas.openxmlformats.org/drawingml/2006/main">
            <a:off x="342900" y="191452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E3EBEF"/>
                </a:solidFill>
                <a:latin typeface="Calibri"/>
                <a:ea typeface="Calibri"/>
                <a:cs typeface="Calibri"/>
              </a:defRPr>
            </a:defPPr>
          </a:lstStyle>
          <a:p xmlns:a="http://schemas.openxmlformats.org/drawingml/2006/main">
            <a:pPr algn="l">
              <a:defRPr sz="2400" b="0">
                <a:solidFill>
                  <a:srgbClr val="E3EBEF"/>
                </a:solidFill>
                <a:latin typeface="Calibri"/>
                <a:ea typeface="Calibri"/>
                <a:cs typeface="Calibri"/>
              </a:defRPr>
            </a:pPr>
            <a:r>
              <a:rPr sz="2400" b="0">
                <a:solidFill>
                  <a:srgbClr val="E3EBEF"/>
                </a:solidFill>
                <a:latin typeface="Calibri"/>
                <a:ea typeface="Calibri"/>
                <a:cs typeface="Calibri"/>
              </a:rPr>
              <a:t>Configured modes support different verification requirements.</a:t>
            </a:r>
          </a:p>
        </p:txBody>
      </p:sp>
      <p:sp>
        <p:nvSpPr>
          <p:cNvPr id="6" name="Controlled decisions matched researcher-labelled expectation">
            <a:extLst xmlns:a="http://schemas.openxmlformats.org/drawingml/2006/main">
              <a:ext uri="{FF2B5EF4-FFF2-40B4-BE49-F238E27FC236}">
                <a16:creationId xmlns:a16="http://schemas.microsoft.com/office/drawing/2014/main" id="{C7793C52-D776-45EB-8537-9AA26B6E5153}"/>
              </a:ext>
            </a:extLst>
          </p:cNvPr>
          <p:cNvSpPr>
            <a:spLocks xmlns:a="http://schemas.openxmlformats.org/drawingml/2006/main" noGrp="1"/>
          </p:cNvSpPr>
          <p:nvPr/>
        </p:nvSpPr>
        <p:spPr>
          <a:xfrm xmlns:a="http://schemas.openxmlformats.org/drawingml/2006/main">
            <a:off x="342900" y="242887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E3EBEF"/>
                </a:solidFill>
                <a:latin typeface="Calibri"/>
                <a:ea typeface="Calibri"/>
                <a:cs typeface="Calibri"/>
              </a:defRPr>
            </a:defPPr>
          </a:lstStyle>
          <a:p xmlns:a="http://schemas.openxmlformats.org/drawingml/2006/main">
            <a:pPr algn="l">
              <a:defRPr sz="2400" b="0">
                <a:solidFill>
                  <a:srgbClr val="E3EBEF"/>
                </a:solidFill>
                <a:latin typeface="Calibri"/>
                <a:ea typeface="Calibri"/>
                <a:cs typeface="Calibri"/>
              </a:defRPr>
            </a:pPr>
            <a:r>
              <a:rPr sz="2400" b="0">
                <a:solidFill>
                  <a:srgbClr val="E3EBEF"/>
                </a:solidFill>
                <a:latin typeface="Calibri"/>
                <a:ea typeface="Calibri"/>
                <a:cs typeface="Calibri"/>
              </a:rPr>
              <a:t>Controlled decisions matched researcher-labelled expectations.</a:t>
            </a:r>
          </a:p>
        </p:txBody>
      </p:sp>
      <p:sp>
        <p:nvSpPr>
          <p:cNvPr id="7" name="Respondents reported favorable perceived system quality.">
            <a:extLst xmlns:a="http://schemas.openxmlformats.org/drawingml/2006/main">
              <a:ext uri="{FF2B5EF4-FFF2-40B4-BE49-F238E27FC236}">
                <a16:creationId xmlns:a16="http://schemas.microsoft.com/office/drawing/2014/main" id="{4A8A82F4-3143-47D7-8E51-F2D234BAE7A8}"/>
              </a:ext>
            </a:extLst>
          </p:cNvPr>
          <p:cNvSpPr>
            <a:spLocks xmlns:a="http://schemas.openxmlformats.org/drawingml/2006/main" noGrp="1"/>
          </p:cNvSpPr>
          <p:nvPr/>
        </p:nvSpPr>
        <p:spPr>
          <a:xfrm xmlns:a="http://schemas.openxmlformats.org/drawingml/2006/main">
            <a:off x="342900" y="294322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E3EBEF"/>
                </a:solidFill>
                <a:latin typeface="Calibri"/>
                <a:ea typeface="Calibri"/>
                <a:cs typeface="Calibri"/>
              </a:defRPr>
            </a:defPPr>
          </a:lstStyle>
          <a:p xmlns:a="http://schemas.openxmlformats.org/drawingml/2006/main">
            <a:pPr algn="l">
              <a:defRPr sz="2400" b="0">
                <a:solidFill>
                  <a:srgbClr val="E3EBEF"/>
                </a:solidFill>
                <a:latin typeface="Calibri"/>
                <a:ea typeface="Calibri"/>
                <a:cs typeface="Calibri"/>
              </a:defRPr>
            </a:pPr>
            <a:r>
              <a:rPr sz="2400" b="0">
                <a:solidFill>
                  <a:srgbClr val="E3EBEF"/>
                </a:solidFill>
                <a:latin typeface="Calibri"/>
                <a:ea typeface="Calibri"/>
                <a:cs typeface="Calibri"/>
              </a:rPr>
              <a:t>Respondents reported favorable perceived system quality.</a:t>
            </a:r>
          </a:p>
        </p:txBody>
      </p:sp>
      <p:sp>
        <p:nvSpPr>
          <p:cNvPr id="8" name="Overall student survey ratings differed significantly.">
            <a:extLst xmlns:a="http://schemas.openxmlformats.org/drawingml/2006/main">
              <a:ext uri="{FF2B5EF4-FFF2-40B4-BE49-F238E27FC236}">
                <a16:creationId xmlns:a16="http://schemas.microsoft.com/office/drawing/2014/main" id="{675CEBB0-BAA7-45A7-B9F9-BB9AB4BDD006}"/>
              </a:ext>
            </a:extLst>
          </p:cNvPr>
          <p:cNvSpPr>
            <a:spLocks xmlns:a="http://schemas.openxmlformats.org/drawingml/2006/main" noGrp="1"/>
          </p:cNvSpPr>
          <p:nvPr/>
        </p:nvSpPr>
        <p:spPr>
          <a:xfrm xmlns:a="http://schemas.openxmlformats.org/drawingml/2006/main">
            <a:off x="342900" y="345757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E3EBEF"/>
                </a:solidFill>
                <a:latin typeface="Calibri"/>
                <a:ea typeface="Calibri"/>
                <a:cs typeface="Calibri"/>
              </a:defRPr>
            </a:defPPr>
          </a:lstStyle>
          <a:p xmlns:a="http://schemas.openxmlformats.org/drawingml/2006/main">
            <a:pPr algn="l">
              <a:defRPr sz="2400" b="0">
                <a:solidFill>
                  <a:srgbClr val="E3EBEF"/>
                </a:solidFill>
                <a:latin typeface="Calibri"/>
                <a:ea typeface="Calibri"/>
                <a:cs typeface="Calibri"/>
              </a:defRPr>
            </a:pPr>
            <a:r>
              <a:rPr sz="2400" b="0">
                <a:solidFill>
                  <a:srgbClr val="E3EBEF"/>
                </a:solidFill>
                <a:latin typeface="Calibri"/>
                <a:ea typeface="Calibri"/>
                <a:cs typeface="Calibri"/>
              </a:rPr>
              <a:t>Overall student survey ratings differed significantly.</a:t>
            </a:r>
          </a:p>
        </p:txBody>
      </p:sp>
      <p:sp>
        <p:nvSpPr>
          <p:cNvPr id="9" name="Broader effectiveness requires further evaluation.">
            <a:extLst xmlns:a="http://schemas.openxmlformats.org/drawingml/2006/main">
              <a:ext uri="{FF2B5EF4-FFF2-40B4-BE49-F238E27FC236}">
                <a16:creationId xmlns:a16="http://schemas.microsoft.com/office/drawing/2014/main" id="{8E048413-64E2-42D4-9513-E4972EDC7AA2}"/>
              </a:ext>
            </a:extLst>
          </p:cNvPr>
          <p:cNvSpPr>
            <a:spLocks xmlns:a="http://schemas.openxmlformats.org/drawingml/2006/main" noGrp="1"/>
          </p:cNvSpPr>
          <p:nvPr/>
        </p:nvSpPr>
        <p:spPr>
          <a:xfrm xmlns:a="http://schemas.openxmlformats.org/drawingml/2006/main">
            <a:off x="342900" y="397192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E3EBEF"/>
                </a:solidFill>
                <a:latin typeface="Calibri"/>
                <a:ea typeface="Calibri"/>
                <a:cs typeface="Calibri"/>
              </a:defRPr>
            </a:defPPr>
          </a:lstStyle>
          <a:p xmlns:a="http://schemas.openxmlformats.org/drawingml/2006/main">
            <a:pPr algn="l">
              <a:defRPr sz="2400" b="0">
                <a:solidFill>
                  <a:srgbClr val="E3EBEF"/>
                </a:solidFill>
                <a:latin typeface="Calibri"/>
                <a:ea typeface="Calibri"/>
                <a:cs typeface="Calibri"/>
              </a:defRPr>
            </a:pPr>
            <a:r>
              <a:rPr sz="2400" b="0">
                <a:solidFill>
                  <a:srgbClr val="E3EBEF"/>
                </a:solidFill>
                <a:latin typeface="Calibri"/>
                <a:ea typeface="Calibri"/>
                <a:cs typeface="Calibri"/>
              </a:rPr>
              <a:t>Broader effectiveness requires further evaluation.</a:t>
            </a:r>
          </a:p>
        </p:txBody>
      </p:sp>
    </p:spTree>
    <p:extLst>
      <p:ext uri="{BB962C8B-B14F-4D97-AF65-F5344CB8AC3E}">
        <p14:creationId xmlns:p14="http://schemas.microsoft.com/office/powerpoint/2010/main" val="1234274716"/>
      </p:ext>
    </p:extLst>
  </p:cSld>
</p:sld>
</file>

<file path=ppt/slides/slide23.xml><?xml version="1.0" encoding="utf-8"?>
<p:sld xmlns:p="http://schemas.openxmlformats.org/presentationml/2006/main">
  <p:cSld>
    <p:bg>
      <p:bgPr>
        <a:solidFill xmlns:a="http://schemas.openxmlformats.org/drawingml/2006/main">
          <a:srgbClr val="142C45"/>
        </a:solidFill>
      </p:bgPr>
    </p:bg>
    <p:spTree>
      <p:nvGrpSpPr>
        <p:cNvPr id="1" name=""/>
        <p:cNvGrpSpPr/>
        <p:nvPr/>
      </p:nvGrpSpPr>
      <p:grpSpPr>
        <a:xfrm xmlns:a="http://schemas.openxmlformats.org/drawingml/2006/main"/>
      </p:grpSpPr>
      <p:sp>
        <p:nvSpPr>
          <p:cNvPr id="10" name="IV. DISCUSSION">
            <a:extLst xmlns:a="http://schemas.openxmlformats.org/drawingml/2006/main">
              <a:ext uri="{FF2B5EF4-FFF2-40B4-BE49-F238E27FC236}">
                <a16:creationId xmlns:a16="http://schemas.microsoft.com/office/drawing/2014/main" id="{2F65D080-A452-4B36-99AD-69F5B7A70CC1}"/>
              </a:ext>
            </a:extLst>
          </p:cNvPr>
          <p:cNvSpPr>
            <a:spLocks xmlns:a="http://schemas.openxmlformats.org/drawingml/2006/main" noGrp="1"/>
          </p:cNvSpPr>
          <p:nvPr/>
        </p:nvSpPr>
        <p:spPr>
          <a:xfrm xmlns:a="http://schemas.openxmlformats.org/drawingml/2006/main">
            <a:off x="342900" y="247650"/>
            <a:ext cx="8458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6AD0D4"/>
                </a:solidFill>
                <a:latin typeface="Calibri"/>
                <a:ea typeface="Calibri"/>
                <a:cs typeface="Calibri"/>
              </a:defRPr>
            </a:defPPr>
          </a:lstStyle>
          <a:p xmlns:a="http://schemas.openxmlformats.org/drawingml/2006/main">
            <a:pPr algn="l">
              <a:defRPr sz="1275" b="1">
                <a:solidFill>
                  <a:srgbClr val="6AD0D4"/>
                </a:solidFill>
                <a:latin typeface="Calibri"/>
                <a:ea typeface="Calibri"/>
                <a:cs typeface="Calibri"/>
              </a:defRPr>
            </a:pPr>
            <a:r>
              <a:rPr sz="1275" b="1">
                <a:solidFill>
                  <a:srgbClr val="6AD0D4"/>
                </a:solidFill>
                <a:latin typeface="Calibri"/>
                <a:ea typeface="Calibri"/>
                <a:cs typeface="Calibri"/>
              </a:rPr>
              <a:t>IV. DISCUSSION</a:t>
            </a:r>
          </a:p>
        </p:txBody>
      </p:sp>
      <p:sp>
        <p:nvSpPr>
          <p:cNvPr id="2" name="Further Evaluation">
            <a:extLst xmlns:a="http://schemas.openxmlformats.org/drawingml/2006/main">
              <a:ext uri="{FF2B5EF4-FFF2-40B4-BE49-F238E27FC236}">
                <a16:creationId xmlns:a16="http://schemas.microsoft.com/office/drawing/2014/main" id="{6FD9D57B-7D5E-41ED-ADF6-223C563DA40B}"/>
              </a:ext>
            </a:extLst>
          </p:cNvPr>
          <p:cNvSpPr>
            <a:spLocks xmlns:a="http://schemas.openxmlformats.org/drawingml/2006/main" noGrp="1"/>
          </p:cNvSpPr>
          <p:nvPr/>
        </p:nvSpPr>
        <p:spPr>
          <a:xfrm xmlns:a="http://schemas.openxmlformats.org/drawingml/2006/main">
            <a:off x="342900" y="619125"/>
            <a:ext cx="8458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FFFFFF"/>
                </a:solidFill>
                <a:latin typeface="Calibri"/>
                <a:ea typeface="Calibri"/>
                <a:cs typeface="Calibri"/>
              </a:defRPr>
            </a:defPPr>
          </a:lstStyle>
          <a:p xmlns:a="http://schemas.openxmlformats.org/drawingml/2006/main">
            <a:pPr algn="l">
              <a:defRPr sz="3000" b="1">
                <a:solidFill>
                  <a:srgbClr val="FFFFFF"/>
                </a:solidFill>
                <a:latin typeface="Calibri"/>
                <a:ea typeface="Calibri"/>
                <a:cs typeface="Calibri"/>
              </a:defRPr>
            </a:pPr>
            <a:r>
              <a:rPr sz="3000" b="1">
                <a:solidFill>
                  <a:srgbClr val="FFFFFF"/>
                </a:solidFill>
                <a:latin typeface="Calibri"/>
                <a:ea typeface="Calibri"/>
                <a:cs typeface="Calibri"/>
              </a:rPr>
              <a:t>Further Evaluation</a:t>
            </a:r>
          </a:p>
        </p:txBody>
      </p:sp>
      <p:sp>
        <p:nvSpPr>
          <p:cNvPr id="3" name="23 / 24">
            <a:extLst xmlns:a="http://schemas.openxmlformats.org/drawingml/2006/main">
              <a:ext uri="{FF2B5EF4-FFF2-40B4-BE49-F238E27FC236}">
                <a16:creationId xmlns:a16="http://schemas.microsoft.com/office/drawing/2014/main" id="{1035DD30-033B-4F2E-BB1E-0E0FA041C708}"/>
              </a:ext>
            </a:extLst>
          </p:cNvPr>
          <p:cNvSpPr>
            <a:spLocks xmlns:a="http://schemas.openxmlformats.org/drawingml/2006/main" noGrp="1"/>
          </p:cNvSpPr>
          <p:nvPr/>
        </p:nvSpPr>
        <p:spPr>
          <a:xfrm xmlns:a="http://schemas.openxmlformats.org/drawingml/2006/main">
            <a:off x="8172450" y="489585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AEC0CB"/>
                </a:solidFill>
                <a:latin typeface="Calibri"/>
                <a:ea typeface="Calibri"/>
                <a:cs typeface="Calibri"/>
              </a:defRPr>
            </a:defPPr>
          </a:lstStyle>
          <a:p xmlns:a="http://schemas.openxmlformats.org/drawingml/2006/main">
            <a:pPr algn="r">
              <a:defRPr sz="900" b="0">
                <a:solidFill>
                  <a:srgbClr val="AEC0CB"/>
                </a:solidFill>
                <a:latin typeface="Calibri"/>
                <a:ea typeface="Calibri"/>
                <a:cs typeface="Calibri"/>
              </a:defRPr>
            </a:pPr>
            <a:r>
              <a:rPr sz="900" b="0">
                <a:solidFill>
                  <a:srgbClr val="AEC0CB"/>
                </a:solidFill>
                <a:latin typeface="Calibri"/>
                <a:ea typeface="Calibri"/>
                <a:cs typeface="Calibri"/>
              </a:rPr>
              <a:t>23 / 24</a:t>
            </a:r>
          </a:p>
        </p:txBody>
      </p:sp>
      <p:sp>
        <p:nvSpPr>
          <p:cNvPr id="4" name="Measure equivalent complete tasks and throughput.">
            <a:extLst xmlns:a="http://schemas.openxmlformats.org/drawingml/2006/main">
              <a:ext uri="{FF2B5EF4-FFF2-40B4-BE49-F238E27FC236}">
                <a16:creationId xmlns:a16="http://schemas.microsoft.com/office/drawing/2014/main" id="{9AC240A2-2A5A-4F7C-83D0-B2CE08B8E914}"/>
              </a:ext>
            </a:extLst>
          </p:cNvPr>
          <p:cNvSpPr>
            <a:spLocks xmlns:a="http://schemas.openxmlformats.org/drawingml/2006/main" noGrp="1"/>
          </p:cNvSpPr>
          <p:nvPr/>
        </p:nvSpPr>
        <p:spPr>
          <a:xfrm xmlns:a="http://schemas.openxmlformats.org/drawingml/2006/main">
            <a:off x="342900" y="140017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E3EBEF"/>
                </a:solidFill>
                <a:latin typeface="Calibri"/>
                <a:ea typeface="Calibri"/>
                <a:cs typeface="Calibri"/>
              </a:defRPr>
            </a:defPPr>
          </a:lstStyle>
          <a:p xmlns:a="http://schemas.openxmlformats.org/drawingml/2006/main">
            <a:pPr algn="l">
              <a:defRPr sz="2400" b="0">
                <a:solidFill>
                  <a:srgbClr val="E3EBEF"/>
                </a:solidFill>
                <a:latin typeface="Calibri"/>
                <a:ea typeface="Calibri"/>
                <a:cs typeface="Calibri"/>
              </a:defRPr>
            </a:pPr>
            <a:r>
              <a:rPr sz="2400" b="0">
                <a:solidFill>
                  <a:srgbClr val="E3EBEF"/>
                </a:solidFill>
                <a:latin typeface="Calibri"/>
                <a:ea typeface="Calibri"/>
                <a:cs typeface="Calibri"/>
              </a:rPr>
              <a:t>Measure equivalent complete tasks and throughput.</a:t>
            </a:r>
          </a:p>
        </p:txBody>
      </p:sp>
      <p:sp>
        <p:nvSpPr>
          <p:cNvPr id="5" name="Expand samples across campuses and roles.">
            <a:extLst xmlns:a="http://schemas.openxmlformats.org/drawingml/2006/main">
              <a:ext uri="{FF2B5EF4-FFF2-40B4-BE49-F238E27FC236}">
                <a16:creationId xmlns:a16="http://schemas.microsoft.com/office/drawing/2014/main" id="{9A217712-31D0-44E1-96B2-1FE604796A13}"/>
              </a:ext>
            </a:extLst>
          </p:cNvPr>
          <p:cNvSpPr>
            <a:spLocks xmlns:a="http://schemas.openxmlformats.org/drawingml/2006/main" noGrp="1"/>
          </p:cNvSpPr>
          <p:nvPr/>
        </p:nvSpPr>
        <p:spPr>
          <a:xfrm xmlns:a="http://schemas.openxmlformats.org/drawingml/2006/main">
            <a:off x="342900" y="191452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E3EBEF"/>
                </a:solidFill>
                <a:latin typeface="Calibri"/>
                <a:ea typeface="Calibri"/>
                <a:cs typeface="Calibri"/>
              </a:defRPr>
            </a:defPPr>
          </a:lstStyle>
          <a:p xmlns:a="http://schemas.openxmlformats.org/drawingml/2006/main">
            <a:pPr algn="l">
              <a:defRPr sz="2400" b="0">
                <a:solidFill>
                  <a:srgbClr val="E3EBEF"/>
                </a:solidFill>
                <a:latin typeface="Calibri"/>
                <a:ea typeface="Calibri"/>
                <a:cs typeface="Calibri"/>
              </a:defRPr>
            </a:pPr>
            <a:r>
              <a:rPr sz="2400" b="0">
                <a:solidFill>
                  <a:srgbClr val="E3EBEF"/>
                </a:solidFill>
                <a:latin typeface="Calibri"/>
                <a:ea typeface="Calibri"/>
                <a:cs typeface="Calibri"/>
              </a:rPr>
              <a:t>Expand samples across campuses and roles.</a:t>
            </a:r>
          </a:p>
        </p:txBody>
      </p:sp>
      <p:sp>
        <p:nvSpPr>
          <p:cNvPr id="6" name="Counterbalance the verification mode order.">
            <a:extLst xmlns:a="http://schemas.openxmlformats.org/drawingml/2006/main">
              <a:ext uri="{FF2B5EF4-FFF2-40B4-BE49-F238E27FC236}">
                <a16:creationId xmlns:a16="http://schemas.microsoft.com/office/drawing/2014/main" id="{D8B88FBA-8925-4639-8F25-4C4050C20157}"/>
              </a:ext>
            </a:extLst>
          </p:cNvPr>
          <p:cNvSpPr>
            <a:spLocks xmlns:a="http://schemas.openxmlformats.org/drawingml/2006/main" noGrp="1"/>
          </p:cNvSpPr>
          <p:nvPr/>
        </p:nvSpPr>
        <p:spPr>
          <a:xfrm xmlns:a="http://schemas.openxmlformats.org/drawingml/2006/main">
            <a:off x="342900" y="242887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E3EBEF"/>
                </a:solidFill>
                <a:latin typeface="Calibri"/>
                <a:ea typeface="Calibri"/>
                <a:cs typeface="Calibri"/>
              </a:defRPr>
            </a:defPPr>
          </a:lstStyle>
          <a:p xmlns:a="http://schemas.openxmlformats.org/drawingml/2006/main">
            <a:pPr algn="l">
              <a:defRPr sz="2400" b="0">
                <a:solidFill>
                  <a:srgbClr val="E3EBEF"/>
                </a:solidFill>
                <a:latin typeface="Calibri"/>
                <a:ea typeface="Calibri"/>
                <a:cs typeface="Calibri"/>
              </a:defRPr>
            </a:pPr>
            <a:r>
              <a:rPr sz="2400" b="0">
                <a:solidFill>
                  <a:srgbClr val="E3EBEF"/>
                </a:solidFill>
                <a:latin typeface="Calibri"/>
                <a:ea typeface="Calibri"/>
                <a:cs typeface="Calibri"/>
              </a:rPr>
              <a:t>Counterbalance the verification mode order.</a:t>
            </a:r>
          </a:p>
        </p:txBody>
      </p:sp>
      <p:sp>
        <p:nvSpPr>
          <p:cNvPr id="7" name="Test credential sharing and outage recovery.">
            <a:extLst xmlns:a="http://schemas.openxmlformats.org/drawingml/2006/main">
              <a:ext uri="{FF2B5EF4-FFF2-40B4-BE49-F238E27FC236}">
                <a16:creationId xmlns:a16="http://schemas.microsoft.com/office/drawing/2014/main" id="{E4766C24-CDB4-4756-94FF-F087B674886E}"/>
              </a:ext>
            </a:extLst>
          </p:cNvPr>
          <p:cNvSpPr>
            <a:spLocks xmlns:a="http://schemas.openxmlformats.org/drawingml/2006/main" noGrp="1"/>
          </p:cNvSpPr>
          <p:nvPr/>
        </p:nvSpPr>
        <p:spPr>
          <a:xfrm xmlns:a="http://schemas.openxmlformats.org/drawingml/2006/main">
            <a:off x="342900" y="294322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E3EBEF"/>
                </a:solidFill>
                <a:latin typeface="Calibri"/>
                <a:ea typeface="Calibri"/>
                <a:cs typeface="Calibri"/>
              </a:defRPr>
            </a:defPPr>
          </a:lstStyle>
          <a:p xmlns:a="http://schemas.openxmlformats.org/drawingml/2006/main">
            <a:pPr algn="l">
              <a:defRPr sz="2400" b="0">
                <a:solidFill>
                  <a:srgbClr val="E3EBEF"/>
                </a:solidFill>
                <a:latin typeface="Calibri"/>
                <a:ea typeface="Calibri"/>
                <a:cs typeface="Calibri"/>
              </a:defRPr>
            </a:pPr>
            <a:r>
              <a:rPr sz="2400" b="0">
                <a:solidFill>
                  <a:srgbClr val="E3EBEF"/>
                </a:solidFill>
                <a:latin typeface="Calibri"/>
                <a:ea typeface="Calibri"/>
                <a:cs typeface="Calibri"/>
              </a:rPr>
              <a:t>Test credential sharing and outage recovery.</a:t>
            </a:r>
          </a:p>
        </p:txBody>
      </p:sp>
      <p:sp>
        <p:nvSpPr>
          <p:cNvPr id="8" name="Evaluate later additions separately.">
            <a:extLst xmlns:a="http://schemas.openxmlformats.org/drawingml/2006/main">
              <a:ext uri="{FF2B5EF4-FFF2-40B4-BE49-F238E27FC236}">
                <a16:creationId xmlns:a16="http://schemas.microsoft.com/office/drawing/2014/main" id="{2AA08E86-CA39-453C-9F7F-30D68BEE528C}"/>
              </a:ext>
            </a:extLst>
          </p:cNvPr>
          <p:cNvSpPr>
            <a:spLocks xmlns:a="http://schemas.openxmlformats.org/drawingml/2006/main" noGrp="1"/>
          </p:cNvSpPr>
          <p:nvPr/>
        </p:nvSpPr>
        <p:spPr>
          <a:xfrm xmlns:a="http://schemas.openxmlformats.org/drawingml/2006/main">
            <a:off x="342900" y="345757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E3EBEF"/>
                </a:solidFill>
                <a:latin typeface="Calibri"/>
                <a:ea typeface="Calibri"/>
                <a:cs typeface="Calibri"/>
              </a:defRPr>
            </a:defPPr>
          </a:lstStyle>
          <a:p xmlns:a="http://schemas.openxmlformats.org/drawingml/2006/main">
            <a:pPr algn="l">
              <a:defRPr sz="2400" b="0">
                <a:solidFill>
                  <a:srgbClr val="E3EBEF"/>
                </a:solidFill>
                <a:latin typeface="Calibri"/>
                <a:ea typeface="Calibri"/>
                <a:cs typeface="Calibri"/>
              </a:defRPr>
            </a:pPr>
            <a:r>
              <a:rPr sz="2400" b="0">
                <a:solidFill>
                  <a:srgbClr val="E3EBEF"/>
                </a:solidFill>
                <a:latin typeface="Calibri"/>
                <a:ea typeface="Calibri"/>
                <a:cs typeface="Calibri"/>
              </a:rPr>
              <a:t>Evaluate later additions separately.</a:t>
            </a:r>
          </a:p>
        </p:txBody>
      </p:sp>
      <p:sp>
        <p:nvSpPr>
          <p:cNvPr id="9" name="Complete evidence, retention, and destruction documentation.">
            <a:extLst xmlns:a="http://schemas.openxmlformats.org/drawingml/2006/main">
              <a:ext uri="{FF2B5EF4-FFF2-40B4-BE49-F238E27FC236}">
                <a16:creationId xmlns:a16="http://schemas.microsoft.com/office/drawing/2014/main" id="{72C7652D-3089-4234-93B5-A75466185B9F}"/>
              </a:ext>
            </a:extLst>
          </p:cNvPr>
          <p:cNvSpPr>
            <a:spLocks xmlns:a="http://schemas.openxmlformats.org/drawingml/2006/main" noGrp="1"/>
          </p:cNvSpPr>
          <p:nvPr/>
        </p:nvSpPr>
        <p:spPr>
          <a:xfrm xmlns:a="http://schemas.openxmlformats.org/drawingml/2006/main">
            <a:off x="342900" y="397192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E3EBEF"/>
                </a:solidFill>
                <a:latin typeface="Calibri"/>
                <a:ea typeface="Calibri"/>
                <a:cs typeface="Calibri"/>
              </a:defRPr>
            </a:defPPr>
          </a:lstStyle>
          <a:p xmlns:a="http://schemas.openxmlformats.org/drawingml/2006/main">
            <a:pPr algn="l">
              <a:defRPr sz="2400" b="0">
                <a:solidFill>
                  <a:srgbClr val="E3EBEF"/>
                </a:solidFill>
                <a:latin typeface="Calibri"/>
                <a:ea typeface="Calibri"/>
                <a:cs typeface="Calibri"/>
              </a:defRPr>
            </a:pPr>
            <a:r>
              <a:rPr sz="2400" b="0">
                <a:solidFill>
                  <a:srgbClr val="E3EBEF"/>
                </a:solidFill>
                <a:latin typeface="Calibri"/>
                <a:ea typeface="Calibri"/>
                <a:cs typeface="Calibri"/>
              </a:rPr>
              <a:t>Complete evidence, retention, and destruction documentation.</a:t>
            </a:r>
          </a:p>
        </p:txBody>
      </p:sp>
    </p:spTree>
    <p:extLst>
      <p:ext uri="{BB962C8B-B14F-4D97-AF65-F5344CB8AC3E}">
        <p14:creationId xmlns:p14="http://schemas.microsoft.com/office/powerpoint/2010/main" val="1027888241"/>
      </p:ext>
    </p:extLst>
  </p:cSld>
</p:sld>
</file>

<file path=ppt/slides/slide24.xml><?xml version="1.0" encoding="utf-8"?>
<p:sld xmlns:p="http://schemas.openxmlformats.org/presentationml/2006/main">
  <p:cSld>
    <p:bg>
      <p:bgPr>
        <a:solidFill xmlns:a="http://schemas.openxmlformats.org/drawingml/2006/main">
          <a:srgbClr val="142C45"/>
        </a:solidFill>
      </p:bgPr>
    </p:bg>
    <p:spTree>
      <p:nvGrpSpPr>
        <p:cNvPr id="1" name=""/>
        <p:cNvGrpSpPr/>
        <p:nvPr/>
      </p:nvGrpSpPr>
      <p:grpSpPr>
        <a:xfrm xmlns:a="http://schemas.openxmlformats.org/drawingml/2006/main"/>
      </p:grpSpPr>
      <p:sp>
        <p:nvSpPr>
          <p:cNvPr id="7" name="SYSTEM DEMONSTRATION">
            <a:extLst xmlns:a="http://schemas.openxmlformats.org/drawingml/2006/main">
              <a:ext uri="{FF2B5EF4-FFF2-40B4-BE49-F238E27FC236}">
                <a16:creationId xmlns:a16="http://schemas.microsoft.com/office/drawing/2014/main" id="{2C37F5B2-D779-47F0-83C1-F712D205AC67}"/>
              </a:ext>
            </a:extLst>
          </p:cNvPr>
          <p:cNvSpPr>
            <a:spLocks xmlns:a="http://schemas.openxmlformats.org/drawingml/2006/main" noGrp="1"/>
          </p:cNvSpPr>
          <p:nvPr/>
        </p:nvSpPr>
        <p:spPr>
          <a:xfrm xmlns:a="http://schemas.openxmlformats.org/drawingml/2006/main">
            <a:off x="457200" y="1200150"/>
            <a:ext cx="8229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6AD0D4"/>
                </a:solidFill>
                <a:latin typeface="Calibri"/>
                <a:ea typeface="Calibri"/>
                <a:cs typeface="Calibri"/>
              </a:defRPr>
            </a:defPPr>
          </a:lstStyle>
          <a:p xmlns:a="http://schemas.openxmlformats.org/drawingml/2006/main">
            <a:pPr algn="l">
              <a:defRPr sz="1800" b="1">
                <a:solidFill>
                  <a:srgbClr val="6AD0D4"/>
                </a:solidFill>
                <a:latin typeface="Calibri"/>
                <a:ea typeface="Calibri"/>
                <a:cs typeface="Calibri"/>
              </a:defRPr>
            </a:pPr>
            <a:r>
              <a:rPr sz="1800" b="1">
                <a:solidFill>
                  <a:srgbClr val="6AD0D4"/>
                </a:solidFill>
                <a:latin typeface="Calibri"/>
                <a:ea typeface="Calibri"/>
                <a:cs typeface="Calibri"/>
              </a:rPr>
              <a:t>SYSTEM DEMONSTRATION</a:t>
            </a:r>
          </a:p>
        </p:txBody>
      </p:sp>
      <p:sp>
        <p:nvSpPr>
          <p:cNvPr id="2" name="Live Demonstration and Questions">
            <a:extLst xmlns:a="http://schemas.openxmlformats.org/drawingml/2006/main">
              <a:ext uri="{FF2B5EF4-FFF2-40B4-BE49-F238E27FC236}">
                <a16:creationId xmlns:a16="http://schemas.microsoft.com/office/drawing/2014/main" id="{DADAB506-1017-4A16-ADC9-8199E4EF56F3}"/>
              </a:ext>
            </a:extLst>
          </p:cNvPr>
          <p:cNvSpPr>
            <a:spLocks xmlns:a="http://schemas.openxmlformats.org/drawingml/2006/main" noGrp="1"/>
          </p:cNvSpPr>
          <p:nvPr/>
        </p:nvSpPr>
        <p:spPr>
          <a:xfrm xmlns:a="http://schemas.openxmlformats.org/drawingml/2006/main">
            <a:off x="457200" y="1924050"/>
            <a:ext cx="8229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FFFFFF"/>
                </a:solidFill>
                <a:latin typeface="Calibri"/>
                <a:ea typeface="Calibri"/>
                <a:cs typeface="Calibri"/>
              </a:defRPr>
            </a:defPPr>
          </a:lstStyle>
          <a:p xmlns:a="http://schemas.openxmlformats.org/drawingml/2006/main">
            <a:pPr algn="l">
              <a:defRPr sz="3600" b="1">
                <a:solidFill>
                  <a:srgbClr val="FFFFFF"/>
                </a:solidFill>
                <a:latin typeface="Calibri"/>
                <a:ea typeface="Calibri"/>
                <a:cs typeface="Calibri"/>
              </a:defRPr>
            </a:pPr>
            <a:r>
              <a:rPr sz="3600" b="1">
                <a:solidFill>
                  <a:srgbClr val="FFFFFF"/>
                </a:solidFill>
                <a:latin typeface="Calibri"/>
                <a:ea typeface="Calibri"/>
                <a:cs typeface="Calibri"/>
              </a:rPr>
              <a:t>Live Demonstration and Questions</a:t>
            </a:r>
          </a:p>
        </p:txBody>
      </p:sp>
      <p:sp>
        <p:nvSpPr>
          <p:cNvPr id="3" name="Configured verification modes">
            <a:extLst xmlns:a="http://schemas.openxmlformats.org/drawingml/2006/main">
              <a:ext uri="{FF2B5EF4-FFF2-40B4-BE49-F238E27FC236}">
                <a16:creationId xmlns:a16="http://schemas.microsoft.com/office/drawing/2014/main" id="{649CD7D0-E222-4E91-9D8E-E9E941F1A4A1}"/>
              </a:ext>
            </a:extLst>
          </p:cNvPr>
          <p:cNvSpPr>
            <a:spLocks xmlns:a="http://schemas.openxmlformats.org/drawingml/2006/main" noGrp="1"/>
          </p:cNvSpPr>
          <p:nvPr/>
        </p:nvSpPr>
        <p:spPr>
          <a:xfrm xmlns:a="http://schemas.openxmlformats.org/drawingml/2006/main">
            <a:off x="457200" y="3067050"/>
            <a:ext cx="8229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E3EBEF"/>
                </a:solidFill>
                <a:latin typeface="Calibri"/>
                <a:ea typeface="Calibri"/>
                <a:cs typeface="Calibri"/>
              </a:defRPr>
            </a:defPPr>
          </a:lstStyle>
          <a:p xmlns:a="http://schemas.openxmlformats.org/drawingml/2006/main">
            <a:pPr algn="l">
              <a:defRPr sz="2550" b="0">
                <a:solidFill>
                  <a:srgbClr val="E3EBEF"/>
                </a:solidFill>
                <a:latin typeface="Calibri"/>
                <a:ea typeface="Calibri"/>
                <a:cs typeface="Calibri"/>
              </a:defRPr>
            </a:pPr>
            <a:r>
              <a:rPr sz="2550" b="0">
                <a:solidFill>
                  <a:srgbClr val="E3EBEF"/>
                </a:solidFill>
                <a:latin typeface="Calibri"/>
                <a:ea typeface="Calibri"/>
                <a:cs typeface="Calibri"/>
              </a:rPr>
              <a:t>Configured verification modes</a:t>
            </a:r>
          </a:p>
        </p:txBody>
      </p:sp>
      <p:sp>
        <p:nvSpPr>
          <p:cNvPr id="4" name="Entry/exit timestamps and alerts">
            <a:extLst xmlns:a="http://schemas.openxmlformats.org/drawingml/2006/main">
              <a:ext uri="{FF2B5EF4-FFF2-40B4-BE49-F238E27FC236}">
                <a16:creationId xmlns:a16="http://schemas.microsoft.com/office/drawing/2014/main" id="{0408F0A5-C731-4D7B-ACEF-0C362D04A9CC}"/>
              </a:ext>
            </a:extLst>
          </p:cNvPr>
          <p:cNvSpPr>
            <a:spLocks xmlns:a="http://schemas.openxmlformats.org/drawingml/2006/main" noGrp="1"/>
          </p:cNvSpPr>
          <p:nvPr/>
        </p:nvSpPr>
        <p:spPr>
          <a:xfrm xmlns:a="http://schemas.openxmlformats.org/drawingml/2006/main">
            <a:off x="457200" y="3638550"/>
            <a:ext cx="8229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E3EBEF"/>
                </a:solidFill>
                <a:latin typeface="Calibri"/>
                <a:ea typeface="Calibri"/>
                <a:cs typeface="Calibri"/>
              </a:defRPr>
            </a:defPPr>
          </a:lstStyle>
          <a:p xmlns:a="http://schemas.openxmlformats.org/drawingml/2006/main">
            <a:pPr algn="l">
              <a:defRPr sz="2550" b="0">
                <a:solidFill>
                  <a:srgbClr val="E3EBEF"/>
                </a:solidFill>
                <a:latin typeface="Calibri"/>
                <a:ea typeface="Calibri"/>
                <a:cs typeface="Calibri"/>
              </a:defRPr>
            </a:pPr>
            <a:r>
              <a:rPr sz="2550" b="0">
                <a:solidFill>
                  <a:srgbClr val="E3EBEF"/>
                </a:solidFill>
                <a:latin typeface="Calibri"/>
                <a:ea typeface="Calibri"/>
                <a:cs typeface="Calibri"/>
              </a:rPr>
              <a:t>Entry/exit timestamps and alerts</a:t>
            </a:r>
          </a:p>
        </p:txBody>
      </p:sp>
      <p:sp>
        <p:nvSpPr>
          <p:cNvPr id="5" name="Authorized local cleanup">
            <a:extLst xmlns:a="http://schemas.openxmlformats.org/drawingml/2006/main">
              <a:ext uri="{FF2B5EF4-FFF2-40B4-BE49-F238E27FC236}">
                <a16:creationId xmlns:a16="http://schemas.microsoft.com/office/drawing/2014/main" id="{9934A5AB-9A58-4A48-A40C-6C0EEF073F3F}"/>
              </a:ext>
            </a:extLst>
          </p:cNvPr>
          <p:cNvSpPr>
            <a:spLocks xmlns:a="http://schemas.openxmlformats.org/drawingml/2006/main" noGrp="1"/>
          </p:cNvSpPr>
          <p:nvPr/>
        </p:nvSpPr>
        <p:spPr>
          <a:xfrm xmlns:a="http://schemas.openxmlformats.org/drawingml/2006/main">
            <a:off x="457200" y="4210050"/>
            <a:ext cx="8229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E3EBEF"/>
                </a:solidFill>
                <a:latin typeface="Calibri"/>
                <a:ea typeface="Calibri"/>
                <a:cs typeface="Calibri"/>
              </a:defRPr>
            </a:defPPr>
          </a:lstStyle>
          <a:p xmlns:a="http://schemas.openxmlformats.org/drawingml/2006/main">
            <a:pPr algn="l">
              <a:defRPr sz="2550" b="0">
                <a:solidFill>
                  <a:srgbClr val="E3EBEF"/>
                </a:solidFill>
                <a:latin typeface="Calibri"/>
                <a:ea typeface="Calibri"/>
                <a:cs typeface="Calibri"/>
              </a:defRPr>
            </a:pPr>
            <a:r>
              <a:rPr sz="2550" b="0">
                <a:solidFill>
                  <a:srgbClr val="E3EBEF"/>
                </a:solidFill>
                <a:latin typeface="Calibri"/>
                <a:ea typeface="Calibri"/>
                <a:cs typeface="Calibri"/>
              </a:rPr>
              <a:t>Authorized local cleanup</a:t>
            </a:r>
          </a:p>
        </p:txBody>
      </p:sp>
      <p:sp>
        <p:nvSpPr>
          <p:cNvPr id="6" name="24 / 24">
            <a:extLst xmlns:a="http://schemas.openxmlformats.org/drawingml/2006/main">
              <a:ext uri="{FF2B5EF4-FFF2-40B4-BE49-F238E27FC236}">
                <a16:creationId xmlns:a16="http://schemas.microsoft.com/office/drawing/2014/main" id="{B462C6FA-9FA5-484E-BE23-7050807ECFF7}"/>
              </a:ext>
            </a:extLst>
          </p:cNvPr>
          <p:cNvSpPr>
            <a:spLocks xmlns:a="http://schemas.openxmlformats.org/drawingml/2006/main" noGrp="1"/>
          </p:cNvSpPr>
          <p:nvPr/>
        </p:nvSpPr>
        <p:spPr>
          <a:xfrm xmlns:a="http://schemas.openxmlformats.org/drawingml/2006/main">
            <a:off x="8172450" y="489585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AEC0CB"/>
                </a:solidFill>
                <a:latin typeface="Calibri"/>
                <a:ea typeface="Calibri"/>
                <a:cs typeface="Calibri"/>
              </a:defRPr>
            </a:defPPr>
          </a:lstStyle>
          <a:p xmlns:a="http://schemas.openxmlformats.org/drawingml/2006/main">
            <a:pPr algn="r">
              <a:defRPr sz="900" b="0">
                <a:solidFill>
                  <a:srgbClr val="AEC0CB"/>
                </a:solidFill>
                <a:latin typeface="Calibri"/>
                <a:ea typeface="Calibri"/>
                <a:cs typeface="Calibri"/>
              </a:defRPr>
            </a:pPr>
            <a:r>
              <a:rPr sz="900" b="0">
                <a:solidFill>
                  <a:srgbClr val="AEC0CB"/>
                </a:solidFill>
                <a:latin typeface="Calibri"/>
                <a:ea typeface="Calibri"/>
                <a:cs typeface="Calibri"/>
              </a:rPr>
              <a:t>24 / 24</a:t>
            </a:r>
          </a:p>
        </p:txBody>
      </p:sp>
    </p:spTree>
    <p:extLst>
      <p:ext uri="{BB962C8B-B14F-4D97-AF65-F5344CB8AC3E}">
        <p14:creationId xmlns:p14="http://schemas.microsoft.com/office/powerpoint/2010/main" val="1109252051"/>
      </p:ext>
    </p:extLst>
  </p:cSld>
</p:sld>
</file>

<file path=ppt/theme/theme1.xml><?xml version="1.0" encoding="utf-8"?>
<a:theme xmlns:a="http://schemas.openxmlformats.org/drawingml/2006/main" name="Office Theme">
  <a:themeElements>
    <a:clrScheme name="NFC Thesis Navy Teal">
      <a:dk1>
        <a:srgbClr val="14212C"/>
      </a:dk1>
      <a:lt1>
        <a:srgbClr val="FFFFFF"/>
      </a:lt1>
      <a:dk2>
        <a:srgbClr val="142C45"/>
      </a:dk2>
      <a:lt2>
        <a:srgbClr val="DCE5E9"/>
      </a:lt2>
      <a:accent1>
        <a:srgbClr val="007F86"/>
      </a:accent1>
      <a:accent2>
        <a:srgbClr val="C98D32"/>
      </a:accent2>
      <a:accent3>
        <a:srgbClr val="142C45"/>
      </a:accent3>
      <a:accent4>
        <a:srgbClr val="668693"/>
      </a:accent4>
      <a:accent5>
        <a:srgbClr val="A9C7CE"/>
      </a:accent5>
      <a:accent6>
        <a:srgbClr val="506679"/>
      </a:accent6>
      <a:hlink>
        <a:srgbClr val="007F86"/>
      </a:hlink>
      <a:folHlink>
        <a:srgbClr val="142C45"/>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NFC Thesis Navy Tea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2026-10-12T12:16:23.2970000Z</dcterms:created>
  <dcterms:modified xsi:type="dcterms:W3CDTF">2026-10-12T12:16:23.2970000Z</dcterms:modified>
</coreProperties>
</file>