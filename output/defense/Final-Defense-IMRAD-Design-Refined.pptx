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078d25a1a3479e" /><Relationship Type="http://schemas.openxmlformats.org/officeDocument/2006/relationships/extended-properties" Target="/docProps/app.xml" Id="Rbc841addf9684180" /><Relationship Type="http://schemas.openxmlformats.org/officeDocument/2006/relationships/officeDocument" Target="/ppt/presentation.xml" Id="R04814496a4a1450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7d8663d93434d00"/>
  </p:sldMasterIdLst>
  <p:notesMasterIdLst>
    <p:notesMasterId xmlns:r="http://schemas.openxmlformats.org/officeDocument/2006/relationships" r:id="R98aecfb9a4f84826"/>
  </p:notesMasterIdLst>
  <p:sldIdLst>
    <p:sldId xmlns:r="http://schemas.openxmlformats.org/officeDocument/2006/relationships" id="256" r:id="Rfdb82561c8c54481"/>
    <p:sldId xmlns:r="http://schemas.openxmlformats.org/officeDocument/2006/relationships" id="257" r:id="R976395451c084e85"/>
    <p:sldId xmlns:r="http://schemas.openxmlformats.org/officeDocument/2006/relationships" id="258" r:id="Rfed009245a8d4a01"/>
    <p:sldId xmlns:r="http://schemas.openxmlformats.org/officeDocument/2006/relationships" id="259" r:id="R80d9d9378c0a4a1e"/>
    <p:sldId xmlns:r="http://schemas.openxmlformats.org/officeDocument/2006/relationships" id="260" r:id="Red36f786a2744e7b"/>
    <p:sldId xmlns:r="http://schemas.openxmlformats.org/officeDocument/2006/relationships" id="261" r:id="R6f76f523b72a40e5"/>
    <p:sldId xmlns:r="http://schemas.openxmlformats.org/officeDocument/2006/relationships" id="262" r:id="R857e996593e246a8"/>
    <p:sldId xmlns:r="http://schemas.openxmlformats.org/officeDocument/2006/relationships" id="263" r:id="R9adcc445b9894cd1"/>
    <p:sldId xmlns:r="http://schemas.openxmlformats.org/officeDocument/2006/relationships" id="264" r:id="R5c3e7353b4924ff6"/>
    <p:sldId xmlns:r="http://schemas.openxmlformats.org/officeDocument/2006/relationships" id="265" r:id="R27a8deb491bd4f7b"/>
    <p:sldId xmlns:r="http://schemas.openxmlformats.org/officeDocument/2006/relationships" id="266" r:id="R523a0edfd18047ba"/>
    <p:sldId xmlns:r="http://schemas.openxmlformats.org/officeDocument/2006/relationships" id="267" r:id="R0e6a1be9fadd408c"/>
    <p:sldId xmlns:r="http://schemas.openxmlformats.org/officeDocument/2006/relationships" id="268" r:id="R70a216603cd04a04"/>
    <p:sldId xmlns:r="http://schemas.openxmlformats.org/officeDocument/2006/relationships" id="269" r:id="R8ccd522c09b34c0c"/>
    <p:sldId xmlns:r="http://schemas.openxmlformats.org/officeDocument/2006/relationships" id="270" r:id="Rb33f3e2538e44fcf"/>
    <p:sldId xmlns:r="http://schemas.openxmlformats.org/officeDocument/2006/relationships" id="271" r:id="R7084cc0b3435427b"/>
    <p:sldId xmlns:r="http://schemas.openxmlformats.org/officeDocument/2006/relationships" id="272" r:id="R9bcd2ee002d245d2"/>
    <p:sldId xmlns:r="http://schemas.openxmlformats.org/officeDocument/2006/relationships" id="273" r:id="Rb01f5d3bb5eb4496"/>
    <p:sldId xmlns:r="http://schemas.openxmlformats.org/officeDocument/2006/relationships" id="274" r:id="R102d4419ffa349ea"/>
    <p:sldId xmlns:r="http://schemas.openxmlformats.org/officeDocument/2006/relationships" id="275" r:id="R2114cb54deae4f0d"/>
    <p:sldId xmlns:r="http://schemas.openxmlformats.org/officeDocument/2006/relationships" id="276" r:id="Rf8c01fc4a25b49f7"/>
    <p:sldId xmlns:r="http://schemas.openxmlformats.org/officeDocument/2006/relationships" id="277" r:id="Rb2addfae4b2f4c1d"/>
    <p:sldId xmlns:r="http://schemas.openxmlformats.org/officeDocument/2006/relationships" id="278" r:id="R3077d9cfa4414c77"/>
    <p:sldId xmlns:r="http://schemas.openxmlformats.org/officeDocument/2006/relationships" id="279" r:id="R067dbd2ee3af45fb"/>
  </p:sldIdLst>
  <p:sldSz cx="9144000" cy="5143500"/>
  <p:notesSz cx="6858000" cy="9144000"/>
  <p:embeddedFontLst>
    <p:embeddedFont>
      <p:font typeface="Inter SemiBold"/>
      <p:regular xmlns:r="http://schemas.openxmlformats.org/officeDocument/2006/relationships" r:id="Rbf4e81f04102429d"/>
      <p:bold xmlns:r="http://schemas.openxmlformats.org/officeDocument/2006/relationships" r:id="Rbc3dd6eb2f834091"/>
      <p:italic xmlns:r="http://schemas.openxmlformats.org/officeDocument/2006/relationships" r:id="Rf7a0c39d88a04807"/>
      <p:boldItalic xmlns:r="http://schemas.openxmlformats.org/officeDocument/2006/relationships" r:id="Rdc56a8f4d783442a"/>
    </p:embeddedFont>
    <p:embeddedFont>
      <p:font typeface="Inter"/>
      <p:bold xmlns:r="http://schemas.openxmlformats.org/officeDocument/2006/relationships" r:id="Rde60b0c8a9234d62"/>
      <p:boldItalic xmlns:r="http://schemas.openxmlformats.org/officeDocument/2006/relationships" r:id="R7d2f18247ee24847"/>
    </p:embeddedFont>
    <p:embeddedFont>
      <p:font typeface="Inter ExtraBold"/>
      <p:bold xmlns:r="http://schemas.openxmlformats.org/officeDocument/2006/relationships" r:id="Rbe38213f32de4b1e"/>
      <p:boldItalic xmlns:r="http://schemas.openxmlformats.org/officeDocument/2006/relationships" r:id="Rb78a8879818e442c"/>
    </p:embeddedFont>
    <p:embeddedFont>
      <p:font typeface="Inter Medium"/>
      <p:regular xmlns:r="http://schemas.openxmlformats.org/officeDocument/2006/relationships" r:id="R1e9f26b14ebd4d71"/>
      <p:bold xmlns:r="http://schemas.openxmlformats.org/officeDocument/2006/relationships" r:id="R55e6e8bc452742cc"/>
      <p:italic xmlns:r="http://schemas.openxmlformats.org/officeDocument/2006/relationships" r:id="Rae3fc41979934706"/>
      <p:boldItalic xmlns:r="http://schemas.openxmlformats.org/officeDocument/2006/relationships" r:id="R26c4bec9c5464d61"/>
    </p:embeddedFont>
    <p:embeddedFont>
      <p:font typeface="Inter Black"/>
      <p:bold xmlns:r="http://schemas.openxmlformats.org/officeDocument/2006/relationships" r:id="Rbf931f7a466f4fd1"/>
      <p:boldItalic xmlns:r="http://schemas.openxmlformats.org/officeDocument/2006/relationships" r:id="R12220e5aca244e13"/>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0f3a5c63c1294bd9" /><Relationship Type="http://schemas.openxmlformats.org/officeDocument/2006/relationships/slideMaster" Target="/ppt/slideMasters/slideMaster1.xml" Id="R27d8663d93434d00" /><Relationship Type="http://schemas.openxmlformats.org/officeDocument/2006/relationships/notesMaster" Target="/ppt/notesMasters/notesMaster1.xml" Id="R98aecfb9a4f84826" /><Relationship Type="http://schemas.openxmlformats.org/officeDocument/2006/relationships/presProps" Target="/ppt/presProps.xml" Id="R4ac42d540c734cad" /><Relationship Type="http://schemas.openxmlformats.org/officeDocument/2006/relationships/viewProps" Target="/ppt/viewProps.xml" Id="Rd7478b794ad4468a" /><Relationship Type="http://schemas.openxmlformats.org/officeDocument/2006/relationships/tableStyles" Target="/ppt/tableStyles.xml" Id="R4b975ed648a04ed2" /><Relationship Type="http://schemas.openxmlformats.org/officeDocument/2006/relationships/font" Target="/ppt/fonts/font.dat" Id="Rbf4e81f04102429d" /><Relationship Type="http://schemas.openxmlformats.org/officeDocument/2006/relationships/font" Target="/ppt/fonts/font2.dat" Id="Rbc3dd6eb2f834091" /><Relationship Type="http://schemas.openxmlformats.org/officeDocument/2006/relationships/font" Target="/ppt/fonts/font3.dat" Id="Rf7a0c39d88a04807" /><Relationship Type="http://schemas.openxmlformats.org/officeDocument/2006/relationships/font" Target="/ppt/fonts/font4.dat" Id="Rdc56a8f4d783442a" /><Relationship Type="http://schemas.openxmlformats.org/officeDocument/2006/relationships/font" Target="/ppt/fonts/font5.dat" Id="Rde60b0c8a9234d62" /><Relationship Type="http://schemas.openxmlformats.org/officeDocument/2006/relationships/font" Target="/ppt/fonts/font6.dat" Id="R7d2f18247ee24847" /><Relationship Type="http://schemas.openxmlformats.org/officeDocument/2006/relationships/font" Target="/ppt/fonts/font7.dat" Id="Rbe38213f32de4b1e" /><Relationship Type="http://schemas.openxmlformats.org/officeDocument/2006/relationships/font" Target="/ppt/fonts/font8.dat" Id="Rb78a8879818e442c" /><Relationship Type="http://schemas.openxmlformats.org/officeDocument/2006/relationships/font" Target="/ppt/fonts/font9.dat" Id="R1e9f26b14ebd4d71" /><Relationship Type="http://schemas.openxmlformats.org/officeDocument/2006/relationships/font" Target="/ppt/fonts/font10.dat" Id="R55e6e8bc452742cc" /><Relationship Type="http://schemas.openxmlformats.org/officeDocument/2006/relationships/font" Target="/ppt/fonts/font11.dat" Id="Rae3fc41979934706" /><Relationship Type="http://schemas.openxmlformats.org/officeDocument/2006/relationships/font" Target="/ppt/fonts/font12.dat" Id="R26c4bec9c5464d61" /><Relationship Type="http://schemas.openxmlformats.org/officeDocument/2006/relationships/font" Target="/ppt/fonts/font13.dat" Id="Rbf931f7a466f4fd1" /><Relationship Type="http://schemas.openxmlformats.org/officeDocument/2006/relationships/font" Target="/ppt/fonts/font14.dat" Id="R12220e5aca244e13" /><Relationship Type="http://schemas.openxmlformats.org/officeDocument/2006/relationships/slide" Target="/ppt/slides/slide1.xml" Id="Rfdb82561c8c54481" /><Relationship Type="http://schemas.openxmlformats.org/officeDocument/2006/relationships/slide" Target="/ppt/slides/slide2.xml" Id="R976395451c084e85" /><Relationship Type="http://schemas.openxmlformats.org/officeDocument/2006/relationships/slide" Target="/ppt/slides/slide3.xml" Id="Rfed009245a8d4a01" /><Relationship Type="http://schemas.openxmlformats.org/officeDocument/2006/relationships/slide" Target="/ppt/slides/slide4.xml" Id="R80d9d9378c0a4a1e" /><Relationship Type="http://schemas.openxmlformats.org/officeDocument/2006/relationships/slide" Target="/ppt/slides/slide5.xml" Id="Red36f786a2744e7b" /><Relationship Type="http://schemas.openxmlformats.org/officeDocument/2006/relationships/slide" Target="/ppt/slides/slide6.xml" Id="R6f76f523b72a40e5" /><Relationship Type="http://schemas.openxmlformats.org/officeDocument/2006/relationships/slide" Target="/ppt/slides/slide7.xml" Id="R857e996593e246a8" /><Relationship Type="http://schemas.openxmlformats.org/officeDocument/2006/relationships/slide" Target="/ppt/slides/slide8.xml" Id="R9adcc445b9894cd1" /><Relationship Type="http://schemas.openxmlformats.org/officeDocument/2006/relationships/slide" Target="/ppt/slides/slide9.xml" Id="R5c3e7353b4924ff6" /><Relationship Type="http://schemas.openxmlformats.org/officeDocument/2006/relationships/slide" Target="/ppt/slides/slide10.xml" Id="R27a8deb491bd4f7b" /><Relationship Type="http://schemas.openxmlformats.org/officeDocument/2006/relationships/slide" Target="/ppt/slides/slide11.xml" Id="R523a0edfd18047ba" /><Relationship Type="http://schemas.openxmlformats.org/officeDocument/2006/relationships/slide" Target="/ppt/slides/slide12.xml" Id="R0e6a1be9fadd408c" /><Relationship Type="http://schemas.openxmlformats.org/officeDocument/2006/relationships/slide" Target="/ppt/slides/slide13.xml" Id="R70a216603cd04a04" /><Relationship Type="http://schemas.openxmlformats.org/officeDocument/2006/relationships/slide" Target="/ppt/slides/slide14.xml" Id="R8ccd522c09b34c0c" /><Relationship Type="http://schemas.openxmlformats.org/officeDocument/2006/relationships/slide" Target="/ppt/slides/slide15.xml" Id="Rb33f3e2538e44fcf" /><Relationship Type="http://schemas.openxmlformats.org/officeDocument/2006/relationships/slide" Target="/ppt/slides/slide16.xml" Id="R7084cc0b3435427b" /><Relationship Type="http://schemas.openxmlformats.org/officeDocument/2006/relationships/slide" Target="/ppt/slides/slide17.xml" Id="R9bcd2ee002d245d2" /><Relationship Type="http://schemas.openxmlformats.org/officeDocument/2006/relationships/slide" Target="/ppt/slides/slide18.xml" Id="Rb01f5d3bb5eb4496" /><Relationship Type="http://schemas.openxmlformats.org/officeDocument/2006/relationships/slide" Target="/ppt/slides/slide19.xml" Id="R102d4419ffa349ea" /><Relationship Type="http://schemas.openxmlformats.org/officeDocument/2006/relationships/slide" Target="/ppt/slides/slide20.xml" Id="R2114cb54deae4f0d" /><Relationship Type="http://schemas.openxmlformats.org/officeDocument/2006/relationships/slide" Target="/ppt/slides/slide21.xml" Id="Rf8c01fc4a25b49f7" /><Relationship Type="http://schemas.openxmlformats.org/officeDocument/2006/relationships/slide" Target="/ppt/slides/slide22.xml" Id="Rb2addfae4b2f4c1d" /><Relationship Type="http://schemas.openxmlformats.org/officeDocument/2006/relationships/slide" Target="/ppt/slides/slide23.xml" Id="R3077d9cfa4414c77" /><Relationship Type="http://schemas.openxmlformats.org/officeDocument/2006/relationships/slide" Target="/ppt/slides/slide24.xml" Id="R067dbd2ee3af45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fe8cb964a145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256a7f3ffe40f5" /><Relationship Type="http://schemas.openxmlformats.org/officeDocument/2006/relationships/notesMaster" Target="/ppt/notesMasters/notesMaster1.xml" Id="R527db612b6ca4c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7125f38899416f" /><Relationship Type="http://schemas.openxmlformats.org/officeDocument/2006/relationships/notesMaster" Target="/ppt/notesMasters/notesMaster1.xml" Id="R24e2311c8c6645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398c2b39384eea" /><Relationship Type="http://schemas.openxmlformats.org/officeDocument/2006/relationships/notesMaster" Target="/ppt/notesMasters/notesMaster1.xml" Id="R03f53d0491c04d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e5029af9c94c79" /><Relationship Type="http://schemas.openxmlformats.org/officeDocument/2006/relationships/notesMaster" Target="/ppt/notesMasters/notesMaster1.xml" Id="Ra651d3a9bd3845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ecce7947874ac5" /><Relationship Type="http://schemas.openxmlformats.org/officeDocument/2006/relationships/notesMaster" Target="/ppt/notesMasters/notesMaster1.xml" Id="R8b9804e5ad3440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f6f709fbd54a8e" /><Relationship Type="http://schemas.openxmlformats.org/officeDocument/2006/relationships/notesMaster" Target="/ppt/notesMasters/notesMaster1.xml" Id="Rc2ac7bcfe86145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f2957affb34b5d" /><Relationship Type="http://schemas.openxmlformats.org/officeDocument/2006/relationships/notesMaster" Target="/ppt/notesMasters/notesMaster1.xml" Id="R6db513c7205247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372d0a2fd04f6d" /><Relationship Type="http://schemas.openxmlformats.org/officeDocument/2006/relationships/notesMaster" Target="/ppt/notesMasters/notesMaster1.xml" Id="R4e4e4ad9b8c844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54cdc796254815" /><Relationship Type="http://schemas.openxmlformats.org/officeDocument/2006/relationships/notesMaster" Target="/ppt/notesMasters/notesMaster1.xml" Id="R7b4d60a0149849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ff1150a8a549b5" /><Relationship Type="http://schemas.openxmlformats.org/officeDocument/2006/relationships/notesMaster" Target="/ppt/notesMasters/notesMaster1.xml" Id="R9f37663fb53b49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3094e2d597404b" /><Relationship Type="http://schemas.openxmlformats.org/officeDocument/2006/relationships/notesMaster" Target="/ppt/notesMasters/notesMaster1.xml" Id="R691fbdd0d82245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41fb801e464b3e" /><Relationship Type="http://schemas.openxmlformats.org/officeDocument/2006/relationships/notesMaster" Target="/ppt/notesMasters/notesMaster1.xml" Id="R84e7ee2cad4c45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f05735b83842c4" /><Relationship Type="http://schemas.openxmlformats.org/officeDocument/2006/relationships/notesMaster" Target="/ppt/notesMasters/notesMaster1.xml" Id="Rd788f1aa3dfd4a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4b8129b8f744d6" /><Relationship Type="http://schemas.openxmlformats.org/officeDocument/2006/relationships/notesMaster" Target="/ppt/notesMasters/notesMaster1.xml" Id="Ref790c30206d4d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c3ad458c4b45da" /><Relationship Type="http://schemas.openxmlformats.org/officeDocument/2006/relationships/notesMaster" Target="/ppt/notesMasters/notesMaster1.xml" Id="Rc129759c9d0647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e84a2b7b0e498d" /><Relationship Type="http://schemas.openxmlformats.org/officeDocument/2006/relationships/notesMaster" Target="/ppt/notesMasters/notesMaster1.xml" Id="R7c1e4bb7a81d4b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f9cac6b37d4b5d" /><Relationship Type="http://schemas.openxmlformats.org/officeDocument/2006/relationships/notesMaster" Target="/ppt/notesMasters/notesMaster1.xml" Id="R9e7591c81e7845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729151a007467e" /><Relationship Type="http://schemas.openxmlformats.org/officeDocument/2006/relationships/notesMaster" Target="/ppt/notesMasters/notesMaster1.xml" Id="Rb03e9fe45ce94e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019f1670174c9d" /><Relationship Type="http://schemas.openxmlformats.org/officeDocument/2006/relationships/notesMaster" Target="/ppt/notesMasters/notesMaster1.xml" Id="R27795efac1a440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30d0bdd21ac4ba9" /><Relationship Type="http://schemas.openxmlformats.org/officeDocument/2006/relationships/notesMaster" Target="/ppt/notesMasters/notesMaster1.xml" Id="Re953240bb9084e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adcc92026604ae0" /><Relationship Type="http://schemas.openxmlformats.org/officeDocument/2006/relationships/notesMaster" Target="/ppt/notesMasters/notesMaster1.xml" Id="R198965ec4fae41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c959b75e6c49d5" /><Relationship Type="http://schemas.openxmlformats.org/officeDocument/2006/relationships/notesMaster" Target="/ppt/notesMasters/notesMaster1.xml" Id="R73f5221884ad47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8206a014884996" /><Relationship Type="http://schemas.openxmlformats.org/officeDocument/2006/relationships/notesMaster" Target="/ppt/notesMasters/notesMaster1.xml" Id="Rdb54ba203bd34d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d138ae9d4624588" /><Relationship Type="http://schemas.openxmlformats.org/officeDocument/2006/relationships/notesMaster" Target="/ppt/notesMasters/notesMaster1.xml" Id="R8af6d0f8e4af49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554b745b804e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50099c64484f22"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811bf17bd845b3" /><Relationship Type="http://schemas.openxmlformats.org/officeDocument/2006/relationships/slideLayout" Target="/ppt/slideLayouts/slideLayout1.xml" Id="R3092abc7e9b04f98" /><Relationship Type="http://schemas.openxmlformats.org/officeDocument/2006/relationships/slideLayout" Target="/ppt/slideLayouts/slideLayout2.xml" Id="Rb00825eb5f7a483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092abc7e9b04f98"/>
    <p:sldLayoutId xmlns:r="http://schemas.openxmlformats.org/officeDocument/2006/relationships" id="2147483650" r:id="Rb00825eb5f7a483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a43ca0aff442a2" /><Relationship Type="http://schemas.openxmlformats.org/officeDocument/2006/relationships/notesSlide" Target="/ppt/notesSlides/notesSlide1.xml" Id="R86665c5ef78243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9360d51dd0475d" /><Relationship Type="http://schemas.openxmlformats.org/officeDocument/2006/relationships/notesSlide" Target="/ppt/notesSlides/notesSlide2.xml" Id="Ra5eca69ed1624e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8c608b552a441e" /><Relationship Type="http://schemas.openxmlformats.org/officeDocument/2006/relationships/notesSlide" Target="/ppt/notesSlides/notesSlide3.xml" Id="R313fbe203cbd43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a5d261543040fd" /><Relationship Type="http://schemas.openxmlformats.org/officeDocument/2006/relationships/notesSlide" Target="/ppt/notesSlides/notesSlide4.xml" Id="R19163bff8e394a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cc02a1a2e04dc4" /><Relationship Type="http://schemas.openxmlformats.org/officeDocument/2006/relationships/notesSlide" Target="/ppt/notesSlides/notesSlide5.xml" Id="R1db75a446f0b40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869a76cc6040fa" /><Relationship Type="http://schemas.openxmlformats.org/officeDocument/2006/relationships/notesSlide" Target="/ppt/notesSlides/notesSlide6.xml" Id="R297d9424eb0646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463e369b984290" /><Relationship Type="http://schemas.openxmlformats.org/officeDocument/2006/relationships/notesSlide" Target="/ppt/notesSlides/notesSlide7.xml" Id="Re3f3db4b1f0441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0525db06914f62" /><Relationship Type="http://schemas.openxmlformats.org/officeDocument/2006/relationships/notesSlide" Target="/ppt/notesSlides/notesSlide8.xml" Id="Rc4f418c67c7a49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2e4c32b10d469e" /><Relationship Type="http://schemas.openxmlformats.org/officeDocument/2006/relationships/notesSlide" Target="/ppt/notesSlides/notesSlide9.xml" Id="Rdcb841e4ff1f43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52be389abdd46a5" /><Relationship Type="http://schemas.openxmlformats.org/officeDocument/2006/relationships/image" Target="/ppt/media/image.jpeg" Id="Rb01a97d6db054d3c" /><Relationship Type="http://schemas.openxmlformats.org/officeDocument/2006/relationships/image" Target="/ppt/media/image2.jpeg" Id="R933d4389d2694644" /><Relationship Type="http://schemas.openxmlformats.org/officeDocument/2006/relationships/image" Target="/ppt/media/image3.jpeg" Id="R990dd407715b4ef6" /><Relationship Type="http://schemas.openxmlformats.org/officeDocument/2006/relationships/image" Target="/ppt/media/image4.jpeg" Id="R89ee23a3e6f8410a" /><Relationship Type="http://schemas.openxmlformats.org/officeDocument/2006/relationships/image" Target="/ppt/media/image5.jpeg" Id="Rb70610556da046e7" /><Relationship Type="http://schemas.openxmlformats.org/officeDocument/2006/relationships/notesSlide" Target="/ppt/notesSlides/notesSlide10.xml" Id="R223756db33c345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8519bdaa72448e" /><Relationship Type="http://schemas.openxmlformats.org/officeDocument/2006/relationships/notesSlide" Target="/ppt/notesSlides/notesSlide11.xml" Id="R37d2073e26e240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a831ecb11c42ca" /><Relationship Type="http://schemas.openxmlformats.org/officeDocument/2006/relationships/notesSlide" Target="/ppt/notesSlides/notesSlide12.xml" Id="Ra90af90f876b47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b9b6e3ab9d4d63" /><Relationship Type="http://schemas.openxmlformats.org/officeDocument/2006/relationships/chart" Target="/ppt/slides/charts/chart1.xml" Id="Rbf705a886b5e4539" /><Relationship Type="http://schemas.openxmlformats.org/officeDocument/2006/relationships/notesSlide" Target="/ppt/notesSlides/notesSlide13.xml" Id="Rdcb0305a656e46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feba9c992a4a1e" /><Relationship Type="http://schemas.openxmlformats.org/officeDocument/2006/relationships/chart" Target="/ppt/slides/charts/chart2.xml" Id="R24e5242e30d646f5" /><Relationship Type="http://schemas.openxmlformats.org/officeDocument/2006/relationships/notesSlide" Target="/ppt/notesSlides/notesSlide14.xml" Id="Rb3fb55a4af2e41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e6baf02dc646fa" /><Relationship Type="http://schemas.openxmlformats.org/officeDocument/2006/relationships/chart" Target="/ppt/slides/charts/chart3.xml" Id="R0c1e192fac614cd9" /><Relationship Type="http://schemas.openxmlformats.org/officeDocument/2006/relationships/notesSlide" Target="/ppt/notesSlides/notesSlide15.xml" Id="R266840717acf46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5ea1b4660043a8" /><Relationship Type="http://schemas.openxmlformats.org/officeDocument/2006/relationships/notesSlide" Target="/ppt/notesSlides/notesSlide16.xml" Id="Rb9a846c5c46e4a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d36ebc24f6401e" /><Relationship Type="http://schemas.openxmlformats.org/officeDocument/2006/relationships/notesSlide" Target="/ppt/notesSlides/notesSlide17.xml" Id="Re7031d17ddc34d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284da60ba04a15" /><Relationship Type="http://schemas.openxmlformats.org/officeDocument/2006/relationships/chart" Target="/ppt/slides/charts/chart4.xml" Id="Rbc702fdf85ee4504" /><Relationship Type="http://schemas.openxmlformats.org/officeDocument/2006/relationships/notesSlide" Target="/ppt/notesSlides/notesSlide18.xml" Id="Rdfbc4d33bf074e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a456cfd036e49e4" /><Relationship Type="http://schemas.openxmlformats.org/officeDocument/2006/relationships/chart" Target="/ppt/slides/charts/chart5.xml" Id="Ra9d2db3df5c0400f" /><Relationship Type="http://schemas.openxmlformats.org/officeDocument/2006/relationships/notesSlide" Target="/ppt/notesSlides/notesSlide19.xml" Id="Rd0f0a683906b4a7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26ef993edba4230" /><Relationship Type="http://schemas.openxmlformats.org/officeDocument/2006/relationships/notesSlide" Target="/ppt/notesSlides/notesSlide20.xml" Id="Raa28b9aeb89a4f6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c45af07607f4206" /><Relationship Type="http://schemas.openxmlformats.org/officeDocument/2006/relationships/notesSlide" Target="/ppt/notesSlides/notesSlide21.xml" Id="Rf52c1ad9850c4b1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952696f6eb490c" /><Relationship Type="http://schemas.openxmlformats.org/officeDocument/2006/relationships/notesSlide" Target="/ppt/notesSlides/notesSlide22.xml" Id="R0db01526c8f445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b00f7c363834515" /><Relationship Type="http://schemas.openxmlformats.org/officeDocument/2006/relationships/notesSlide" Target="/ppt/notesSlides/notesSlide23.xml" Id="Rd5a68ad7ad3d4d5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79330e663694ce9" /><Relationship Type="http://schemas.openxmlformats.org/officeDocument/2006/relationships/notesSlide" Target="/ppt/notesSlides/notesSlide24.xml" Id="Racfb414009af420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c:lang val="en-US"/>
  <c:chart>
    <c:plotArea>
      <c:barChart>
        <c:barDir val="col"/>
        <c:grouping val="clustered"/>
        <c:varyColors val="0"/>
        <c:ser>
          <c:idx val="0"/>
          <c:order val="0"/>
          <c:tx>
            <c:v>Mean internal latency</c:v>
          </c:tx>
          <c:spPr>
            <a:solidFill xmlns:a="http://schemas.openxmlformats.org/drawingml/2006/main">
              <a:srgbClr val="007F86"/>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stacked"/>
        <c:varyColors val="0"/>
        <c:ser>
          <c:idx val="0"/>
          <c:order val="0"/>
          <c:tx>
            <c:v>PIN</c:v>
          </c:tx>
          <c:spPr>
            <a:solidFill xmlns:a="http://schemas.openxmlformats.org/drawingml/2006/main">
              <a:srgbClr val="007F86"/>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C98D32"/>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Writing observations</c:v>
          </c:tx>
          <c:spPr>
            <a:solidFill xmlns:a="http://schemas.openxmlformats.org/drawingml/2006/main">
              <a:srgbClr val="C98D32"/>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grouping val="clustered"/>
        <c:varyColors val="0"/>
        <c:ser>
          <c:idx val="0"/>
          <c:order val="0"/>
          <c:tx>
            <c:v>Manual, n = 70</c:v>
          </c:tx>
          <c:spPr>
            <a:solidFill xmlns:a="http://schemas.openxmlformats.org/drawingml/2006/main">
              <a:srgbClr val="C98D32"/>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07F86"/>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barChart>
        <c:barDir val="col"/>
        <c:grouping val="clustered"/>
        <c:varyColors val="0"/>
        <c:ser>
          <c:idx val="0"/>
          <c:order val="0"/>
          <c:tx>
            <c:v>Overall equal-category mean</c:v>
          </c:tx>
          <c:spPr>
            <a:solidFill xmlns:a="http://schemas.openxmlformats.org/drawingml/2006/main">
              <a:srgbClr val="007F86"/>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8" name="TAGUIG CITY UNIVERSITY">
            <a:extLst xmlns:a="http://schemas.openxmlformats.org/drawingml/2006/main">
              <a:ext uri="{FF2B5EF4-FFF2-40B4-BE49-F238E27FC236}">
                <a16:creationId xmlns:a16="http://schemas.microsoft.com/office/drawing/2014/main" id="{5D14605E-B1E8-4908-9727-BE69AC5C83BF}"/>
              </a:ext>
            </a:extLst>
          </p:cNvPr>
          <p:cNvSpPr>
            <a:spLocks xmlns:a="http://schemas.openxmlformats.org/drawingml/2006/main" noGrp="1"/>
          </p:cNvSpPr>
          <p:nvPr/>
        </p:nvSpPr>
        <p:spPr>
          <a:xfrm xmlns:a="http://schemas.openxmlformats.org/drawingml/2006/main">
            <a:off x="457200" y="3619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TAGUIG CITY UNIVERSITY</a:t>
            </a:r>
          </a:p>
        </p:txBody>
      </p:sp>
      <p:sp>
        <p:nvSpPr>
          <p:cNvPr id="2" name="COLLEGE OF INFORMATION AND COMPUTING TECHNOLOGY">
            <a:extLst xmlns:a="http://schemas.openxmlformats.org/drawingml/2006/main">
              <a:ext uri="{FF2B5EF4-FFF2-40B4-BE49-F238E27FC236}">
                <a16:creationId xmlns:a16="http://schemas.microsoft.com/office/drawing/2014/main" id="{B9941D2C-8ECD-44AD-9060-9A8889667FA8}"/>
              </a:ext>
            </a:extLst>
          </p:cNvPr>
          <p:cNvSpPr>
            <a:spLocks xmlns:a="http://schemas.openxmlformats.org/drawingml/2006/main" noGrp="1"/>
          </p:cNvSpPr>
          <p:nvPr/>
        </p:nvSpPr>
        <p:spPr>
          <a:xfrm xmlns:a="http://schemas.openxmlformats.org/drawingml/2006/main">
            <a:off x="457200" y="666750"/>
            <a:ext cx="822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BDCDD6"/>
                </a:solidFill>
                <a:latin typeface="Calibri"/>
                <a:ea typeface="Calibri"/>
                <a:cs typeface="Calibri"/>
              </a:defRPr>
            </a:defPPr>
          </a:lstStyle>
          <a:p xmlns:a="http://schemas.openxmlformats.org/drawingml/2006/main">
            <a:pPr algn="l">
              <a:defRPr sz="975" b="0">
                <a:solidFill>
                  <a:srgbClr val="BDCDD6"/>
                </a:solidFill>
                <a:latin typeface="Calibri"/>
                <a:ea typeface="Calibri"/>
                <a:cs typeface="Calibri"/>
              </a:defRPr>
            </a:pPr>
            <a:r>
              <a:rPr sz="975" b="0">
                <a:solidFill>
                  <a:srgbClr val="BDCDD6"/>
                </a:solidFill>
                <a:latin typeface="Calibri"/>
                <a:ea typeface="Calibri"/>
                <a:cs typeface="Calibri"/>
              </a:rPr>
              <a:t>COLLEGE OF INFORMATION AND COMPUTING TECHNOLOGY</a:t>
            </a:r>
          </a:p>
        </p:txBody>
      </p:sp>
      <p:sp>
        <p:nvSpPr>
          <p:cNvPr id="3" name="A Risk-Based Two-Factor&#10;Student Verification and&#10;Event Atten">
            <a:extLst xmlns:a="http://schemas.openxmlformats.org/drawingml/2006/main">
              <a:ext uri="{FF2B5EF4-FFF2-40B4-BE49-F238E27FC236}">
                <a16:creationId xmlns:a16="http://schemas.microsoft.com/office/drawing/2014/main" id="{48B071DE-1F72-4D79-8138-C4E4FB25E679}"/>
              </a:ext>
            </a:extLst>
          </p:cNvPr>
          <p:cNvSpPr>
            <a:spLocks xmlns:a="http://schemas.openxmlformats.org/drawingml/2006/main" noGrp="1"/>
          </p:cNvSpPr>
          <p:nvPr/>
        </p:nvSpPr>
        <p:spPr>
          <a:xfrm xmlns:a="http://schemas.openxmlformats.org/drawingml/2006/main">
            <a:off x="457200" y="1285875"/>
            <a:ext cx="82296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Calibri"/>
                <a:ea typeface="Calibri"/>
                <a:cs typeface="Calibri"/>
              </a:defRPr>
            </a:defPPr>
          </a:lstStyle>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A Risk-Based Two-Factor</a:t>
            </a:r>
          </a:p>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Student Verification and</a:t>
            </a:r>
          </a:p>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Event Attendance Management System</a:t>
            </a:r>
          </a:p>
        </p:txBody>
      </p:sp>
      <p:sp>
        <p:nvSpPr>
          <p:cNvPr id="4" name="Using Near Field Communication (NFC),&#10;Personal Identificatio">
            <a:extLst xmlns:a="http://schemas.openxmlformats.org/drawingml/2006/main">
              <a:ext uri="{FF2B5EF4-FFF2-40B4-BE49-F238E27FC236}">
                <a16:creationId xmlns:a16="http://schemas.microsoft.com/office/drawing/2014/main" id="{CDDEAF5B-6250-41F3-8AA8-8A9E02DBF0C8}"/>
              </a:ext>
            </a:extLst>
          </p:cNvPr>
          <p:cNvSpPr>
            <a:spLocks xmlns:a="http://schemas.openxmlformats.org/drawingml/2006/main" noGrp="1"/>
          </p:cNvSpPr>
          <p:nvPr/>
        </p:nvSpPr>
        <p:spPr>
          <a:xfrm xmlns:a="http://schemas.openxmlformats.org/drawingml/2006/main">
            <a:off x="457200" y="3105150"/>
            <a:ext cx="809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AD0D4"/>
                </a:solidFill>
                <a:latin typeface="Calibri"/>
                <a:ea typeface="Calibri"/>
                <a:cs typeface="Calibri"/>
              </a:defRPr>
            </a:defPPr>
          </a:lstStyle>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Using Near Field Communication (NFC),</a:t>
            </a:r>
          </a:p>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Personal Identification Number (PIN) Authentication,</a:t>
            </a:r>
          </a:p>
          <a:p xmlns:a="http://schemas.openxmlformats.org/drawingml/2006/main">
            <a:pPr algn="l">
              <a:defRPr sz="1500" b="0">
                <a:solidFill>
                  <a:srgbClr val="6AD0D4"/>
                </a:solidFill>
                <a:latin typeface="Calibri"/>
                <a:ea typeface="Calibri"/>
                <a:cs typeface="Calibri"/>
              </a:defRPr>
            </a:pPr>
            <a:r>
              <a:rPr sz="1500" b="0">
                <a:solidFill>
                  <a:srgbClr val="6AD0D4"/>
                </a:solidFill>
                <a:latin typeface="Calibri"/>
                <a:ea typeface="Calibri"/>
                <a:cs typeface="Calibri"/>
              </a:rPr>
              <a:t>and Quick Response (QR) Credential Validation</a:t>
            </a:r>
          </a:p>
        </p:txBody>
      </p:sp>
      <p:sp>
        <p:nvSpPr>
          <p:cNvPr id="5" name="Justine G. Mendoza, Michael Daniel M. Milallos, Seanne Stiff">
            <a:extLst xmlns:a="http://schemas.openxmlformats.org/drawingml/2006/main">
              <a:ext uri="{FF2B5EF4-FFF2-40B4-BE49-F238E27FC236}">
                <a16:creationId xmlns:a16="http://schemas.microsoft.com/office/drawing/2014/main" id="{4AE69DB0-6DC2-4761-8F1F-725C52F35B02}"/>
              </a:ext>
            </a:extLst>
          </p:cNvPr>
          <p:cNvSpPr>
            <a:spLocks xmlns:a="http://schemas.openxmlformats.org/drawingml/2006/main" noGrp="1"/>
          </p:cNvSpPr>
          <p:nvPr/>
        </p:nvSpPr>
        <p:spPr>
          <a:xfrm xmlns:a="http://schemas.openxmlformats.org/drawingml/2006/main">
            <a:off x="457200" y="42100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FFFFFF"/>
                </a:solidFill>
                <a:latin typeface="Calibri"/>
                <a:ea typeface="Calibri"/>
                <a:cs typeface="Calibri"/>
              </a:defRPr>
            </a:defPPr>
          </a:lstStyle>
          <a:p xmlns:a="http://schemas.openxmlformats.org/drawingml/2006/main">
            <a:pPr algn="l">
              <a:defRPr sz="1350" b="0">
                <a:solidFill>
                  <a:srgbClr val="FFFFFF"/>
                </a:solidFill>
                <a:latin typeface="Calibri"/>
                <a:ea typeface="Calibri"/>
                <a:cs typeface="Calibri"/>
              </a:defRPr>
            </a:pPr>
            <a:r>
              <a:rPr sz="1350" b="0">
                <a:solidFill>
                  <a:srgbClr val="FFFFFF"/>
                </a:solidFill>
                <a:latin typeface="Calibri"/>
                <a:ea typeface="Calibri"/>
                <a:cs typeface="Calibri"/>
              </a:rPr>
              <a:t>Justine G. Mendoza, Michael Daniel M. Milallos, Seanne Stiffel T. Sintay</a:t>
            </a:r>
          </a:p>
        </p:txBody>
      </p:sp>
      <p:sp>
        <p:nvSpPr>
          <p:cNvPr id="6" name="BS Computer Science   Adviser: Prof. Ferdinand Rubio">
            <a:extLst xmlns:a="http://schemas.openxmlformats.org/drawingml/2006/main">
              <a:ext uri="{FF2B5EF4-FFF2-40B4-BE49-F238E27FC236}">
                <a16:creationId xmlns:a16="http://schemas.microsoft.com/office/drawing/2014/main" id="{36F0A720-4BC9-492C-80E1-6C5577CB3942}"/>
              </a:ext>
            </a:extLst>
          </p:cNvPr>
          <p:cNvSpPr>
            <a:spLocks xmlns:a="http://schemas.openxmlformats.org/drawingml/2006/main" noGrp="1"/>
          </p:cNvSpPr>
          <p:nvPr/>
        </p:nvSpPr>
        <p:spPr>
          <a:xfrm xmlns:a="http://schemas.openxmlformats.org/drawingml/2006/main">
            <a:off x="457200" y="4552950"/>
            <a:ext cx="790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DCDD6"/>
                </a:solidFill>
                <a:latin typeface="Calibri"/>
                <a:ea typeface="Calibri"/>
                <a:cs typeface="Calibri"/>
              </a:defRPr>
            </a:defPPr>
          </a:lstStyle>
          <a:p xmlns:a="http://schemas.openxmlformats.org/drawingml/2006/main">
            <a:pPr algn="l">
              <a:defRPr sz="1125" b="0">
                <a:solidFill>
                  <a:srgbClr val="BDCDD6"/>
                </a:solidFill>
                <a:latin typeface="Calibri"/>
                <a:ea typeface="Calibri"/>
                <a:cs typeface="Calibri"/>
              </a:defRPr>
            </a:pPr>
            <a:r>
              <a:rPr sz="1125" b="0">
                <a:solidFill>
                  <a:srgbClr val="BDCDD6"/>
                </a:solidFill>
                <a:latin typeface="Calibri"/>
                <a:ea typeface="Calibri"/>
                <a:cs typeface="Calibri"/>
              </a:rPr>
              <a:t>BS Computer Science   Adviser: Prof. Ferdinand Rubio</a:t>
            </a:r>
          </a:p>
        </p:txBody>
      </p:sp>
      <p:sp>
        <p:nvSpPr>
          <p:cNvPr id="7" name="01 / 24">
            <a:extLst xmlns:a="http://schemas.openxmlformats.org/drawingml/2006/main">
              <a:ext uri="{FF2B5EF4-FFF2-40B4-BE49-F238E27FC236}">
                <a16:creationId xmlns:a16="http://schemas.microsoft.com/office/drawing/2014/main" id="{632D0646-6F8F-4C59-9273-24E868ECA0D3}"/>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defRPr sz="825" b="0">
                <a:solidFill>
                  <a:srgbClr val="AEC0CB"/>
                </a:solidFill>
                <a:latin typeface="Calibri"/>
                <a:ea typeface="Calibri"/>
                <a:cs typeface="Calibri"/>
              </a:defRPr>
            </a:pPr>
            <a:r>
              <a:rPr sz="825" b="0">
                <a:solidFill>
                  <a:srgbClr val="AEC0CB"/>
                </a:solidFill>
                <a:latin typeface="Calibri"/>
                <a:ea typeface="Calibri"/>
                <a:cs typeface="Calibri"/>
              </a:rPr>
              <a:t>01 / 24</a:t>
            </a: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394ACCBF-1832-4456-9F07-249AC60A5EA1}"/>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A817C6A3-98BC-4F06-8485-B8D493E26248}"/>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Evidence</a:t>
            </a:r>
          </a:p>
        </p:txBody>
      </p:sp>
      <p:sp>
        <p:nvSpPr>
          <p:cNvPr id="3" name="02 / 24">
            <a:extLst xmlns:a="http://schemas.openxmlformats.org/drawingml/2006/main">
              <a:ext uri="{FF2B5EF4-FFF2-40B4-BE49-F238E27FC236}">
                <a16:creationId xmlns:a16="http://schemas.microsoft.com/office/drawing/2014/main" id="{63098D78-BB2F-4ECC-BBD7-0689CA765F14}"/>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01BA0C72-9703-4C0A-996D-9A01280B5069}"/>
              </a:ext>
            </a:extLst>
          </p:cNvPr>
          <p:cNvGraphicFramePr/>
          <p:nvPr/>
        </p:nvGraphicFramePr>
        <p:xfrm>
          <a:off xmlns:a="http://schemas.openxmlformats.org/drawingml/2006/main" x="342900" y="1304925"/>
          <a:ext xmlns:a="http://schemas.openxmlformats.org/drawingml/2006/main" cx="8458200" cy="2971800"/>
        </p:xfrm>
        <a:graphic xmlns:a="http://schemas.openxmlformats.org/drawingml/2006/main">
          <a:graphicData uri="http://schemas.openxmlformats.org/drawingml/2006/table">
            <a:tbl>
              <a:tblPr/>
              <a:tblGrid>
                <a:gridCol w="3095625"/>
                <a:gridCol w="5429250"/>
              </a:tblGrid>
              <a:tr h="541020">
                <a:tc>
                  <a:txBody>
                    <a:bodyPr lIns="0" tIns="0" rIns="0" bIns="0">
                      <a:noAutofit/>
                    </a:bodyPr>
                    <a:lstStyle/>
                    <a:p>
                      <a:pPr algn="l">
                        <a:buNone/>
                      </a:pPr>
                      <a:r>
                        <a:rPr sz="1575" b="1">
                          <a:solidFill>
                            <a:srgbClr val="FFFFFF"/>
                          </a:solidFill>
                          <a:latin typeface="Calibri"/>
                          <a:ea typeface="Calibri"/>
                          <a:cs typeface="Calibri"/>
                        </a:rPr>
                        <a:t>Recommendation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575" b="1">
                          <a:solidFill>
                            <a:srgbClr val="FFFFFF"/>
                          </a:solidFill>
                          <a:latin typeface="Calibri"/>
                          <a:ea typeface="Calibri"/>
                          <a:cs typeface="Calibri"/>
                        </a:rPr>
                        <a:t>Action and Present Status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541020">
                <a:tc>
                  <a:txBody>
                    <a:bodyPr lIns="0" tIns="0" rIns="0" bIns="0">
                      <a:noAutofit/>
                    </a:bodyPr>
                    <a:lstStyle/>
                    <a:p>
                      <a:pPr algn="l">
                        <a:buNone/>
                      </a:pPr>
                      <a:r>
                        <a:rPr sz="1575" b="0">
                          <a:solidFill>
                            <a:srgbClr val="33424D"/>
                          </a:solidFill>
                          <a:latin typeface="Calibri"/>
                          <a:ea typeface="Calibri"/>
                          <a:cs typeface="Calibri"/>
                        </a:rPr>
                        <a:t>01-02  Checklist and Chapter 4 visuals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75" b="0">
                          <a:solidFill>
                            <a:srgbClr val="33424D"/>
                          </a:solidFill>
                          <a:latin typeface="Calibri"/>
                          <a:ea typeface="Calibri"/>
                          <a:cs typeface="Calibri"/>
                        </a:rPr>
                        <a:t>Complete checklist, corrected results, item tables, and comparison figures.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541020">
                <a:tc>
                  <a:txBody>
                    <a:bodyPr lIns="0" tIns="0" rIns="0" bIns="0">
                      <a:noAutofit/>
                    </a:bodyPr>
                    <a:lstStyle/>
                    <a:p>
                      <a:pPr algn="l">
                        <a:buNone/>
                      </a:pPr>
                      <a:r>
                        <a:rPr sz="1575" b="0">
                          <a:solidFill>
                            <a:srgbClr val="33424D"/>
                          </a:solidFill>
                          <a:latin typeface="Calibri"/>
                          <a:ea typeface="Calibri"/>
                          <a:cs typeface="Calibri"/>
                        </a:rPr>
                        <a:t>03  Raw survey and comparison records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75" b="0">
                          <a:solidFill>
                            <a:srgbClr val="33424D"/>
                          </a:solidFill>
                          <a:latin typeface="Calibri"/>
                          <a:ea typeface="Calibri"/>
                          <a:cs typeface="Calibri"/>
                        </a:rPr>
                        <a:t>Student workbook and exports available. Full anonymized records still need a traceable evidence package.</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541020">
                <a:tc>
                  <a:txBody>
                    <a:bodyPr lIns="0" tIns="0" rIns="0" bIns="0">
                      <a:noAutofit/>
                    </a:bodyPr>
                    <a:lstStyle/>
                    <a:p>
                      <a:pPr algn="l">
                        <a:buNone/>
                      </a:pPr>
                      <a:r>
                        <a:rPr sz="1575" b="0">
                          <a:solidFill>
                            <a:srgbClr val="33424D"/>
                          </a:solidFill>
                          <a:latin typeface="Calibri"/>
                          <a:ea typeface="Calibri"/>
                          <a:cs typeface="Calibri"/>
                        </a:rPr>
                        <a:t>04  Evidence for tests and surveys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75" b="0">
                          <a:solidFill>
                            <a:srgbClr val="33424D"/>
                          </a:solidFill>
                          <a:latin typeface="Calibri"/>
                          <a:ea typeface="Calibri"/>
                          <a:cs typeface="Calibri"/>
                        </a:rPr>
                        <a:t>16 listed test cases and appendix photographs. Evidence does not cover every current feature.</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541020">
                <a:tc>
                  <a:txBody>
                    <a:bodyPr lIns="0" tIns="0" rIns="0" bIns="0">
                      <a:noAutofit/>
                    </a:bodyPr>
                    <a:lstStyle/>
                    <a:p>
                      <a:pPr algn="l">
                        <a:buNone/>
                      </a:pPr>
                      <a:r>
                        <a:rPr sz="1575" b="0">
                          <a:solidFill>
                            <a:srgbClr val="33424D"/>
                          </a:solidFill>
                          <a:latin typeface="Calibri"/>
                          <a:ea typeface="Calibri"/>
                          <a:cs typeface="Calibri"/>
                        </a:rPr>
                        <a:t>05  Interfaces in appendices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75" b="0">
                          <a:solidFill>
                            <a:srgbClr val="33424D"/>
                          </a:solidFill>
                          <a:latin typeface="Calibri"/>
                          <a:ea typeface="Calibri"/>
                          <a:cs typeface="Calibri"/>
                        </a:rPr>
                        <a:t>Appendix D includes selected interfaces. Current timestamp and maintenance screenshots remain to be added.</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291E2160-C648-434E-A1A2-53A6B71E9AA6}"/>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1A284D54-074D-4C85-922A-FAA38E7D9B3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2AEB2D30-DEE8-4612-A4A6-0D7334A79592}"/>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Comparison</a:t>
            </a:r>
          </a:p>
        </p:txBody>
      </p:sp>
      <p:sp>
        <p:nvSpPr>
          <p:cNvPr id="3" name="03 / 24">
            <a:extLst xmlns:a="http://schemas.openxmlformats.org/drawingml/2006/main">
              <a:ext uri="{FF2B5EF4-FFF2-40B4-BE49-F238E27FC236}">
                <a16:creationId xmlns:a16="http://schemas.microsoft.com/office/drawing/2014/main" id="{ED693B65-0C28-4521-9120-CD90E2F6DEE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C90FA428-CBB6-4E4F-A068-7FAF411E3E75}"/>
              </a:ext>
            </a:extLst>
          </p:cNvPr>
          <p:cNvGraphicFramePr/>
          <p:nvPr/>
        </p:nvGraphicFramePr>
        <p:xfrm>
          <a:off xmlns:a="http://schemas.openxmlformats.org/drawingml/2006/main" x="342900" y="1304925"/>
          <a:ext xmlns:a="http://schemas.openxmlformats.org/drawingml/2006/main" cx="8458200" cy="3028950"/>
        </p:xfrm>
        <a:graphic xmlns:a="http://schemas.openxmlformats.org/drawingml/2006/main">
          <a:graphicData uri="http://schemas.openxmlformats.org/drawingml/2006/table">
            <a:tbl>
              <a:tblPr/>
              <a:tblGrid>
                <a:gridCol w="3095625"/>
                <a:gridCol w="5429250"/>
              </a:tblGrid>
              <a:tr h="492125">
                <a:tc>
                  <a:txBody>
                    <a:bodyPr lIns="0" tIns="0" rIns="0" bIns="0">
                      <a:noAutofit/>
                    </a:bodyPr>
                    <a:lstStyle/>
                    <a:p>
                      <a:pPr algn="l">
                        <a:buNone/>
                      </a:pPr>
                      <a:r>
                        <a:rPr sz="1500" b="1">
                          <a:solidFill>
                            <a:srgbClr val="FFFFFF"/>
                          </a:solidFill>
                          <a:latin typeface="Calibri"/>
                          <a:ea typeface="Calibri"/>
                          <a:cs typeface="Calibri"/>
                        </a:rPr>
                        <a:t>Recommendation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500" b="1">
                          <a:solidFill>
                            <a:srgbClr val="FFFFFF"/>
                          </a:solidFill>
                          <a:latin typeface="Calibri"/>
                          <a:ea typeface="Calibri"/>
                          <a:cs typeface="Calibri"/>
                        </a:rPr>
                        <a:t>Action and Present Status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92125">
                <a:tc>
                  <a:txBody>
                    <a:bodyPr lIns="0" tIns="0" rIns="0" bIns="0">
                      <a:noAutofit/>
                    </a:bodyPr>
                    <a:lstStyle/>
                    <a:p>
                      <a:pPr algn="l">
                        <a:buNone/>
                      </a:pPr>
                      <a:r>
                        <a:rPr sz="1500" b="0">
                          <a:solidFill>
                            <a:srgbClr val="33424D"/>
                          </a:solidFill>
                          <a:latin typeface="Calibri"/>
                          <a:ea typeface="Calibri"/>
                          <a:cs typeface="Calibri"/>
                        </a:rPr>
                        <a:t>06-07  Manual baseline</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Manual questionnaire, 70 writing observations, and 70 manual survey responses included.</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92125">
                <a:tc>
                  <a:txBody>
                    <a:bodyPr lIns="0" tIns="0" rIns="0" bIns="0">
                      <a:noAutofit/>
                    </a:bodyPr>
                    <a:lstStyle/>
                    <a:p>
                      <a:pPr algn="l">
                        <a:buNone/>
                      </a:pPr>
                      <a:r>
                        <a:rPr sz="1500" b="0">
                          <a:solidFill>
                            <a:srgbClr val="33424D"/>
                          </a:solidFill>
                          <a:latin typeface="Calibri"/>
                          <a:ea typeface="Calibri"/>
                          <a:cs typeface="Calibri"/>
                        </a:rPr>
                        <a:t>08  Student participant counts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70 manual students and 70 different system students. System survey also includes two groups of five.</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92125">
                <a:tc>
                  <a:txBody>
                    <a:bodyPr lIns="0" tIns="0" rIns="0" bIns="0">
                      <a:noAutofit/>
                    </a:bodyPr>
                    <a:lstStyle/>
                    <a:p>
                      <a:pPr algn="l">
                        <a:buNone/>
                      </a:pPr>
                      <a:r>
                        <a:rPr sz="1500" b="0">
                          <a:solidFill>
                            <a:srgbClr val="33424D"/>
                          </a:solidFill>
                          <a:latin typeface="Calibri"/>
                          <a:ea typeface="Calibri"/>
                          <a:cs typeface="Calibri"/>
                        </a:rPr>
                        <a:t>09-10  Same students and survey sequence</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Not fulfilled as specified. Different groups require an independent-samples analysis.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92125">
                <a:tc>
                  <a:txBody>
                    <a:bodyPr lIns="0" tIns="0" rIns="0" bIns="0">
                      <a:noAutofit/>
                    </a:bodyPr>
                    <a:lstStyle/>
                    <a:p>
                      <a:pPr algn="l">
                        <a:buNone/>
                      </a:pPr>
                      <a:r>
                        <a:rPr sz="1500" b="0">
                          <a:solidFill>
                            <a:srgbClr val="33424D"/>
                          </a:solidFill>
                          <a:latin typeface="Calibri"/>
                          <a:ea typeface="Calibri"/>
                          <a:cs typeface="Calibri"/>
                        </a:rPr>
                        <a:t>16  Use case diagram</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Diagram included. Conditional PIN use still needs alignment with NFC-only Fast mode.</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92125">
                <a:tc>
                  <a:txBody>
                    <a:bodyPr lIns="0" tIns="0" rIns="0" bIns="0">
                      <a:noAutofit/>
                    </a:bodyPr>
                    <a:lstStyle/>
                    <a:p>
                      <a:pPr algn="l">
                        <a:buNone/>
                      </a:pPr>
                      <a:r>
                        <a:rPr sz="1500" b="0">
                          <a:solidFill>
                            <a:srgbClr val="33424D"/>
                          </a:solidFill>
                          <a:latin typeface="Calibri"/>
                          <a:ea typeface="Calibri"/>
                          <a:cs typeface="Calibri"/>
                        </a:rPr>
                        <a:t>17  T-test of manual and system means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Welch test compares overall survey scores. Equivalent complete-task times were unavailable.</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80043387-4507-458D-92C3-69F4B1B4FC92}"/>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B72CF3E9-0DAC-4DBA-81DE-B2D1533DC2C9}"/>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E9F0B3F7-0DA4-4736-8A30-C9DBFD167FEC}"/>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Pre-oral Recommendations on the System</a:t>
            </a:r>
          </a:p>
        </p:txBody>
      </p:sp>
      <p:sp>
        <p:nvSpPr>
          <p:cNvPr id="3" name="04 / 24">
            <a:extLst xmlns:a="http://schemas.openxmlformats.org/drawingml/2006/main">
              <a:ext uri="{FF2B5EF4-FFF2-40B4-BE49-F238E27FC236}">
                <a16:creationId xmlns:a16="http://schemas.microsoft.com/office/drawing/2014/main" id="{5DFDE2CD-D66F-4D29-A987-917314710E5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764064FC-1791-45A9-9CBB-B638D188876B}"/>
              </a:ext>
            </a:extLst>
          </p:cNvPr>
          <p:cNvGraphicFramePr/>
          <p:nvPr/>
        </p:nvGraphicFramePr>
        <p:xfrm>
          <a:off xmlns:a="http://schemas.openxmlformats.org/drawingml/2006/main" x="342900" y="1304925"/>
          <a:ext xmlns:a="http://schemas.openxmlformats.org/drawingml/2006/main" cx="8458200" cy="3028950"/>
        </p:xfrm>
        <a:graphic xmlns:a="http://schemas.openxmlformats.org/drawingml/2006/main">
          <a:graphicData uri="http://schemas.openxmlformats.org/drawingml/2006/table">
            <a:tbl>
              <a:tblPr/>
              <a:tblGrid>
                <a:gridCol w="2857500"/>
                <a:gridCol w="5667375"/>
              </a:tblGrid>
              <a:tr h="479425">
                <a:tc>
                  <a:txBody>
                    <a:bodyPr lIns="0" tIns="0" rIns="0" bIns="0">
                      <a:noAutofit/>
                    </a:bodyPr>
                    <a:lstStyle/>
                    <a:p>
                      <a:pPr algn="l">
                        <a:buNone/>
                      </a:pPr>
                      <a:r>
                        <a:rPr sz="1500" b="1">
                          <a:solidFill>
                            <a:srgbClr val="FFFFFF"/>
                          </a:solidFill>
                          <a:latin typeface="Calibri"/>
                          <a:ea typeface="Calibri"/>
                          <a:cs typeface="Calibri"/>
                        </a:rPr>
                        <a:t>Recommendation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500" b="1">
                          <a:solidFill>
                            <a:srgbClr val="FFFFFF"/>
                          </a:solidFill>
                          <a:latin typeface="Calibri"/>
                          <a:ea typeface="Calibri"/>
                          <a:cs typeface="Calibri"/>
                        </a:rPr>
                        <a:t>Current Implementation and Qualification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79425">
                <a:tc>
                  <a:txBody>
                    <a:bodyPr lIns="0" tIns="0" rIns="0" bIns="0">
                      <a:noAutofit/>
                    </a:bodyPr>
                    <a:lstStyle/>
                    <a:p>
                      <a:pPr algn="l">
                        <a:buNone/>
                      </a:pPr>
                      <a:r>
                        <a:rPr sz="1500" b="0">
                          <a:solidFill>
                            <a:srgbClr val="33424D"/>
                          </a:solidFill>
                          <a:latin typeface="Calibri"/>
                          <a:ea typeface="Calibri"/>
                          <a:cs typeface="Calibri"/>
                        </a:rPr>
                        <a:t>11  Personnel login timestamp</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Login audit timestamp recorded. A dedicated visible login-time field remains unverified.</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79425">
                <a:tc>
                  <a:txBody>
                    <a:bodyPr lIns="0" tIns="0" rIns="0" bIns="0">
                      <a:noAutofit/>
                    </a:bodyPr>
                    <a:lstStyle/>
                    <a:p>
                      <a:pPr algn="l">
                        <a:buNone/>
                      </a:pPr>
                      <a:r>
                        <a:rPr sz="1500" b="0">
                          <a:solidFill>
                            <a:srgbClr val="33424D"/>
                          </a:solidFill>
                          <a:latin typeface="Calibri"/>
                          <a:ea typeface="Calibri"/>
                          <a:cs typeface="Calibri"/>
                        </a:rPr>
                        <a:t>12  Student timestamps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Kiosk code displays scan time and applicable IN/OUT values.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79425">
                <a:tc>
                  <a:txBody>
                    <a:bodyPr lIns="0" tIns="0" rIns="0" bIns="0">
                      <a:noAutofit/>
                    </a:bodyPr>
                    <a:lstStyle/>
                    <a:p>
                      <a:pPr algn="l">
                        <a:buNone/>
                      </a:pPr>
                      <a:r>
                        <a:rPr sz="1500" b="0">
                          <a:solidFill>
                            <a:srgbClr val="33424D"/>
                          </a:solidFill>
                          <a:latin typeface="Calibri"/>
                          <a:ea typeface="Calibri"/>
                          <a:cs typeface="Calibri"/>
                        </a:rPr>
                        <a:t>13  Retain student result</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10-second result display. Persistent last-log display still needs confirmation.</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79425">
                <a:tc>
                  <a:txBody>
                    <a:bodyPr lIns="0" tIns="0" rIns="0" bIns="0">
                      <a:noAutofit/>
                    </a:bodyPr>
                    <a:lstStyle/>
                    <a:p>
                      <a:pPr algn="l">
                        <a:buNone/>
                      </a:pPr>
                      <a:r>
                        <a:rPr sz="1500" b="0">
                          <a:solidFill>
                            <a:srgbClr val="33424D"/>
                          </a:solidFill>
                          <a:latin typeface="Calibri"/>
                          <a:ea typeface="Calibri"/>
                          <a:cs typeface="Calibri"/>
                        </a:rPr>
                        <a:t>14  Administrator purge</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Authorized active cleanup removes eligible cloud-backed local logs.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79425">
                <a:tc>
                  <a:txBody>
                    <a:bodyPr lIns="0" tIns="0" rIns="0" bIns="0">
                      <a:noAutofit/>
                    </a:bodyPr>
                    <a:lstStyle/>
                    <a:p>
                      <a:pPr algn="l">
                        <a:buNone/>
                      </a:pPr>
                      <a:r>
                        <a:rPr sz="1500" b="0">
                          <a:solidFill>
                            <a:srgbClr val="33424D"/>
                          </a:solidFill>
                          <a:latin typeface="Calibri"/>
                          <a:ea typeface="Calibri"/>
                          <a:cs typeface="Calibri"/>
                        </a:rPr>
                        <a:t>15  Data destruction</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Partial: local cleanup retains cloud history. Full disposal remains unverified.</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Photo 18: full title terms added. Implementat">
            <a:extLst xmlns:a="http://schemas.openxmlformats.org/drawingml/2006/main">
              <a:ext uri="{FF2B5EF4-FFF2-40B4-BE49-F238E27FC236}">
                <a16:creationId xmlns:a16="http://schemas.microsoft.com/office/drawing/2014/main" id="{2058EB8D-3493-4120-B618-3A4F221BAF5A}"/>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Photo 18: full title terms added. Implementation status still needs dated UI evidence.</a:t>
            </a:r>
          </a:p>
        </p:txBody>
      </p:sp>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31243B3C-85A7-46E0-8DF1-1DEC96D3DEC6}"/>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013E55F7-5BBF-4BD8-90CF-389D134F4586}"/>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Problem and Research Objectives</a:t>
            </a:r>
          </a:p>
        </p:txBody>
      </p:sp>
      <p:sp>
        <p:nvSpPr>
          <p:cNvPr id="3" name="05 / 24">
            <a:extLst xmlns:a="http://schemas.openxmlformats.org/drawingml/2006/main">
              <a:ext uri="{FF2B5EF4-FFF2-40B4-BE49-F238E27FC236}">
                <a16:creationId xmlns:a16="http://schemas.microsoft.com/office/drawing/2014/main" id="{40A0D739-0A8F-4770-AB96-8388C2ACA543}"/>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40662072-0814-4EB8-9D41-ABB4041D0A05}"/>
              </a:ext>
            </a:extLst>
          </p:cNvPr>
          <p:cNvSpPr>
            <a:spLocks xmlns:a="http://schemas.openxmlformats.org/drawingml/2006/main" noGrp="1"/>
          </p:cNvSpPr>
          <p:nvPr/>
        </p:nvSpPr>
        <p:spPr>
          <a:xfrm xmlns:a="http://schemas.openxmlformats.org/drawingml/2006/main">
            <a:off x="34290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9C1E1480-0743-4AFC-B6BF-E465F4CA530B}"/>
              </a:ext>
            </a:extLst>
          </p:cNvPr>
          <p:cNvSpPr>
            <a:spLocks xmlns:a="http://schemas.openxmlformats.org/drawingml/2006/main" noGrp="1"/>
          </p:cNvSpPr>
          <p:nvPr/>
        </p:nvSpPr>
        <p:spPr>
          <a:xfrm xmlns:a="http://schemas.openxmlformats.org/drawingml/2006/main">
            <a:off x="34290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C8916D4A-92F5-43FC-9D05-0941DAF45852}"/>
              </a:ext>
            </a:extLst>
          </p:cNvPr>
          <p:cNvSpPr>
            <a:spLocks xmlns:a="http://schemas.openxmlformats.org/drawingml/2006/main" noGrp="1"/>
          </p:cNvSpPr>
          <p:nvPr/>
        </p:nvSpPr>
        <p:spPr>
          <a:xfrm xmlns:a="http://schemas.openxmlformats.org/drawingml/2006/main">
            <a:off x="34290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F7139FB9-B7C9-4AFD-BD47-64B9017F13E0}"/>
              </a:ext>
            </a:extLst>
          </p:cNvPr>
          <p:cNvSpPr>
            <a:spLocks xmlns:a="http://schemas.openxmlformats.org/drawingml/2006/main" noGrp="1"/>
          </p:cNvSpPr>
          <p:nvPr/>
        </p:nvSpPr>
        <p:spPr>
          <a:xfrm xmlns:a="http://schemas.openxmlformats.org/drawingml/2006/main">
            <a:off x="34290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2AE89B7E-15F2-4685-B48D-F295F590CF62}"/>
              </a:ext>
            </a:extLst>
          </p:cNvPr>
          <p:cNvSpPr>
            <a:spLocks xmlns:a="http://schemas.openxmlformats.org/drawingml/2006/main" noGrp="1"/>
          </p:cNvSpPr>
          <p:nvPr/>
        </p:nvSpPr>
        <p:spPr>
          <a:xfrm xmlns:a="http://schemas.openxmlformats.org/drawingml/2006/main">
            <a:off x="34290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97A085ED-900D-45DA-B4F4-35C156AF8CBC}"/>
              </a:ext>
            </a:extLst>
          </p:cNvPr>
          <p:cNvSpPr>
            <a:spLocks xmlns:a="http://schemas.openxmlformats.org/drawingml/2006/main" noGrp="1"/>
          </p:cNvSpPr>
          <p:nvPr/>
        </p:nvSpPr>
        <p:spPr>
          <a:xfrm xmlns:a="http://schemas.openxmlformats.org/drawingml/2006/main">
            <a:off x="34290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E558FE0A-8414-4935-A153-B1FF11C90BC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FED23B9A-BE9B-4E69-8FB0-24B18B022DAC}"/>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Scope and Configured Verification Modes</a:t>
            </a:r>
          </a:p>
        </p:txBody>
      </p:sp>
      <p:sp>
        <p:nvSpPr>
          <p:cNvPr id="3" name="06 / 24">
            <a:extLst xmlns:a="http://schemas.openxmlformats.org/drawingml/2006/main">
              <a:ext uri="{FF2B5EF4-FFF2-40B4-BE49-F238E27FC236}">
                <a16:creationId xmlns:a16="http://schemas.microsoft.com/office/drawing/2014/main" id="{F43D85F7-BF89-48FB-B98A-63665A8A8A0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E5F25488-4BBA-47C4-BD35-165381AB8BA9}"/>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0" tIns="0" rIns="0" bIns="0">
                      <a:noAutofit/>
                    </a:bodyPr>
                    <a:lstStyle/>
                    <a:p>
                      <a:pPr algn="l">
                        <a:buNone/>
                      </a:pPr>
                      <a:r>
                        <a:rPr sz="1725" b="1">
                          <a:solidFill>
                            <a:srgbClr val="FFFFFF"/>
                          </a:solidFill>
                          <a:latin typeface="Calibri"/>
                          <a:ea typeface="Calibri"/>
                          <a:cs typeface="Calibri"/>
                        </a:rPr>
                        <a:t>Mode</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725" b="1">
                          <a:solidFill>
                            <a:srgbClr val="FFFFFF"/>
                          </a:solidFill>
                          <a:latin typeface="Calibri"/>
                          <a:ea typeface="Calibri"/>
                          <a:cs typeface="Calibri"/>
                        </a:rPr>
                        <a:t>Required Credentials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725" b="1">
                          <a:solidFill>
                            <a:srgbClr val="FFFFFF"/>
                          </a:solidFill>
                          <a:latin typeface="Calibri"/>
                          <a:ea typeface="Calibri"/>
                          <a:cs typeface="Calibri"/>
                        </a:rPr>
                        <a:t>Selection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61963">
                <a:tc>
                  <a:txBody>
                    <a:bodyPr lIns="0" tIns="0" rIns="0" bIns="0">
                      <a:noAutofit/>
                    </a:bodyPr>
                    <a:lstStyle/>
                    <a:p>
                      <a:pPr algn="l">
                        <a:buNone/>
                      </a:pPr>
                      <a:r>
                        <a:rPr sz="1725" b="0">
                          <a:solidFill>
                            <a:srgbClr val="33424D"/>
                          </a:solidFill>
                          <a:latin typeface="Calibri"/>
                          <a:ea typeface="Calibri"/>
                          <a:cs typeface="Calibri"/>
                        </a:rPr>
                        <a:t>Fast</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NFC only</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Operator or event configuration</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61963">
                <a:tc>
                  <a:txBody>
                    <a:bodyPr lIns="0" tIns="0" rIns="0" bIns="0">
                      <a:noAutofit/>
                    </a:bodyPr>
                    <a:lstStyle/>
                    <a:p>
                      <a:pPr algn="l">
                        <a:buNone/>
                      </a:pPr>
                      <a:r>
                        <a:rPr sz="1725" b="0">
                          <a:solidFill>
                            <a:srgbClr val="33424D"/>
                          </a:solidFill>
                          <a:latin typeface="Calibri"/>
                          <a:ea typeface="Calibri"/>
                          <a:cs typeface="Calibri"/>
                        </a:rPr>
                        <a:t>Standard</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NFC and PIN</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Operator or event configuration</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61963">
                <a:tc>
                  <a:txBody>
                    <a:bodyPr lIns="0" tIns="0" rIns="0" bIns="0">
                      <a:noAutofit/>
                    </a:bodyPr>
                    <a:lstStyle/>
                    <a:p>
                      <a:pPr algn="l">
                        <a:buNone/>
                      </a:pPr>
                      <a:r>
                        <a:rPr sz="1725" b="0">
                          <a:solidFill>
                            <a:srgbClr val="33424D"/>
                          </a:solidFill>
                          <a:latin typeface="Calibri"/>
                          <a:ea typeface="Calibri"/>
                          <a:cs typeface="Calibri"/>
                        </a:rPr>
                        <a:t>High-Security</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NFC, PIN, and QR validation</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Operator or event configuration</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7858561E-DF66-49D8-B015-D2A89371BD75}"/>
              </a:ext>
            </a:extLst>
          </p:cNvPr>
          <p:cNvSpPr>
            <a:spLocks xmlns:a="http://schemas.openxmlformats.org/drawingml/2006/main" noGrp="1"/>
          </p:cNvSpPr>
          <p:nvPr/>
        </p:nvSpPr>
        <p:spPr>
          <a:xfrm xmlns:a="http://schemas.openxmlformats.org/drawingml/2006/main">
            <a:off x="342900" y="33909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D61B2159-5055-40B7-87A3-55285A257C69}"/>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993D4918-AA22-4F44-BDD0-ECAD16A15604}"/>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6D64AD16-331A-4175-B436-429BAF7506A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Research Design and Respondents</a:t>
            </a:r>
          </a:p>
        </p:txBody>
      </p:sp>
      <p:sp>
        <p:nvSpPr>
          <p:cNvPr id="3" name="07 / 24">
            <a:extLst xmlns:a="http://schemas.openxmlformats.org/drawingml/2006/main">
              <a:ext uri="{FF2B5EF4-FFF2-40B4-BE49-F238E27FC236}">
                <a16:creationId xmlns:a16="http://schemas.microsoft.com/office/drawing/2014/main" id="{3C2BD2E2-C4CF-40F8-8238-CCF882CE4B52}"/>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E80520FF-539A-4484-9A20-DCE95FA18CDE}"/>
              </a:ext>
            </a:extLst>
          </p:cNvPr>
          <p:cNvSpPr>
            <a:spLocks xmlns:a="http://schemas.openxmlformats.org/drawingml/2006/main" noGrp="1"/>
          </p:cNvSpPr>
          <p:nvPr/>
        </p:nvSpPr>
        <p:spPr>
          <a:xfrm xmlns:a="http://schemas.openxmlformats.org/drawingml/2006/main">
            <a:off x="34290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DF8B8695-BF60-4B4A-8957-AF8658E6DC40}"/>
              </a:ext>
            </a:extLst>
          </p:cNvPr>
          <p:cNvSpPr>
            <a:spLocks xmlns:a="http://schemas.openxmlformats.org/drawingml/2006/main" noGrp="1"/>
          </p:cNvSpPr>
          <p:nvPr/>
        </p:nvSpPr>
        <p:spPr>
          <a:xfrm xmlns:a="http://schemas.openxmlformats.org/drawingml/2006/main">
            <a:off x="34290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9A153CF0-B26E-427D-AC6B-E1BD4CCCEF1A}"/>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0" tIns="0" rIns="0" bIns="0">
                      <a:noAutofit/>
                    </a:bodyPr>
                    <a:lstStyle/>
                    <a:p>
                      <a:pPr algn="l">
                        <a:buNone/>
                      </a:pPr>
                      <a:r>
                        <a:rPr sz="1500" b="1">
                          <a:solidFill>
                            <a:srgbClr val="FFFFFF"/>
                          </a:solidFill>
                          <a:latin typeface="Calibri"/>
                          <a:ea typeface="Calibri"/>
                          <a:cs typeface="Calibri"/>
                        </a:rPr>
                        <a:t>Survey Group</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500" b="1">
                          <a:solidFill>
                            <a:srgbClr val="FFFFFF"/>
                          </a:solidFill>
                          <a:latin typeface="Calibri"/>
                          <a:ea typeface="Calibri"/>
                          <a:cs typeface="Calibri"/>
                        </a:rPr>
                        <a:t>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500" b="1">
                          <a:solidFill>
                            <a:srgbClr val="FFFFFF"/>
                          </a:solidFill>
                          <a:latin typeface="Calibri"/>
                          <a:ea typeface="Calibri"/>
                          <a:cs typeface="Calibri"/>
                        </a:rPr>
                        <a:t>Evaluation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348615">
                <a:tc>
                  <a:txBody>
                    <a:bodyPr lIns="0" tIns="0" rIns="0" bIns="0">
                      <a:noAutofit/>
                    </a:bodyPr>
                    <a:lstStyle/>
                    <a:p>
                      <a:pPr algn="l">
                        <a:buNone/>
                      </a:pPr>
                      <a:r>
                        <a:rPr sz="1500" b="0">
                          <a:solidFill>
                            <a:srgbClr val="33424D"/>
                          </a:solidFill>
                          <a:latin typeface="Calibri"/>
                          <a:ea typeface="Calibri"/>
                          <a:cs typeface="Calibri"/>
                        </a:rPr>
                        <a:t>Students, proposed system</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70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Five common quality categories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348615">
                <a:tc>
                  <a:txBody>
                    <a:bodyPr lIns="0" tIns="0" rIns="0" bIns="0">
                      <a:noAutofit/>
                    </a:bodyPr>
                    <a:lstStyle/>
                    <a:p>
                      <a:pPr algn="l">
                        <a:buNone/>
                      </a:pPr>
                      <a:r>
                        <a:rPr sz="1500" b="0">
                          <a:solidFill>
                            <a:srgbClr val="33424D"/>
                          </a:solidFill>
                          <a:latin typeface="Calibri"/>
                          <a:ea typeface="Calibri"/>
                          <a:cs typeface="Calibri"/>
                        </a:rPr>
                        <a:t>Students, manual process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70</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Five quality categories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348615">
                <a:tc>
                  <a:txBody>
                    <a:bodyPr lIns="0" tIns="0" rIns="0" bIns="0">
                      <a:noAutofit/>
                    </a:bodyPr>
                    <a:lstStyle/>
                    <a:p>
                      <a:pPr algn="l">
                        <a:buNone/>
                      </a:pPr>
                      <a:r>
                        <a:rPr sz="1500" b="0">
                          <a:solidFill>
                            <a:srgbClr val="33424D"/>
                          </a:solidFill>
                          <a:latin typeface="Calibri"/>
                          <a:ea typeface="Calibri"/>
                          <a:cs typeface="Calibri"/>
                        </a:rPr>
                        <a:t>Security personnel</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5</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Five quality categories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348615">
                <a:tc>
                  <a:txBody>
                    <a:bodyPr lIns="0" tIns="0" rIns="0" bIns="0">
                      <a:noAutofit/>
                    </a:bodyPr>
                    <a:lstStyle/>
                    <a:p>
                      <a:pPr algn="l">
                        <a:buNone/>
                      </a:pPr>
                      <a:r>
                        <a:rPr sz="1500" b="0">
                          <a:solidFill>
                            <a:srgbClr val="33424D"/>
                          </a:solidFill>
                          <a:latin typeface="Calibri"/>
                          <a:ea typeface="Calibri"/>
                          <a:cs typeface="Calibri"/>
                        </a:rPr>
                        <a:t>Faculty, organizer, administrators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5</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Eight quality categories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9F0A9381-749D-4904-8129-1FFFFB5EFD4C}"/>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C6E18E37-4980-4484-92ED-813A9675C928}"/>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DDD9DBB2-37C5-4F45-8D56-4FD7387DC6AF}"/>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Controlled Observation Procedure</a:t>
            </a:r>
          </a:p>
        </p:txBody>
      </p:sp>
      <p:sp>
        <p:nvSpPr>
          <p:cNvPr id="3" name="08 / 24">
            <a:extLst xmlns:a="http://schemas.openxmlformats.org/drawingml/2006/main">
              <a:ext uri="{FF2B5EF4-FFF2-40B4-BE49-F238E27FC236}">
                <a16:creationId xmlns:a16="http://schemas.microsoft.com/office/drawing/2014/main" id="{3E999917-5BCC-4535-B3D9-E38272412216}"/>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0152555A-06FF-47D3-B80D-15030A8F8087}"/>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0" tIns="0" rIns="0" bIns="0">
                      <a:noAutofit/>
                    </a:bodyPr>
                    <a:lstStyle/>
                    <a:p>
                      <a:pPr algn="l">
                        <a:buNone/>
                      </a:pPr>
                      <a:r>
                        <a:rPr sz="1725" b="1">
                          <a:solidFill>
                            <a:srgbClr val="FFFFFF"/>
                          </a:solidFill>
                          <a:latin typeface="Calibri"/>
                          <a:ea typeface="Calibri"/>
                          <a:cs typeface="Calibri"/>
                        </a:rPr>
                        <a:t>Session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725" b="1">
                          <a:solidFill>
                            <a:srgbClr val="FFFFFF"/>
                          </a:solidFill>
                          <a:latin typeface="Calibri"/>
                          <a:ea typeface="Calibri"/>
                          <a:cs typeface="Calibri"/>
                        </a:rPr>
                        <a:t>Participants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725" b="1">
                          <a:solidFill>
                            <a:srgbClr val="FFFFFF"/>
                          </a:solidFill>
                          <a:latin typeface="Calibri"/>
                          <a:ea typeface="Calibri"/>
                          <a:cs typeface="Calibri"/>
                        </a:rPr>
                        <a:t>Entry Rounds per Mode</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76250">
                <a:tc>
                  <a:txBody>
                    <a:bodyPr lIns="0" tIns="0" rIns="0" bIns="0">
                      <a:noAutofit/>
                    </a:bodyPr>
                    <a:lstStyle/>
                    <a:p>
                      <a:pPr algn="l">
                        <a:buNone/>
                      </a:pPr>
                      <a:r>
                        <a:rPr sz="1725" b="0">
                          <a:solidFill>
                            <a:srgbClr val="33424D"/>
                          </a:solidFill>
                          <a:latin typeface="Calibri"/>
                          <a:ea typeface="Calibri"/>
                          <a:cs typeface="Calibri"/>
                        </a:rPr>
                        <a:t>August 12, 2026</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40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20 entries, reset exits, then 20 entries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76250">
                <a:tc>
                  <a:txBody>
                    <a:bodyPr lIns="0" tIns="0" rIns="0" bIns="0">
                      <a:noAutofit/>
                    </a:bodyPr>
                    <a:lstStyle/>
                    <a:p>
                      <a:pPr algn="l">
                        <a:buNone/>
                      </a:pPr>
                      <a:r>
                        <a:rPr sz="1725" b="0">
                          <a:solidFill>
                            <a:srgbClr val="33424D"/>
                          </a:solidFill>
                          <a:latin typeface="Calibri"/>
                          <a:ea typeface="Calibri"/>
                          <a:cs typeface="Calibri"/>
                        </a:rPr>
                        <a:t>August 13, 2026</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30</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725" b="0">
                          <a:solidFill>
                            <a:srgbClr val="33424D"/>
                          </a:solidFill>
                          <a:latin typeface="Calibri"/>
                          <a:ea typeface="Calibri"/>
                          <a:cs typeface="Calibri"/>
                        </a:rPr>
                        <a:t>20 entries, reset exits, then 10 entries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BF75016E-6337-48DB-846F-B55B19BB9570}"/>
              </a:ext>
            </a:extLst>
          </p:cNvPr>
          <p:cNvSpPr>
            <a:spLocks xmlns:a="http://schemas.openxmlformats.org/drawingml/2006/main" noGrp="1"/>
          </p:cNvSpPr>
          <p:nvPr/>
        </p:nvSpPr>
        <p:spPr>
          <a:xfrm xmlns:a="http://schemas.openxmlformats.org/drawingml/2006/main">
            <a:off x="342900" y="30956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EE3CE9A0-0EB9-40E4-965F-509A02049891}"/>
              </a:ext>
            </a:extLst>
          </p:cNvPr>
          <p:cNvSpPr>
            <a:spLocks xmlns:a="http://schemas.openxmlformats.org/drawingml/2006/main" noGrp="1"/>
          </p:cNvSpPr>
          <p:nvPr/>
        </p:nvSpPr>
        <p:spPr>
          <a:xfrm xmlns:a="http://schemas.openxmlformats.org/drawingml/2006/main">
            <a:off x="342900" y="3476625"/>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A387A964-7092-4ED4-8BE3-806A4C9FDAF2}"/>
              </a:ext>
            </a:extLst>
          </p:cNvPr>
          <p:cNvSpPr>
            <a:spLocks xmlns:a="http://schemas.openxmlformats.org/drawingml/2006/main" noGrp="1"/>
          </p:cNvSpPr>
          <p:nvPr/>
        </p:nvSpPr>
        <p:spPr>
          <a:xfrm xmlns:a="http://schemas.openxmlformats.org/drawingml/2006/main">
            <a:off x="4762500" y="3095625"/>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8E262061-4AB9-4FF1-8F03-E6468C77E522}"/>
              </a:ext>
            </a:extLst>
          </p:cNvPr>
          <p:cNvSpPr>
            <a:spLocks xmlns:a="http://schemas.openxmlformats.org/drawingml/2006/main" noGrp="1"/>
          </p:cNvSpPr>
          <p:nvPr/>
        </p:nvSpPr>
        <p:spPr>
          <a:xfrm xmlns:a="http://schemas.openxmlformats.org/drawingml/2006/main">
            <a:off x="4762500" y="3476625"/>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DCC6148F-3119-4609-8270-9A20ACF96F8F}"/>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03F69B22-2323-48DB-A137-77B8228FE89A}"/>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System Architecture and Evaluation Scope</a:t>
            </a:r>
          </a:p>
        </p:txBody>
      </p:sp>
      <p:sp>
        <p:nvSpPr>
          <p:cNvPr id="3" name="09 / 24">
            <a:extLst xmlns:a="http://schemas.openxmlformats.org/drawingml/2006/main">
              <a:ext uri="{FF2B5EF4-FFF2-40B4-BE49-F238E27FC236}">
                <a16:creationId xmlns:a16="http://schemas.microsoft.com/office/drawing/2014/main" id="{3A8BD093-898A-417E-90E4-30C7FAF5B24F}"/>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46D8FE3A-E9D7-49EA-8D1F-DF358281C972}"/>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0" tIns="0" rIns="0" bIns="0">
                      <a:noAutofit/>
                    </a:bodyPr>
                    <a:lstStyle/>
                    <a:p>
                      <a:pPr algn="l">
                        <a:buNone/>
                      </a:pPr>
                      <a:r>
                        <a:rPr sz="1650" b="1">
                          <a:solidFill>
                            <a:srgbClr val="FFFFFF"/>
                          </a:solidFill>
                          <a:latin typeface="Calibri"/>
                          <a:ea typeface="Calibri"/>
                          <a:cs typeface="Calibri"/>
                        </a:rPr>
                        <a:t>Layer</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650" b="1">
                          <a:solidFill>
                            <a:srgbClr val="FFFFFF"/>
                          </a:solidFill>
                          <a:latin typeface="Calibri"/>
                          <a:ea typeface="Calibri"/>
                          <a:cs typeface="Calibri"/>
                        </a:rPr>
                        <a:t>Role</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28625">
                <a:tc>
                  <a:txBody>
                    <a:bodyPr lIns="0" tIns="0" rIns="0" bIns="0">
                      <a:noAutofit/>
                    </a:bodyPr>
                    <a:lstStyle/>
                    <a:p>
                      <a:pPr algn="l">
                        <a:buNone/>
                      </a:pPr>
                      <a:r>
                        <a:rPr sz="1650" b="0">
                          <a:solidFill>
                            <a:srgbClr val="33424D"/>
                          </a:solidFill>
                          <a:latin typeface="Calibri"/>
                          <a:ea typeface="Calibri"/>
                          <a:cs typeface="Calibri"/>
                        </a:rPr>
                        <a:t>ESP32 and PN532</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650" b="0">
                          <a:solidFill>
                            <a:srgbClr val="33424D"/>
                          </a:solidFill>
                          <a:latin typeface="Calibri"/>
                          <a:ea typeface="Calibri"/>
                          <a:cs typeface="Calibri"/>
                        </a:rPr>
                        <a:t>Read NFC UID and forward it through USB serial.</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28625">
                <a:tc>
                  <a:txBody>
                    <a:bodyPr lIns="0" tIns="0" rIns="0" bIns="0">
                      <a:noAutofit/>
                    </a:bodyPr>
                    <a:lstStyle/>
                    <a:p>
                      <a:pPr algn="l">
                        <a:buNone/>
                      </a:pPr>
                      <a:r>
                        <a:rPr sz="1650" b="0">
                          <a:solidFill>
                            <a:srgbClr val="33424D"/>
                          </a:solidFill>
                          <a:latin typeface="Calibri"/>
                          <a:ea typeface="Calibri"/>
                          <a:cs typeface="Calibri"/>
                        </a:rPr>
                        <a:t>WinUI 3 application</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650" b="0">
                          <a:solidFill>
                            <a:srgbClr val="33424D"/>
                          </a:solidFill>
                          <a:latin typeface="Calibri"/>
                          <a:ea typeface="Calibri"/>
                          <a:cs typeface="Calibri"/>
                        </a:rPr>
                        <a:t>Validate credentials, apply rules, and timestamp records.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28625">
                <a:tc>
                  <a:txBody>
                    <a:bodyPr lIns="0" tIns="0" rIns="0" bIns="0">
                      <a:noAutofit/>
                    </a:bodyPr>
                    <a:lstStyle/>
                    <a:p>
                      <a:pPr algn="l">
                        <a:buNone/>
                      </a:pPr>
                      <a:r>
                        <a:rPr sz="1650" b="0">
                          <a:solidFill>
                            <a:srgbClr val="33424D"/>
                          </a:solidFill>
                          <a:latin typeface="Calibri"/>
                          <a:ea typeface="Calibri"/>
                          <a:cs typeface="Calibri"/>
                        </a:rPr>
                        <a:t>Local MySQL</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650" b="0">
                          <a:solidFill>
                            <a:srgbClr val="33424D"/>
                          </a:solidFill>
                          <a:latin typeface="Calibri"/>
                          <a:ea typeface="Calibri"/>
                          <a:cs typeface="Calibri"/>
                        </a:rPr>
                        <a:t>Store student, event, attendance, and security records.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28625">
                <a:tc>
                  <a:txBody>
                    <a:bodyPr lIns="0" tIns="0" rIns="0" bIns="0">
                      <a:noAutofit/>
                    </a:bodyPr>
                    <a:lstStyle/>
                    <a:p>
                      <a:pPr algn="l">
                        <a:buNone/>
                      </a:pPr>
                      <a:r>
                        <a:rPr sz="1650" b="0">
                          <a:solidFill>
                            <a:srgbClr val="33424D"/>
                          </a:solidFill>
                          <a:latin typeface="Calibri"/>
                          <a:ea typeface="Calibri"/>
                          <a:cs typeface="Calibri"/>
                        </a:rPr>
                        <a:t>Firebase Firestore</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650" b="0">
                          <a:solidFill>
                            <a:srgbClr val="33424D"/>
                          </a:solidFill>
                          <a:latin typeface="Calibri"/>
                          <a:ea typeface="Calibri"/>
                          <a:cs typeface="Calibri"/>
                        </a:rPr>
                        <a:t>Support cloud synchronization and backup.</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29DA03FA-B23F-4220-92B6-4018DECD9848}"/>
              </a:ext>
            </a:extLst>
          </p:cNvPr>
          <p:cNvSpPr>
            <a:spLocks xmlns:a="http://schemas.openxmlformats.org/drawingml/2006/main" noGrp="1"/>
          </p:cNvSpPr>
          <p:nvPr/>
        </p:nvSpPr>
        <p:spPr>
          <a:xfrm xmlns:a="http://schemas.openxmlformats.org/drawingml/2006/main">
            <a:off x="34290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FB913CC2-3C27-41D3-88CC-FC62BB4186A7}"/>
              </a:ext>
            </a:extLst>
          </p:cNvPr>
          <p:cNvSpPr>
            <a:spLocks xmlns:a="http://schemas.openxmlformats.org/drawingml/2006/main" noGrp="1"/>
          </p:cNvSpPr>
          <p:nvPr/>
        </p:nvSpPr>
        <p:spPr>
          <a:xfrm xmlns:a="http://schemas.openxmlformats.org/drawingml/2006/main">
            <a:off x="34290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8" name="Google Shape;318;p13">
            <a:extLst xmlns:a="http://schemas.openxmlformats.org/drawingml/2006/main">
              <a:ext uri="{FF2B5EF4-FFF2-40B4-BE49-F238E27FC236}">
                <a16:creationId xmlns:a16="http://schemas.microsoft.com/office/drawing/2014/main" id="{ACCD65B3-3C0D-477E-ADFC-1E45EE95793D}"/>
              </a:ext>
            </a:extLst>
          </p:cNvPr>
          <p:cNvPicPr>
            <a:picLocks xmlns:a="http://schemas.openxmlformats.org/drawingml/2006/main" noChangeAspect="1"/>
          </p:cNvPicPr>
          <p:nvPr/>
        </p:nvPicPr>
        <p:blipFill>
          <a:blip xmlns:r="http://schemas.openxmlformats.org/officeDocument/2006/relationships" xmlns:a="http://schemas.openxmlformats.org/drawingml/2006/main" r:embed="Rb01a97d6db054d3c">
            <a:alphaModFix/>
          </a:blip>
          <a:stretch xmlns:a="http://schemas.openxmlformats.org/drawingml/2006/main">
            <a:fillRect l="0" t="0" r="0" b="0"/>
          </a:stretch>
        </p:blipFill>
        <p:spPr>
          <a:xfrm xmlns:a="http://schemas.openxmlformats.org/drawingml/2006/main">
            <a:off x="671094" y="1552575"/>
            <a:ext cx="2010612"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7EA4B439-F858-40FD-8690-8CC9E457F24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33d4389d2694644">
            <a:alphaModFix/>
          </a:blip>
          <a:srcRect xmlns:a="http://schemas.openxmlformats.org/drawingml/2006/main" l="0" t="30" r="0" b="30"/>
          <a:stretch xmlns:a="http://schemas.openxmlformats.org/drawingml/2006/main"/>
        </p:blipFill>
        <p:spPr>
          <a:xfrm xmlns:a="http://schemas.openxmlformats.org/drawingml/2006/main">
            <a:off x="3509544" y="1552575"/>
            <a:ext cx="2010613"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7C75311F-57B0-4689-BF3F-33B21AEA991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90dd407715b4ef6">
            <a:alphaModFix/>
          </a:blip>
          <a:srcRect xmlns:a="http://schemas.openxmlformats.org/drawingml/2006/main" l="0" t="239" r="0" b="239"/>
          <a:stretch xmlns:a="http://schemas.openxmlformats.org/drawingml/2006/main"/>
        </p:blipFill>
        <p:spPr>
          <a:xfrm xmlns:a="http://schemas.openxmlformats.org/drawingml/2006/main">
            <a:off x="6134902" y="1552575"/>
            <a:ext cx="2436797"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7022A146-A9ED-4D17-90F7-83896EFA5A3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90dd407715b4ef6">
            <a:alphaModFix/>
          </a:blip>
          <a:srcRect xmlns:a="http://schemas.openxmlformats.org/drawingml/2006/main" l="0" t="239" r="0" b="239"/>
          <a:stretch xmlns:a="http://schemas.openxmlformats.org/drawingml/2006/main"/>
        </p:blipFill>
        <p:spPr>
          <a:xfrm xmlns:a="http://schemas.openxmlformats.org/drawingml/2006/main">
            <a:off x="458000" y="3143250"/>
            <a:ext cx="243680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311A1DC8-432C-47F3-903C-BDB787EA0527}"/>
              </a:ext>
            </a:extLst>
          </p:cNvPr>
          <p:cNvPicPr>
            <a:picLocks xmlns:a="http://schemas.openxmlformats.org/drawingml/2006/main" noChangeAspect="1"/>
          </p:cNvPicPr>
          <p:nvPr/>
        </p:nvPicPr>
        <p:blipFill>
          <a:blip xmlns:r="http://schemas.openxmlformats.org/officeDocument/2006/relationships" xmlns:a="http://schemas.openxmlformats.org/drawingml/2006/main" r:embed="R89ee23a3e6f8410a">
            <a:alphaModFix/>
          </a:blip>
          <a:stretch xmlns:a="http://schemas.openxmlformats.org/drawingml/2006/main">
            <a:fillRect l="0" t="0" r="0" b="0"/>
          </a:stretch>
        </p:blipFill>
        <p:spPr>
          <a:xfrm xmlns:a="http://schemas.openxmlformats.org/drawingml/2006/main">
            <a:off x="3370139" y="3143250"/>
            <a:ext cx="2289423" cy="1238250"/>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6ECA7B5A-16C0-49FF-88FA-B91E7637602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70610556da046e7">
            <a:alphaModFix/>
          </a:blip>
          <a:srcRect xmlns:a="http://schemas.openxmlformats.org/drawingml/2006/main" l="0" t="1923" r="0" b="1923"/>
          <a:stretch xmlns:a="http://schemas.openxmlformats.org/drawingml/2006/main"/>
        </p:blipFill>
        <p:spPr>
          <a:xfrm xmlns:a="http://schemas.openxmlformats.org/drawingml/2006/main">
            <a:off x="6208581" y="3143250"/>
            <a:ext cx="2289439" cy="1238250"/>
          </a:xfrm>
          <a:prstGeom xmlns:a="http://schemas.openxmlformats.org/drawingml/2006/main" prst="rect">
            <a:avLst/>
          </a:prstGeom>
          <a:ln xmlns:a="http://schemas.openxmlformats.org/drawingml/2006/main">
            <a:noFill/>
          </a:ln>
        </p:spPr>
      </p:pic>
      <p:sp>
        <p:nvSpPr>
          <p:cNvPr id="324" name="II. METHODOLOGY  SYSTEM IMPLEMENTATION">
            <a:extLst xmlns:a="http://schemas.openxmlformats.org/drawingml/2006/main">
              <a:ext uri="{FF2B5EF4-FFF2-40B4-BE49-F238E27FC236}">
                <a16:creationId xmlns:a16="http://schemas.microsoft.com/office/drawing/2014/main" id="{D1F6BB71-98BD-4C35-87A7-635A1319C5FA}"/>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defRPr sz="975" b="1">
                <a:solidFill>
                  <a:srgbClr val="007F86"/>
                </a:solidFill>
                <a:latin typeface="Calibri"/>
                <a:ea typeface="Calibri"/>
                <a:cs typeface="Calibri"/>
              </a:defRPr>
            </a:pPr>
            <a:r>
              <a:rPr sz="975" b="1">
                <a:solidFill>
                  <a:srgbClr val="007F86"/>
                </a:solidFill>
                <a:latin typeface="Calibri"/>
                <a:ea typeface="Calibri"/>
                <a:cs typeface="Calibri"/>
              </a:rPr>
              <a:t>II. METHODOLOGY  SYSTEM IMPLEMENTATION</a:t>
            </a:r>
          </a:p>
        </p:txBody>
      </p:sp>
      <p:sp>
        <p:nvSpPr>
          <p:cNvPr id="325" name="Prototype Interfaces">
            <a:extLst xmlns:a="http://schemas.openxmlformats.org/drawingml/2006/main">
              <a:ext uri="{FF2B5EF4-FFF2-40B4-BE49-F238E27FC236}">
                <a16:creationId xmlns:a16="http://schemas.microsoft.com/office/drawing/2014/main" id="{0D81956E-C647-41CD-A6DD-5AEC7D3459E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defRPr sz="2550" b="1">
                <a:solidFill>
                  <a:srgbClr val="142C45"/>
                </a:solidFill>
                <a:latin typeface="Calibri"/>
                <a:ea typeface="Calibri"/>
                <a:cs typeface="Calibri"/>
              </a:defRPr>
            </a:pPr>
            <a:r>
              <a:rPr sz="2550" b="1">
                <a:solidFill>
                  <a:srgbClr val="142C45"/>
                </a:solidFill>
                <a:latin typeface="Calibri"/>
                <a:ea typeface="Calibri"/>
                <a:cs typeface="Calibri"/>
              </a:rPr>
              <a:t>Prototype Interfaces</a:t>
            </a:r>
          </a:p>
        </p:txBody>
      </p:sp>
      <p:sp>
        <p:nvSpPr>
          <p:cNvPr id="326" name="Authentication">
            <a:extLst xmlns:a="http://schemas.openxmlformats.org/drawingml/2006/main">
              <a:ext uri="{FF2B5EF4-FFF2-40B4-BE49-F238E27FC236}">
                <a16:creationId xmlns:a16="http://schemas.microsoft.com/office/drawing/2014/main" id="{256C576E-FD29-4DA7-BDE0-52153DF8DB91}"/>
              </a:ext>
            </a:extLst>
          </p:cNvPr>
          <p:cNvSpPr>
            <a:spLocks xmlns:a="http://schemas.openxmlformats.org/drawingml/2006/main" noGrp="1"/>
          </p:cNvSpPr>
          <p:nvPr/>
        </p:nvSpPr>
        <p:spPr>
          <a:xfrm xmlns:a="http://schemas.openxmlformats.org/drawingml/2006/main">
            <a:off x="34290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Authentication</a:t>
            </a:r>
          </a:p>
        </p:txBody>
      </p:sp>
      <p:sp>
        <p:nvSpPr>
          <p:cNvPr id="327" name="Admin Dashboard">
            <a:extLst xmlns:a="http://schemas.openxmlformats.org/drawingml/2006/main">
              <a:ext uri="{FF2B5EF4-FFF2-40B4-BE49-F238E27FC236}">
                <a16:creationId xmlns:a16="http://schemas.microsoft.com/office/drawing/2014/main" id="{7C54D12D-94BF-408B-AE12-FE9EC9DCC394}"/>
              </a:ext>
            </a:extLst>
          </p:cNvPr>
          <p:cNvSpPr>
            <a:spLocks xmlns:a="http://schemas.openxmlformats.org/drawingml/2006/main" noGrp="1"/>
          </p:cNvSpPr>
          <p:nvPr/>
        </p:nvSpPr>
        <p:spPr>
          <a:xfrm xmlns:a="http://schemas.openxmlformats.org/drawingml/2006/main">
            <a:off x="318135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Admin Dashboard</a:t>
            </a:r>
          </a:p>
        </p:txBody>
      </p:sp>
      <p:sp>
        <p:nvSpPr>
          <p:cNvPr id="328" name="Security Dashboard">
            <a:extLst xmlns:a="http://schemas.openxmlformats.org/drawingml/2006/main">
              <a:ext uri="{FF2B5EF4-FFF2-40B4-BE49-F238E27FC236}">
                <a16:creationId xmlns:a16="http://schemas.microsoft.com/office/drawing/2014/main" id="{BA340977-3BB2-491E-A9F5-23CFD02D0BC6}"/>
              </a:ext>
            </a:extLst>
          </p:cNvPr>
          <p:cNvSpPr>
            <a:spLocks xmlns:a="http://schemas.openxmlformats.org/drawingml/2006/main" noGrp="1"/>
          </p:cNvSpPr>
          <p:nvPr/>
        </p:nvSpPr>
        <p:spPr>
          <a:xfrm xmlns:a="http://schemas.openxmlformats.org/drawingml/2006/main">
            <a:off x="6019800" y="12858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Security Dashboard</a:t>
            </a:r>
          </a:p>
        </p:txBody>
      </p:sp>
      <p:sp>
        <p:nvSpPr>
          <p:cNvPr id="329" name="Event Organizer">
            <a:extLst xmlns:a="http://schemas.openxmlformats.org/drawingml/2006/main">
              <a:ext uri="{FF2B5EF4-FFF2-40B4-BE49-F238E27FC236}">
                <a16:creationId xmlns:a16="http://schemas.microsoft.com/office/drawing/2014/main" id="{FA48A51A-1558-4F18-A97D-34E79A114018}"/>
              </a:ext>
            </a:extLst>
          </p:cNvPr>
          <p:cNvSpPr>
            <a:spLocks xmlns:a="http://schemas.openxmlformats.org/drawingml/2006/main" noGrp="1"/>
          </p:cNvSpPr>
          <p:nvPr/>
        </p:nvSpPr>
        <p:spPr>
          <a:xfrm xmlns:a="http://schemas.openxmlformats.org/drawingml/2006/main">
            <a:off x="34290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Event Organizer</a:t>
            </a:r>
          </a:p>
        </p:txBody>
      </p:sp>
      <p:sp>
        <p:nvSpPr>
          <p:cNvPr id="330" name="Active Monitoring">
            <a:extLst xmlns:a="http://schemas.openxmlformats.org/drawingml/2006/main">
              <a:ext uri="{FF2B5EF4-FFF2-40B4-BE49-F238E27FC236}">
                <a16:creationId xmlns:a16="http://schemas.microsoft.com/office/drawing/2014/main" id="{B376D915-900A-4D5F-BFF3-1E60CE013D28}"/>
              </a:ext>
            </a:extLst>
          </p:cNvPr>
          <p:cNvSpPr>
            <a:spLocks xmlns:a="http://schemas.openxmlformats.org/drawingml/2006/main" noGrp="1"/>
          </p:cNvSpPr>
          <p:nvPr/>
        </p:nvSpPr>
        <p:spPr>
          <a:xfrm xmlns:a="http://schemas.openxmlformats.org/drawingml/2006/main">
            <a:off x="318135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Active Monitoring</a:t>
            </a:r>
          </a:p>
        </p:txBody>
      </p:sp>
      <p:sp>
        <p:nvSpPr>
          <p:cNvPr id="331" name="Student Kiosk">
            <a:extLst xmlns:a="http://schemas.openxmlformats.org/drawingml/2006/main">
              <a:ext uri="{FF2B5EF4-FFF2-40B4-BE49-F238E27FC236}">
                <a16:creationId xmlns:a16="http://schemas.microsoft.com/office/drawing/2014/main" id="{13BB0484-4306-4287-AD00-92305FBA256D}"/>
              </a:ext>
            </a:extLst>
          </p:cNvPr>
          <p:cNvSpPr>
            <a:spLocks xmlns:a="http://schemas.openxmlformats.org/drawingml/2006/main" noGrp="1"/>
          </p:cNvSpPr>
          <p:nvPr/>
        </p:nvSpPr>
        <p:spPr>
          <a:xfrm xmlns:a="http://schemas.openxmlformats.org/drawingml/2006/main">
            <a:off x="6019800" y="28765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42C45"/>
                </a:solidFill>
                <a:latin typeface="Calibri"/>
                <a:ea typeface="Calibri"/>
                <a:cs typeface="Calibri"/>
              </a:defRPr>
            </a:defPPr>
          </a:lstStyle>
          <a:p xmlns:a="http://schemas.openxmlformats.org/drawingml/2006/main">
            <a:pPr algn="l">
              <a:defRPr sz="1350" b="1">
                <a:solidFill>
                  <a:srgbClr val="142C45"/>
                </a:solidFill>
                <a:latin typeface="Calibri"/>
                <a:ea typeface="Calibri"/>
                <a:cs typeface="Calibri"/>
              </a:defRPr>
            </a:pPr>
            <a:r>
              <a:rPr sz="1350" b="1">
                <a:solidFill>
                  <a:srgbClr val="142C45"/>
                </a:solidFill>
                <a:latin typeface="Calibri"/>
                <a:ea typeface="Calibri"/>
                <a:cs typeface="Calibri"/>
              </a:rPr>
              <a:t>Student Kiosk</a:t>
            </a:r>
          </a:p>
        </p:txBody>
      </p:sp>
      <p:sp>
        <p:nvSpPr>
          <p:cNvPr id="332" name="Selected prototype screenshots. The live demonstration shows">
            <a:extLst xmlns:a="http://schemas.openxmlformats.org/drawingml/2006/main">
              <a:ext uri="{FF2B5EF4-FFF2-40B4-BE49-F238E27FC236}">
                <a16:creationId xmlns:a16="http://schemas.microsoft.com/office/drawing/2014/main" id="{6DF90A06-027F-4C23-B2B1-0BE06191991A}"/>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defRPr sz="1200" b="0">
                <a:solidFill>
                  <a:srgbClr val="607282"/>
                </a:solidFill>
                <a:latin typeface="Calibri"/>
                <a:ea typeface="Calibri"/>
                <a:cs typeface="Calibri"/>
              </a:defRPr>
            </a:pPr>
            <a:r>
              <a:rPr sz="1200" b="0">
                <a:solidFill>
                  <a:srgbClr val="607282"/>
                </a:solidFill>
                <a:latin typeface="Calibri"/>
                <a:ea typeface="Calibri"/>
                <a:cs typeface="Calibri"/>
              </a:rPr>
              <a:t>Selected prototype screenshots. The live demonstration shows the current build.</a:t>
            </a:r>
          </a:p>
        </p:txBody>
      </p:sp>
      <p:sp>
        <p:nvSpPr>
          <p:cNvPr id="333" name="10 / 24">
            <a:extLst xmlns:a="http://schemas.openxmlformats.org/drawingml/2006/main">
              <a:ext uri="{FF2B5EF4-FFF2-40B4-BE49-F238E27FC236}">
                <a16:creationId xmlns:a16="http://schemas.microsoft.com/office/drawing/2014/main" id="{1F368D1A-85E1-4FB6-AA6C-1DDF67EE2DA2}"/>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defRPr sz="825" b="0">
                <a:solidFill>
                  <a:srgbClr val="607282"/>
                </a:solidFill>
                <a:latin typeface="Calibri"/>
                <a:ea typeface="Calibri"/>
                <a:cs typeface="Calibri"/>
              </a:defRPr>
            </a:pPr>
            <a:r>
              <a:rPr sz="825" b="0">
                <a:solidFill>
                  <a:srgbClr val="607282"/>
                </a:solidFill>
                <a:latin typeface="Calibri"/>
                <a:ea typeface="Calibri"/>
                <a:cs typeface="Calibri"/>
              </a:rPr>
              <a:t>10 / 24</a:t>
            </a: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F4B90375-F701-44F0-A26D-EC7F945FC1A6}"/>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28A556E4-CCE8-4B6F-95C2-6C4AE5146EFA}"/>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Statistical Treatment and Hypotheses</a:t>
            </a:r>
          </a:p>
        </p:txBody>
      </p:sp>
      <p:sp>
        <p:nvSpPr>
          <p:cNvPr id="3" name="11 / 24">
            <a:extLst xmlns:a="http://schemas.openxmlformats.org/drawingml/2006/main">
              <a:ext uri="{FF2B5EF4-FFF2-40B4-BE49-F238E27FC236}">
                <a16:creationId xmlns:a16="http://schemas.microsoft.com/office/drawing/2014/main" id="{5DB3568A-FFD9-4BEB-9340-5A986EAF6FF2}"/>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E77A42DE-6EDC-49AF-964D-E655630FD486}"/>
              </a:ext>
            </a:extLst>
          </p:cNvPr>
          <p:cNvSpPr>
            <a:spLocks xmlns:a="http://schemas.openxmlformats.org/drawingml/2006/main" noGrp="1"/>
          </p:cNvSpPr>
          <p:nvPr/>
        </p:nvSpPr>
        <p:spPr>
          <a:xfrm xmlns:a="http://schemas.openxmlformats.org/drawingml/2006/main">
            <a:off x="34290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274CAACC-131B-44FF-9466-D64757A1DAD5}"/>
              </a:ext>
            </a:extLst>
          </p:cNvPr>
          <p:cNvSpPr>
            <a:spLocks xmlns:a="http://schemas.openxmlformats.org/drawingml/2006/main" noGrp="1"/>
          </p:cNvSpPr>
          <p:nvPr/>
        </p:nvSpPr>
        <p:spPr>
          <a:xfrm xmlns:a="http://schemas.openxmlformats.org/drawingml/2006/main">
            <a:off x="34290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67E07634-D486-44B5-8059-271DDFF50651}"/>
              </a:ext>
            </a:extLst>
          </p:cNvPr>
          <p:cNvSpPr>
            <a:spLocks xmlns:a="http://schemas.openxmlformats.org/drawingml/2006/main" noGrp="1"/>
          </p:cNvSpPr>
          <p:nvPr/>
        </p:nvSpPr>
        <p:spPr>
          <a:xfrm xmlns:a="http://schemas.openxmlformats.org/drawingml/2006/main">
            <a:off x="34290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ED6E890D-02EC-416C-97CB-3F5629569129}"/>
              </a:ext>
            </a:extLst>
          </p:cNvPr>
          <p:cNvSpPr>
            <a:spLocks xmlns:a="http://schemas.openxmlformats.org/drawingml/2006/main" noGrp="1"/>
          </p:cNvSpPr>
          <p:nvPr/>
        </p:nvSpPr>
        <p:spPr>
          <a:xfrm xmlns:a="http://schemas.openxmlformats.org/drawingml/2006/main">
            <a:off x="34290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4176BF3E-DFA0-4236-B6E0-0D26CE0003D2}"/>
              </a:ext>
            </a:extLst>
          </p:cNvPr>
          <p:cNvSpPr>
            <a:spLocks xmlns:a="http://schemas.openxmlformats.org/drawingml/2006/main" noGrp="1"/>
          </p:cNvSpPr>
          <p:nvPr/>
        </p:nvSpPr>
        <p:spPr>
          <a:xfrm xmlns:a="http://schemas.openxmlformats.org/drawingml/2006/main">
            <a:off x="34290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83251ADC-4BE3-4E63-8C4A-05F7C265B14E}"/>
              </a:ext>
            </a:extLst>
          </p:cNvPr>
          <p:cNvSpPr>
            <a:spLocks xmlns:a="http://schemas.openxmlformats.org/drawingml/2006/main" noGrp="1"/>
          </p:cNvSpPr>
          <p:nvPr/>
        </p:nvSpPr>
        <p:spPr>
          <a:xfrm xmlns:a="http://schemas.openxmlformats.org/drawingml/2006/main">
            <a:off x="34290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61CDF205-CBDB-4C4C-9D2A-7A5D369ADAB8}"/>
              </a:ext>
            </a:extLst>
          </p:cNvPr>
          <p:cNvSpPr>
            <a:spLocks xmlns:a="http://schemas.openxmlformats.org/drawingml/2006/main" noGrp="1"/>
          </p:cNvSpPr>
          <p:nvPr/>
        </p:nvSpPr>
        <p:spPr>
          <a:xfrm xmlns:a="http://schemas.openxmlformats.org/drawingml/2006/main">
            <a:off x="342900" y="4114800"/>
            <a:ext cx="838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F86"/>
                </a:solidFill>
                <a:latin typeface="Calibri"/>
                <a:ea typeface="Calibri"/>
                <a:cs typeface="Calibri"/>
              </a:defRPr>
            </a:defPPr>
          </a:lstStyle>
          <a:p xmlns:a="http://schemas.openxmlformats.org/drawingml/2006/main">
            <a:pPr algn="l">
              <a:buNone/>
              <a:defRPr sz="1650" b="0">
                <a:solidFill>
                  <a:srgbClr val="007F86"/>
                </a:solidFill>
                <a:latin typeface="Calibri"/>
                <a:ea typeface="Calibri"/>
                <a:cs typeface="Calibri"/>
              </a:defRPr>
            </a:pPr>
            <a:r>
              <a:rPr sz="1650" b="0">
                <a:solidFill>
                  <a:srgbClr val="007F86"/>
                </a:solidFill>
                <a:latin typeface="Calibri"/>
                <a:ea typeface="Calibri"/>
                <a:cs typeface="Calibri"/>
              </a:rPr>
              <a:t>t = (mean System - mean Manual)</a:t>
            </a:r>
          </a:p>
          <a:p xmlns:a="http://schemas.openxmlformats.org/drawingml/2006/main">
            <a:pPr algn="l">
              <a:buNone/>
              <a:defRPr sz="1650" b="0">
                <a:solidFill>
                  <a:srgbClr val="007F86"/>
                </a:solidFill>
                <a:latin typeface="Calibri"/>
                <a:ea typeface="Calibri"/>
                <a:cs typeface="Calibri"/>
              </a:defRPr>
            </a:pPr>
            <a:r>
              <a:rPr sz="1650" b="0">
                <a:solidFill>
                  <a:srgbClr val="007F86"/>
                </a:solidFill>
                <a:latin typeface="Calibri"/>
                <a:ea typeface="Calibri"/>
                <a:cs typeface="Calibri"/>
              </a:rPr>
              <a:t>     / sqrt(SD System^2 / n System + SD Manual^2 / n Manual)</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611462F7-1715-4D95-BFC7-EA4CDFDE508E}"/>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7DA0B7B9-E55B-42BB-9CD7-DC8396B4D2E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Observation Records and Functionality Cases</a:t>
            </a:r>
          </a:p>
        </p:txBody>
      </p:sp>
      <p:sp>
        <p:nvSpPr>
          <p:cNvPr id="3" name="12 / 24">
            <a:extLst xmlns:a="http://schemas.openxmlformats.org/drawingml/2006/main">
              <a:ext uri="{FF2B5EF4-FFF2-40B4-BE49-F238E27FC236}">
                <a16:creationId xmlns:a16="http://schemas.microsoft.com/office/drawing/2014/main" id="{5FBD70FA-2388-4AB3-AA18-42F1F38D517A}"/>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940746AA-765B-4470-B3E8-2EDB0B8DC908}"/>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0" tIns="0" rIns="0" bIns="0">
                      <a:noAutofit/>
                    </a:bodyPr>
                    <a:lstStyle/>
                    <a:p>
                      <a:pPr algn="l">
                        <a:buNone/>
                      </a:pPr>
                      <a:r>
                        <a:rPr sz="1650" b="1">
                          <a:solidFill>
                            <a:srgbClr val="FFFFFF"/>
                          </a:solidFill>
                          <a:latin typeface="Calibri"/>
                          <a:ea typeface="Calibri"/>
                          <a:cs typeface="Calibri"/>
                        </a:rPr>
                        <a:t>Mode</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650" b="1">
                          <a:solidFill>
                            <a:srgbClr val="FFFFFF"/>
                          </a:solidFill>
                          <a:latin typeface="Calibri"/>
                          <a:ea typeface="Calibri"/>
                          <a:cs typeface="Calibri"/>
                        </a:rPr>
                        <a:t>Successful Entries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650" b="1">
                          <a:solidFill>
                            <a:srgbClr val="FFFFFF"/>
                          </a:solidFill>
                          <a:latin typeface="Calibri"/>
                          <a:ea typeface="Calibri"/>
                          <a:cs typeface="Calibri"/>
                        </a:rPr>
                        <a:t>Reset Exits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650" b="1">
                          <a:solidFill>
                            <a:srgbClr val="FFFFFF"/>
                          </a:solidFill>
                          <a:latin typeface="Calibri"/>
                          <a:ea typeface="Calibri"/>
                          <a:cs typeface="Calibri"/>
                        </a:rPr>
                        <a:t>Denied Records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650" b="1">
                          <a:solidFill>
                            <a:srgbClr val="FFFFFF"/>
                          </a:solidFill>
                          <a:latin typeface="Calibri"/>
                          <a:ea typeface="Calibri"/>
                          <a:cs typeface="Calibri"/>
                        </a:rPr>
                        <a:t>Total</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22910">
                <a:tc>
                  <a:txBody>
                    <a:bodyPr lIns="0" tIns="0" rIns="0" bIns="0">
                      <a:noAutofit/>
                    </a:bodyPr>
                    <a:lstStyle/>
                    <a:p>
                      <a:pPr algn="l">
                        <a:buNone/>
                      </a:pPr>
                      <a:r>
                        <a:rPr sz="1650" b="0">
                          <a:solidFill>
                            <a:srgbClr val="33424D"/>
                          </a:solidFill>
                          <a:latin typeface="Calibri"/>
                          <a:ea typeface="Calibri"/>
                          <a:cs typeface="Calibri"/>
                        </a:rPr>
                        <a:t>Fast</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70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70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2</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142</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22910">
                <a:tc>
                  <a:txBody>
                    <a:bodyPr lIns="0" tIns="0" rIns="0" bIns="0">
                      <a:noAutofit/>
                    </a:bodyPr>
                    <a:lstStyle/>
                    <a:p>
                      <a:pPr algn="l">
                        <a:buNone/>
                      </a:pPr>
                      <a:r>
                        <a:rPr sz="1650" b="0">
                          <a:solidFill>
                            <a:srgbClr val="33424D"/>
                          </a:solidFill>
                          <a:latin typeface="Calibri"/>
                          <a:ea typeface="Calibri"/>
                          <a:cs typeface="Calibri"/>
                        </a:rPr>
                        <a:t>Standard</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70</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70</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12</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152</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22910">
                <a:tc>
                  <a:txBody>
                    <a:bodyPr lIns="0" tIns="0" rIns="0" bIns="0">
                      <a:noAutofit/>
                    </a:bodyPr>
                    <a:lstStyle/>
                    <a:p>
                      <a:pPr algn="l">
                        <a:buNone/>
                      </a:pPr>
                      <a:r>
                        <a:rPr sz="1650" b="0">
                          <a:solidFill>
                            <a:srgbClr val="33424D"/>
                          </a:solidFill>
                          <a:latin typeface="Calibri"/>
                          <a:ea typeface="Calibri"/>
                          <a:cs typeface="Calibri"/>
                        </a:rPr>
                        <a:t>High-Security</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70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70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4</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0">
                          <a:solidFill>
                            <a:srgbClr val="33424D"/>
                          </a:solidFill>
                          <a:latin typeface="Calibri"/>
                          <a:ea typeface="Calibri"/>
                          <a:cs typeface="Calibri"/>
                        </a:rPr>
                        <a:t>144</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22910">
                <a:tc>
                  <a:txBody>
                    <a:bodyPr lIns="0" tIns="0" rIns="0" bIns="0">
                      <a:noAutofit/>
                    </a:bodyPr>
                    <a:lstStyle/>
                    <a:p>
                      <a:pPr algn="l">
                        <a:buNone/>
                      </a:pPr>
                      <a:r>
                        <a:rPr sz="1650" b="1">
                          <a:solidFill>
                            <a:srgbClr val="007F86"/>
                          </a:solidFill>
                          <a:latin typeface="Calibri"/>
                          <a:ea typeface="Calibri"/>
                          <a:cs typeface="Calibri"/>
                        </a:rPr>
                        <a:t>Total</a:t>
                      </a:r>
                    </a:p>
                  </a:txBody>
                  <a:tcPr marL="114300" marR="114300" marT="57150" marB="57150" anchor="ctr">
                    <a:solidFill>
                      <a:srgbClr val="E7F3F3"/>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1">
                          <a:solidFill>
                            <a:srgbClr val="007F86"/>
                          </a:solidFill>
                          <a:latin typeface="Calibri"/>
                          <a:ea typeface="Calibri"/>
                          <a:cs typeface="Calibri"/>
                        </a:rPr>
                        <a:t>210</a:t>
                      </a:r>
                    </a:p>
                  </a:txBody>
                  <a:tcPr marL="114300" marR="114300" marT="57150" marB="57150" anchor="ctr">
                    <a:solidFill>
                      <a:srgbClr val="E7F3F3"/>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1">
                          <a:solidFill>
                            <a:srgbClr val="007F86"/>
                          </a:solidFill>
                          <a:latin typeface="Calibri"/>
                          <a:ea typeface="Calibri"/>
                          <a:cs typeface="Calibri"/>
                        </a:rPr>
                        <a:t>210</a:t>
                      </a:r>
                    </a:p>
                  </a:txBody>
                  <a:tcPr marL="114300" marR="114300" marT="57150" marB="57150" anchor="ctr">
                    <a:solidFill>
                      <a:srgbClr val="E7F3F3"/>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1">
                          <a:solidFill>
                            <a:srgbClr val="007F86"/>
                          </a:solidFill>
                          <a:latin typeface="Calibri"/>
                          <a:ea typeface="Calibri"/>
                          <a:cs typeface="Calibri"/>
                        </a:rPr>
                        <a:t>18</a:t>
                      </a:r>
                    </a:p>
                  </a:txBody>
                  <a:tcPr marL="114300" marR="114300" marT="57150" marB="57150" anchor="ctr">
                    <a:solidFill>
                      <a:srgbClr val="E7F3F3"/>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650" b="1">
                          <a:solidFill>
                            <a:srgbClr val="007F86"/>
                          </a:solidFill>
                          <a:latin typeface="Calibri"/>
                          <a:ea typeface="Calibri"/>
                          <a:cs typeface="Calibri"/>
                        </a:rPr>
                        <a:t>438</a:t>
                      </a:r>
                    </a:p>
                  </a:txBody>
                  <a:tcPr marL="114300" marR="114300" marT="57150" marB="57150" anchor="ctr">
                    <a:solidFill>
                      <a:srgbClr val="E7F3F3"/>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Recorded challenges">
            <a:extLst xmlns:a="http://schemas.openxmlformats.org/drawingml/2006/main">
              <a:ext uri="{FF2B5EF4-FFF2-40B4-BE49-F238E27FC236}">
                <a16:creationId xmlns:a16="http://schemas.microsoft.com/office/drawing/2014/main" id="{0B6DE7B7-EB41-46E4-8DA7-57371350AFD7}"/>
              </a:ext>
            </a:extLst>
          </p:cNvPr>
          <p:cNvSpPr>
            <a:spLocks xmlns:a="http://schemas.openxmlformats.org/drawingml/2006/main" noGrp="1"/>
          </p:cNvSpPr>
          <p:nvPr/>
        </p:nvSpPr>
        <p:spPr>
          <a:xfrm xmlns:a="http://schemas.openxmlformats.org/drawingml/2006/main">
            <a:off x="342900" y="35242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2EE87913-A850-42CE-AF56-6DC20FC8DEF3}"/>
              </a:ext>
            </a:extLst>
          </p:cNvPr>
          <p:cNvSpPr>
            <a:spLocks xmlns:a="http://schemas.openxmlformats.org/drawingml/2006/main" noGrp="1"/>
          </p:cNvSpPr>
          <p:nvPr/>
        </p:nvSpPr>
        <p:spPr>
          <a:xfrm xmlns:a="http://schemas.openxmlformats.org/drawingml/2006/main">
            <a:off x="342900" y="3886200"/>
            <a:ext cx="3952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7BA21AA4-A4C3-4506-8A8E-DF4991F2DBE7}"/>
              </a:ext>
            </a:extLst>
          </p:cNvPr>
          <p:cNvSpPr>
            <a:spLocks xmlns:a="http://schemas.openxmlformats.org/drawingml/2006/main" noGrp="1"/>
          </p:cNvSpPr>
          <p:nvPr/>
        </p:nvSpPr>
        <p:spPr>
          <a:xfrm xmlns:a="http://schemas.openxmlformats.org/drawingml/2006/main">
            <a:off x="4781550" y="3524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F86"/>
                </a:solidFill>
                <a:latin typeface="Calibri"/>
                <a:ea typeface="Calibri"/>
                <a:cs typeface="Calibri"/>
              </a:defRPr>
            </a:defPPr>
          </a:lstStyle>
          <a:p xmlns:a="http://schemas.openxmlformats.org/drawingml/2006/main">
            <a:pPr algn="l">
              <a:buNone/>
              <a:defRPr sz="1650" b="1">
                <a:solidFill>
                  <a:srgbClr val="007F86"/>
                </a:solidFill>
                <a:latin typeface="Calibri"/>
                <a:ea typeface="Calibri"/>
                <a:cs typeface="Calibri"/>
              </a:defRPr>
            </a:pPr>
            <a:r>
              <a:rPr sz="1650" b="1">
                <a:solidFill>
                  <a:srgbClr val="007F86"/>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5D56E260-551E-4991-B516-5CC07A3E3D46}"/>
              </a:ext>
            </a:extLst>
          </p:cNvPr>
          <p:cNvSpPr>
            <a:spLocks xmlns:a="http://schemas.openxmlformats.org/drawingml/2006/main" noGrp="1"/>
          </p:cNvSpPr>
          <p:nvPr/>
        </p:nvSpPr>
        <p:spPr>
          <a:xfrm xmlns:a="http://schemas.openxmlformats.org/drawingml/2006/main">
            <a:off x="4781550" y="3886200"/>
            <a:ext cx="3952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0CA9DEFB-78AB-4A68-8C96-B65D6B97B33A}"/>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4B6AFF49-5063-43B6-8A40-696E63521937}"/>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Internal System Latency</a:t>
            </a:r>
          </a:p>
        </p:txBody>
      </p:sp>
      <p:sp>
        <p:nvSpPr>
          <p:cNvPr id="3" name="13 / 24">
            <a:extLst xmlns:a="http://schemas.openxmlformats.org/drawingml/2006/main">
              <a:ext uri="{FF2B5EF4-FFF2-40B4-BE49-F238E27FC236}">
                <a16:creationId xmlns:a16="http://schemas.microsoft.com/office/drawing/2014/main" id="{5BC5E4C2-5B21-4357-A36A-4DC1F71D7538}"/>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790AA39A-B46D-4B75-83AC-BF9DF0891856}"/>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0" tIns="0" rIns="0" bIns="0">
                      <a:noAutofit/>
                    </a:bodyPr>
                    <a:lstStyle/>
                    <a:p>
                      <a:pPr algn="l">
                        <a:buNone/>
                      </a:pPr>
                      <a:r>
                        <a:rPr sz="1575" b="1">
                          <a:solidFill>
                            <a:srgbClr val="FFFFFF"/>
                          </a:solidFill>
                          <a:latin typeface="Calibri"/>
                          <a:ea typeface="Calibri"/>
                          <a:cs typeface="Calibri"/>
                        </a:rPr>
                        <a:t>Mode</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575" b="1">
                          <a:solidFill>
                            <a:srgbClr val="FFFFFF"/>
                          </a:solidFill>
                          <a:latin typeface="Calibri"/>
                          <a:ea typeface="Calibri"/>
                          <a:cs typeface="Calibri"/>
                        </a:rPr>
                        <a:t>Mean ms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575" b="1">
                          <a:solidFill>
                            <a:srgbClr val="FFFFFF"/>
                          </a:solidFill>
                          <a:latin typeface="Calibri"/>
                          <a:ea typeface="Calibri"/>
                          <a:cs typeface="Calibri"/>
                        </a:rPr>
                        <a:t>Sample SD ms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575" b="1">
                          <a:solidFill>
                            <a:srgbClr val="FFFFFF"/>
                          </a:solidFill>
                          <a:latin typeface="Calibri"/>
                          <a:ea typeface="Calibri"/>
                          <a:cs typeface="Calibri"/>
                        </a:rPr>
                        <a:t>DB Mean ms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540544">
                <a:tc>
                  <a:txBody>
                    <a:bodyPr lIns="0" tIns="0" rIns="0" bIns="0">
                      <a:noAutofit/>
                    </a:bodyPr>
                    <a:lstStyle/>
                    <a:p>
                      <a:pPr algn="l">
                        <a:buNone/>
                      </a:pPr>
                      <a:r>
                        <a:rPr sz="1575" b="0">
                          <a:solidFill>
                            <a:srgbClr val="33424D"/>
                          </a:solidFill>
                          <a:latin typeface="Calibri"/>
                          <a:ea typeface="Calibri"/>
                          <a:cs typeface="Calibri"/>
                        </a:rPr>
                        <a:t>Fast</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11.49</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2.20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2.88</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540544">
                <a:tc>
                  <a:txBody>
                    <a:bodyPr lIns="0" tIns="0" rIns="0" bIns="0">
                      <a:noAutofit/>
                    </a:bodyPr>
                    <a:lstStyle/>
                    <a:p>
                      <a:pPr algn="l">
                        <a:buNone/>
                      </a:pPr>
                      <a:r>
                        <a:rPr sz="1575" b="0">
                          <a:solidFill>
                            <a:srgbClr val="33424D"/>
                          </a:solidFill>
                          <a:latin typeface="Calibri"/>
                          <a:ea typeface="Calibri"/>
                          <a:cs typeface="Calibri"/>
                        </a:rPr>
                        <a:t>Standard</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57.37</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17.46</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47.95</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540544">
                <a:tc>
                  <a:txBody>
                    <a:bodyPr lIns="0" tIns="0" rIns="0" bIns="0">
                      <a:noAutofit/>
                    </a:bodyPr>
                    <a:lstStyle/>
                    <a:p>
                      <a:pPr algn="l">
                        <a:buNone/>
                      </a:pPr>
                      <a:r>
                        <a:rPr sz="1575" b="0">
                          <a:solidFill>
                            <a:srgbClr val="33424D"/>
                          </a:solidFill>
                          <a:latin typeface="Calibri"/>
                          <a:ea typeface="Calibri"/>
                          <a:cs typeface="Calibri"/>
                        </a:rPr>
                        <a:t>High-Security</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54.06</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6.34</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575" b="0">
                          <a:solidFill>
                            <a:srgbClr val="33424D"/>
                          </a:solidFill>
                          <a:latin typeface="Calibri"/>
                          <a:ea typeface="Calibri"/>
                          <a:cs typeface="Calibri"/>
                        </a:rPr>
                        <a:t>44.90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bl>
          </a:graphicData>
        </a:graphic>
      </p:graphicFrame>
      <p:graphicFrame>
        <p:nvGraphicFramePr>
          <p:cNvPr id="5" name="Chart">
            <a:extLst xmlns:a="http://schemas.openxmlformats.org/drawingml/2006/main">
              <a:ext uri="{FF2B5EF4-FFF2-40B4-BE49-F238E27FC236}">
                <a16:creationId xmlns:a16="http://schemas.microsoft.com/office/drawing/2014/main" id="{5100E187-1687-4892-BAD9-B1A858661DA8}"/>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bf705a886b5e4539"/>
          </a:graphicData>
        </a:graphic>
      </p:graphicFrame>
      <p:sp>
        <p:nvSpPr>
          <p:cNvPr id="6" name="70 successful entries per mode">
            <a:extLst xmlns:a="http://schemas.openxmlformats.org/drawingml/2006/main">
              <a:ext uri="{FF2B5EF4-FFF2-40B4-BE49-F238E27FC236}">
                <a16:creationId xmlns:a16="http://schemas.microsoft.com/office/drawing/2014/main" id="{A54A7160-8F7B-4DE6-A872-9D34B6417965}"/>
              </a:ext>
            </a:extLst>
          </p:cNvPr>
          <p:cNvSpPr>
            <a:spLocks xmlns:a="http://schemas.openxmlformats.org/drawingml/2006/main" noGrp="1"/>
          </p:cNvSpPr>
          <p:nvPr/>
        </p:nvSpPr>
        <p:spPr>
          <a:xfrm xmlns:a="http://schemas.openxmlformats.org/drawingml/2006/main">
            <a:off x="342900" y="37814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9163E79C-6BC7-4766-978A-B726F32897C5}"/>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843F5315-2CF6-448C-B3FB-BD9C07434CAB}"/>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B47DA83F-1559-43EF-B693-0302D29EB430}"/>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Recorded PIN and QR Interaction</a:t>
            </a:r>
          </a:p>
        </p:txBody>
      </p:sp>
      <p:sp>
        <p:nvSpPr>
          <p:cNvPr id="3" name="14 / 24">
            <a:extLst xmlns:a="http://schemas.openxmlformats.org/drawingml/2006/main">
              <a:ext uri="{FF2B5EF4-FFF2-40B4-BE49-F238E27FC236}">
                <a16:creationId xmlns:a16="http://schemas.microsoft.com/office/drawing/2014/main" id="{4DCB654C-C7C0-4071-B560-6522DF54F44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835B8F3F-E45B-4830-833A-FDF11B8D310A}"/>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24e5242e30d646f5"/>
          </a:graphicData>
        </a:graphic>
      </p:graphicFrame>
      <p:graphicFrame>
        <p:nvGraphicFramePr>
          <p:cNvPr id="5" name="">
            <a:extLst xmlns:a="http://schemas.openxmlformats.org/drawingml/2006/main">
              <a:ext uri="{FF2B5EF4-FFF2-40B4-BE49-F238E27FC236}">
                <a16:creationId xmlns:a16="http://schemas.microsoft.com/office/drawing/2014/main" id="{D3CF7ED1-A846-4789-8D60-A199834CAB2E}"/>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0" tIns="0" rIns="0" bIns="0">
                      <a:noAutofit/>
                    </a:bodyPr>
                    <a:lstStyle/>
                    <a:p>
                      <a:pPr algn="l">
                        <a:buNone/>
                      </a:pPr>
                      <a:r>
                        <a:rPr sz="1425" b="1">
                          <a:solidFill>
                            <a:srgbClr val="FFFFFF"/>
                          </a:solidFill>
                          <a:latin typeface="Calibri"/>
                          <a:ea typeface="Calibri"/>
                          <a:cs typeface="Calibri"/>
                        </a:rPr>
                        <a:t>Total Stage Duration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425" b="1">
                          <a:solidFill>
                            <a:srgbClr val="FFFFFF"/>
                          </a:solidFill>
                          <a:latin typeface="Calibri"/>
                          <a:ea typeface="Calibri"/>
                          <a:cs typeface="Calibri"/>
                        </a:rPr>
                        <a:t>Standard</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425" b="1">
                          <a:solidFill>
                            <a:srgbClr val="FFFFFF"/>
                          </a:solidFill>
                          <a:latin typeface="Calibri"/>
                          <a:ea typeface="Calibri"/>
                          <a:cs typeface="Calibri"/>
                        </a:rPr>
                        <a:t>High-Security</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19100">
                <a:tc>
                  <a:txBody>
                    <a:bodyPr lIns="0" tIns="0" rIns="0" bIns="0">
                      <a:noAutofit/>
                    </a:bodyPr>
                    <a:lstStyle/>
                    <a:p>
                      <a:pPr algn="l">
                        <a:buNone/>
                      </a:pPr>
                      <a:r>
                        <a:rPr sz="1425" b="0">
                          <a:solidFill>
                            <a:srgbClr val="33424D"/>
                          </a:solidFill>
                          <a:latin typeface="Calibri"/>
                          <a:ea typeface="Calibri"/>
                          <a:cs typeface="Calibri"/>
                        </a:rPr>
                        <a:t>Mean (s)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2.505</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5.799</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19100">
                <a:tc>
                  <a:txBody>
                    <a:bodyPr lIns="0" tIns="0" rIns="0" bIns="0">
                      <a:noAutofit/>
                    </a:bodyPr>
                    <a:lstStyle/>
                    <a:p>
                      <a:pPr algn="l">
                        <a:buNone/>
                      </a:pPr>
                      <a:r>
                        <a:rPr sz="1425" b="0">
                          <a:solidFill>
                            <a:srgbClr val="33424D"/>
                          </a:solidFill>
                          <a:latin typeface="Calibri"/>
                          <a:ea typeface="Calibri"/>
                          <a:cs typeface="Calibri"/>
                        </a:rPr>
                        <a:t>Median (s)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2.035</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4.348</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19100">
                <a:tc>
                  <a:txBody>
                    <a:bodyPr lIns="0" tIns="0" rIns="0" bIns="0">
                      <a:noAutofit/>
                    </a:bodyPr>
                    <a:lstStyle/>
                    <a:p>
                      <a:pPr algn="l">
                        <a:buNone/>
                      </a:pPr>
                      <a:r>
                        <a:rPr sz="1425" b="0">
                          <a:solidFill>
                            <a:srgbClr val="33424D"/>
                          </a:solidFill>
                          <a:latin typeface="Calibri"/>
                          <a:ea typeface="Calibri"/>
                          <a:cs typeface="Calibri"/>
                        </a:rPr>
                        <a:t>Sample SD (s)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1.152</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3.878</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19100">
                <a:tc>
                  <a:txBody>
                    <a:bodyPr lIns="0" tIns="0" rIns="0" bIns="0">
                      <a:noAutofit/>
                    </a:bodyPr>
                    <a:lstStyle/>
                    <a:p>
                      <a:pPr algn="l">
                        <a:buNone/>
                      </a:pPr>
                      <a:r>
                        <a:rPr sz="1425" b="0">
                          <a:solidFill>
                            <a:srgbClr val="33424D"/>
                          </a:solidFill>
                          <a:latin typeface="Calibri"/>
                          <a:ea typeface="Calibri"/>
                          <a:cs typeface="Calibri"/>
                        </a:rPr>
                        <a:t>Maximum (s)</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6.875</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425" b="0">
                          <a:solidFill>
                            <a:srgbClr val="33424D"/>
                          </a:solidFill>
                          <a:latin typeface="Calibri"/>
                          <a:ea typeface="Calibri"/>
                          <a:cs typeface="Calibri"/>
                        </a:rPr>
                        <a:t>22.604</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281F19FA-58D9-4EE7-A94C-D37EA054B707}"/>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67C26A64-AA11-4471-99A0-4B7DC863202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84CF7903-EE20-4A4D-87BB-E69716707376}"/>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Manual Paper Attendance Baseline</a:t>
            </a:r>
          </a:p>
        </p:txBody>
      </p:sp>
      <p:sp>
        <p:nvSpPr>
          <p:cNvPr id="3" name="15 / 24">
            <a:extLst xmlns:a="http://schemas.openxmlformats.org/drawingml/2006/main">
              <a:ext uri="{FF2B5EF4-FFF2-40B4-BE49-F238E27FC236}">
                <a16:creationId xmlns:a16="http://schemas.microsoft.com/office/drawing/2014/main" id="{88E82878-B270-4A3F-ACE7-146F564AA7F7}"/>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7B5803F4-E2BC-4473-811A-072AE5AF8038}"/>
              </a:ext>
            </a:extLst>
          </p:cNvPr>
          <p:cNvSpPr>
            <a:spLocks xmlns:a="http://schemas.openxmlformats.org/drawingml/2006/main" noGrp="1"/>
          </p:cNvSpPr>
          <p:nvPr/>
        </p:nvSpPr>
        <p:spPr>
          <a:xfrm xmlns:a="http://schemas.openxmlformats.org/drawingml/2006/main">
            <a:off x="342900" y="135255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7F86"/>
                </a:solidFill>
                <a:latin typeface="Calibri"/>
                <a:ea typeface="Calibri"/>
                <a:cs typeface="Calibri"/>
              </a:defRPr>
            </a:defPPr>
          </a:lstStyle>
          <a:p xmlns:a="http://schemas.openxmlformats.org/drawingml/2006/main">
            <a:pPr algn="l">
              <a:buNone/>
              <a:defRPr sz="3600" b="1">
                <a:solidFill>
                  <a:srgbClr val="007F86"/>
                </a:solidFill>
                <a:latin typeface="Calibri"/>
                <a:ea typeface="Calibri"/>
                <a:cs typeface="Calibri"/>
              </a:defRPr>
            </a:pPr>
            <a:r>
              <a:rPr sz="3600" b="1">
                <a:solidFill>
                  <a:srgbClr val="007F86"/>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5D73C20C-B6BD-473A-AD07-142ADD356506}"/>
              </a:ext>
            </a:extLst>
          </p:cNvPr>
          <p:cNvSpPr>
            <a:spLocks xmlns:a="http://schemas.openxmlformats.org/drawingml/2006/main" noGrp="1"/>
          </p:cNvSpPr>
          <p:nvPr/>
        </p:nvSpPr>
        <p:spPr>
          <a:xfrm xmlns:a="http://schemas.openxmlformats.org/drawingml/2006/main">
            <a:off x="342900" y="204787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DC043102-446B-408C-88CA-EE202D5F23D4}"/>
              </a:ext>
            </a:extLst>
          </p:cNvPr>
          <p:cNvSpPr>
            <a:spLocks xmlns:a="http://schemas.openxmlformats.org/drawingml/2006/main" noGrp="1"/>
          </p:cNvSpPr>
          <p:nvPr/>
        </p:nvSpPr>
        <p:spPr>
          <a:xfrm xmlns:a="http://schemas.openxmlformats.org/drawingml/2006/main">
            <a:off x="342900" y="2695575"/>
            <a:ext cx="414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3424D"/>
                </a:solidFill>
                <a:latin typeface="Calibri"/>
                <a:ea typeface="Calibri"/>
                <a:cs typeface="Calibri"/>
              </a:defRPr>
            </a:defPPr>
          </a:lstStyle>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Sample SD 4.436 s</a:t>
            </a:r>
          </a:p>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Median 21.135 s</a:t>
            </a:r>
          </a:p>
          <a:p xmlns:a="http://schemas.openxmlformats.org/drawingml/2006/main">
            <a:pPr algn="l">
              <a:buNone/>
              <a:defRPr sz="1875" b="0">
                <a:solidFill>
                  <a:srgbClr val="33424D"/>
                </a:solidFill>
                <a:latin typeface="Calibri"/>
                <a:ea typeface="Calibri"/>
                <a:cs typeface="Calibri"/>
              </a:defRPr>
            </a:pPr>
            <a:r>
              <a:rPr sz="1875" b="0">
                <a:solidFill>
                  <a:srgbClr val="33424D"/>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2D382752-A460-414D-AC4A-13303F8234F2}"/>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0c1e192fac614cd9"/>
          </a:graphicData>
        </a:graphic>
      </p:graphicFrame>
      <p:sp>
        <p:nvSpPr>
          <p:cNvPr id="8" name="Duration bins in seconds">
            <a:extLst xmlns:a="http://schemas.openxmlformats.org/drawingml/2006/main">
              <a:ext uri="{FF2B5EF4-FFF2-40B4-BE49-F238E27FC236}">
                <a16:creationId xmlns:a16="http://schemas.microsoft.com/office/drawing/2014/main" id="{6F6AD8F9-5919-4471-8FD3-B48197B38F25}"/>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3424D"/>
                </a:solidFill>
                <a:latin typeface="Calibri"/>
                <a:ea typeface="Calibri"/>
                <a:cs typeface="Calibri"/>
              </a:defRPr>
            </a:defPPr>
          </a:lstStyle>
          <a:p xmlns:a="http://schemas.openxmlformats.org/drawingml/2006/main">
            <a:pPr algn="l">
              <a:buNone/>
              <a:defRPr sz="1425" b="0">
                <a:solidFill>
                  <a:srgbClr val="33424D"/>
                </a:solidFill>
                <a:latin typeface="Calibri"/>
                <a:ea typeface="Calibri"/>
                <a:cs typeface="Calibri"/>
              </a:defRPr>
            </a:pPr>
            <a:r>
              <a:rPr sz="1425" b="0">
                <a:solidFill>
                  <a:srgbClr val="33424D"/>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BE82A0E5-9E9B-4D3C-BBA3-D45B87BE93D8}"/>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6DF65B63-DBEB-4E71-BA15-28092CAB1811}"/>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11B74E77-0FB1-481A-8C04-7CDB9912CC08}"/>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Recorded Entry Spacing and Rate</a:t>
            </a:r>
          </a:p>
        </p:txBody>
      </p:sp>
      <p:sp>
        <p:nvSpPr>
          <p:cNvPr id="3" name="16 / 24">
            <a:extLst xmlns:a="http://schemas.openxmlformats.org/drawingml/2006/main">
              <a:ext uri="{FF2B5EF4-FFF2-40B4-BE49-F238E27FC236}">
                <a16:creationId xmlns:a16="http://schemas.microsoft.com/office/drawing/2014/main" id="{8B5190B5-8D00-45B0-A590-877982FB8B9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8713A41F-484A-4D59-A9E3-D4546607D775}"/>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0" tIns="0" rIns="0" bIns="0">
                      <a:noAutofit/>
                    </a:bodyPr>
                    <a:lstStyle/>
                    <a:p>
                      <a:pPr algn="l">
                        <a:buNone/>
                      </a:pPr>
                      <a:r>
                        <a:rPr sz="1725" b="1">
                          <a:solidFill>
                            <a:srgbClr val="FFFFFF"/>
                          </a:solidFill>
                          <a:latin typeface="Calibri"/>
                          <a:ea typeface="Calibri"/>
                          <a:cs typeface="Calibri"/>
                        </a:rPr>
                        <a:t>Mode</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725" b="1">
                          <a:solidFill>
                            <a:srgbClr val="FFFFFF"/>
                          </a:solidFill>
                          <a:latin typeface="Calibri"/>
                          <a:ea typeface="Calibri"/>
                          <a:cs typeface="Calibri"/>
                        </a:rPr>
                        <a:t>Intervals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725" b="1">
                          <a:solidFill>
                            <a:srgbClr val="FFFFFF"/>
                          </a:solidFill>
                          <a:latin typeface="Calibri"/>
                          <a:ea typeface="Calibri"/>
                          <a:cs typeface="Calibri"/>
                        </a:rPr>
                        <a:t>Mean Spacing s</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725" b="1">
                          <a:solidFill>
                            <a:srgbClr val="FFFFFF"/>
                          </a:solidFill>
                          <a:latin typeface="Calibri"/>
                          <a:ea typeface="Calibri"/>
                          <a:cs typeface="Calibri"/>
                        </a:rPr>
                        <a:t>Intervals per Minute</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69106">
                <a:tc>
                  <a:txBody>
                    <a:bodyPr lIns="0" tIns="0" rIns="0" bIns="0">
                      <a:noAutofit/>
                    </a:bodyPr>
                    <a:lstStyle/>
                    <a:p>
                      <a:pPr algn="l">
                        <a:buNone/>
                      </a:pPr>
                      <a:r>
                        <a:rPr sz="1725" b="0">
                          <a:solidFill>
                            <a:srgbClr val="33424D"/>
                          </a:solidFill>
                          <a:latin typeface="Calibri"/>
                          <a:ea typeface="Calibri"/>
                          <a:cs typeface="Calibri"/>
                        </a:rPr>
                        <a:t>Fast</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66</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2.730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21.98</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69106">
                <a:tc>
                  <a:txBody>
                    <a:bodyPr lIns="0" tIns="0" rIns="0" bIns="0">
                      <a:noAutofit/>
                    </a:bodyPr>
                    <a:lstStyle/>
                    <a:p>
                      <a:pPr algn="l">
                        <a:buNone/>
                      </a:pPr>
                      <a:r>
                        <a:rPr sz="1725" b="0">
                          <a:solidFill>
                            <a:srgbClr val="33424D"/>
                          </a:solidFill>
                          <a:latin typeface="Calibri"/>
                          <a:ea typeface="Calibri"/>
                          <a:cs typeface="Calibri"/>
                        </a:rPr>
                        <a:t>Standard</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66</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8.048</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7.46</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469106">
                <a:tc>
                  <a:txBody>
                    <a:bodyPr lIns="0" tIns="0" rIns="0" bIns="0">
                      <a:noAutofit/>
                    </a:bodyPr>
                    <a:lstStyle/>
                    <a:p>
                      <a:pPr algn="l">
                        <a:buNone/>
                      </a:pPr>
                      <a:r>
                        <a:rPr sz="1725" b="0">
                          <a:solidFill>
                            <a:srgbClr val="33424D"/>
                          </a:solidFill>
                          <a:latin typeface="Calibri"/>
                          <a:ea typeface="Calibri"/>
                          <a:cs typeface="Calibri"/>
                        </a:rPr>
                        <a:t>High-Security</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66</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12.129</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4.95</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Why 66 intervals?">
            <a:extLst xmlns:a="http://schemas.openxmlformats.org/drawingml/2006/main">
              <a:ext uri="{FF2B5EF4-FFF2-40B4-BE49-F238E27FC236}">
                <a16:creationId xmlns:a16="http://schemas.microsoft.com/office/drawing/2014/main" id="{E55A9A7F-AAD4-45A6-B429-06B93C5D0399}"/>
              </a:ext>
            </a:extLst>
          </p:cNvPr>
          <p:cNvSpPr>
            <a:spLocks xmlns:a="http://schemas.openxmlformats.org/drawingml/2006/main" noGrp="1"/>
          </p:cNvSpPr>
          <p:nvPr/>
        </p:nvSpPr>
        <p:spPr>
          <a:xfrm xmlns:a="http://schemas.openxmlformats.org/drawingml/2006/main">
            <a:off x="34290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F86"/>
                </a:solidFill>
                <a:latin typeface="Calibri"/>
                <a:ea typeface="Calibri"/>
                <a:cs typeface="Calibri"/>
              </a:defRPr>
            </a:defPPr>
          </a:lstStyle>
          <a:p xmlns:a="http://schemas.openxmlformats.org/drawingml/2006/main">
            <a:pPr algn="l">
              <a:buNone/>
              <a:defRPr sz="1800" b="1">
                <a:solidFill>
                  <a:srgbClr val="007F86"/>
                </a:solidFill>
                <a:latin typeface="Calibri"/>
                <a:ea typeface="Calibri"/>
                <a:cs typeface="Calibri"/>
              </a:defRPr>
            </a:pPr>
            <a:r>
              <a:rPr sz="1800" b="1">
                <a:solidFill>
                  <a:srgbClr val="007F86"/>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3430F449-A9F8-4EBA-A5FB-22F3145E8798}"/>
              </a:ext>
            </a:extLst>
          </p:cNvPr>
          <p:cNvSpPr>
            <a:spLocks xmlns:a="http://schemas.openxmlformats.org/drawingml/2006/main" noGrp="1"/>
          </p:cNvSpPr>
          <p:nvPr/>
        </p:nvSpPr>
        <p:spPr>
          <a:xfrm xmlns:a="http://schemas.openxmlformats.org/drawingml/2006/main">
            <a:off x="34290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24D"/>
                </a:solidFill>
                <a:latin typeface="Calibri"/>
                <a:ea typeface="Calibri"/>
                <a:cs typeface="Calibri"/>
              </a:defRPr>
            </a:defPPr>
          </a:lstStyle>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8B15B685-8BC2-407C-8210-F3DB660F0FC8}"/>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A9B6489C-DF0B-4A49-8EA2-1A4C257F512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4315A904-95E4-41D6-AAD1-0F1A1D8B8559}"/>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Credential Decisions and Security Conditions</a:t>
            </a:r>
          </a:p>
        </p:txBody>
      </p:sp>
      <p:sp>
        <p:nvSpPr>
          <p:cNvPr id="3" name="17 / 24">
            <a:extLst xmlns:a="http://schemas.openxmlformats.org/drawingml/2006/main">
              <a:ext uri="{FF2B5EF4-FFF2-40B4-BE49-F238E27FC236}">
                <a16:creationId xmlns:a16="http://schemas.microsoft.com/office/drawing/2014/main" id="{DD5C9B65-DB67-4274-AC0A-64A2A07F891C}"/>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0D83EA37-BE86-4EFD-84E5-CDE3A2BD7B9E}"/>
              </a:ext>
            </a:extLst>
          </p:cNvPr>
          <p:cNvSpPr>
            <a:spLocks xmlns:a="http://schemas.openxmlformats.org/drawingml/2006/main" noGrp="1"/>
          </p:cNvSpPr>
          <p:nvPr/>
        </p:nvSpPr>
        <p:spPr>
          <a:xfrm xmlns:a="http://schemas.openxmlformats.org/drawingml/2006/main">
            <a:off x="342900" y="130492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E6DCCAFA-1D6E-40E3-AB8E-68DD4A2107AE}"/>
              </a:ext>
            </a:extLst>
          </p:cNvPr>
          <p:cNvSpPr>
            <a:spLocks xmlns:a="http://schemas.openxmlformats.org/drawingml/2006/main" noGrp="1"/>
          </p:cNvSpPr>
          <p:nvPr/>
        </p:nvSpPr>
        <p:spPr>
          <a:xfrm xmlns:a="http://schemas.openxmlformats.org/drawingml/2006/main">
            <a:off x="342900" y="19716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222 / 222 correct applicable</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C0FC2F23-C825-4E45-A834-B9A15F56BF07}"/>
              </a:ext>
            </a:extLst>
          </p:cNvPr>
          <p:cNvSpPr>
            <a:spLocks xmlns:a="http://schemas.openxmlformats.org/drawingml/2006/main" noGrp="1"/>
          </p:cNvSpPr>
          <p:nvPr/>
        </p:nvSpPr>
        <p:spPr>
          <a:xfrm xmlns:a="http://schemas.openxmlformats.org/drawingml/2006/main">
            <a:off x="3333750" y="130492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03D541B9-616F-4AC4-8BDC-D7A4CD229648}"/>
              </a:ext>
            </a:extLst>
          </p:cNvPr>
          <p:cNvSpPr>
            <a:spLocks xmlns:a="http://schemas.openxmlformats.org/drawingml/2006/main" noGrp="1"/>
          </p:cNvSpPr>
          <p:nvPr/>
        </p:nvSpPr>
        <p:spPr>
          <a:xfrm xmlns:a="http://schemas.openxmlformats.org/drawingml/2006/main">
            <a:off x="3333750" y="19716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18 / 438 denied</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B89A90DD-2DE2-46E7-B674-16963D063F83}"/>
              </a:ext>
            </a:extLst>
          </p:cNvPr>
          <p:cNvSpPr>
            <a:spLocks xmlns:a="http://schemas.openxmlformats.org/drawingml/2006/main" noGrp="1"/>
          </p:cNvSpPr>
          <p:nvPr/>
        </p:nvSpPr>
        <p:spPr>
          <a:xfrm xmlns:a="http://schemas.openxmlformats.org/drawingml/2006/main">
            <a:off x="6305550" y="130492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7F86"/>
                </a:solidFill>
                <a:latin typeface="Calibri"/>
                <a:ea typeface="Calibri"/>
                <a:cs typeface="Calibri"/>
              </a:defRPr>
            </a:defPPr>
          </a:lstStyle>
          <a:p xmlns:a="http://schemas.openxmlformats.org/drawingml/2006/main">
            <a:pPr algn="l">
              <a:buNone/>
              <a:defRPr sz="3300" b="1">
                <a:solidFill>
                  <a:srgbClr val="007F86"/>
                </a:solidFill>
                <a:latin typeface="Calibri"/>
                <a:ea typeface="Calibri"/>
                <a:cs typeface="Calibri"/>
              </a:defRPr>
            </a:pPr>
            <a:r>
              <a:rPr sz="3300" b="1">
                <a:solidFill>
                  <a:srgbClr val="007F86"/>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BF8A1977-611F-48BB-B570-735497637EFF}"/>
              </a:ext>
            </a:extLst>
          </p:cNvPr>
          <p:cNvSpPr>
            <a:spLocks xmlns:a="http://schemas.openxmlformats.org/drawingml/2006/main" noGrp="1"/>
          </p:cNvSpPr>
          <p:nvPr/>
        </p:nvSpPr>
        <p:spPr>
          <a:xfrm xmlns:a="http://schemas.openxmlformats.org/drawingml/2006/main">
            <a:off x="6305550" y="1971675"/>
            <a:ext cx="2419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2 new lockouts /</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152 PIN submissions</a:t>
            </a:r>
          </a:p>
        </p:txBody>
      </p:sp>
      <p:graphicFrame>
        <p:nvGraphicFramePr>
          <p:cNvPr id="10" name="">
            <a:extLst xmlns:a="http://schemas.openxmlformats.org/drawingml/2006/main">
              <a:ext uri="{FF2B5EF4-FFF2-40B4-BE49-F238E27FC236}">
                <a16:creationId xmlns:a16="http://schemas.microsoft.com/office/drawing/2014/main" id="{A54E78C7-1B71-4F5F-8F59-B12169004362}"/>
              </a:ext>
            </a:extLst>
          </p:cNvPr>
          <p:cNvGraphicFramePr/>
          <p:nvPr/>
        </p:nvGraphicFramePr>
        <p:xfrm>
          <a:off xmlns:a="http://schemas.openxmlformats.org/drawingml/2006/main" x="304800" y="2562225"/>
          <a:ext xmlns:a="http://schemas.openxmlformats.org/drawingml/2006/main" cx="4953000" cy="1733550"/>
        </p:xfrm>
        <a:graphic xmlns:a="http://schemas.openxmlformats.org/drawingml/2006/main">
          <a:graphicData uri="http://schemas.openxmlformats.org/drawingml/2006/table">
            <a:tbl>
              <a:tblPr/>
              <a:tblGrid>
                <a:gridCol w="4238625"/>
                <a:gridCol w="714375"/>
              </a:tblGrid>
              <a:tr h="288925">
                <a:tc>
                  <a:txBody>
                    <a:bodyPr lIns="0" tIns="0" rIns="0" bIns="0">
                      <a:noAutofit/>
                    </a:bodyPr>
                    <a:lstStyle/>
                    <a:p>
                      <a:pPr algn="l">
                        <a:buNone/>
                      </a:pPr>
                      <a:r>
                        <a:rPr sz="1500" b="1">
                          <a:solidFill>
                            <a:srgbClr val="FFFFFF"/>
                          </a:solidFill>
                          <a:latin typeface="Calibri"/>
                          <a:ea typeface="Calibri"/>
                          <a:cs typeface="Calibri"/>
                        </a:rPr>
                        <a:t>Recorded Denial Condition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l">
                        <a:buNone/>
                      </a:pPr>
                      <a:r>
                        <a:rPr sz="1500" b="1">
                          <a:solidFill>
                            <a:srgbClr val="FFFFFF"/>
                          </a:solidFill>
                          <a:latin typeface="Calibri"/>
                          <a:ea typeface="Calibri"/>
                          <a:cs typeface="Calibri"/>
                        </a:rPr>
                        <a:t>Count</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288925">
                <a:tc>
                  <a:txBody>
                    <a:bodyPr lIns="0" tIns="0" rIns="0" bIns="0">
                      <a:noAutofit/>
                    </a:bodyPr>
                    <a:lstStyle/>
                    <a:p>
                      <a:pPr algn="l">
                        <a:buNone/>
                      </a:pPr>
                      <a:r>
                        <a:rPr sz="1500" b="0">
                          <a:solidFill>
                            <a:srgbClr val="33424D"/>
                          </a:solidFill>
                          <a:latin typeface="Calibri"/>
                          <a:ea typeface="Calibri"/>
                          <a:cs typeface="Calibri"/>
                        </a:rPr>
                        <a:t>Incorrect PIN</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8</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288925">
                <a:tc>
                  <a:txBody>
                    <a:bodyPr lIns="0" tIns="0" rIns="0" bIns="0">
                      <a:noAutofit/>
                    </a:bodyPr>
                    <a:lstStyle/>
                    <a:p>
                      <a:pPr algn="l">
                        <a:buNone/>
                      </a:pPr>
                      <a:r>
                        <a:rPr sz="1500" b="0">
                          <a:solidFill>
                            <a:srgbClr val="33424D"/>
                          </a:solidFill>
                          <a:latin typeface="Calibri"/>
                          <a:ea typeface="Calibri"/>
                          <a:cs typeface="Calibri"/>
                        </a:rPr>
                        <a:t>Consecutive-entry state violation</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5</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288925">
                <a:tc>
                  <a:txBody>
                    <a:bodyPr lIns="0" tIns="0" rIns="0" bIns="0">
                      <a:noAutofit/>
                    </a:bodyPr>
                    <a:lstStyle/>
                    <a:p>
                      <a:pPr algn="l">
                        <a:buNone/>
                      </a:pPr>
                      <a:r>
                        <a:rPr sz="1500" b="0">
                          <a:solidFill>
                            <a:srgbClr val="33424D"/>
                          </a:solidFill>
                          <a:latin typeface="Calibri"/>
                          <a:ea typeface="Calibri"/>
                          <a:cs typeface="Calibri"/>
                        </a:rPr>
                        <a:t>New PIN lockout</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2</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288925">
                <a:tc>
                  <a:txBody>
                    <a:bodyPr lIns="0" tIns="0" rIns="0" bIns="0">
                      <a:noAutofit/>
                    </a:bodyPr>
                    <a:lstStyle/>
                    <a:p>
                      <a:pPr algn="l">
                        <a:buNone/>
                      </a:pPr>
                      <a:r>
                        <a:rPr sz="1500" b="0">
                          <a:solidFill>
                            <a:srgbClr val="33424D"/>
                          </a:solidFill>
                          <a:latin typeface="Calibri"/>
                          <a:ea typeface="Calibri"/>
                          <a:cs typeface="Calibri"/>
                        </a:rPr>
                        <a:t>QR mismatch</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2</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r h="288925">
                <a:tc>
                  <a:txBody>
                    <a:bodyPr lIns="0" tIns="0" rIns="0" bIns="0">
                      <a:noAutofit/>
                    </a:bodyPr>
                    <a:lstStyle/>
                    <a:p>
                      <a:pPr algn="l">
                        <a:buNone/>
                      </a:pPr>
                      <a:r>
                        <a:rPr sz="1500" b="0">
                          <a:solidFill>
                            <a:srgbClr val="33424D"/>
                          </a:solidFill>
                          <a:latin typeface="Calibri"/>
                          <a:ea typeface="Calibri"/>
                          <a:cs typeface="Calibri"/>
                        </a:rPr>
                        <a:t>Irregular exit state</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l">
                        <a:buNone/>
                      </a:pPr>
                      <a:r>
                        <a:rPr sz="1500" b="0">
                          <a:solidFill>
                            <a:srgbClr val="33424D"/>
                          </a:solidFill>
                          <a:latin typeface="Calibri"/>
                          <a:ea typeface="Calibri"/>
                          <a:cs typeface="Calibri"/>
                        </a:rPr>
                        <a:t>1</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50A7C8F5-7A77-44DA-B37C-54861785739F}"/>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24D"/>
                </a:solidFill>
                <a:latin typeface="Calibri"/>
                <a:ea typeface="Calibri"/>
                <a:cs typeface="Calibri"/>
              </a:defRPr>
            </a:defPPr>
          </a:lstStyle>
          <a:p xmlns:a="http://schemas.openxmlformats.org/drawingml/2006/main">
            <a:pPr algn="l">
              <a:buNone/>
              <a:defRPr sz="1725" b="0">
                <a:solidFill>
                  <a:srgbClr val="33424D"/>
                </a:solidFill>
                <a:latin typeface="Calibri"/>
                <a:ea typeface="Calibri"/>
                <a:cs typeface="Calibri"/>
              </a:defRPr>
            </a:pPr>
            <a:r>
              <a:rPr sz="1725" b="0">
                <a:solidFill>
                  <a:srgbClr val="33424D"/>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A140C633-2991-436A-9B3F-5ECA81512DB0}"/>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79EE478F-F923-44CB-8773-DAC5B75C956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18E31969-5AAB-4144-BB10-BB909500A9D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Manual and System Student Survey Ratings</a:t>
            </a:r>
          </a:p>
        </p:txBody>
      </p:sp>
      <p:sp>
        <p:nvSpPr>
          <p:cNvPr id="3" name="18 / 24">
            <a:extLst xmlns:a="http://schemas.openxmlformats.org/drawingml/2006/main">
              <a:ext uri="{FF2B5EF4-FFF2-40B4-BE49-F238E27FC236}">
                <a16:creationId xmlns:a16="http://schemas.microsoft.com/office/drawing/2014/main" id="{31E978D9-A128-4B30-8E1C-2A1D36B4252E}"/>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81BA53FE-3F9E-44FA-A266-69CD8312D564}"/>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bc702fdf85ee4504"/>
          </a:graphicData>
        </a:graphic>
      </p:graphicFrame>
      <p:sp>
        <p:nvSpPr>
          <p:cNvPr id="5" name="Largest descriptive difference: Performance E">
            <a:extLst xmlns:a="http://schemas.openxmlformats.org/drawingml/2006/main">
              <a:ext uri="{FF2B5EF4-FFF2-40B4-BE49-F238E27FC236}">
                <a16:creationId xmlns:a16="http://schemas.microsoft.com/office/drawing/2014/main" id="{813BCB45-9FE3-4929-B095-E500596D1F3B}"/>
              </a:ext>
            </a:extLst>
          </p:cNvPr>
          <p:cNvSpPr>
            <a:spLocks xmlns:a="http://schemas.openxmlformats.org/drawingml/2006/main" noGrp="1"/>
          </p:cNvSpPr>
          <p:nvPr/>
        </p:nvSpPr>
        <p:spPr>
          <a:xfrm xmlns:a="http://schemas.openxmlformats.org/drawingml/2006/main">
            <a:off x="34290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D60A63D6-DC60-4A35-8721-44DD5CC2E1C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FC1EB0A9-86D6-4944-A821-C4983E643D57}"/>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085A014C-4ED4-4A92-BDE6-1BA44D5C072E}"/>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Proposed-System Evaluation by Group</a:t>
            </a:r>
          </a:p>
        </p:txBody>
      </p:sp>
      <p:sp>
        <p:nvSpPr>
          <p:cNvPr id="3" name="19 / 24">
            <a:extLst xmlns:a="http://schemas.openxmlformats.org/drawingml/2006/main">
              <a:ext uri="{FF2B5EF4-FFF2-40B4-BE49-F238E27FC236}">
                <a16:creationId xmlns:a16="http://schemas.microsoft.com/office/drawing/2014/main" id="{49659DA0-9967-48D6-9856-6751D5E5FCB3}"/>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6B2BE0FE-3822-4D5C-A6A1-7FF55414308E}"/>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a9d2db3df5c0400f"/>
          </a:graphicData>
        </a:graphic>
      </p:graphicFrame>
      <p:sp>
        <p:nvSpPr>
          <p:cNvPr id="5" name="Highly Satisfactory">
            <a:extLst xmlns:a="http://schemas.openxmlformats.org/drawingml/2006/main">
              <a:ext uri="{FF2B5EF4-FFF2-40B4-BE49-F238E27FC236}">
                <a16:creationId xmlns:a16="http://schemas.microsoft.com/office/drawing/2014/main" id="{2B540018-B829-4A79-B81F-6F98E8CCBF33}"/>
              </a:ext>
            </a:extLst>
          </p:cNvPr>
          <p:cNvSpPr>
            <a:spLocks xmlns:a="http://schemas.openxmlformats.org/drawingml/2006/main" noGrp="1"/>
          </p:cNvSpPr>
          <p:nvPr/>
        </p:nvSpPr>
        <p:spPr>
          <a:xfrm xmlns:a="http://schemas.openxmlformats.org/drawingml/2006/main">
            <a:off x="5467350" y="13811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86"/>
                </a:solidFill>
                <a:latin typeface="Calibri"/>
                <a:ea typeface="Calibri"/>
                <a:cs typeface="Calibri"/>
              </a:defRPr>
            </a:defPPr>
          </a:lstStyle>
          <a:p xmlns:a="http://schemas.openxmlformats.org/drawingml/2006/main">
            <a:pPr algn="l">
              <a:buNone/>
              <a:defRPr sz="2025" b="1">
                <a:solidFill>
                  <a:srgbClr val="007F86"/>
                </a:solidFill>
                <a:latin typeface="Calibri"/>
                <a:ea typeface="Calibri"/>
                <a:cs typeface="Calibri"/>
              </a:defRPr>
            </a:pPr>
            <a:r>
              <a:rPr sz="2025" b="1">
                <a:solidFill>
                  <a:srgbClr val="007F86"/>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A3F7A5B8-17E3-49F6-BBD1-32F34B3FC3DB}"/>
              </a:ext>
            </a:extLst>
          </p:cNvPr>
          <p:cNvSpPr>
            <a:spLocks xmlns:a="http://schemas.openxmlformats.org/drawingml/2006/main" noGrp="1"/>
          </p:cNvSpPr>
          <p:nvPr/>
        </p:nvSpPr>
        <p:spPr>
          <a:xfrm xmlns:a="http://schemas.openxmlformats.org/drawingml/2006/main">
            <a:off x="5467350" y="184785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1234EE00-C81C-4761-9994-0C9DE9DCFEDA}"/>
              </a:ext>
            </a:extLst>
          </p:cNvPr>
          <p:cNvSpPr>
            <a:spLocks xmlns:a="http://schemas.openxmlformats.org/drawingml/2006/main" noGrp="1"/>
          </p:cNvSpPr>
          <p:nvPr/>
        </p:nvSpPr>
        <p:spPr>
          <a:xfrm xmlns:a="http://schemas.openxmlformats.org/drawingml/2006/main">
            <a:off x="5467350" y="2638425"/>
            <a:ext cx="3257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Security personnel: five categories</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Lowest category mean: Performance Efficiency, 3.45.</a:t>
            </a:r>
          </a:p>
        </p:txBody>
      </p:sp>
      <p:sp>
        <p:nvSpPr>
          <p:cNvPr id="8" name="Admin: eight categories&#10;Portability 3.92&#10;Perf">
            <a:extLst xmlns:a="http://schemas.openxmlformats.org/drawingml/2006/main">
              <a:ext uri="{FF2B5EF4-FFF2-40B4-BE49-F238E27FC236}">
                <a16:creationId xmlns:a16="http://schemas.microsoft.com/office/drawing/2014/main" id="{B801F630-650E-4FD7-A0BB-0A43CE777D1A}"/>
              </a:ext>
            </a:extLst>
          </p:cNvPr>
          <p:cNvSpPr>
            <a:spLocks xmlns:a="http://schemas.openxmlformats.org/drawingml/2006/main" noGrp="1"/>
          </p:cNvSpPr>
          <p:nvPr/>
        </p:nvSpPr>
        <p:spPr>
          <a:xfrm xmlns:a="http://schemas.openxmlformats.org/drawingml/2006/main">
            <a:off x="5467350" y="3552825"/>
            <a:ext cx="3257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24D"/>
                </a:solidFill>
                <a:latin typeface="Calibri"/>
                <a:ea typeface="Calibri"/>
                <a:cs typeface="Calibri"/>
              </a:defRPr>
            </a:defPPr>
          </a:lstStyle>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Admin: eight categories</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Portability 3.92</a:t>
            </a:r>
          </a:p>
          <a:p xmlns:a="http://schemas.openxmlformats.org/drawingml/2006/main">
            <a:pPr algn="l">
              <a:buNone/>
              <a:defRPr sz="1575" b="0">
                <a:solidFill>
                  <a:srgbClr val="33424D"/>
                </a:solidFill>
                <a:latin typeface="Calibri"/>
                <a:ea typeface="Calibri"/>
                <a:cs typeface="Calibri"/>
              </a:defRPr>
            </a:pPr>
            <a:r>
              <a:rPr sz="1575" b="0">
                <a:solidFill>
                  <a:srgbClr val="33424D"/>
                </a:solidFill>
                <a:latin typeface="Calibri"/>
                <a:ea typeface="Calibri"/>
                <a:cs typeface="Calibri"/>
              </a:rPr>
              <a:t>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B25109E8-3082-411E-92E9-1FCF2AB2B89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1CB63D50-EB13-440F-8121-1A7AECDEDCF2}"/>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EAEF8E31-4743-4E68-93F3-CF8747F603FD}"/>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Welch Test of Overall Survey Scores</a:t>
            </a:r>
          </a:p>
        </p:txBody>
      </p:sp>
      <p:sp>
        <p:nvSpPr>
          <p:cNvPr id="3" name="20 / 24">
            <a:extLst xmlns:a="http://schemas.openxmlformats.org/drawingml/2006/main">
              <a:ext uri="{FF2B5EF4-FFF2-40B4-BE49-F238E27FC236}">
                <a16:creationId xmlns:a16="http://schemas.microsoft.com/office/drawing/2014/main" id="{6D104F7E-9299-4D51-A915-B192E099503E}"/>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47DA78FE-C233-49F4-9678-C27315CF67D7}"/>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0" tIns="0" rIns="0" bIns="0">
                      <a:noAutofit/>
                    </a:bodyPr>
                    <a:lstStyle/>
                    <a:p>
                      <a:pPr algn="l">
                        <a:buNone/>
                      </a:pPr>
                      <a:r>
                        <a:rPr sz="1725" b="1">
                          <a:solidFill>
                            <a:srgbClr val="FFFFFF"/>
                          </a:solidFill>
                          <a:latin typeface="Calibri"/>
                          <a:ea typeface="Calibri"/>
                          <a:cs typeface="Calibri"/>
                        </a:rPr>
                        <a:t>Group</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725" b="1">
                          <a:solidFill>
                            <a:srgbClr val="FFFFFF"/>
                          </a:solidFill>
                          <a:latin typeface="Calibri"/>
                          <a:ea typeface="Calibri"/>
                          <a:cs typeface="Calibri"/>
                        </a:rPr>
                        <a:t>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725" b="1">
                          <a:solidFill>
                            <a:srgbClr val="FFFFFF"/>
                          </a:solidFill>
                          <a:latin typeface="Calibri"/>
                          <a:ea typeface="Calibri"/>
                          <a:cs typeface="Calibri"/>
                        </a:rPr>
                        <a:t>Overall Mean</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c>
                  <a:txBody>
                    <a:bodyPr lIns="0" tIns="0" rIns="0" bIns="0">
                      <a:noAutofit/>
                    </a:bodyPr>
                    <a:lstStyle/>
                    <a:p>
                      <a:pPr algn="ctr">
                        <a:buNone/>
                      </a:pPr>
                      <a:r>
                        <a:rPr sz="1725" b="1">
                          <a:solidFill>
                            <a:srgbClr val="FFFFFF"/>
                          </a:solidFill>
                          <a:latin typeface="Calibri"/>
                          <a:ea typeface="Calibri"/>
                          <a:cs typeface="Calibri"/>
                        </a:rPr>
                        <a:t>Composite Sample SD</a:t>
                      </a:r>
                    </a:p>
                  </a:txBody>
                  <a:tcPr marL="114300" marR="114300" marT="57150" marB="57150" anchor="ctr">
                    <a:solidFill>
                      <a:srgbClr val="142C45"/>
                    </a:solidFill>
                    <a:lnL w="6350">
                      <a:noFill/>
                      <a:prstDash val="solid"/>
                    </a:lnL>
                    <a:lnR w="6350">
                      <a:noFill/>
                      <a:prstDash val="solid"/>
                    </a:lnR>
                    <a:lnT w="6350">
                      <a:noFill/>
                      <a:prstDash val="solid"/>
                    </a:lnT>
                    <a:lnB w="6350">
                      <a:noFill/>
                      <a:prstDash val="solid"/>
                    </a:lnB>
                  </a:tcPr>
                </a:tc>
              </a:tr>
              <a:tr h="422275">
                <a:tc>
                  <a:txBody>
                    <a:bodyPr lIns="0" tIns="0" rIns="0" bIns="0">
                      <a:noAutofit/>
                    </a:bodyPr>
                    <a:lstStyle/>
                    <a:p>
                      <a:pPr algn="l">
                        <a:buNone/>
                      </a:pPr>
                      <a:r>
                        <a:rPr sz="1725" b="0">
                          <a:solidFill>
                            <a:srgbClr val="33424D"/>
                          </a:solidFill>
                          <a:latin typeface="Calibri"/>
                          <a:ea typeface="Calibri"/>
                          <a:cs typeface="Calibri"/>
                        </a:rPr>
                        <a:t>Manual process</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70</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2.284</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0.753</a:t>
                      </a:r>
                    </a:p>
                  </a:txBody>
                  <a:tcPr marL="114300" marR="114300" marT="57150" marB="57150" anchor="ctr">
                    <a:solidFill>
                      <a:srgbClr val="FFFFFF"/>
                    </a:solidFill>
                    <a:lnL w="6350">
                      <a:noFill/>
                      <a:prstDash val="solid"/>
                    </a:lnL>
                    <a:lnR w="6350">
                      <a:noFill/>
                      <a:prstDash val="solid"/>
                    </a:lnR>
                    <a:lnT w="6350">
                      <a:noFill/>
                      <a:prstDash val="solid"/>
                    </a:lnT>
                    <a:lnB w="6350">
                      <a:solidFill>
                        <a:srgbClr val="DCE5E9"/>
                      </a:solidFill>
                      <a:prstDash val="solid"/>
                    </a:lnB>
                  </a:tcPr>
                </a:tc>
              </a:tr>
              <a:tr h="422275">
                <a:tc>
                  <a:txBody>
                    <a:bodyPr lIns="0" tIns="0" rIns="0" bIns="0">
                      <a:noAutofit/>
                    </a:bodyPr>
                    <a:lstStyle/>
                    <a:p>
                      <a:pPr algn="l">
                        <a:buNone/>
                      </a:pPr>
                      <a:r>
                        <a:rPr sz="1725" b="0">
                          <a:solidFill>
                            <a:srgbClr val="33424D"/>
                          </a:solidFill>
                          <a:latin typeface="Calibri"/>
                          <a:ea typeface="Calibri"/>
                          <a:cs typeface="Calibri"/>
                        </a:rPr>
                        <a:t>Proposed system</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70</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3.742</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c>
                  <a:txBody>
                    <a:bodyPr lIns="0" tIns="0" rIns="0" bIns="0">
                      <a:noAutofit/>
                    </a:bodyPr>
                    <a:lstStyle/>
                    <a:p>
                      <a:pPr algn="ctr">
                        <a:buNone/>
                      </a:pPr>
                      <a:r>
                        <a:rPr sz="1725" b="0">
                          <a:solidFill>
                            <a:srgbClr val="33424D"/>
                          </a:solidFill>
                          <a:latin typeface="Calibri"/>
                          <a:ea typeface="Calibri"/>
                          <a:cs typeface="Calibri"/>
                        </a:rPr>
                        <a:t>0.290</a:t>
                      </a:r>
                    </a:p>
                  </a:txBody>
                  <a:tcPr marL="114300" marR="114300" marT="57150" marB="57150" anchor="ctr">
                    <a:solidFill>
                      <a:srgbClr val="F3F6F8"/>
                    </a:solidFill>
                    <a:lnL w="6350">
                      <a:noFill/>
                      <a:prstDash val="solid"/>
                    </a:lnL>
                    <a:lnR w="6350">
                      <a:noFill/>
                      <a:prstDash val="solid"/>
                    </a:lnR>
                    <a:lnT w="6350">
                      <a:noFill/>
                      <a:prstDash val="solid"/>
                    </a:lnT>
                    <a:lnB w="6350">
                      <a:solidFill>
                        <a:srgbClr val="DCE5E9"/>
                      </a:solidFill>
                      <a:prstDash val="solid"/>
                    </a:lnB>
                  </a:tcPr>
                </a:tc>
              </a:tr>
            </a:tbl>
          </a:graphicData>
        </a:graphic>
      </p:graphicFrame>
      <p:sp>
        <p:nvSpPr>
          <p:cNvPr id="5" name="Rounded demonstration">
            <a:extLst xmlns:a="http://schemas.openxmlformats.org/drawingml/2006/main">
              <a:ext uri="{FF2B5EF4-FFF2-40B4-BE49-F238E27FC236}">
                <a16:creationId xmlns:a16="http://schemas.microsoft.com/office/drawing/2014/main" id="{0FC7B6DE-A5F4-441C-B769-FA4D532799D4}"/>
              </a:ext>
            </a:extLst>
          </p:cNvPr>
          <p:cNvSpPr>
            <a:spLocks xmlns:a="http://schemas.openxmlformats.org/drawingml/2006/main" noGrp="1"/>
          </p:cNvSpPr>
          <p:nvPr/>
        </p:nvSpPr>
        <p:spPr>
          <a:xfrm xmlns:a="http://schemas.openxmlformats.org/drawingml/2006/main">
            <a:off x="34290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24C20995-6722-44DC-907A-D01EB3BB0393}"/>
              </a:ext>
            </a:extLst>
          </p:cNvPr>
          <p:cNvSpPr>
            <a:spLocks xmlns:a="http://schemas.openxmlformats.org/drawingml/2006/main" noGrp="1"/>
          </p:cNvSpPr>
          <p:nvPr/>
        </p:nvSpPr>
        <p:spPr>
          <a:xfrm xmlns:a="http://schemas.openxmlformats.org/drawingml/2006/main">
            <a:off x="34290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SE = sqrt(0.290^2 / 70 + 0.753^2 / 70) = 0.096445</a:t>
            </a:r>
          </a:p>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1079F738-5BAC-444A-9F64-9C75AB18EB4E}"/>
              </a:ext>
            </a:extLst>
          </p:cNvPr>
          <p:cNvSpPr>
            <a:spLocks xmlns:a="http://schemas.openxmlformats.org/drawingml/2006/main" noGrp="1"/>
          </p:cNvSpPr>
          <p:nvPr/>
        </p:nvSpPr>
        <p:spPr>
          <a:xfrm xmlns:a="http://schemas.openxmlformats.org/drawingml/2006/main">
            <a:off x="342900" y="3952875"/>
            <a:ext cx="4619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86"/>
                </a:solidFill>
                <a:latin typeface="Calibri"/>
                <a:ea typeface="Calibri"/>
                <a:cs typeface="Calibri"/>
              </a:defRPr>
            </a:defPPr>
          </a:lstStyle>
          <a:p xmlns:a="http://schemas.openxmlformats.org/drawingml/2006/main">
            <a:pPr algn="l">
              <a:buNone/>
              <a:defRPr sz="2250" b="1">
                <a:solidFill>
                  <a:srgbClr val="007F86"/>
                </a:solidFill>
                <a:latin typeface="Calibri"/>
                <a:ea typeface="Calibri"/>
                <a:cs typeface="Calibri"/>
              </a:defRPr>
            </a:pPr>
            <a:r>
              <a:rPr sz="2250" b="1">
                <a:solidFill>
                  <a:srgbClr val="007F86"/>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5C083FAC-3E3B-470A-B9B0-B41DE5EB9D8E}"/>
              </a:ext>
            </a:extLst>
          </p:cNvPr>
          <p:cNvSpPr>
            <a:spLocks xmlns:a="http://schemas.openxmlformats.org/drawingml/2006/main" noGrp="1"/>
          </p:cNvSpPr>
          <p:nvPr/>
        </p:nvSpPr>
        <p:spPr>
          <a:xfrm xmlns:a="http://schemas.openxmlformats.org/drawingml/2006/main">
            <a:off x="5305425" y="38862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24D"/>
                </a:solidFill>
                <a:latin typeface="Calibri"/>
                <a:ea typeface="Calibri"/>
                <a:cs typeface="Calibri"/>
              </a:defRPr>
            </a:defPPr>
          </a:lstStyle>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Difference 1.458 points</a:t>
            </a:r>
          </a:p>
          <a:p xmlns:a="http://schemas.openxmlformats.org/drawingml/2006/main">
            <a:pPr algn="l">
              <a:buNone/>
              <a:defRPr sz="1800" b="0">
                <a:solidFill>
                  <a:srgbClr val="33424D"/>
                </a:solidFill>
                <a:latin typeface="Calibri"/>
                <a:ea typeface="Calibri"/>
                <a:cs typeface="Calibri"/>
              </a:defRPr>
            </a:pPr>
            <a:r>
              <a:rPr sz="1800" b="0">
                <a:solidFill>
                  <a:srgbClr val="33424D"/>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280004D7-A7E2-40CB-B318-9F703FFF746E}"/>
              </a:ext>
            </a:extLst>
          </p:cNvPr>
          <p:cNvSpPr>
            <a:spLocks xmlns:a="http://schemas.openxmlformats.org/drawingml/2006/main" noGrp="1"/>
          </p:cNvSpPr>
          <p:nvPr/>
        </p:nvSpPr>
        <p:spPr>
          <a:xfrm xmlns:a="http://schemas.openxmlformats.org/drawingml/2006/main">
            <a:off x="342900" y="4562475"/>
            <a:ext cx="8429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07282"/>
                </a:solidFill>
                <a:latin typeface="Calibri"/>
                <a:ea typeface="Calibri"/>
                <a:cs typeface="Calibri"/>
              </a:defRPr>
            </a:defPPr>
          </a:lstStyle>
          <a:p xmlns:a="http://schemas.openxmlformats.org/drawingml/2006/main">
            <a:pPr algn="l">
              <a:buNone/>
              <a:defRPr sz="1200" b="0">
                <a:solidFill>
                  <a:srgbClr val="607282"/>
                </a:solidFill>
                <a:latin typeface="Calibri"/>
                <a:ea typeface="Calibri"/>
                <a:cs typeface="Calibri"/>
              </a:defRPr>
            </a:pPr>
            <a:r>
              <a:rPr sz="1200" b="0">
                <a:solidFill>
                  <a:srgbClr val="607282"/>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7602022C-BED2-40D8-BA8B-F6C6BFE07DED}"/>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007F86"/>
                </a:solidFill>
                <a:latin typeface="Calibri"/>
                <a:ea typeface="Calibri"/>
                <a:cs typeface="Calibri"/>
              </a:defRPr>
            </a:defPPr>
          </a:lstStyle>
          <a:p xmlns:a="http://schemas.openxmlformats.org/drawingml/2006/main">
            <a:pPr algn="l">
              <a:buNone/>
              <a:defRPr sz="975" b="1">
                <a:solidFill>
                  <a:srgbClr val="007F86"/>
                </a:solidFill>
                <a:latin typeface="Calibri"/>
                <a:ea typeface="Calibri"/>
                <a:cs typeface="Calibri"/>
              </a:defRPr>
            </a:pPr>
            <a:r>
              <a:rPr sz="975" b="1">
                <a:solidFill>
                  <a:srgbClr val="007F86"/>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D3D710A2-756B-4205-A6D9-6C002E9F423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C45"/>
                </a:solidFill>
                <a:latin typeface="Calibri"/>
                <a:ea typeface="Calibri"/>
                <a:cs typeface="Calibri"/>
              </a:defRPr>
            </a:defPPr>
          </a:lstStyle>
          <a:p xmlns:a="http://schemas.openxmlformats.org/drawingml/2006/main">
            <a:pPr algn="l">
              <a:buNone/>
              <a:defRPr sz="2550" b="1">
                <a:solidFill>
                  <a:srgbClr val="142C45"/>
                </a:solidFill>
                <a:latin typeface="Calibri"/>
                <a:ea typeface="Calibri"/>
                <a:cs typeface="Calibri"/>
              </a:defRPr>
            </a:pPr>
            <a:r>
              <a:rPr sz="2550" b="1">
                <a:solidFill>
                  <a:srgbClr val="142C45"/>
                </a:solidFill>
                <a:latin typeface="Calibri"/>
                <a:ea typeface="Calibri"/>
                <a:cs typeface="Calibri"/>
              </a:rPr>
              <a:t>Discussion and Study Limitations</a:t>
            </a:r>
          </a:p>
        </p:txBody>
      </p:sp>
      <p:sp>
        <p:nvSpPr>
          <p:cNvPr id="3" name="21 / 24">
            <a:extLst xmlns:a="http://schemas.openxmlformats.org/drawingml/2006/main">
              <a:ext uri="{FF2B5EF4-FFF2-40B4-BE49-F238E27FC236}">
                <a16:creationId xmlns:a16="http://schemas.microsoft.com/office/drawing/2014/main" id="{A8679683-0C36-4E25-A469-7DC7ACBF90BA}"/>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607282"/>
                </a:solidFill>
                <a:latin typeface="Calibri"/>
                <a:ea typeface="Calibri"/>
                <a:cs typeface="Calibri"/>
              </a:defRPr>
            </a:defPPr>
          </a:lstStyle>
          <a:p xmlns:a="http://schemas.openxmlformats.org/drawingml/2006/main">
            <a:pPr algn="r">
              <a:buNone/>
              <a:defRPr sz="825" b="0">
                <a:solidFill>
                  <a:srgbClr val="607282"/>
                </a:solidFill>
                <a:latin typeface="Calibri"/>
                <a:ea typeface="Calibri"/>
                <a:cs typeface="Calibri"/>
              </a:defRPr>
            </a:pPr>
            <a:r>
              <a:rPr sz="825" b="0">
                <a:solidFill>
                  <a:srgbClr val="607282"/>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25CD78C9-A314-4457-BC62-E2EF5139ADE4}"/>
              </a:ext>
            </a:extLst>
          </p:cNvPr>
          <p:cNvSpPr>
            <a:spLocks xmlns:a="http://schemas.openxmlformats.org/drawingml/2006/main" noGrp="1"/>
          </p:cNvSpPr>
          <p:nvPr/>
        </p:nvSpPr>
        <p:spPr>
          <a:xfrm xmlns:a="http://schemas.openxmlformats.org/drawingml/2006/main">
            <a:off x="34290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Recorded capability</a:t>
            </a:r>
          </a:p>
        </p:txBody>
      </p:sp>
      <p:sp>
        <p:nvSpPr>
          <p:cNvPr id="5" name="The prototype applied configured rules in the">
            <a:extLst xmlns:a="http://schemas.openxmlformats.org/drawingml/2006/main">
              <a:ext uri="{FF2B5EF4-FFF2-40B4-BE49-F238E27FC236}">
                <a16:creationId xmlns:a16="http://schemas.microsoft.com/office/drawing/2014/main" id="{8D8AF5B1-E7D1-467C-89CB-1F25FB0DDAD7}"/>
              </a:ext>
            </a:extLst>
          </p:cNvPr>
          <p:cNvSpPr>
            <a:spLocks xmlns:a="http://schemas.openxmlformats.org/drawingml/2006/main" noGrp="1"/>
          </p:cNvSpPr>
          <p:nvPr/>
        </p:nvSpPr>
        <p:spPr>
          <a:xfrm xmlns:a="http://schemas.openxmlformats.org/drawingml/2006/main">
            <a:off x="34290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The prototype applied configured rules in the recorded tests. Logical re-entry rejection does not establish physical tailgating prevention.</a:t>
            </a:r>
          </a:p>
        </p:txBody>
      </p:sp>
      <p:sp>
        <p:nvSpPr>
          <p:cNvPr id="6" name="Timing interpretation">
            <a:extLst xmlns:a="http://schemas.openxmlformats.org/drawingml/2006/main">
              <a:ext uri="{FF2B5EF4-FFF2-40B4-BE49-F238E27FC236}">
                <a16:creationId xmlns:a16="http://schemas.microsoft.com/office/drawing/2014/main" id="{1DC50B09-F66D-40FF-9D64-4CD43FF94281}"/>
              </a:ext>
            </a:extLst>
          </p:cNvPr>
          <p:cNvSpPr>
            <a:spLocks xmlns:a="http://schemas.openxmlformats.org/drawingml/2006/main" noGrp="1"/>
          </p:cNvSpPr>
          <p:nvPr/>
        </p:nvSpPr>
        <p:spPr>
          <a:xfrm xmlns:a="http://schemas.openxmlformats.org/drawingml/2006/main">
            <a:off x="34290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EBD96324-48AD-4F87-A3AE-FB66AF0E384D}"/>
              </a:ext>
            </a:extLst>
          </p:cNvPr>
          <p:cNvSpPr>
            <a:spLocks xmlns:a="http://schemas.openxmlformats.org/drawingml/2006/main" noGrp="1"/>
          </p:cNvSpPr>
          <p:nvPr/>
        </p:nvSpPr>
        <p:spPr>
          <a:xfrm xmlns:a="http://schemas.openxmlformats.org/drawingml/2006/main">
            <a:off x="34290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3AFE70AE-7FE1-4F15-A437-EEC0CA2CEE94}"/>
              </a:ext>
            </a:extLst>
          </p:cNvPr>
          <p:cNvSpPr>
            <a:spLocks xmlns:a="http://schemas.openxmlformats.org/drawingml/2006/main" noGrp="1"/>
          </p:cNvSpPr>
          <p:nvPr/>
        </p:nvSpPr>
        <p:spPr>
          <a:xfrm xmlns:a="http://schemas.openxmlformats.org/drawingml/2006/main">
            <a:off x="34290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F86"/>
                </a:solidFill>
                <a:latin typeface="Calibri"/>
                <a:ea typeface="Calibri"/>
                <a:cs typeface="Calibri"/>
              </a:defRPr>
            </a:defPPr>
          </a:lstStyle>
          <a:p xmlns:a="http://schemas.openxmlformats.org/drawingml/2006/main">
            <a:pPr algn="l">
              <a:buNone/>
              <a:defRPr sz="1725" b="1">
                <a:solidFill>
                  <a:srgbClr val="007F86"/>
                </a:solidFill>
                <a:latin typeface="Calibri"/>
                <a:ea typeface="Calibri"/>
                <a:cs typeface="Calibri"/>
              </a:defRPr>
            </a:pPr>
            <a:r>
              <a:rPr sz="1725" b="1">
                <a:solidFill>
                  <a:srgbClr val="007F86"/>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EB3A8B50-279D-4BCA-9A1A-2392C1CFC7C0}"/>
              </a:ext>
            </a:extLst>
          </p:cNvPr>
          <p:cNvSpPr>
            <a:spLocks xmlns:a="http://schemas.openxmlformats.org/drawingml/2006/main" noGrp="1"/>
          </p:cNvSpPr>
          <p:nvPr/>
        </p:nvSpPr>
        <p:spPr>
          <a:xfrm xmlns:a="http://schemas.openxmlformats.org/drawingml/2006/main">
            <a:off x="34290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24D"/>
                </a:solidFill>
                <a:latin typeface="Calibri"/>
                <a:ea typeface="Calibri"/>
                <a:cs typeface="Calibri"/>
              </a:defRPr>
            </a:defPPr>
          </a:lstStyle>
          <a:p xmlns:a="http://schemas.openxmlformats.org/drawingml/2006/main">
            <a:pPr algn="l">
              <a:buNone/>
              <a:defRPr sz="1650" b="0">
                <a:solidFill>
                  <a:srgbClr val="33424D"/>
                </a:solidFill>
                <a:latin typeface="Calibri"/>
                <a:ea typeface="Calibri"/>
                <a:cs typeface="Calibri"/>
              </a:defRPr>
            </a:pPr>
            <a:r>
              <a:rPr sz="1650" b="0">
                <a:solidFill>
                  <a:srgbClr val="33424D"/>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5314E34-CAB9-4761-AEA3-8789E04D2E3A}"/>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6AD0D4"/>
                </a:solidFill>
                <a:latin typeface="Calibri"/>
                <a:ea typeface="Calibri"/>
                <a:cs typeface="Calibri"/>
              </a:defRPr>
            </a:defPPr>
          </a:lstStyle>
          <a:p xmlns:a="http://schemas.openxmlformats.org/drawingml/2006/main">
            <a:pPr algn="l">
              <a:buNone/>
              <a:defRPr sz="975" b="1">
                <a:solidFill>
                  <a:srgbClr val="6AD0D4"/>
                </a:solidFill>
                <a:latin typeface="Calibri"/>
                <a:ea typeface="Calibri"/>
                <a:cs typeface="Calibri"/>
              </a:defRPr>
            </a:pPr>
            <a:r>
              <a:rPr sz="975" b="1">
                <a:solidFill>
                  <a:srgbClr val="6AD0D4"/>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F377566D-76D8-4F91-868A-7412D42DADF2}"/>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Calibri"/>
                <a:ea typeface="Calibri"/>
                <a:cs typeface="Calibri"/>
              </a:defRPr>
            </a:defPPr>
          </a:lstStyle>
          <a:p xmlns:a="http://schemas.openxmlformats.org/drawingml/2006/main">
            <a:pPr algn="l">
              <a:buNone/>
              <a:defRPr sz="2550" b="1">
                <a:solidFill>
                  <a:srgbClr val="FFFFFF"/>
                </a:solidFill>
                <a:latin typeface="Calibri"/>
                <a:ea typeface="Calibri"/>
                <a:cs typeface="Calibri"/>
              </a:defRPr>
            </a:pPr>
            <a:r>
              <a:rPr sz="2550" b="1">
                <a:solidFill>
                  <a:srgbClr val="FFFFFF"/>
                </a:solidFill>
                <a:latin typeface="Calibri"/>
                <a:ea typeface="Calibri"/>
                <a:cs typeface="Calibri"/>
              </a:rPr>
              <a:t>Conclusion</a:t>
            </a:r>
          </a:p>
        </p:txBody>
      </p:sp>
      <p:sp>
        <p:nvSpPr>
          <p:cNvPr id="3" name="22 / 24">
            <a:extLst xmlns:a="http://schemas.openxmlformats.org/drawingml/2006/main">
              <a:ext uri="{FF2B5EF4-FFF2-40B4-BE49-F238E27FC236}">
                <a16:creationId xmlns:a16="http://schemas.microsoft.com/office/drawing/2014/main" id="{81735C47-4244-436A-93AA-9930AF12A5F1}"/>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buNone/>
              <a:defRPr sz="825" b="0">
                <a:solidFill>
                  <a:srgbClr val="AEC0CB"/>
                </a:solidFill>
                <a:latin typeface="Calibri"/>
                <a:ea typeface="Calibri"/>
                <a:cs typeface="Calibri"/>
              </a:defRPr>
            </a:pPr>
            <a:r>
              <a:rPr sz="825" b="0">
                <a:solidFill>
                  <a:srgbClr val="AEC0CB"/>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CDCEA84C-690E-4E21-9895-4B6B15B87CFD}"/>
              </a:ext>
            </a:extLst>
          </p:cNvPr>
          <p:cNvSpPr>
            <a:spLocks xmlns:a="http://schemas.openxmlformats.org/drawingml/2006/main" noGrp="1"/>
          </p:cNvSpPr>
          <p:nvPr/>
        </p:nvSpPr>
        <p:spPr>
          <a:xfrm xmlns:a="http://schemas.openxmlformats.org/drawingml/2006/main">
            <a:off x="34290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195A9B77-3A52-464A-8D1D-C4E46F5D7526}"/>
              </a:ext>
            </a:extLst>
          </p:cNvPr>
          <p:cNvSpPr>
            <a:spLocks xmlns:a="http://schemas.openxmlformats.org/drawingml/2006/main" noGrp="1"/>
          </p:cNvSpPr>
          <p:nvPr/>
        </p:nvSpPr>
        <p:spPr>
          <a:xfrm xmlns:a="http://schemas.openxmlformats.org/drawingml/2006/main">
            <a:off x="34290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2EC727BC-466E-4EBC-B74B-E0680E5C1394}"/>
              </a:ext>
            </a:extLst>
          </p:cNvPr>
          <p:cNvSpPr>
            <a:spLocks xmlns:a="http://schemas.openxmlformats.org/drawingml/2006/main" noGrp="1"/>
          </p:cNvSpPr>
          <p:nvPr/>
        </p:nvSpPr>
        <p:spPr>
          <a:xfrm xmlns:a="http://schemas.openxmlformats.org/drawingml/2006/main">
            <a:off x="34290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Supported findings</a:t>
            </a:r>
          </a:p>
        </p:txBody>
      </p:sp>
      <p:sp>
        <p:nvSpPr>
          <p:cNvPr id="7" name="Controlled credential decisions matched expec">
            <a:extLst xmlns:a="http://schemas.openxmlformats.org/drawingml/2006/main">
              <a:ext uri="{FF2B5EF4-FFF2-40B4-BE49-F238E27FC236}">
                <a16:creationId xmlns:a16="http://schemas.microsoft.com/office/drawing/2014/main" id="{29B46020-5B6E-4785-8918-6B4DCD1ED984}"/>
              </a:ext>
            </a:extLst>
          </p:cNvPr>
          <p:cNvSpPr>
            <a:spLocks xmlns:a="http://schemas.openxmlformats.org/drawingml/2006/main" noGrp="1"/>
          </p:cNvSpPr>
          <p:nvPr/>
        </p:nvSpPr>
        <p:spPr>
          <a:xfrm xmlns:a="http://schemas.openxmlformats.org/drawingml/2006/main">
            <a:off x="34290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Controlled credential decisions matched expected outcomes. Respondents reported favorable perceived quality and higher overall system-group student ratings.</a:t>
            </a:r>
          </a:p>
        </p:txBody>
      </p:sp>
      <p:sp>
        <p:nvSpPr>
          <p:cNvPr id="8" name="Scope of the conclusion">
            <a:extLst xmlns:a="http://schemas.openxmlformats.org/drawingml/2006/main">
              <a:ext uri="{FF2B5EF4-FFF2-40B4-BE49-F238E27FC236}">
                <a16:creationId xmlns:a16="http://schemas.microsoft.com/office/drawing/2014/main" id="{920C6D80-337E-4323-B37A-C3D3B5DC3572}"/>
              </a:ext>
            </a:extLst>
          </p:cNvPr>
          <p:cNvSpPr>
            <a:spLocks xmlns:a="http://schemas.openxmlformats.org/drawingml/2006/main" noGrp="1"/>
          </p:cNvSpPr>
          <p:nvPr/>
        </p:nvSpPr>
        <p:spPr>
          <a:xfrm xmlns:a="http://schemas.openxmlformats.org/drawingml/2006/main">
            <a:off x="34290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AD0D4"/>
                </a:solidFill>
                <a:latin typeface="Calibri"/>
                <a:ea typeface="Calibri"/>
                <a:cs typeface="Calibri"/>
              </a:defRPr>
            </a:defPPr>
          </a:lstStyle>
          <a:p xmlns:a="http://schemas.openxmlformats.org/drawingml/2006/main">
            <a:pPr algn="l">
              <a:buNone/>
              <a:defRPr sz="1875" b="1">
                <a:solidFill>
                  <a:srgbClr val="6AD0D4"/>
                </a:solidFill>
                <a:latin typeface="Calibri"/>
                <a:ea typeface="Calibri"/>
                <a:cs typeface="Calibri"/>
              </a:defRPr>
            </a:pPr>
            <a:r>
              <a:rPr sz="1875" b="1">
                <a:solidFill>
                  <a:srgbClr val="6AD0D4"/>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0365DCCE-EBB8-444E-A12D-07ADA028A1B4}"/>
              </a:ext>
            </a:extLst>
          </p:cNvPr>
          <p:cNvSpPr>
            <a:spLocks xmlns:a="http://schemas.openxmlformats.org/drawingml/2006/main" noGrp="1"/>
          </p:cNvSpPr>
          <p:nvPr/>
        </p:nvSpPr>
        <p:spPr>
          <a:xfrm xmlns:a="http://schemas.openxmlformats.org/drawingml/2006/main">
            <a:off x="34290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3EBEF"/>
                </a:solidFill>
                <a:latin typeface="Calibri"/>
                <a:ea typeface="Calibri"/>
                <a:cs typeface="Calibri"/>
              </a:defRPr>
            </a:defPPr>
          </a:lstStyle>
          <a:p xmlns:a="http://schemas.openxmlformats.org/drawingml/2006/main">
            <a:pPr algn="l">
              <a:buNone/>
              <a:defRPr sz="1800" b="0">
                <a:solidFill>
                  <a:srgbClr val="E3EBEF"/>
                </a:solidFill>
                <a:latin typeface="Calibri"/>
                <a:ea typeface="Calibri"/>
                <a:cs typeface="Calibri"/>
              </a:defRPr>
            </a:pPr>
            <a:r>
              <a:rPr sz="1800" b="0">
                <a:solidFill>
                  <a:srgbClr val="E3EBEF"/>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B7060E2-8B1A-4D60-A625-BF81B75E32A9}"/>
              </a:ext>
            </a:extLst>
          </p:cNvPr>
          <p:cNvSpPr>
            <a:spLocks xmlns:a="http://schemas.openxmlformats.org/drawingml/2006/main" noGrp="1"/>
          </p:cNvSpPr>
          <p:nvPr/>
        </p:nvSpPr>
        <p:spPr>
          <a:xfrm xmlns:a="http://schemas.openxmlformats.org/drawingml/2006/main">
            <a:off x="342900" y="266700"/>
            <a:ext cx="842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6AD0D4"/>
                </a:solidFill>
                <a:latin typeface="Calibri"/>
                <a:ea typeface="Calibri"/>
                <a:cs typeface="Calibri"/>
              </a:defRPr>
            </a:defPPr>
          </a:lstStyle>
          <a:p xmlns:a="http://schemas.openxmlformats.org/drawingml/2006/main">
            <a:pPr algn="l">
              <a:buNone/>
              <a:defRPr sz="975" b="1">
                <a:solidFill>
                  <a:srgbClr val="6AD0D4"/>
                </a:solidFill>
                <a:latin typeface="Calibri"/>
                <a:ea typeface="Calibri"/>
                <a:cs typeface="Calibri"/>
              </a:defRPr>
            </a:pPr>
            <a:r>
              <a:rPr sz="975" b="1">
                <a:solidFill>
                  <a:srgbClr val="6AD0D4"/>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5886EF76-E3A4-4762-A7F7-B3557F189E01}"/>
              </a:ext>
            </a:extLst>
          </p:cNvPr>
          <p:cNvSpPr>
            <a:spLocks xmlns:a="http://schemas.openxmlformats.org/drawingml/2006/main" noGrp="1"/>
          </p:cNvSpPr>
          <p:nvPr/>
        </p:nvSpPr>
        <p:spPr>
          <a:xfrm xmlns:a="http://schemas.openxmlformats.org/drawingml/2006/main">
            <a:off x="342900" y="6191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Calibri"/>
                <a:ea typeface="Calibri"/>
                <a:cs typeface="Calibri"/>
              </a:defRPr>
            </a:defPPr>
          </a:lstStyle>
          <a:p xmlns:a="http://schemas.openxmlformats.org/drawingml/2006/main">
            <a:pPr algn="l">
              <a:buNone/>
              <a:defRPr sz="2550" b="1">
                <a:solidFill>
                  <a:srgbClr val="FFFFFF"/>
                </a:solidFill>
                <a:latin typeface="Calibri"/>
                <a:ea typeface="Calibri"/>
                <a:cs typeface="Calibri"/>
              </a:defRPr>
            </a:pPr>
            <a:r>
              <a:rPr sz="2550" b="1">
                <a:solidFill>
                  <a:srgbClr val="FFFFFF"/>
                </a:solidFill>
                <a:latin typeface="Calibri"/>
                <a:ea typeface="Calibri"/>
                <a:cs typeface="Calibri"/>
              </a:rPr>
              <a:t>Recommendations for Further Evaluation</a:t>
            </a:r>
          </a:p>
        </p:txBody>
      </p:sp>
      <p:sp>
        <p:nvSpPr>
          <p:cNvPr id="3" name="23 / 24">
            <a:extLst xmlns:a="http://schemas.openxmlformats.org/drawingml/2006/main">
              <a:ext uri="{FF2B5EF4-FFF2-40B4-BE49-F238E27FC236}">
                <a16:creationId xmlns:a16="http://schemas.microsoft.com/office/drawing/2014/main" id="{4BC1D412-6A27-4219-A113-EA7931480D64}"/>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buNone/>
              <a:defRPr sz="825" b="0">
                <a:solidFill>
                  <a:srgbClr val="AEC0CB"/>
                </a:solidFill>
                <a:latin typeface="Calibri"/>
                <a:ea typeface="Calibri"/>
                <a:cs typeface="Calibri"/>
              </a:defRPr>
            </a:pPr>
            <a:r>
              <a:rPr sz="825" b="0">
                <a:solidFill>
                  <a:srgbClr val="AEC0CB"/>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080918CD-60E9-4E89-A88A-63F2A18FEB16}"/>
              </a:ext>
            </a:extLst>
          </p:cNvPr>
          <p:cNvSpPr>
            <a:spLocks xmlns:a="http://schemas.openxmlformats.org/drawingml/2006/main" noGrp="1"/>
          </p:cNvSpPr>
          <p:nvPr/>
        </p:nvSpPr>
        <p:spPr>
          <a:xfrm xmlns:a="http://schemas.openxmlformats.org/drawingml/2006/main">
            <a:off x="34290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19CFA843-D787-4971-88C4-54E32A72AB70}"/>
              </a:ext>
            </a:extLst>
          </p:cNvPr>
          <p:cNvSpPr>
            <a:spLocks xmlns:a="http://schemas.openxmlformats.org/drawingml/2006/main" noGrp="1"/>
          </p:cNvSpPr>
          <p:nvPr/>
        </p:nvSpPr>
        <p:spPr>
          <a:xfrm xmlns:a="http://schemas.openxmlformats.org/drawingml/2006/main">
            <a:off x="34290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91424BD7-1916-42F8-99A1-CD5E60148BE7}"/>
              </a:ext>
            </a:extLst>
          </p:cNvPr>
          <p:cNvSpPr>
            <a:spLocks xmlns:a="http://schemas.openxmlformats.org/drawingml/2006/main" noGrp="1"/>
          </p:cNvSpPr>
          <p:nvPr/>
        </p:nvSpPr>
        <p:spPr>
          <a:xfrm xmlns:a="http://schemas.openxmlformats.org/drawingml/2006/main">
            <a:off x="34290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765193D5-09D3-41A8-9965-FF573820F4BA}"/>
              </a:ext>
            </a:extLst>
          </p:cNvPr>
          <p:cNvSpPr>
            <a:spLocks xmlns:a="http://schemas.openxmlformats.org/drawingml/2006/main" noGrp="1"/>
          </p:cNvSpPr>
          <p:nvPr/>
        </p:nvSpPr>
        <p:spPr>
          <a:xfrm xmlns:a="http://schemas.openxmlformats.org/drawingml/2006/main">
            <a:off x="34290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B345823C-4F6B-4EBB-A3B3-647E551D0042}"/>
              </a:ext>
            </a:extLst>
          </p:cNvPr>
          <p:cNvSpPr>
            <a:spLocks xmlns:a="http://schemas.openxmlformats.org/drawingml/2006/main" noGrp="1"/>
          </p:cNvSpPr>
          <p:nvPr/>
        </p:nvSpPr>
        <p:spPr>
          <a:xfrm xmlns:a="http://schemas.openxmlformats.org/drawingml/2006/main">
            <a:off x="34290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buNone/>
              <a:defRPr sz="1800" b="1">
                <a:solidFill>
                  <a:srgbClr val="6AD0D4"/>
                </a:solidFill>
                <a:latin typeface="Calibri"/>
                <a:ea typeface="Calibri"/>
                <a:cs typeface="Calibri"/>
              </a:defRPr>
            </a:pPr>
            <a:r>
              <a:rPr sz="1800" b="1">
                <a:solidFill>
                  <a:srgbClr val="6AD0D4"/>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1510D1FE-1004-4880-8F5D-DB2C71139321}"/>
              </a:ext>
            </a:extLst>
          </p:cNvPr>
          <p:cNvSpPr>
            <a:spLocks xmlns:a="http://schemas.openxmlformats.org/drawingml/2006/main" noGrp="1"/>
          </p:cNvSpPr>
          <p:nvPr/>
        </p:nvSpPr>
        <p:spPr>
          <a:xfrm xmlns:a="http://schemas.openxmlformats.org/drawingml/2006/main">
            <a:off x="34290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3EBEF"/>
                </a:solidFill>
                <a:latin typeface="Calibri"/>
                <a:ea typeface="Calibri"/>
                <a:cs typeface="Calibri"/>
              </a:defRPr>
            </a:defPPr>
          </a:lstStyle>
          <a:p xmlns:a="http://schemas.openxmlformats.org/drawingml/2006/main">
            <a:pPr algn="l">
              <a:buNone/>
              <a:defRPr sz="1725" b="0">
                <a:solidFill>
                  <a:srgbClr val="E3EBEF"/>
                </a:solidFill>
                <a:latin typeface="Calibri"/>
                <a:ea typeface="Calibri"/>
                <a:cs typeface="Calibri"/>
              </a:defRPr>
            </a:pPr>
            <a:r>
              <a:rPr sz="1725" b="0">
                <a:solidFill>
                  <a:srgbClr val="E3EBEF"/>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5" name="SYSTEM DEMONSTRATION">
            <a:extLst xmlns:a="http://schemas.openxmlformats.org/drawingml/2006/main">
              <a:ext uri="{FF2B5EF4-FFF2-40B4-BE49-F238E27FC236}">
                <a16:creationId xmlns:a16="http://schemas.microsoft.com/office/drawing/2014/main" id="{FFFAFB5B-3FE9-4F6B-93F0-298A38B1061A}"/>
              </a:ext>
            </a:extLst>
          </p:cNvPr>
          <p:cNvSpPr>
            <a:spLocks xmlns:a="http://schemas.openxmlformats.org/drawingml/2006/main" noGrp="1"/>
          </p:cNvSpPr>
          <p:nvPr/>
        </p:nvSpPr>
        <p:spPr>
          <a:xfrm xmlns:a="http://schemas.openxmlformats.org/drawingml/2006/main">
            <a:off x="457200" y="1428750"/>
            <a:ext cx="822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6AD0D4"/>
                </a:solidFill>
                <a:latin typeface="Calibri"/>
                <a:ea typeface="Calibri"/>
                <a:cs typeface="Calibri"/>
              </a:defRPr>
            </a:defPPr>
          </a:lstStyle>
          <a:p xmlns:a="http://schemas.openxmlformats.org/drawingml/2006/main">
            <a:pPr algn="l">
              <a:defRPr sz="1350" b="1">
                <a:solidFill>
                  <a:srgbClr val="6AD0D4"/>
                </a:solidFill>
                <a:latin typeface="Calibri"/>
                <a:ea typeface="Calibri"/>
                <a:cs typeface="Calibri"/>
              </a:defRPr>
            </a:pPr>
            <a:r>
              <a:rPr sz="1350" b="1">
                <a:solidFill>
                  <a:srgbClr val="6AD0D4"/>
                </a:solidFill>
                <a:latin typeface="Calibri"/>
                <a:ea typeface="Calibri"/>
                <a:cs typeface="Calibri"/>
              </a:rPr>
              <a:t>SYSTEM DEMONSTRATION</a:t>
            </a:r>
          </a:p>
        </p:txBody>
      </p:sp>
      <p:sp>
        <p:nvSpPr>
          <p:cNvPr id="2" name="Live Demo and Questions">
            <a:extLst xmlns:a="http://schemas.openxmlformats.org/drawingml/2006/main">
              <a:ext uri="{FF2B5EF4-FFF2-40B4-BE49-F238E27FC236}">
                <a16:creationId xmlns:a16="http://schemas.microsoft.com/office/drawing/2014/main" id="{B0343BE2-A34E-4B9E-8306-97658CE25F77}"/>
              </a:ext>
            </a:extLst>
          </p:cNvPr>
          <p:cNvSpPr>
            <a:spLocks xmlns:a="http://schemas.openxmlformats.org/drawingml/2006/main" noGrp="1"/>
          </p:cNvSpPr>
          <p:nvPr/>
        </p:nvSpPr>
        <p:spPr>
          <a:xfrm xmlns:a="http://schemas.openxmlformats.org/drawingml/2006/main">
            <a:off x="457200" y="2047875"/>
            <a:ext cx="8229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Live Demo and Questions</a:t>
            </a:r>
          </a:p>
        </p:txBody>
      </p:sp>
      <p:sp>
        <p:nvSpPr>
          <p:cNvPr id="3" name="Configured modes, entry/exit timestamps, alerts,&#10;and authori">
            <a:extLst xmlns:a="http://schemas.openxmlformats.org/drawingml/2006/main">
              <a:ext uri="{FF2B5EF4-FFF2-40B4-BE49-F238E27FC236}">
                <a16:creationId xmlns:a16="http://schemas.microsoft.com/office/drawing/2014/main" id="{FA7A194D-FC50-433A-BBAD-A1A09CF88AF4}"/>
              </a:ext>
            </a:extLst>
          </p:cNvPr>
          <p:cNvSpPr>
            <a:spLocks xmlns:a="http://schemas.openxmlformats.org/drawingml/2006/main" noGrp="1"/>
          </p:cNvSpPr>
          <p:nvPr/>
        </p:nvSpPr>
        <p:spPr>
          <a:xfrm xmlns:a="http://schemas.openxmlformats.org/drawingml/2006/main">
            <a:off x="457200" y="3105150"/>
            <a:ext cx="7953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DD6"/>
                </a:solidFill>
                <a:latin typeface="Calibri"/>
                <a:ea typeface="Calibri"/>
                <a:cs typeface="Calibri"/>
              </a:defRPr>
            </a:defPPr>
          </a:lstStyle>
          <a:p xmlns:a="http://schemas.openxmlformats.org/drawingml/2006/main">
            <a:pPr algn="l">
              <a:defRPr sz="1800" b="0">
                <a:solidFill>
                  <a:srgbClr val="BDCDD6"/>
                </a:solidFill>
                <a:latin typeface="Calibri"/>
                <a:ea typeface="Calibri"/>
                <a:cs typeface="Calibri"/>
              </a:defRPr>
            </a:pPr>
            <a:r>
              <a:rPr sz="1800" b="0">
                <a:solidFill>
                  <a:srgbClr val="BDCDD6"/>
                </a:solidFill>
                <a:latin typeface="Calibri"/>
                <a:ea typeface="Calibri"/>
                <a:cs typeface="Calibri"/>
              </a:rPr>
              <a:t>Configured modes, entry/exit timestamps, alerts,</a:t>
            </a:r>
          </a:p>
          <a:p xmlns:a="http://schemas.openxmlformats.org/drawingml/2006/main">
            <a:pPr algn="l">
              <a:defRPr sz="1800" b="0">
                <a:solidFill>
                  <a:srgbClr val="BDCDD6"/>
                </a:solidFill>
                <a:latin typeface="Calibri"/>
                <a:ea typeface="Calibri"/>
                <a:cs typeface="Calibri"/>
              </a:defRPr>
            </a:pPr>
            <a:r>
              <a:rPr sz="1800" b="0">
                <a:solidFill>
                  <a:srgbClr val="BDCDD6"/>
                </a:solidFill>
                <a:latin typeface="Calibri"/>
                <a:ea typeface="Calibri"/>
                <a:cs typeface="Calibri"/>
              </a:rPr>
              <a:t>and authorized local cleanup</a:t>
            </a:r>
          </a:p>
        </p:txBody>
      </p:sp>
      <p:sp>
        <p:nvSpPr>
          <p:cNvPr id="4" name="24 / 24">
            <a:extLst xmlns:a="http://schemas.openxmlformats.org/drawingml/2006/main">
              <a:ext uri="{FF2B5EF4-FFF2-40B4-BE49-F238E27FC236}">
                <a16:creationId xmlns:a16="http://schemas.microsoft.com/office/drawing/2014/main" id="{3368F716-9911-41B0-8442-491E0A066E06}"/>
              </a:ext>
            </a:extLst>
          </p:cNvPr>
          <p:cNvSpPr>
            <a:spLocks xmlns:a="http://schemas.openxmlformats.org/drawingml/2006/main" noGrp="1"/>
          </p:cNvSpPr>
          <p:nvPr/>
        </p:nvSpPr>
        <p:spPr>
          <a:xfrm xmlns:a="http://schemas.openxmlformats.org/drawingml/2006/main">
            <a:off x="81724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EC0CB"/>
                </a:solidFill>
                <a:latin typeface="Calibri"/>
                <a:ea typeface="Calibri"/>
                <a:cs typeface="Calibri"/>
              </a:defRPr>
            </a:defPPr>
          </a:lstStyle>
          <a:p xmlns:a="http://schemas.openxmlformats.org/drawingml/2006/main">
            <a:pPr algn="r">
              <a:defRPr sz="825" b="0">
                <a:solidFill>
                  <a:srgbClr val="AEC0CB"/>
                </a:solidFill>
                <a:latin typeface="Calibri"/>
                <a:ea typeface="Calibri"/>
                <a:cs typeface="Calibri"/>
              </a:defRPr>
            </a:pPr>
            <a:r>
              <a:rPr sz="825" b="0">
                <a:solidFill>
                  <a:srgbClr val="AEC0CB"/>
                </a:solidFill>
                <a:latin typeface="Calibri"/>
                <a:ea typeface="Calibri"/>
                <a:cs typeface="Calibri"/>
              </a:rPr>
              <a:t>24 / 24</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2026-10-12T11:44:14.8120000Z</dcterms:created>
  <dcterms:modified xsi:type="dcterms:W3CDTF">2026-10-12T11:44:14.8120000Z</dcterms:modified>
</coreProperties>
</file>