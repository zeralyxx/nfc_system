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4ce29ebaa6d491a" /><Relationship Type="http://schemas.openxmlformats.org/officeDocument/2006/relationships/extended-properties" Target="/docProps/app.xml" Id="R4f78398074b846c3" /><Relationship Type="http://schemas.openxmlformats.org/officeDocument/2006/relationships/officeDocument" Target="/ppt/presentation.xml" Id="R7f236fdbd8be47f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e28087c10dc418e"/>
  </p:sldMasterIdLst>
  <p:notesMasterIdLst>
    <p:notesMasterId xmlns:r="http://schemas.openxmlformats.org/officeDocument/2006/relationships" r:id="Rfa07eaf0e138446a"/>
  </p:notesMasterIdLst>
  <p:sldIdLst>
    <p:sldId xmlns:r="http://schemas.openxmlformats.org/officeDocument/2006/relationships" id="256" r:id="Rf11bf5ae32bd48be"/>
    <p:sldId xmlns:r="http://schemas.openxmlformats.org/officeDocument/2006/relationships" id="257" r:id="Reb322edb235745ca"/>
    <p:sldId xmlns:r="http://schemas.openxmlformats.org/officeDocument/2006/relationships" id="258" r:id="Rd8cdef502d4b4596"/>
    <p:sldId xmlns:r="http://schemas.openxmlformats.org/officeDocument/2006/relationships" id="259" r:id="Rf2bdeb7268364359"/>
    <p:sldId xmlns:r="http://schemas.openxmlformats.org/officeDocument/2006/relationships" id="260" r:id="R1da7e85ef7024ada"/>
    <p:sldId xmlns:r="http://schemas.openxmlformats.org/officeDocument/2006/relationships" id="261" r:id="R26c1b43af442442a"/>
    <p:sldId xmlns:r="http://schemas.openxmlformats.org/officeDocument/2006/relationships" id="262" r:id="Ra898c486363346e2"/>
    <p:sldId xmlns:r="http://schemas.openxmlformats.org/officeDocument/2006/relationships" id="263" r:id="R3a77439808c44c5d"/>
    <p:sldId xmlns:r="http://schemas.openxmlformats.org/officeDocument/2006/relationships" id="264" r:id="R26b6c4dbea07490e"/>
    <p:sldId xmlns:r="http://schemas.openxmlformats.org/officeDocument/2006/relationships" id="265" r:id="Rcba94e49d218424d"/>
    <p:sldId xmlns:r="http://schemas.openxmlformats.org/officeDocument/2006/relationships" id="266" r:id="R2141bdc57af7429f"/>
    <p:sldId xmlns:r="http://schemas.openxmlformats.org/officeDocument/2006/relationships" id="267" r:id="Re32821cb52e5406c"/>
    <p:sldId xmlns:r="http://schemas.openxmlformats.org/officeDocument/2006/relationships" id="268" r:id="R00e115806ae14000"/>
    <p:sldId xmlns:r="http://schemas.openxmlformats.org/officeDocument/2006/relationships" id="269" r:id="R1ea8c28882e04e5c"/>
    <p:sldId xmlns:r="http://schemas.openxmlformats.org/officeDocument/2006/relationships" id="270" r:id="Re8c6fd1806d2499e"/>
    <p:sldId xmlns:r="http://schemas.openxmlformats.org/officeDocument/2006/relationships" id="271" r:id="R2bd15db66db5432b"/>
    <p:sldId xmlns:r="http://schemas.openxmlformats.org/officeDocument/2006/relationships" id="272" r:id="R8adcd115f31a491e"/>
    <p:sldId xmlns:r="http://schemas.openxmlformats.org/officeDocument/2006/relationships" id="273" r:id="R477878b805f34d7d"/>
    <p:sldId xmlns:r="http://schemas.openxmlformats.org/officeDocument/2006/relationships" id="274" r:id="R70a406c40a444050"/>
    <p:sldId xmlns:r="http://schemas.openxmlformats.org/officeDocument/2006/relationships" id="275" r:id="Ra1260cdfd8d44b53"/>
    <p:sldId xmlns:r="http://schemas.openxmlformats.org/officeDocument/2006/relationships" id="276" r:id="R47207288e64f4091"/>
    <p:sldId xmlns:r="http://schemas.openxmlformats.org/officeDocument/2006/relationships" id="277" r:id="Rb7508eedd1d64dc5"/>
    <p:sldId xmlns:r="http://schemas.openxmlformats.org/officeDocument/2006/relationships" id="278" r:id="Ra7934092c3854a9d"/>
    <p:sldId xmlns:r="http://schemas.openxmlformats.org/officeDocument/2006/relationships" id="279" r:id="R0322fe1e330b4521"/>
  </p:sldIdLst>
  <p:sldSz cx="9144000" cy="5143500"/>
  <p:notesSz cx="6858000" cy="9144000"/>
  <p:embeddedFontLst>
    <p:embeddedFont>
      <p:font typeface="Inter SemiBold"/>
      <p:regular xmlns:r="http://schemas.openxmlformats.org/officeDocument/2006/relationships" r:id="Rb8f5d4729c474e90"/>
      <p:bold xmlns:r="http://schemas.openxmlformats.org/officeDocument/2006/relationships" r:id="Rf5e404b54dbf48dd"/>
      <p:italic xmlns:r="http://schemas.openxmlformats.org/officeDocument/2006/relationships" r:id="R4e16e5f56dde44d7"/>
      <p:boldItalic xmlns:r="http://schemas.openxmlformats.org/officeDocument/2006/relationships" r:id="Rab5f4047f2c34c67"/>
    </p:embeddedFont>
    <p:embeddedFont>
      <p:font typeface="Inter"/>
      <p:bold xmlns:r="http://schemas.openxmlformats.org/officeDocument/2006/relationships" r:id="R15dc40745f4f4a06"/>
      <p:boldItalic xmlns:r="http://schemas.openxmlformats.org/officeDocument/2006/relationships" r:id="R14715d5da80c471f"/>
    </p:embeddedFont>
    <p:embeddedFont>
      <p:font typeface="Inter ExtraBold"/>
      <p:bold xmlns:r="http://schemas.openxmlformats.org/officeDocument/2006/relationships" r:id="R65bf4c4507bd4df0"/>
      <p:boldItalic xmlns:r="http://schemas.openxmlformats.org/officeDocument/2006/relationships" r:id="R11ff0e693c464115"/>
    </p:embeddedFont>
    <p:embeddedFont>
      <p:font typeface="Inter Medium"/>
      <p:regular xmlns:r="http://schemas.openxmlformats.org/officeDocument/2006/relationships" r:id="Rfafd9c725bb848d1"/>
      <p:bold xmlns:r="http://schemas.openxmlformats.org/officeDocument/2006/relationships" r:id="Re4d7cbe021f94b9e"/>
      <p:italic xmlns:r="http://schemas.openxmlformats.org/officeDocument/2006/relationships" r:id="R9be95f2c17294bb7"/>
      <p:boldItalic xmlns:r="http://schemas.openxmlformats.org/officeDocument/2006/relationships" r:id="R57d3e9bbed6f4ddd"/>
    </p:embeddedFont>
    <p:embeddedFont>
      <p:font typeface="Inter Black"/>
      <p:bold xmlns:r="http://schemas.openxmlformats.org/officeDocument/2006/relationships" r:id="Rcc884db36b924a90"/>
      <p:boldItalic xmlns:r="http://schemas.openxmlformats.org/officeDocument/2006/relationships" r:id="R9b82e07fe42d4643"/>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5a4b2bb71c9b4867" /><Relationship Type="http://schemas.openxmlformats.org/officeDocument/2006/relationships/slideMaster" Target="/ppt/slideMasters/slideMaster1.xml" Id="R5e28087c10dc418e" /><Relationship Type="http://schemas.openxmlformats.org/officeDocument/2006/relationships/notesMaster" Target="/ppt/notesMasters/notesMaster1.xml" Id="Rfa07eaf0e138446a" /><Relationship Type="http://schemas.openxmlformats.org/officeDocument/2006/relationships/presProps" Target="/ppt/presProps.xml" Id="R4bc87ddddcd24bc2" /><Relationship Type="http://schemas.openxmlformats.org/officeDocument/2006/relationships/viewProps" Target="/ppt/viewProps.xml" Id="R21c4009d253e46a8" /><Relationship Type="http://schemas.openxmlformats.org/officeDocument/2006/relationships/tableStyles" Target="/ppt/tableStyles.xml" Id="Rd580aa83fe664b0c" /><Relationship Type="http://schemas.openxmlformats.org/officeDocument/2006/relationships/font" Target="/ppt/fonts/font.dat" Id="Rb8f5d4729c474e90" /><Relationship Type="http://schemas.openxmlformats.org/officeDocument/2006/relationships/font" Target="/ppt/fonts/font2.dat" Id="Rf5e404b54dbf48dd" /><Relationship Type="http://schemas.openxmlformats.org/officeDocument/2006/relationships/font" Target="/ppt/fonts/font3.dat" Id="R4e16e5f56dde44d7" /><Relationship Type="http://schemas.openxmlformats.org/officeDocument/2006/relationships/font" Target="/ppt/fonts/font4.dat" Id="Rab5f4047f2c34c67" /><Relationship Type="http://schemas.openxmlformats.org/officeDocument/2006/relationships/font" Target="/ppt/fonts/font5.dat" Id="R15dc40745f4f4a06" /><Relationship Type="http://schemas.openxmlformats.org/officeDocument/2006/relationships/font" Target="/ppt/fonts/font6.dat" Id="R14715d5da80c471f" /><Relationship Type="http://schemas.openxmlformats.org/officeDocument/2006/relationships/font" Target="/ppt/fonts/font7.dat" Id="R65bf4c4507bd4df0" /><Relationship Type="http://schemas.openxmlformats.org/officeDocument/2006/relationships/font" Target="/ppt/fonts/font8.dat" Id="R11ff0e693c464115" /><Relationship Type="http://schemas.openxmlformats.org/officeDocument/2006/relationships/font" Target="/ppt/fonts/font9.dat" Id="Rfafd9c725bb848d1" /><Relationship Type="http://schemas.openxmlformats.org/officeDocument/2006/relationships/font" Target="/ppt/fonts/font10.dat" Id="Re4d7cbe021f94b9e" /><Relationship Type="http://schemas.openxmlformats.org/officeDocument/2006/relationships/font" Target="/ppt/fonts/font11.dat" Id="R9be95f2c17294bb7" /><Relationship Type="http://schemas.openxmlformats.org/officeDocument/2006/relationships/font" Target="/ppt/fonts/font12.dat" Id="R57d3e9bbed6f4ddd" /><Relationship Type="http://schemas.openxmlformats.org/officeDocument/2006/relationships/font" Target="/ppt/fonts/font13.dat" Id="Rcc884db36b924a90" /><Relationship Type="http://schemas.openxmlformats.org/officeDocument/2006/relationships/font" Target="/ppt/fonts/font14.dat" Id="R9b82e07fe42d4643" /><Relationship Type="http://schemas.openxmlformats.org/officeDocument/2006/relationships/slide" Target="/ppt/slides/slide1.xml" Id="Rf11bf5ae32bd48be" /><Relationship Type="http://schemas.openxmlformats.org/officeDocument/2006/relationships/slide" Target="/ppt/slides/slide2.xml" Id="Reb322edb235745ca" /><Relationship Type="http://schemas.openxmlformats.org/officeDocument/2006/relationships/slide" Target="/ppt/slides/slide3.xml" Id="Rd8cdef502d4b4596" /><Relationship Type="http://schemas.openxmlformats.org/officeDocument/2006/relationships/slide" Target="/ppt/slides/slide4.xml" Id="Rf2bdeb7268364359" /><Relationship Type="http://schemas.openxmlformats.org/officeDocument/2006/relationships/slide" Target="/ppt/slides/slide5.xml" Id="R1da7e85ef7024ada" /><Relationship Type="http://schemas.openxmlformats.org/officeDocument/2006/relationships/slide" Target="/ppt/slides/slide6.xml" Id="R26c1b43af442442a" /><Relationship Type="http://schemas.openxmlformats.org/officeDocument/2006/relationships/slide" Target="/ppt/slides/slide7.xml" Id="Ra898c486363346e2" /><Relationship Type="http://schemas.openxmlformats.org/officeDocument/2006/relationships/slide" Target="/ppt/slides/slide8.xml" Id="R3a77439808c44c5d" /><Relationship Type="http://schemas.openxmlformats.org/officeDocument/2006/relationships/slide" Target="/ppt/slides/slide9.xml" Id="R26b6c4dbea07490e" /><Relationship Type="http://schemas.openxmlformats.org/officeDocument/2006/relationships/slide" Target="/ppt/slides/slide10.xml" Id="Rcba94e49d218424d" /><Relationship Type="http://schemas.openxmlformats.org/officeDocument/2006/relationships/slide" Target="/ppt/slides/slide11.xml" Id="R2141bdc57af7429f" /><Relationship Type="http://schemas.openxmlformats.org/officeDocument/2006/relationships/slide" Target="/ppt/slides/slide12.xml" Id="Re32821cb52e5406c" /><Relationship Type="http://schemas.openxmlformats.org/officeDocument/2006/relationships/slide" Target="/ppt/slides/slide13.xml" Id="R00e115806ae14000" /><Relationship Type="http://schemas.openxmlformats.org/officeDocument/2006/relationships/slide" Target="/ppt/slides/slide14.xml" Id="R1ea8c28882e04e5c" /><Relationship Type="http://schemas.openxmlformats.org/officeDocument/2006/relationships/slide" Target="/ppt/slides/slide15.xml" Id="Re8c6fd1806d2499e" /><Relationship Type="http://schemas.openxmlformats.org/officeDocument/2006/relationships/slide" Target="/ppt/slides/slide16.xml" Id="R2bd15db66db5432b" /><Relationship Type="http://schemas.openxmlformats.org/officeDocument/2006/relationships/slide" Target="/ppt/slides/slide17.xml" Id="R8adcd115f31a491e" /><Relationship Type="http://schemas.openxmlformats.org/officeDocument/2006/relationships/slide" Target="/ppt/slides/slide18.xml" Id="R477878b805f34d7d" /><Relationship Type="http://schemas.openxmlformats.org/officeDocument/2006/relationships/slide" Target="/ppt/slides/slide19.xml" Id="R70a406c40a444050" /><Relationship Type="http://schemas.openxmlformats.org/officeDocument/2006/relationships/slide" Target="/ppt/slides/slide20.xml" Id="Ra1260cdfd8d44b53" /><Relationship Type="http://schemas.openxmlformats.org/officeDocument/2006/relationships/slide" Target="/ppt/slides/slide21.xml" Id="R47207288e64f4091" /><Relationship Type="http://schemas.openxmlformats.org/officeDocument/2006/relationships/slide" Target="/ppt/slides/slide22.xml" Id="Rb7508eedd1d64dc5" /><Relationship Type="http://schemas.openxmlformats.org/officeDocument/2006/relationships/slide" Target="/ppt/slides/slide23.xml" Id="Ra7934092c3854a9d" /><Relationship Type="http://schemas.openxmlformats.org/officeDocument/2006/relationships/slide" Target="/ppt/slides/slide24.xml" Id="R0322fe1e330b45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5f4c69cad94b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5b253a1ce54eaa" /><Relationship Type="http://schemas.openxmlformats.org/officeDocument/2006/relationships/notesMaster" Target="/ppt/notesMasters/notesMaster1.xml" Id="R8c763882049647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6360ad44af4292" /><Relationship Type="http://schemas.openxmlformats.org/officeDocument/2006/relationships/notesMaster" Target="/ppt/notesMasters/notesMaster1.xml" Id="R83b02cd573364f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55adf3fa5244bd" /><Relationship Type="http://schemas.openxmlformats.org/officeDocument/2006/relationships/notesMaster" Target="/ppt/notesMasters/notesMaster1.xml" Id="R2e6e4e0b832f43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d9a3c7903b4ce2" /><Relationship Type="http://schemas.openxmlformats.org/officeDocument/2006/relationships/notesMaster" Target="/ppt/notesMasters/notesMaster1.xml" Id="Rdf060e30650e48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b2e43b0287439d" /><Relationship Type="http://schemas.openxmlformats.org/officeDocument/2006/relationships/notesMaster" Target="/ppt/notesMasters/notesMaster1.xml" Id="R840f73f6c33048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38e08ba85f4469" /><Relationship Type="http://schemas.openxmlformats.org/officeDocument/2006/relationships/notesMaster" Target="/ppt/notesMasters/notesMaster1.xml" Id="R563821362e9741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4e454a80ec48c9" /><Relationship Type="http://schemas.openxmlformats.org/officeDocument/2006/relationships/notesMaster" Target="/ppt/notesMasters/notesMaster1.xml" Id="Rfa8d788b3d1743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5a5921ee9b4de1" /><Relationship Type="http://schemas.openxmlformats.org/officeDocument/2006/relationships/notesMaster" Target="/ppt/notesMasters/notesMaster1.xml" Id="Rc60a8993a8f346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7a51e1ab3c42d2" /><Relationship Type="http://schemas.openxmlformats.org/officeDocument/2006/relationships/notesMaster" Target="/ppt/notesMasters/notesMaster1.xml" Id="Rf2b32676f4d749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4f39f7100d43c0" /><Relationship Type="http://schemas.openxmlformats.org/officeDocument/2006/relationships/notesMaster" Target="/ppt/notesMasters/notesMaster1.xml" Id="R5f3e1f416b5148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14ee8de34841a7" /><Relationship Type="http://schemas.openxmlformats.org/officeDocument/2006/relationships/notesMaster" Target="/ppt/notesMasters/notesMaster1.xml" Id="R91f8d1df3c994d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53112009c349f1" /><Relationship Type="http://schemas.openxmlformats.org/officeDocument/2006/relationships/notesMaster" Target="/ppt/notesMasters/notesMaster1.xml" Id="R9db5077e5bf94a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36ae8895234278" /><Relationship Type="http://schemas.openxmlformats.org/officeDocument/2006/relationships/notesMaster" Target="/ppt/notesMasters/notesMaster1.xml" Id="Rfcd3605566f94b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d6d350fedd4be2" /><Relationship Type="http://schemas.openxmlformats.org/officeDocument/2006/relationships/notesMaster" Target="/ppt/notesMasters/notesMaster1.xml" Id="Rd75350d69b2e49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fa7927ef39478b" /><Relationship Type="http://schemas.openxmlformats.org/officeDocument/2006/relationships/notesMaster" Target="/ppt/notesMasters/notesMaster1.xml" Id="Rdd527354a7a84f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a5bdb9776646c8" /><Relationship Type="http://schemas.openxmlformats.org/officeDocument/2006/relationships/notesMaster" Target="/ppt/notesMasters/notesMaster1.xml" Id="R4bd21178b84c43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37648eefc90467e" /><Relationship Type="http://schemas.openxmlformats.org/officeDocument/2006/relationships/notesMaster" Target="/ppt/notesMasters/notesMaster1.xml" Id="R8702c475c0484c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12a351e2724d25" /><Relationship Type="http://schemas.openxmlformats.org/officeDocument/2006/relationships/notesMaster" Target="/ppt/notesMasters/notesMaster1.xml" Id="R79f30c2693b84d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b6e64860bd94eb1" /><Relationship Type="http://schemas.openxmlformats.org/officeDocument/2006/relationships/notesMaster" Target="/ppt/notesMasters/notesMaster1.xml" Id="R9d068b275ddb48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cb46138f1e478f" /><Relationship Type="http://schemas.openxmlformats.org/officeDocument/2006/relationships/notesMaster" Target="/ppt/notesMasters/notesMaster1.xml" Id="Ra727ed6fd9b841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af73a6f7034a85" /><Relationship Type="http://schemas.openxmlformats.org/officeDocument/2006/relationships/notesMaster" Target="/ppt/notesMasters/notesMaster1.xml" Id="R8a0ec8b5ee9f473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492becc622b4b96" /><Relationship Type="http://schemas.openxmlformats.org/officeDocument/2006/relationships/notesMaster" Target="/ppt/notesMasters/notesMaster1.xml" Id="R7d524c93ba5f49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5e030cd35e4bf3" /><Relationship Type="http://schemas.openxmlformats.org/officeDocument/2006/relationships/notesMaster" Target="/ppt/notesMasters/notesMaster1.xml" Id="R673e9b8d2ed640d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43be9c0f08e4616" /><Relationship Type="http://schemas.openxmlformats.org/officeDocument/2006/relationships/notesMaster" Target="/ppt/notesMasters/notesMaster1.xml" Id="R14e79ac4aae648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Security Personnel dashboard screenshot: NFC Thesis Chapter 1-5 (1).pdf, Appendix D.4, printed page 211. The previous deck placed an event-organizer screenshot under the security label.</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e885c5d61f4d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36660179e84d1a"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21277fa5fa4e5c" /><Relationship Type="http://schemas.openxmlformats.org/officeDocument/2006/relationships/slideLayout" Target="/ppt/slideLayouts/slideLayout1.xml" Id="R70e5b99dbf764ad3" /><Relationship Type="http://schemas.openxmlformats.org/officeDocument/2006/relationships/slideLayout" Target="/ppt/slideLayouts/slideLayout2.xml" Id="R57e85c0cbdd94fa6"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0e5b99dbf764ad3"/>
    <p:sldLayoutId xmlns:r="http://schemas.openxmlformats.org/officeDocument/2006/relationships" id="2147483650" r:id="R57e85c0cbdd94fa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17cfc30fb04b91" /><Relationship Type="http://schemas.openxmlformats.org/officeDocument/2006/relationships/notesSlide" Target="/ppt/notesSlides/notesSlide1.xml" Id="R63aafc8bfaee4d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d9c5c2d3854e25" /><Relationship Type="http://schemas.openxmlformats.org/officeDocument/2006/relationships/notesSlide" Target="/ppt/notesSlides/notesSlide2.xml" Id="Rb9538597f1f54f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cedc7918114757" /><Relationship Type="http://schemas.openxmlformats.org/officeDocument/2006/relationships/notesSlide" Target="/ppt/notesSlides/notesSlide3.xml" Id="R75737c7cba6c4a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4a927efd354687" /><Relationship Type="http://schemas.openxmlformats.org/officeDocument/2006/relationships/notesSlide" Target="/ppt/notesSlides/notesSlide4.xml" Id="R9ad4d75550644b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bb923f3c8041fd" /><Relationship Type="http://schemas.openxmlformats.org/officeDocument/2006/relationships/notesSlide" Target="/ppt/notesSlides/notesSlide5.xml" Id="Rbaff89f7344b4c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3160c313614fd7" /><Relationship Type="http://schemas.openxmlformats.org/officeDocument/2006/relationships/notesSlide" Target="/ppt/notesSlides/notesSlide6.xml" Id="Rdad164ab797a4a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efb4c500784fac" /><Relationship Type="http://schemas.openxmlformats.org/officeDocument/2006/relationships/notesSlide" Target="/ppt/notesSlides/notesSlide7.xml" Id="R8e5443638e7f40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fff5501b32481c" /><Relationship Type="http://schemas.openxmlformats.org/officeDocument/2006/relationships/notesSlide" Target="/ppt/notesSlides/notesSlide8.xml" Id="Rbd835174850f41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86c2c8ad764f60" /><Relationship Type="http://schemas.openxmlformats.org/officeDocument/2006/relationships/notesSlide" Target="/ppt/notesSlides/notesSlide9.xml" Id="R7fed77788c8d41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59a7ab2fd724b25" /><Relationship Type="http://schemas.openxmlformats.org/officeDocument/2006/relationships/image" Target="/ppt/media/image.jpeg" Id="R553a2dacfad346ba" /><Relationship Type="http://schemas.openxmlformats.org/officeDocument/2006/relationships/image" Target="/ppt/media/image2.jpeg" Id="Rf3a9f3722c88467a" /><Relationship Type="http://schemas.openxmlformats.org/officeDocument/2006/relationships/image" Target="/ppt/media/image.png" Id="Rde58dc6219f949c2" /><Relationship Type="http://schemas.openxmlformats.org/officeDocument/2006/relationships/image" Target="/ppt/media/image3.jpeg" Id="R962f800944de414c" /><Relationship Type="http://schemas.openxmlformats.org/officeDocument/2006/relationships/image" Target="/ppt/media/image4.jpeg" Id="R163f8494825e4309" /><Relationship Type="http://schemas.openxmlformats.org/officeDocument/2006/relationships/image" Target="/ppt/media/image5.jpeg" Id="Reeeec5a53c3044b5" /><Relationship Type="http://schemas.openxmlformats.org/officeDocument/2006/relationships/notesSlide" Target="/ppt/notesSlides/notesSlide10.xml" Id="R051edd551b794c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9eae2603744349" /><Relationship Type="http://schemas.openxmlformats.org/officeDocument/2006/relationships/notesSlide" Target="/ppt/notesSlides/notesSlide11.xml" Id="R269476fa62bd4d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1e6db8d9144be5" /><Relationship Type="http://schemas.openxmlformats.org/officeDocument/2006/relationships/notesSlide" Target="/ppt/notesSlides/notesSlide12.xml" Id="R1565e1f351c64f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d2c856692a4dab" /><Relationship Type="http://schemas.openxmlformats.org/officeDocument/2006/relationships/chart" Target="/ppt/slides/charts/chart1.xml" Id="R7ec3f23e52e04ae9" /><Relationship Type="http://schemas.openxmlformats.org/officeDocument/2006/relationships/notesSlide" Target="/ppt/notesSlides/notesSlide13.xml" Id="R01ab4ad48d2c4b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5c56f17c5642df" /><Relationship Type="http://schemas.openxmlformats.org/officeDocument/2006/relationships/chart" Target="/ppt/slides/charts/chart2.xml" Id="R8b212c1c63874c4d" /><Relationship Type="http://schemas.openxmlformats.org/officeDocument/2006/relationships/notesSlide" Target="/ppt/notesSlides/notesSlide14.xml" Id="R9be7177727214e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753352d619b4cc5" /><Relationship Type="http://schemas.openxmlformats.org/officeDocument/2006/relationships/chart" Target="/ppt/slides/charts/chart3.xml" Id="Re9b441aed1cd4639" /><Relationship Type="http://schemas.openxmlformats.org/officeDocument/2006/relationships/notesSlide" Target="/ppt/notesSlides/notesSlide15.xml" Id="R4590890ab4aa45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a7d96281d144d5b" /><Relationship Type="http://schemas.openxmlformats.org/officeDocument/2006/relationships/notesSlide" Target="/ppt/notesSlides/notesSlide16.xml" Id="R8b4f5ee11f9442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51c7915659d49c1" /><Relationship Type="http://schemas.openxmlformats.org/officeDocument/2006/relationships/notesSlide" Target="/ppt/notesSlides/notesSlide17.xml" Id="R8231e2e5640c43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db0c7709f344a44" /><Relationship Type="http://schemas.openxmlformats.org/officeDocument/2006/relationships/chart" Target="/ppt/slides/charts/chart4.xml" Id="R03ec21325caa4c20" /><Relationship Type="http://schemas.openxmlformats.org/officeDocument/2006/relationships/notesSlide" Target="/ppt/notesSlides/notesSlide18.xml" Id="Rcc8494eef4444a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bd8f2f73d6b4b02" /><Relationship Type="http://schemas.openxmlformats.org/officeDocument/2006/relationships/chart" Target="/ppt/slides/charts/chart5.xml" Id="R6a187389ab424f5b" /><Relationship Type="http://schemas.openxmlformats.org/officeDocument/2006/relationships/notesSlide" Target="/ppt/notesSlides/notesSlide19.xml" Id="R91991507304645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30a8c32a3be47dd" /><Relationship Type="http://schemas.openxmlformats.org/officeDocument/2006/relationships/notesSlide" Target="/ppt/notesSlides/notesSlide20.xml" Id="R85de8195ec864a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896a917e6264bcc" /><Relationship Type="http://schemas.openxmlformats.org/officeDocument/2006/relationships/notesSlide" Target="/ppt/notesSlides/notesSlide21.xml" Id="R8a9256ed849643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41b00f0112440b" /><Relationship Type="http://schemas.openxmlformats.org/officeDocument/2006/relationships/notesSlide" Target="/ppt/notesSlides/notesSlide22.xml" Id="Rf49eb1a00bd94e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a7e65af71bc42dd" /><Relationship Type="http://schemas.openxmlformats.org/officeDocument/2006/relationships/notesSlide" Target="/ppt/notesSlides/notesSlide23.xml" Id="R94b5474428be40c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2729457e18f495f" /><Relationship Type="http://schemas.openxmlformats.org/officeDocument/2006/relationships/notesSlide" Target="/ppt/notesSlides/notesSlide24.xml" Id="Rddc100f43e7a4c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c:lang val="en-US"/>
  <c:chart>
    <c:plotArea>
      <c:barChart>
        <c:barDir val="col"/>
        <c:grouping val="clustered"/>
        <c:varyColors val="0"/>
        <c:ser>
          <c:idx val="0"/>
          <c:order val="0"/>
          <c:tx>
            <c:v>Mean internal latency</c:v>
          </c:tx>
          <c:spPr>
            <a:solidFill xmlns:a="http://schemas.openxmlformats.org/drawingml/2006/main">
              <a:srgbClr val="007F86"/>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stacked"/>
        <c:varyColors val="0"/>
        <c:ser>
          <c:idx val="0"/>
          <c:order val="0"/>
          <c:tx>
            <c:v>PIN</c:v>
          </c:tx>
          <c:spPr>
            <a:solidFill xmlns:a="http://schemas.openxmlformats.org/drawingml/2006/main">
              <a:srgbClr val="007F86"/>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C98D32"/>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Writing observations</c:v>
          </c:tx>
          <c:spPr>
            <a:solidFill xmlns:a="http://schemas.openxmlformats.org/drawingml/2006/main">
              <a:srgbClr val="C98D32"/>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grouping val="clustered"/>
        <c:varyColors val="0"/>
        <c:ser>
          <c:idx val="0"/>
          <c:order val="0"/>
          <c:tx>
            <c:v>Manual, n = 70</c:v>
          </c:tx>
          <c:spPr>
            <a:solidFill xmlns:a="http://schemas.openxmlformats.org/drawingml/2006/main">
              <a:srgbClr val="C98D32"/>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07F86"/>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barChart>
        <c:barDir val="col"/>
        <c:grouping val="clustered"/>
        <c:varyColors val="0"/>
        <c:ser>
          <c:idx val="0"/>
          <c:order val="0"/>
          <c:tx>
            <c:v>Overall equal-category mean</c:v>
          </c:tx>
          <c:spPr>
            <a:solidFill xmlns:a="http://schemas.openxmlformats.org/drawingml/2006/main">
              <a:srgbClr val="007F86"/>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8" name="TAGUIG CITY UNIVERSITY">
            <a:extLst xmlns:a="http://schemas.openxmlformats.org/drawingml/2006/main">
              <a:ext uri="{FF2B5EF4-FFF2-40B4-BE49-F238E27FC236}">
                <a16:creationId xmlns:a16="http://schemas.microsoft.com/office/drawing/2014/main" id="{8CB7B939-4DFA-4A45-B2CA-C6683F027DC9}"/>
              </a:ext>
            </a:extLst>
          </p:cNvPr>
          <p:cNvSpPr>
            <a:spLocks xmlns:a="http://schemas.openxmlformats.org/drawingml/2006/main" noGrp="1"/>
          </p:cNvSpPr>
          <p:nvPr/>
        </p:nvSpPr>
        <p:spPr>
          <a:xfrm xmlns:a="http://schemas.openxmlformats.org/drawingml/2006/main">
            <a:off x="457200" y="3619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TAGUIG CITY UNIVERSITY</a:t>
            </a:r>
          </a:p>
        </p:txBody>
      </p:sp>
      <p:sp>
        <p:nvSpPr>
          <p:cNvPr id="2" name="COLLEGE OF INFORMATION AND COMPUTING TECHNOLOGY">
            <a:extLst xmlns:a="http://schemas.openxmlformats.org/drawingml/2006/main">
              <a:ext uri="{FF2B5EF4-FFF2-40B4-BE49-F238E27FC236}">
                <a16:creationId xmlns:a16="http://schemas.microsoft.com/office/drawing/2014/main" id="{CD831D7E-DA4B-42A7-89C1-C4C009DD8005}"/>
              </a:ext>
            </a:extLst>
          </p:cNvPr>
          <p:cNvSpPr>
            <a:spLocks xmlns:a="http://schemas.openxmlformats.org/drawingml/2006/main" noGrp="1"/>
          </p:cNvSpPr>
          <p:nvPr/>
        </p:nvSpPr>
        <p:spPr>
          <a:xfrm xmlns:a="http://schemas.openxmlformats.org/drawingml/2006/main">
            <a:off x="457200" y="666750"/>
            <a:ext cx="822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BDCDD6"/>
                </a:solidFill>
                <a:latin typeface="Calibri"/>
                <a:ea typeface="Calibri"/>
                <a:cs typeface="Calibri"/>
              </a:defRPr>
            </a:defPPr>
          </a:lstStyle>
          <a:p xmlns:a="http://schemas.openxmlformats.org/drawingml/2006/main">
            <a:pPr algn="l">
              <a:defRPr sz="975" b="0">
                <a:solidFill>
                  <a:srgbClr val="BDCDD6"/>
                </a:solidFill>
                <a:latin typeface="Calibri"/>
                <a:ea typeface="Calibri"/>
                <a:cs typeface="Calibri"/>
              </a:defRPr>
            </a:pPr>
            <a:r>
              <a:rPr sz="975" b="0">
                <a:solidFill>
                  <a:srgbClr val="BDCDD6"/>
                </a:solidFill>
                <a:latin typeface="Calibri"/>
                <a:ea typeface="Calibri"/>
                <a:cs typeface="Calibri"/>
              </a:rPr>
              <a:t>COLLEGE OF INFORMATION AND COMPUTING TECHNOLOGY</a:t>
            </a:r>
          </a:p>
        </p:txBody>
      </p:sp>
      <p:sp>
        <p:nvSpPr>
          <p:cNvPr id="3" name="A Risk-Based Two-Factor&#10;Student Verification and&#10;Event Atten">
            <a:extLst xmlns:a="http://schemas.openxmlformats.org/drawingml/2006/main">
              <a:ext uri="{FF2B5EF4-FFF2-40B4-BE49-F238E27FC236}">
                <a16:creationId xmlns:a16="http://schemas.microsoft.com/office/drawing/2014/main" id="{DAA623EF-2BD3-42E3-B625-E72BD869A920}"/>
              </a:ext>
            </a:extLst>
          </p:cNvPr>
          <p:cNvSpPr>
            <a:spLocks xmlns:a="http://schemas.openxmlformats.org/drawingml/2006/main" noGrp="1"/>
          </p:cNvSpPr>
          <p:nvPr/>
        </p:nvSpPr>
        <p:spPr>
          <a:xfrm xmlns:a="http://schemas.openxmlformats.org/drawingml/2006/main">
            <a:off x="457200" y="1285875"/>
            <a:ext cx="82296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Calibri"/>
                <a:ea typeface="Calibri"/>
                <a:cs typeface="Calibri"/>
              </a:defRPr>
            </a:defPPr>
          </a:lstStyle>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A Risk-Based Two-Factor</a:t>
            </a:r>
          </a:p>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Student Verification and</a:t>
            </a:r>
          </a:p>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Event Attendance Management System</a:t>
            </a:r>
          </a:p>
        </p:txBody>
      </p:sp>
      <p:sp>
        <p:nvSpPr>
          <p:cNvPr id="4" name="Using Near Field Communication (NFC),&#10;Personal Identificatio">
            <a:extLst xmlns:a="http://schemas.openxmlformats.org/drawingml/2006/main">
              <a:ext uri="{FF2B5EF4-FFF2-40B4-BE49-F238E27FC236}">
                <a16:creationId xmlns:a16="http://schemas.microsoft.com/office/drawing/2014/main" id="{D0D57287-4067-4DB2-998C-BF01B800659E}"/>
              </a:ext>
            </a:extLst>
          </p:cNvPr>
          <p:cNvSpPr>
            <a:spLocks xmlns:a="http://schemas.openxmlformats.org/drawingml/2006/main" noGrp="1"/>
          </p:cNvSpPr>
          <p:nvPr/>
        </p:nvSpPr>
        <p:spPr>
          <a:xfrm xmlns:a="http://schemas.openxmlformats.org/drawingml/2006/main">
            <a:off x="457200" y="3105150"/>
            <a:ext cx="809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AD0D4"/>
                </a:solidFill>
                <a:latin typeface="Calibri"/>
                <a:ea typeface="Calibri"/>
                <a:cs typeface="Calibri"/>
              </a:defRPr>
            </a:defPPr>
          </a:lstStyle>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Using Near Field Communication (NFC),</a:t>
            </a:r>
          </a:p>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Personal Identification Number (PIN) Authentication,</a:t>
            </a:r>
          </a:p>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and Quick Response (QR) Credential Validation</a:t>
            </a:r>
          </a:p>
        </p:txBody>
      </p:sp>
      <p:sp>
        <p:nvSpPr>
          <p:cNvPr id="5" name="Justine G. Mendoza, Michael Daniel M. Milallos, Seanne Stiff">
            <a:extLst xmlns:a="http://schemas.openxmlformats.org/drawingml/2006/main">
              <a:ext uri="{FF2B5EF4-FFF2-40B4-BE49-F238E27FC236}">
                <a16:creationId xmlns:a16="http://schemas.microsoft.com/office/drawing/2014/main" id="{5A9F38F4-0B65-468F-B963-2E921D3F1449}"/>
              </a:ext>
            </a:extLst>
          </p:cNvPr>
          <p:cNvSpPr>
            <a:spLocks xmlns:a="http://schemas.openxmlformats.org/drawingml/2006/main" noGrp="1"/>
          </p:cNvSpPr>
          <p:nvPr/>
        </p:nvSpPr>
        <p:spPr>
          <a:xfrm xmlns:a="http://schemas.openxmlformats.org/drawingml/2006/main">
            <a:off x="457200" y="42100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FFFFFF"/>
                </a:solidFill>
                <a:latin typeface="Calibri"/>
                <a:ea typeface="Calibri"/>
                <a:cs typeface="Calibri"/>
              </a:defRPr>
            </a:defPPr>
          </a:lstStyle>
          <a:p xmlns:a="http://schemas.openxmlformats.org/drawingml/2006/main">
            <a:pPr algn="l">
              <a:defRPr sz="1350" b="0">
                <a:solidFill>
                  <a:srgbClr val="FFFFFF"/>
                </a:solidFill>
                <a:latin typeface="Calibri"/>
                <a:ea typeface="Calibri"/>
                <a:cs typeface="Calibri"/>
              </a:defRPr>
            </a:pPr>
            <a:r>
              <a:rPr sz="1350" b="0">
                <a:solidFill>
                  <a:srgbClr val="FFFFFF"/>
                </a:solidFill>
                <a:latin typeface="Calibri"/>
                <a:ea typeface="Calibri"/>
                <a:cs typeface="Calibri"/>
              </a:rPr>
              <a:t>Justine G. Mendoza, Michael Daniel M. Milallos, Seanne Stiffel T. Sintay</a:t>
            </a:r>
          </a:p>
        </p:txBody>
      </p:sp>
      <p:sp>
        <p:nvSpPr>
          <p:cNvPr id="6" name="BS Computer Science   Adviser: Prof. Ferdinand Rubio">
            <a:extLst xmlns:a="http://schemas.openxmlformats.org/drawingml/2006/main">
              <a:ext uri="{FF2B5EF4-FFF2-40B4-BE49-F238E27FC236}">
                <a16:creationId xmlns:a16="http://schemas.microsoft.com/office/drawing/2014/main" id="{C3304AE4-94C7-41CA-B839-AFCEBEC34D0B}"/>
              </a:ext>
            </a:extLst>
          </p:cNvPr>
          <p:cNvSpPr>
            <a:spLocks xmlns:a="http://schemas.openxmlformats.org/drawingml/2006/main" noGrp="1"/>
          </p:cNvSpPr>
          <p:nvPr/>
        </p:nvSpPr>
        <p:spPr>
          <a:xfrm xmlns:a="http://schemas.openxmlformats.org/drawingml/2006/main">
            <a:off x="457200" y="4552950"/>
            <a:ext cx="790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DCDD6"/>
                </a:solidFill>
                <a:latin typeface="Calibri"/>
                <a:ea typeface="Calibri"/>
                <a:cs typeface="Calibri"/>
              </a:defRPr>
            </a:defPPr>
          </a:lstStyle>
          <a:p xmlns:a="http://schemas.openxmlformats.org/drawingml/2006/main">
            <a:pPr algn="l">
              <a:defRPr sz="1125" b="0">
                <a:solidFill>
                  <a:srgbClr val="BDCDD6"/>
                </a:solidFill>
                <a:latin typeface="Calibri"/>
                <a:ea typeface="Calibri"/>
                <a:cs typeface="Calibri"/>
              </a:defRPr>
            </a:pPr>
            <a:r>
              <a:rPr sz="1125" b="0">
                <a:solidFill>
                  <a:srgbClr val="BDCDD6"/>
                </a:solidFill>
                <a:latin typeface="Calibri"/>
                <a:ea typeface="Calibri"/>
                <a:cs typeface="Calibri"/>
              </a:rPr>
              <a:t>BS Computer Science   Adviser: Prof. Ferdinand Rubio</a:t>
            </a:r>
          </a:p>
        </p:txBody>
      </p:sp>
      <p:sp>
        <p:nvSpPr>
          <p:cNvPr id="7" name="01 / 24">
            <a:extLst xmlns:a="http://schemas.openxmlformats.org/drawingml/2006/main">
              <a:ext uri="{FF2B5EF4-FFF2-40B4-BE49-F238E27FC236}">
                <a16:creationId xmlns:a16="http://schemas.microsoft.com/office/drawing/2014/main" id="{A6FFDE8A-18BB-4702-8781-807F8766A3DB}"/>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defRPr sz="825" b="0">
                <a:solidFill>
                  <a:srgbClr val="AEC0CB"/>
                </a:solidFill>
                <a:latin typeface="Calibri"/>
                <a:ea typeface="Calibri"/>
                <a:cs typeface="Calibri"/>
              </a:defRPr>
            </a:pPr>
            <a:r>
              <a:rPr sz="825" b="0">
                <a:solidFill>
                  <a:srgbClr val="AEC0CB"/>
                </a:solidFill>
                <a:latin typeface="Calibri"/>
                <a:ea typeface="Calibri"/>
                <a:cs typeface="Calibri"/>
              </a:rPr>
              <a:t>01 / 24</a:t>
            </a: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394ACCBF-1832-4456-9F07-249AC60A5EA1}"/>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A817C6A3-98BC-4F06-8485-B8D493E26248}"/>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Evidence</a:t>
            </a:r>
          </a:p>
        </p:txBody>
      </p:sp>
      <p:sp>
        <p:nvSpPr>
          <p:cNvPr id="3" name="02 / 24">
            <a:extLst xmlns:a="http://schemas.openxmlformats.org/drawingml/2006/main">
              <a:ext uri="{FF2B5EF4-FFF2-40B4-BE49-F238E27FC236}">
                <a16:creationId xmlns:a16="http://schemas.microsoft.com/office/drawing/2014/main" id="{63098D78-BB2F-4ECC-BBD7-0689CA765F14}"/>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42848AD6-8E74-483C-B0FD-322415E528F6}"/>
              </a:ext>
            </a:extLst>
          </p:cNvPr>
          <p:cNvGraphicFramePr/>
          <p:nvPr/>
        </p:nvGraphicFramePr>
        <p:xfrm>
          <a:off xmlns:a="http://schemas.openxmlformats.org/drawingml/2006/main" x="342900" y="1304925"/>
          <a:ext xmlns:a="http://schemas.openxmlformats.org/drawingml/2006/main" cx="8458200" cy="2971800"/>
        </p:xfrm>
        <a:graphic xmlns:a="http://schemas.openxmlformats.org/drawingml/2006/main">
          <a:graphicData uri="http://schemas.openxmlformats.org/drawingml/2006/table">
            <a:tbl>
              <a:tblPr/>
              <a:tblGrid>
                <a:gridCol w="3095625"/>
                <a:gridCol w="5429250"/>
              </a:tblGrid>
              <a:tr h="361950">
                <a:tc>
                  <a:txBody>
                    <a:bodyPr lIns="0" tIns="0" rIns="0" bIns="0">
                      <a:noAutofit/>
                    </a:bodyPr>
                    <a:lstStyle/>
                    <a:p>
                      <a:pPr algn="l">
                        <a:buNone/>
                      </a:pPr>
                      <a:r>
                        <a:rPr sz="1500" b="1">
                          <a:solidFill>
                            <a:srgbClr val="FFFFFF"/>
                          </a:solidFill>
                          <a:latin typeface="Calibri"/>
                          <a:ea typeface="Calibri"/>
                          <a:cs typeface="Calibri"/>
                        </a:rPr>
                        <a:t>Recommendation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Action and Present Status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647700">
                <a:tc>
                  <a:txBody>
                    <a:bodyPr lIns="0" tIns="0" rIns="0" bIns="0">
                      <a:noAutofit/>
                    </a:bodyPr>
                    <a:lstStyle/>
                    <a:p>
                      <a:pPr algn="l">
                        <a:buNone/>
                      </a:pPr>
                      <a:r>
                        <a:rPr sz="1500" b="0">
                          <a:solidFill>
                            <a:srgbClr val="33424D"/>
                          </a:solidFill>
                          <a:latin typeface="Calibri"/>
                          <a:ea typeface="Calibri"/>
                          <a:cs typeface="Calibri"/>
                        </a:rPr>
                        <a:t>01-02  Checklist and Chapter 4 visuals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Complete checklist, corrected results, item tables, and comparison figures.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647700">
                <a:tc>
                  <a:txBody>
                    <a:bodyPr lIns="0" tIns="0" rIns="0" bIns="0">
                      <a:noAutofit/>
                    </a:bodyPr>
                    <a:lstStyle/>
                    <a:p>
                      <a:pPr algn="l">
                        <a:buNone/>
                      </a:pPr>
                      <a:r>
                        <a:rPr sz="1500" b="0">
                          <a:solidFill>
                            <a:srgbClr val="33424D"/>
                          </a:solidFill>
                          <a:latin typeface="Calibri"/>
                          <a:ea typeface="Calibri"/>
                          <a:cs typeface="Calibri"/>
                        </a:rPr>
                        <a:t>03  Raw survey and comparison records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Student workbook and exports available. Full anonymized records still need a traceable evidence package.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647700">
                <a:tc>
                  <a:txBody>
                    <a:bodyPr lIns="0" tIns="0" rIns="0" bIns="0">
                      <a:noAutofit/>
                    </a:bodyPr>
                    <a:lstStyle/>
                    <a:p>
                      <a:pPr algn="l">
                        <a:buNone/>
                      </a:pPr>
                      <a:r>
                        <a:rPr sz="1500" b="0">
                          <a:solidFill>
                            <a:srgbClr val="33424D"/>
                          </a:solidFill>
                          <a:latin typeface="Calibri"/>
                          <a:ea typeface="Calibri"/>
                          <a:cs typeface="Calibri"/>
                        </a:rPr>
                        <a:t>04  Evidence for tests and surveys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16 listed test cases and appendix photographs. Evidence does not cover every current feature.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647700">
                <a:tc>
                  <a:txBody>
                    <a:bodyPr lIns="0" tIns="0" rIns="0" bIns="0">
                      <a:noAutofit/>
                    </a:bodyPr>
                    <a:lstStyle/>
                    <a:p>
                      <a:pPr algn="l">
                        <a:buNone/>
                      </a:pPr>
                      <a:r>
                        <a:rPr sz="1500" b="0">
                          <a:solidFill>
                            <a:srgbClr val="33424D"/>
                          </a:solidFill>
                          <a:latin typeface="Calibri"/>
                          <a:ea typeface="Calibri"/>
                          <a:cs typeface="Calibri"/>
                        </a:rPr>
                        <a:t>05  Interfaces in appendices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Appendix D includes selected interfaces. Current timestamp and maintenance screenshots remain to be added.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291E2160-C648-434E-A1A2-53A6B71E9AA6}"/>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1A284D54-074D-4C85-922A-FAA38E7D9B3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2AEB2D30-DEE8-4612-A4A6-0D7334A79592}"/>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Comparison</a:t>
            </a:r>
          </a:p>
        </p:txBody>
      </p:sp>
      <p:sp>
        <p:nvSpPr>
          <p:cNvPr id="3" name="03 / 24">
            <a:extLst xmlns:a="http://schemas.openxmlformats.org/drawingml/2006/main">
              <a:ext uri="{FF2B5EF4-FFF2-40B4-BE49-F238E27FC236}">
                <a16:creationId xmlns:a16="http://schemas.microsoft.com/office/drawing/2014/main" id="{ED693B65-0C28-4521-9120-CD90E2F6DEE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28060575-6DE7-4C94-8FF1-D43BDE7CB001}"/>
              </a:ext>
            </a:extLst>
          </p:cNvPr>
          <p:cNvGraphicFramePr/>
          <p:nvPr/>
        </p:nvGraphicFramePr>
        <p:xfrm>
          <a:off xmlns:a="http://schemas.openxmlformats.org/drawingml/2006/main" x="342900" y="1304925"/>
          <a:ext xmlns:a="http://schemas.openxmlformats.org/drawingml/2006/main" cx="8458200" cy="3028950"/>
        </p:xfrm>
        <a:graphic xmlns:a="http://schemas.openxmlformats.org/drawingml/2006/main">
          <a:graphicData uri="http://schemas.openxmlformats.org/drawingml/2006/table">
            <a:tbl>
              <a:tblPr/>
              <a:tblGrid>
                <a:gridCol w="3095625"/>
                <a:gridCol w="5429250"/>
              </a:tblGrid>
              <a:tr h="361950">
                <a:tc>
                  <a:txBody>
                    <a:bodyPr lIns="0" tIns="0" rIns="0" bIns="0">
                      <a:noAutofit/>
                    </a:bodyPr>
                    <a:lstStyle/>
                    <a:p>
                      <a:pPr algn="l">
                        <a:buNone/>
                      </a:pPr>
                      <a:r>
                        <a:rPr sz="1500" b="1">
                          <a:solidFill>
                            <a:srgbClr val="FFFFFF"/>
                          </a:solidFill>
                          <a:latin typeface="Calibri"/>
                          <a:ea typeface="Calibri"/>
                          <a:cs typeface="Calibri"/>
                        </a:rPr>
                        <a:t>Recommendation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Action and Present Status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buNone/>
                      </a:pPr>
                      <a:r>
                        <a:rPr sz="1500" b="0">
                          <a:solidFill>
                            <a:srgbClr val="33424D"/>
                          </a:solidFill>
                          <a:latin typeface="Calibri"/>
                          <a:ea typeface="Calibri"/>
                          <a:cs typeface="Calibri"/>
                        </a:rPr>
                        <a:t>06-07  Manual baseline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Manual questionnaire, 70 writing observations, and 70 manual survey responses included.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08  Student participant counts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70 manual students and 70 different system students. System survey also includes two groups of five.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09-10  Same students and survey sequence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Not fulfilled as specified. Different groups require an independent-samples analysis.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16  Use case diagram</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Diagram included. Conditional PIN use still needs alignment with NFC-only Fast mode.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17  T-test of manual and system means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Welch test compares overall survey scores. Equivalent complete-task times were unavailable.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80043387-4507-458D-92C3-69F4B1B4FC92}"/>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B72CF3E9-0DAC-4DBA-81DE-B2D1533DC2C9}"/>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E9F0B3F7-0DA4-4736-8A30-C9DBFD167FEC}"/>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the System</a:t>
            </a:r>
          </a:p>
        </p:txBody>
      </p:sp>
      <p:sp>
        <p:nvSpPr>
          <p:cNvPr id="3" name="04 / 24">
            <a:extLst xmlns:a="http://schemas.openxmlformats.org/drawingml/2006/main">
              <a:ext uri="{FF2B5EF4-FFF2-40B4-BE49-F238E27FC236}">
                <a16:creationId xmlns:a16="http://schemas.microsoft.com/office/drawing/2014/main" id="{5DFDE2CD-D66F-4D29-A987-917314710E5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D807C167-043B-4B7B-BD11-1F52B661F368}"/>
              </a:ext>
            </a:extLst>
          </p:cNvPr>
          <p:cNvGraphicFramePr/>
          <p:nvPr/>
        </p:nvGraphicFramePr>
        <p:xfrm>
          <a:off xmlns:a="http://schemas.openxmlformats.org/drawingml/2006/main" x="342900" y="1304925"/>
          <a:ext xmlns:a="http://schemas.openxmlformats.org/drawingml/2006/main" cx="8458200" cy="3028950"/>
        </p:xfrm>
        <a:graphic xmlns:a="http://schemas.openxmlformats.org/drawingml/2006/main">
          <a:graphicData uri="http://schemas.openxmlformats.org/drawingml/2006/table">
            <a:tbl>
              <a:tblPr/>
              <a:tblGrid>
                <a:gridCol w="2857500"/>
                <a:gridCol w="5667375"/>
              </a:tblGrid>
              <a:tr h="361950">
                <a:tc>
                  <a:txBody>
                    <a:bodyPr lIns="0" tIns="0" rIns="0" bIns="0">
                      <a:noAutofit/>
                    </a:bodyPr>
                    <a:lstStyle/>
                    <a:p>
                      <a:pPr algn="l">
                        <a:buNone/>
                      </a:pPr>
                      <a:r>
                        <a:rPr sz="1500" b="1">
                          <a:solidFill>
                            <a:srgbClr val="FFFFFF"/>
                          </a:solidFill>
                          <a:latin typeface="Calibri"/>
                          <a:ea typeface="Calibri"/>
                          <a:cs typeface="Calibri"/>
                        </a:rPr>
                        <a:t>Recommendation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Current Implementation and Qualification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buNone/>
                      </a:pPr>
                      <a:r>
                        <a:rPr sz="1500" b="0">
                          <a:solidFill>
                            <a:srgbClr val="33424D"/>
                          </a:solidFill>
                          <a:latin typeface="Calibri"/>
                          <a:ea typeface="Calibri"/>
                          <a:cs typeface="Calibri"/>
                        </a:rPr>
                        <a:t>11  Personnel login timestamp</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Login audit timestamp recorded. A dedicated visible login-time field remains unverified.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12  Student timestamps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Kiosk code displays scan time and applicable IN/OUT values.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13  Retain student result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10-second result display. Persistent last-log display still needs confirmation.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buNone/>
                      </a:pPr>
                      <a:r>
                        <a:rPr sz="1500" b="0">
                          <a:solidFill>
                            <a:srgbClr val="33424D"/>
                          </a:solidFill>
                          <a:latin typeface="Calibri"/>
                          <a:ea typeface="Calibri"/>
                          <a:cs typeface="Calibri"/>
                        </a:rPr>
                        <a:t>14  Administrator purge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00" b="0">
                          <a:solidFill>
                            <a:srgbClr val="33424D"/>
                          </a:solidFill>
                          <a:latin typeface="Calibri"/>
                          <a:ea typeface="Calibri"/>
                          <a:cs typeface="Calibri"/>
                        </a:rPr>
                        <a:t>Authorized active cleanup removes eligible cloud-backed local logs.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buNone/>
                      </a:pPr>
                      <a:r>
                        <a:rPr sz="1500" b="0">
                          <a:solidFill>
                            <a:srgbClr val="33424D"/>
                          </a:solidFill>
                          <a:latin typeface="Calibri"/>
                          <a:ea typeface="Calibri"/>
                          <a:cs typeface="Calibri"/>
                        </a:rPr>
                        <a:t>15  Data destruction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00" b="0">
                          <a:solidFill>
                            <a:srgbClr val="33424D"/>
                          </a:solidFill>
                          <a:latin typeface="Calibri"/>
                          <a:ea typeface="Calibri"/>
                          <a:cs typeface="Calibri"/>
                        </a:rPr>
                        <a:t>Partial: local cleanup retains cloud history. Full disposal remains unverified.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Photo 18: full title terms added. Implementat">
            <a:extLst xmlns:a="http://schemas.openxmlformats.org/drawingml/2006/main">
              <a:ext uri="{FF2B5EF4-FFF2-40B4-BE49-F238E27FC236}">
                <a16:creationId xmlns:a16="http://schemas.microsoft.com/office/drawing/2014/main" id="{2058EB8D-3493-4120-B618-3A4F221BAF5A}"/>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Photo 18: full title terms added. Implementation status still needs dated UI evidence.</a:t>
            </a:r>
          </a:p>
        </p:txBody>
      </p:sp>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31243B3C-85A7-46E0-8DF1-1DEC96D3DEC6}"/>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013E55F7-5BBF-4BD8-90CF-389D134F4586}"/>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Problem and Research Objectives</a:t>
            </a:r>
          </a:p>
        </p:txBody>
      </p:sp>
      <p:sp>
        <p:nvSpPr>
          <p:cNvPr id="3" name="05 / 24">
            <a:extLst xmlns:a="http://schemas.openxmlformats.org/drawingml/2006/main">
              <a:ext uri="{FF2B5EF4-FFF2-40B4-BE49-F238E27FC236}">
                <a16:creationId xmlns:a16="http://schemas.microsoft.com/office/drawing/2014/main" id="{40A0D739-0A8F-4770-AB96-8388C2ACA543}"/>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40662072-0814-4EB8-9D41-ABB4041D0A05}"/>
              </a:ext>
            </a:extLst>
          </p:cNvPr>
          <p:cNvSpPr>
            <a:spLocks xmlns:a="http://schemas.openxmlformats.org/drawingml/2006/main" noGrp="1"/>
          </p:cNvSpPr>
          <p:nvPr/>
        </p:nvSpPr>
        <p:spPr>
          <a:xfrm xmlns:a="http://schemas.openxmlformats.org/drawingml/2006/main">
            <a:off x="34290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9C1E1480-0743-4AFC-B6BF-E465F4CA530B}"/>
              </a:ext>
            </a:extLst>
          </p:cNvPr>
          <p:cNvSpPr>
            <a:spLocks xmlns:a="http://schemas.openxmlformats.org/drawingml/2006/main" noGrp="1"/>
          </p:cNvSpPr>
          <p:nvPr/>
        </p:nvSpPr>
        <p:spPr>
          <a:xfrm xmlns:a="http://schemas.openxmlformats.org/drawingml/2006/main">
            <a:off x="34290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C8916D4A-92F5-43FC-9D05-0941DAF45852}"/>
              </a:ext>
            </a:extLst>
          </p:cNvPr>
          <p:cNvSpPr>
            <a:spLocks xmlns:a="http://schemas.openxmlformats.org/drawingml/2006/main" noGrp="1"/>
          </p:cNvSpPr>
          <p:nvPr/>
        </p:nvSpPr>
        <p:spPr>
          <a:xfrm xmlns:a="http://schemas.openxmlformats.org/drawingml/2006/main">
            <a:off x="34290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F7139FB9-B7C9-4AFD-BD47-64B9017F13E0}"/>
              </a:ext>
            </a:extLst>
          </p:cNvPr>
          <p:cNvSpPr>
            <a:spLocks xmlns:a="http://schemas.openxmlformats.org/drawingml/2006/main" noGrp="1"/>
          </p:cNvSpPr>
          <p:nvPr/>
        </p:nvSpPr>
        <p:spPr>
          <a:xfrm xmlns:a="http://schemas.openxmlformats.org/drawingml/2006/main">
            <a:off x="34290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2AE89B7E-15F2-4685-B48D-F295F590CF62}"/>
              </a:ext>
            </a:extLst>
          </p:cNvPr>
          <p:cNvSpPr>
            <a:spLocks xmlns:a="http://schemas.openxmlformats.org/drawingml/2006/main" noGrp="1"/>
          </p:cNvSpPr>
          <p:nvPr/>
        </p:nvSpPr>
        <p:spPr>
          <a:xfrm xmlns:a="http://schemas.openxmlformats.org/drawingml/2006/main">
            <a:off x="34290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97A085ED-900D-45DA-B4F4-35C156AF8CBC}"/>
              </a:ext>
            </a:extLst>
          </p:cNvPr>
          <p:cNvSpPr>
            <a:spLocks xmlns:a="http://schemas.openxmlformats.org/drawingml/2006/main" noGrp="1"/>
          </p:cNvSpPr>
          <p:nvPr/>
        </p:nvSpPr>
        <p:spPr>
          <a:xfrm xmlns:a="http://schemas.openxmlformats.org/drawingml/2006/main">
            <a:off x="34290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E558FE0A-8414-4935-A153-B1FF11C90BC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FED23B9A-BE9B-4E69-8FB0-24B18B022DAC}"/>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Scope and Configured Verification Modes</a:t>
            </a:r>
          </a:p>
        </p:txBody>
      </p:sp>
      <p:sp>
        <p:nvSpPr>
          <p:cNvPr id="3" name="06 / 24">
            <a:extLst xmlns:a="http://schemas.openxmlformats.org/drawingml/2006/main">
              <a:ext uri="{FF2B5EF4-FFF2-40B4-BE49-F238E27FC236}">
                <a16:creationId xmlns:a16="http://schemas.microsoft.com/office/drawing/2014/main" id="{F43D85F7-BF89-48FB-B98A-63665A8A8A0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F10D16C5-2ABF-4AD4-A050-DCC4C7C604A6}"/>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0" tIns="0" rIns="0" bIns="0">
                      <a:noAutofit/>
                    </a:bodyPr>
                    <a:lstStyle/>
                    <a:p>
                      <a:pPr algn="l">
                        <a:buNone/>
                      </a:pPr>
                      <a:r>
                        <a:rPr sz="1500"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Required Credentials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Selection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61963">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NFC only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Operator or event configuration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61963">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NFC and PIN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Operator or event configuration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61963">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NFC, PIN, and QR validation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Operator or event configuration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7858561E-DF66-49D8-B015-D2A89371BD75}"/>
              </a:ext>
            </a:extLst>
          </p:cNvPr>
          <p:cNvSpPr>
            <a:spLocks xmlns:a="http://schemas.openxmlformats.org/drawingml/2006/main" noGrp="1"/>
          </p:cNvSpPr>
          <p:nvPr/>
        </p:nvSpPr>
        <p:spPr>
          <a:xfrm xmlns:a="http://schemas.openxmlformats.org/drawingml/2006/main">
            <a:off x="342900" y="3600450"/>
            <a:ext cx="838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D61B2159-5055-40B7-87A3-55285A257C69}"/>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993D4918-AA22-4F44-BDD0-ECAD16A15604}"/>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6D64AD16-331A-4175-B436-429BAF7506A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Research Design and Respondents</a:t>
            </a:r>
          </a:p>
        </p:txBody>
      </p:sp>
      <p:sp>
        <p:nvSpPr>
          <p:cNvPr id="3" name="07 / 24">
            <a:extLst xmlns:a="http://schemas.openxmlformats.org/drawingml/2006/main">
              <a:ext uri="{FF2B5EF4-FFF2-40B4-BE49-F238E27FC236}">
                <a16:creationId xmlns:a16="http://schemas.microsoft.com/office/drawing/2014/main" id="{3C2BD2E2-C4CF-40F8-8238-CCF882CE4B52}"/>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E80520FF-539A-4484-9A20-DCE95FA18CDE}"/>
              </a:ext>
            </a:extLst>
          </p:cNvPr>
          <p:cNvSpPr>
            <a:spLocks xmlns:a="http://schemas.openxmlformats.org/drawingml/2006/main" noGrp="1"/>
          </p:cNvSpPr>
          <p:nvPr/>
        </p:nvSpPr>
        <p:spPr>
          <a:xfrm xmlns:a="http://schemas.openxmlformats.org/drawingml/2006/main">
            <a:off x="34290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DF8B8695-BF60-4B4A-8957-AF8658E6DC40}"/>
              </a:ext>
            </a:extLst>
          </p:cNvPr>
          <p:cNvSpPr>
            <a:spLocks xmlns:a="http://schemas.openxmlformats.org/drawingml/2006/main" noGrp="1"/>
          </p:cNvSpPr>
          <p:nvPr/>
        </p:nvSpPr>
        <p:spPr>
          <a:xfrm xmlns:a="http://schemas.openxmlformats.org/drawingml/2006/main">
            <a:off x="34290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170115CC-1EDE-4D7C-88C1-AC5F20481E9F}"/>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0" tIns="0" rIns="0" bIns="0">
                      <a:noAutofit/>
                    </a:bodyPr>
                    <a:lstStyle/>
                    <a:p>
                      <a:pPr algn="l">
                        <a:buNone/>
                      </a:pPr>
                      <a:r>
                        <a:rPr sz="1500" b="1">
                          <a:solidFill>
                            <a:srgbClr val="FFFFFF"/>
                          </a:solidFill>
                          <a:latin typeface="Calibri"/>
                          <a:ea typeface="Calibri"/>
                          <a:cs typeface="Calibri"/>
                        </a:rPr>
                        <a:t>Survey Group</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Evaluation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348615">
                <a:tc>
                  <a:txBody>
                    <a:bodyPr lIns="0" tIns="0" rIns="0" bIns="0">
                      <a:noAutofit/>
                    </a:bodyPr>
                    <a:lstStyle/>
                    <a:p>
                      <a:pPr algn="l">
                        <a:buNone/>
                      </a:pPr>
                      <a:r>
                        <a:rPr sz="1575" b="0">
                          <a:solidFill>
                            <a:srgbClr val="33424D"/>
                          </a:solidFill>
                          <a:latin typeface="Calibri"/>
                          <a:ea typeface="Calibri"/>
                          <a:cs typeface="Calibri"/>
                        </a:rPr>
                        <a:t>Students, proposed system</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Five common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348615">
                <a:tc>
                  <a:txBody>
                    <a:bodyPr lIns="0" tIns="0" rIns="0" bIns="0">
                      <a:noAutofit/>
                    </a:bodyPr>
                    <a:lstStyle/>
                    <a:p>
                      <a:pPr algn="l">
                        <a:buNone/>
                      </a:pPr>
                      <a:r>
                        <a:rPr sz="1575" b="0">
                          <a:solidFill>
                            <a:srgbClr val="33424D"/>
                          </a:solidFill>
                          <a:latin typeface="Calibri"/>
                          <a:ea typeface="Calibri"/>
                          <a:cs typeface="Calibri"/>
                        </a:rPr>
                        <a:t>Students, manual process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Five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348615">
                <a:tc>
                  <a:txBody>
                    <a:bodyPr lIns="0" tIns="0" rIns="0" bIns="0">
                      <a:noAutofit/>
                    </a:bodyPr>
                    <a:lstStyle/>
                    <a:p>
                      <a:pPr algn="l">
                        <a:buNone/>
                      </a:pPr>
                      <a:r>
                        <a:rPr sz="1575" b="0">
                          <a:solidFill>
                            <a:srgbClr val="33424D"/>
                          </a:solidFill>
                          <a:latin typeface="Calibri"/>
                          <a:ea typeface="Calibri"/>
                          <a:cs typeface="Calibri"/>
                        </a:rPr>
                        <a:t>Security personnel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Five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348615">
                <a:tc>
                  <a:txBody>
                    <a:bodyPr lIns="0" tIns="0" rIns="0" bIns="0">
                      <a:noAutofit/>
                    </a:bodyPr>
                    <a:lstStyle/>
                    <a:p>
                      <a:pPr algn="l">
                        <a:buNone/>
                      </a:pPr>
                      <a:r>
                        <a:rPr sz="1575" b="0">
                          <a:solidFill>
                            <a:srgbClr val="33424D"/>
                          </a:solidFill>
                          <a:latin typeface="Calibri"/>
                          <a:ea typeface="Calibri"/>
                          <a:cs typeface="Calibri"/>
                        </a:rPr>
                        <a:t>Faculty, organizer, administrators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Eight quality categories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9F0A9381-749D-4904-8129-1FFFFB5EFD4C}"/>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C6E18E37-4980-4484-92ED-813A9675C928}"/>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DDD9DBB2-37C5-4F45-8D56-4FD7387DC6AF}"/>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Controlled Observation Procedure</a:t>
            </a:r>
          </a:p>
        </p:txBody>
      </p:sp>
      <p:sp>
        <p:nvSpPr>
          <p:cNvPr id="3" name="08 / 24">
            <a:extLst xmlns:a="http://schemas.openxmlformats.org/drawingml/2006/main">
              <a:ext uri="{FF2B5EF4-FFF2-40B4-BE49-F238E27FC236}">
                <a16:creationId xmlns:a16="http://schemas.microsoft.com/office/drawing/2014/main" id="{3E999917-5BCC-4535-B3D9-E38272412216}"/>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0D654649-59D7-45ED-B7B0-603B25978DFD}"/>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0" tIns="0" rIns="0" bIns="0">
                      <a:noAutofit/>
                    </a:bodyPr>
                    <a:lstStyle/>
                    <a:p>
                      <a:pPr algn="l">
                        <a:buNone/>
                      </a:pPr>
                      <a:r>
                        <a:rPr sz="1500" b="1">
                          <a:solidFill>
                            <a:srgbClr val="FFFFFF"/>
                          </a:solidFill>
                          <a:latin typeface="Calibri"/>
                          <a:ea typeface="Calibri"/>
                          <a:cs typeface="Calibri"/>
                        </a:rPr>
                        <a:t>Session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Participants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Entry Rounds per 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76250">
                <a:tc>
                  <a:txBody>
                    <a:bodyPr lIns="0" tIns="0" rIns="0" bIns="0">
                      <a:noAutofit/>
                    </a:bodyPr>
                    <a:lstStyle/>
                    <a:p>
                      <a:pPr algn="l">
                        <a:buNone/>
                      </a:pPr>
                      <a:r>
                        <a:rPr sz="1575" b="0">
                          <a:solidFill>
                            <a:srgbClr val="33424D"/>
                          </a:solidFill>
                          <a:latin typeface="Calibri"/>
                          <a:ea typeface="Calibri"/>
                          <a:cs typeface="Calibri"/>
                        </a:rPr>
                        <a:t>August 12, 2026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40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20 entries, reset exits, then 20 entries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76250">
                <a:tc>
                  <a:txBody>
                    <a:bodyPr lIns="0" tIns="0" rIns="0" bIns="0">
                      <a:noAutofit/>
                    </a:bodyPr>
                    <a:lstStyle/>
                    <a:p>
                      <a:pPr algn="l">
                        <a:buNone/>
                      </a:pPr>
                      <a:r>
                        <a:rPr sz="1575" b="0">
                          <a:solidFill>
                            <a:srgbClr val="33424D"/>
                          </a:solidFill>
                          <a:latin typeface="Calibri"/>
                          <a:ea typeface="Calibri"/>
                          <a:cs typeface="Calibri"/>
                        </a:rPr>
                        <a:t>August 13, 2026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30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20 entries, reset exits, then 10 entries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BF75016E-6337-48DB-846F-B55B19BB9570}"/>
              </a:ext>
            </a:extLst>
          </p:cNvPr>
          <p:cNvSpPr>
            <a:spLocks xmlns:a="http://schemas.openxmlformats.org/drawingml/2006/main" noGrp="1"/>
          </p:cNvSpPr>
          <p:nvPr/>
        </p:nvSpPr>
        <p:spPr>
          <a:xfrm xmlns:a="http://schemas.openxmlformats.org/drawingml/2006/main">
            <a:off x="342900" y="30956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EE3CE9A0-0EB9-40E4-965F-509A02049891}"/>
              </a:ext>
            </a:extLst>
          </p:cNvPr>
          <p:cNvSpPr>
            <a:spLocks xmlns:a="http://schemas.openxmlformats.org/drawingml/2006/main" noGrp="1"/>
          </p:cNvSpPr>
          <p:nvPr/>
        </p:nvSpPr>
        <p:spPr>
          <a:xfrm xmlns:a="http://schemas.openxmlformats.org/drawingml/2006/main">
            <a:off x="342900" y="3476625"/>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A387A964-7092-4ED4-8BE3-806A4C9FDAF2}"/>
              </a:ext>
            </a:extLst>
          </p:cNvPr>
          <p:cNvSpPr>
            <a:spLocks xmlns:a="http://schemas.openxmlformats.org/drawingml/2006/main" noGrp="1"/>
          </p:cNvSpPr>
          <p:nvPr/>
        </p:nvSpPr>
        <p:spPr>
          <a:xfrm xmlns:a="http://schemas.openxmlformats.org/drawingml/2006/main">
            <a:off x="4762500" y="3095625"/>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8E262061-4AB9-4FF1-8F03-E6468C77E522}"/>
              </a:ext>
            </a:extLst>
          </p:cNvPr>
          <p:cNvSpPr>
            <a:spLocks xmlns:a="http://schemas.openxmlformats.org/drawingml/2006/main" noGrp="1"/>
          </p:cNvSpPr>
          <p:nvPr/>
        </p:nvSpPr>
        <p:spPr>
          <a:xfrm xmlns:a="http://schemas.openxmlformats.org/drawingml/2006/main">
            <a:off x="4762500" y="3476625"/>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DCC6148F-3119-4609-8270-9A20ACF96F8F}"/>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03F69B22-2323-48DB-A137-77B8228FE89A}"/>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System Architecture and Evaluation Scope</a:t>
            </a:r>
          </a:p>
        </p:txBody>
      </p:sp>
      <p:sp>
        <p:nvSpPr>
          <p:cNvPr id="3" name="09 / 24">
            <a:extLst xmlns:a="http://schemas.openxmlformats.org/drawingml/2006/main">
              <a:ext uri="{FF2B5EF4-FFF2-40B4-BE49-F238E27FC236}">
                <a16:creationId xmlns:a16="http://schemas.microsoft.com/office/drawing/2014/main" id="{3A8BD093-898A-417E-90E4-30C7FAF5B24F}"/>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A133DD9D-C90E-4C4C-ABFE-292B55750C7A}"/>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0" tIns="0" rIns="0" bIns="0">
                      <a:noAutofit/>
                    </a:bodyPr>
                    <a:lstStyle/>
                    <a:p>
                      <a:pPr algn="l">
                        <a:buNone/>
                      </a:pPr>
                      <a:r>
                        <a:rPr sz="1500" b="1">
                          <a:solidFill>
                            <a:srgbClr val="FFFFFF"/>
                          </a:solidFill>
                          <a:latin typeface="Calibri"/>
                          <a:ea typeface="Calibri"/>
                          <a:cs typeface="Calibri"/>
                        </a:rPr>
                        <a:t>Layer</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Role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28625">
                <a:tc>
                  <a:txBody>
                    <a:bodyPr lIns="0" tIns="0" rIns="0" bIns="0">
                      <a:noAutofit/>
                    </a:bodyPr>
                    <a:lstStyle/>
                    <a:p>
                      <a:pPr algn="l">
                        <a:buNone/>
                      </a:pPr>
                      <a:r>
                        <a:rPr sz="1575" b="0">
                          <a:solidFill>
                            <a:srgbClr val="33424D"/>
                          </a:solidFill>
                          <a:latin typeface="Calibri"/>
                          <a:ea typeface="Calibri"/>
                          <a:cs typeface="Calibri"/>
                        </a:rPr>
                        <a:t>ESP32 and PN532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Read NFC UID and forward it through USB serial.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8625">
                <a:tc>
                  <a:txBody>
                    <a:bodyPr lIns="0" tIns="0" rIns="0" bIns="0">
                      <a:noAutofit/>
                    </a:bodyPr>
                    <a:lstStyle/>
                    <a:p>
                      <a:pPr algn="l">
                        <a:buNone/>
                      </a:pPr>
                      <a:r>
                        <a:rPr sz="1575" b="0">
                          <a:solidFill>
                            <a:srgbClr val="33424D"/>
                          </a:solidFill>
                          <a:latin typeface="Calibri"/>
                          <a:ea typeface="Calibri"/>
                          <a:cs typeface="Calibri"/>
                        </a:rPr>
                        <a:t>WinUI 3 application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Validate credentials, apply rules, and timestamp records.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28625">
                <a:tc>
                  <a:txBody>
                    <a:bodyPr lIns="0" tIns="0" rIns="0" bIns="0">
                      <a:noAutofit/>
                    </a:bodyPr>
                    <a:lstStyle/>
                    <a:p>
                      <a:pPr algn="l">
                        <a:buNone/>
                      </a:pPr>
                      <a:r>
                        <a:rPr sz="1575" b="0">
                          <a:solidFill>
                            <a:srgbClr val="33424D"/>
                          </a:solidFill>
                          <a:latin typeface="Calibri"/>
                          <a:ea typeface="Calibri"/>
                          <a:cs typeface="Calibri"/>
                        </a:rPr>
                        <a:t>Local MySQL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Store student, event, attendance, and security records.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8625">
                <a:tc>
                  <a:txBody>
                    <a:bodyPr lIns="0" tIns="0" rIns="0" bIns="0">
                      <a:noAutofit/>
                    </a:bodyPr>
                    <a:lstStyle/>
                    <a:p>
                      <a:pPr algn="l">
                        <a:buNone/>
                      </a:pPr>
                      <a:r>
                        <a:rPr sz="1575" b="0">
                          <a:solidFill>
                            <a:srgbClr val="33424D"/>
                          </a:solidFill>
                          <a:latin typeface="Calibri"/>
                          <a:ea typeface="Calibri"/>
                          <a:cs typeface="Calibri"/>
                        </a:rPr>
                        <a:t>Firebase Firestore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Support cloud synchronization and backup.</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29DA03FA-B23F-4220-92B6-4018DECD9848}"/>
              </a:ext>
            </a:extLst>
          </p:cNvPr>
          <p:cNvSpPr>
            <a:spLocks xmlns:a="http://schemas.openxmlformats.org/drawingml/2006/main" noGrp="1"/>
          </p:cNvSpPr>
          <p:nvPr/>
        </p:nvSpPr>
        <p:spPr>
          <a:xfrm xmlns:a="http://schemas.openxmlformats.org/drawingml/2006/main">
            <a:off x="34290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FB913CC2-3C27-41D3-88CC-FC62BB4186A7}"/>
              </a:ext>
            </a:extLst>
          </p:cNvPr>
          <p:cNvSpPr>
            <a:spLocks xmlns:a="http://schemas.openxmlformats.org/drawingml/2006/main" noGrp="1"/>
          </p:cNvSpPr>
          <p:nvPr/>
        </p:nvSpPr>
        <p:spPr>
          <a:xfrm xmlns:a="http://schemas.openxmlformats.org/drawingml/2006/main">
            <a:off x="34290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8" name="Google Shape;318;p13">
            <a:extLst xmlns:a="http://schemas.openxmlformats.org/drawingml/2006/main">
              <a:ext uri="{FF2B5EF4-FFF2-40B4-BE49-F238E27FC236}">
                <a16:creationId xmlns:a16="http://schemas.microsoft.com/office/drawing/2014/main" id="{8AED7573-FC91-46A5-83CB-67F8BF85790F}"/>
              </a:ext>
            </a:extLst>
          </p:cNvPr>
          <p:cNvPicPr>
            <a:picLocks xmlns:a="http://schemas.openxmlformats.org/drawingml/2006/main" noChangeAspect="1"/>
          </p:cNvPicPr>
          <p:nvPr/>
        </p:nvPicPr>
        <p:blipFill>
          <a:blip xmlns:r="http://schemas.openxmlformats.org/officeDocument/2006/relationships" xmlns:a="http://schemas.openxmlformats.org/drawingml/2006/main" r:embed="R553a2dacfad346ba">
            <a:alphaModFix/>
          </a:blip>
          <a:stretch xmlns:a="http://schemas.openxmlformats.org/drawingml/2006/main">
            <a:fillRect l="0" t="0" r="0" b="0"/>
          </a:stretch>
        </p:blipFill>
        <p:spPr>
          <a:xfrm xmlns:a="http://schemas.openxmlformats.org/drawingml/2006/main">
            <a:off x="671094" y="1552575"/>
            <a:ext cx="2010612"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05B8F9B8-75C7-4573-B78C-2A83DAEB63D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3a9f3722c88467a">
            <a:alphaModFix/>
          </a:blip>
          <a:srcRect xmlns:a="http://schemas.openxmlformats.org/drawingml/2006/main" l="0" t="30" r="0" b="30"/>
          <a:stretch xmlns:a="http://schemas.openxmlformats.org/drawingml/2006/main"/>
        </p:blipFill>
        <p:spPr>
          <a:xfrm xmlns:a="http://schemas.openxmlformats.org/drawingml/2006/main">
            <a:off x="3509544" y="1552575"/>
            <a:ext cx="2010613"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5730F0B9-1D14-4BE3-991C-6E51520EA2A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e58dc6219f949c2">
            <a:alphaModFix/>
          </a:blip>
          <a:srcRect xmlns:a="http://schemas.openxmlformats.org/drawingml/2006/main" l="0" t="239" r="0" b="239"/>
          <a:stretch xmlns:a="http://schemas.openxmlformats.org/drawingml/2006/main"/>
        </p:blipFill>
        <p:spPr>
          <a:xfrm xmlns:a="http://schemas.openxmlformats.org/drawingml/2006/main">
            <a:off x="6268640" y="1552575"/>
            <a:ext cx="216932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EC5B2F8E-FCA3-4736-BA07-D7EC073BB57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62f800944de414c">
            <a:alphaModFix/>
          </a:blip>
          <a:srcRect xmlns:a="http://schemas.openxmlformats.org/drawingml/2006/main" l="0" t="239" r="0" b="239"/>
          <a:stretch xmlns:a="http://schemas.openxmlformats.org/drawingml/2006/main"/>
        </p:blipFill>
        <p:spPr>
          <a:xfrm xmlns:a="http://schemas.openxmlformats.org/drawingml/2006/main">
            <a:off x="458000" y="3143250"/>
            <a:ext cx="243680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8B4AA040-4B15-4DD6-93F5-C1223673A04F}"/>
              </a:ext>
            </a:extLst>
          </p:cNvPr>
          <p:cNvPicPr>
            <a:picLocks xmlns:a="http://schemas.openxmlformats.org/drawingml/2006/main" noChangeAspect="1"/>
          </p:cNvPicPr>
          <p:nvPr/>
        </p:nvPicPr>
        <p:blipFill>
          <a:blip xmlns:r="http://schemas.openxmlformats.org/officeDocument/2006/relationships" xmlns:a="http://schemas.openxmlformats.org/drawingml/2006/main" r:embed="R163f8494825e4309">
            <a:alphaModFix/>
          </a:blip>
          <a:stretch xmlns:a="http://schemas.openxmlformats.org/drawingml/2006/main">
            <a:fillRect l="0" t="0" r="0" b="0"/>
          </a:stretch>
        </p:blipFill>
        <p:spPr>
          <a:xfrm xmlns:a="http://schemas.openxmlformats.org/drawingml/2006/main">
            <a:off x="3370139" y="3143250"/>
            <a:ext cx="2289423" cy="1238250"/>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088DA314-7132-4944-9558-81AB9654EE7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eec5a53c3044b5">
            <a:alphaModFix/>
          </a:blip>
          <a:srcRect xmlns:a="http://schemas.openxmlformats.org/drawingml/2006/main" l="0" t="1923" r="0" b="1923"/>
          <a:stretch xmlns:a="http://schemas.openxmlformats.org/drawingml/2006/main"/>
        </p:blipFill>
        <p:spPr>
          <a:xfrm xmlns:a="http://schemas.openxmlformats.org/drawingml/2006/main">
            <a:off x="6208581" y="3143250"/>
            <a:ext cx="2289439" cy="1238250"/>
          </a:xfrm>
          <a:prstGeom xmlns:a="http://schemas.openxmlformats.org/drawingml/2006/main" prst="rect">
            <a:avLst/>
          </a:prstGeom>
          <a:ln xmlns:a="http://schemas.openxmlformats.org/drawingml/2006/main">
            <a:noFill/>
          </a:ln>
        </p:spPr>
      </p:pic>
      <p:sp>
        <p:nvSpPr>
          <p:cNvPr id="324" name="II. METHODOLOGY  SYSTEM IMPLEMENTATION">
            <a:extLst xmlns:a="http://schemas.openxmlformats.org/drawingml/2006/main">
              <a:ext uri="{FF2B5EF4-FFF2-40B4-BE49-F238E27FC236}">
                <a16:creationId xmlns:a16="http://schemas.microsoft.com/office/drawing/2014/main" id="{90401FB9-DC5E-4D2E-B798-FBCB9CB53F9C}"/>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defRPr sz="975" b="1">
                <a:solidFill>
                  <a:srgbClr val="007F86"/>
                </a:solidFill>
                <a:latin typeface="Calibri"/>
                <a:ea typeface="Calibri"/>
                <a:cs typeface="Calibri"/>
              </a:defRPr>
            </a:pPr>
            <a:r>
              <a:rPr sz="975" b="1">
                <a:solidFill>
                  <a:srgbClr val="007F86"/>
                </a:solidFill>
                <a:latin typeface="Calibri"/>
                <a:ea typeface="Calibri"/>
                <a:cs typeface="Calibri"/>
              </a:rPr>
              <a:t>II. METHODOLOGY  SYSTEM IMPLEMENTATION</a:t>
            </a:r>
          </a:p>
        </p:txBody>
      </p:sp>
      <p:sp>
        <p:nvSpPr>
          <p:cNvPr id="325" name="Prototype Interfaces">
            <a:extLst xmlns:a="http://schemas.openxmlformats.org/drawingml/2006/main">
              <a:ext uri="{FF2B5EF4-FFF2-40B4-BE49-F238E27FC236}">
                <a16:creationId xmlns:a16="http://schemas.microsoft.com/office/drawing/2014/main" id="{FEF3B9CC-8ACA-4347-AC8C-4BDCFA6C93D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defRPr sz="2550" b="1">
                <a:solidFill>
                  <a:srgbClr val="142C45"/>
                </a:solidFill>
                <a:latin typeface="Calibri"/>
                <a:ea typeface="Calibri"/>
                <a:cs typeface="Calibri"/>
              </a:defRPr>
            </a:pPr>
            <a:r>
              <a:rPr sz="2550" b="1">
                <a:solidFill>
                  <a:srgbClr val="142C45"/>
                </a:solidFill>
                <a:latin typeface="Calibri"/>
                <a:ea typeface="Calibri"/>
                <a:cs typeface="Calibri"/>
              </a:rPr>
              <a:t>Prototype Interfaces</a:t>
            </a:r>
          </a:p>
        </p:txBody>
      </p:sp>
      <p:sp>
        <p:nvSpPr>
          <p:cNvPr id="326" name="Authentication">
            <a:extLst xmlns:a="http://schemas.openxmlformats.org/drawingml/2006/main">
              <a:ext uri="{FF2B5EF4-FFF2-40B4-BE49-F238E27FC236}">
                <a16:creationId xmlns:a16="http://schemas.microsoft.com/office/drawing/2014/main" id="{F22B4EC6-D3E5-4472-BF16-E776B16C5B4E}"/>
              </a:ext>
            </a:extLst>
          </p:cNvPr>
          <p:cNvSpPr>
            <a:spLocks xmlns:a="http://schemas.openxmlformats.org/drawingml/2006/main" noGrp="1"/>
          </p:cNvSpPr>
          <p:nvPr/>
        </p:nvSpPr>
        <p:spPr>
          <a:xfrm xmlns:a="http://schemas.openxmlformats.org/drawingml/2006/main">
            <a:off x="34290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Authentication</a:t>
            </a:r>
          </a:p>
        </p:txBody>
      </p:sp>
      <p:sp>
        <p:nvSpPr>
          <p:cNvPr id="327" name="Admin Dashboard">
            <a:extLst xmlns:a="http://schemas.openxmlformats.org/drawingml/2006/main">
              <a:ext uri="{FF2B5EF4-FFF2-40B4-BE49-F238E27FC236}">
                <a16:creationId xmlns:a16="http://schemas.microsoft.com/office/drawing/2014/main" id="{6443DC43-ECA5-4D43-87A5-A31EE34B8F98}"/>
              </a:ext>
            </a:extLst>
          </p:cNvPr>
          <p:cNvSpPr>
            <a:spLocks xmlns:a="http://schemas.openxmlformats.org/drawingml/2006/main" noGrp="1"/>
          </p:cNvSpPr>
          <p:nvPr/>
        </p:nvSpPr>
        <p:spPr>
          <a:xfrm xmlns:a="http://schemas.openxmlformats.org/drawingml/2006/main">
            <a:off x="318135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Admin Dashboard</a:t>
            </a:r>
          </a:p>
        </p:txBody>
      </p:sp>
      <p:sp>
        <p:nvSpPr>
          <p:cNvPr id="328" name="Security Dashboard">
            <a:extLst xmlns:a="http://schemas.openxmlformats.org/drawingml/2006/main">
              <a:ext uri="{FF2B5EF4-FFF2-40B4-BE49-F238E27FC236}">
                <a16:creationId xmlns:a16="http://schemas.microsoft.com/office/drawing/2014/main" id="{62C98866-2F73-4729-9BF6-6498D00888C3}"/>
              </a:ext>
            </a:extLst>
          </p:cNvPr>
          <p:cNvSpPr>
            <a:spLocks xmlns:a="http://schemas.openxmlformats.org/drawingml/2006/main" noGrp="1"/>
          </p:cNvSpPr>
          <p:nvPr/>
        </p:nvSpPr>
        <p:spPr>
          <a:xfrm xmlns:a="http://schemas.openxmlformats.org/drawingml/2006/main">
            <a:off x="601980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Security Dashboard</a:t>
            </a:r>
          </a:p>
        </p:txBody>
      </p:sp>
      <p:sp>
        <p:nvSpPr>
          <p:cNvPr id="329" name="Event Organizer">
            <a:extLst xmlns:a="http://schemas.openxmlformats.org/drawingml/2006/main">
              <a:ext uri="{FF2B5EF4-FFF2-40B4-BE49-F238E27FC236}">
                <a16:creationId xmlns:a16="http://schemas.microsoft.com/office/drawing/2014/main" id="{85BD1ED2-105A-4B41-BCF0-72F7CB011AB8}"/>
              </a:ext>
            </a:extLst>
          </p:cNvPr>
          <p:cNvSpPr>
            <a:spLocks xmlns:a="http://schemas.openxmlformats.org/drawingml/2006/main" noGrp="1"/>
          </p:cNvSpPr>
          <p:nvPr/>
        </p:nvSpPr>
        <p:spPr>
          <a:xfrm xmlns:a="http://schemas.openxmlformats.org/drawingml/2006/main">
            <a:off x="34290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Event Organizer</a:t>
            </a:r>
          </a:p>
        </p:txBody>
      </p:sp>
      <p:sp>
        <p:nvSpPr>
          <p:cNvPr id="330" name="Active Monitoring">
            <a:extLst xmlns:a="http://schemas.openxmlformats.org/drawingml/2006/main">
              <a:ext uri="{FF2B5EF4-FFF2-40B4-BE49-F238E27FC236}">
                <a16:creationId xmlns:a16="http://schemas.microsoft.com/office/drawing/2014/main" id="{89C3590C-018A-4D50-82F7-E8CFE2CEEE45}"/>
              </a:ext>
            </a:extLst>
          </p:cNvPr>
          <p:cNvSpPr>
            <a:spLocks xmlns:a="http://schemas.openxmlformats.org/drawingml/2006/main" noGrp="1"/>
          </p:cNvSpPr>
          <p:nvPr/>
        </p:nvSpPr>
        <p:spPr>
          <a:xfrm xmlns:a="http://schemas.openxmlformats.org/drawingml/2006/main">
            <a:off x="318135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Active Monitoring</a:t>
            </a:r>
          </a:p>
        </p:txBody>
      </p:sp>
      <p:sp>
        <p:nvSpPr>
          <p:cNvPr id="331" name="Student Kiosk">
            <a:extLst xmlns:a="http://schemas.openxmlformats.org/drawingml/2006/main">
              <a:ext uri="{FF2B5EF4-FFF2-40B4-BE49-F238E27FC236}">
                <a16:creationId xmlns:a16="http://schemas.microsoft.com/office/drawing/2014/main" id="{51FDBA40-B3F5-4BFF-A646-FA0CD7282846}"/>
              </a:ext>
            </a:extLst>
          </p:cNvPr>
          <p:cNvSpPr>
            <a:spLocks xmlns:a="http://schemas.openxmlformats.org/drawingml/2006/main" noGrp="1"/>
          </p:cNvSpPr>
          <p:nvPr/>
        </p:nvSpPr>
        <p:spPr>
          <a:xfrm xmlns:a="http://schemas.openxmlformats.org/drawingml/2006/main">
            <a:off x="601980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Student Kiosk</a:t>
            </a:r>
          </a:p>
        </p:txBody>
      </p:sp>
      <p:sp>
        <p:nvSpPr>
          <p:cNvPr id="332" name="Selected prototype screenshots. The live demonstration shows">
            <a:extLst xmlns:a="http://schemas.openxmlformats.org/drawingml/2006/main">
              <a:ext uri="{FF2B5EF4-FFF2-40B4-BE49-F238E27FC236}">
                <a16:creationId xmlns:a16="http://schemas.microsoft.com/office/drawing/2014/main" id="{6E2A63C2-FD3A-4B6C-A3B6-76F774685110}"/>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defRPr sz="1200" b="0">
                <a:solidFill>
                  <a:srgbClr val="607282"/>
                </a:solidFill>
                <a:latin typeface="Calibri"/>
                <a:ea typeface="Calibri"/>
                <a:cs typeface="Calibri"/>
              </a:defRPr>
            </a:pPr>
            <a:r>
              <a:rPr sz="1200" b="0">
                <a:solidFill>
                  <a:srgbClr val="607282"/>
                </a:solidFill>
                <a:latin typeface="Calibri"/>
                <a:ea typeface="Calibri"/>
                <a:cs typeface="Calibri"/>
              </a:rPr>
              <a:t>Selected prototype screenshots. The live demonstration shows the current build.</a:t>
            </a:r>
          </a:p>
        </p:txBody>
      </p:sp>
      <p:sp>
        <p:nvSpPr>
          <p:cNvPr id="333" name="10 / 24">
            <a:extLst xmlns:a="http://schemas.openxmlformats.org/drawingml/2006/main">
              <a:ext uri="{FF2B5EF4-FFF2-40B4-BE49-F238E27FC236}">
                <a16:creationId xmlns:a16="http://schemas.microsoft.com/office/drawing/2014/main" id="{78061814-F027-419B-A0FA-8EF8E1F50956}"/>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defRPr sz="825" b="0">
                <a:solidFill>
                  <a:srgbClr val="607282"/>
                </a:solidFill>
                <a:latin typeface="Calibri"/>
                <a:ea typeface="Calibri"/>
                <a:cs typeface="Calibri"/>
              </a:defRPr>
            </a:pPr>
            <a:r>
              <a:rPr sz="825" b="0">
                <a:solidFill>
                  <a:srgbClr val="607282"/>
                </a:solidFill>
                <a:latin typeface="Calibri"/>
                <a:ea typeface="Calibri"/>
                <a:cs typeface="Calibri"/>
              </a:rPr>
              <a:t>10 / 24</a:t>
            </a: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F4B90375-F701-44F0-A26D-EC7F945FC1A6}"/>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28A556E4-CCE8-4B6F-95C2-6C4AE5146EFA}"/>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Statistical Treatment and Hypotheses</a:t>
            </a:r>
          </a:p>
        </p:txBody>
      </p:sp>
      <p:sp>
        <p:nvSpPr>
          <p:cNvPr id="3" name="11 / 24">
            <a:extLst xmlns:a="http://schemas.openxmlformats.org/drawingml/2006/main">
              <a:ext uri="{FF2B5EF4-FFF2-40B4-BE49-F238E27FC236}">
                <a16:creationId xmlns:a16="http://schemas.microsoft.com/office/drawing/2014/main" id="{5DB3568A-FFD9-4BEB-9340-5A986EAF6FF2}"/>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E77A42DE-6EDC-49AF-964D-E655630FD486}"/>
              </a:ext>
            </a:extLst>
          </p:cNvPr>
          <p:cNvSpPr>
            <a:spLocks xmlns:a="http://schemas.openxmlformats.org/drawingml/2006/main" noGrp="1"/>
          </p:cNvSpPr>
          <p:nvPr/>
        </p:nvSpPr>
        <p:spPr>
          <a:xfrm xmlns:a="http://schemas.openxmlformats.org/drawingml/2006/main">
            <a:off x="34290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274CAACC-131B-44FF-9466-D64757A1DAD5}"/>
              </a:ext>
            </a:extLst>
          </p:cNvPr>
          <p:cNvSpPr>
            <a:spLocks xmlns:a="http://schemas.openxmlformats.org/drawingml/2006/main" noGrp="1"/>
          </p:cNvSpPr>
          <p:nvPr/>
        </p:nvSpPr>
        <p:spPr>
          <a:xfrm xmlns:a="http://schemas.openxmlformats.org/drawingml/2006/main">
            <a:off x="34290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67E07634-D486-44B5-8059-271DDFF50651}"/>
              </a:ext>
            </a:extLst>
          </p:cNvPr>
          <p:cNvSpPr>
            <a:spLocks xmlns:a="http://schemas.openxmlformats.org/drawingml/2006/main" noGrp="1"/>
          </p:cNvSpPr>
          <p:nvPr/>
        </p:nvSpPr>
        <p:spPr>
          <a:xfrm xmlns:a="http://schemas.openxmlformats.org/drawingml/2006/main">
            <a:off x="34290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ED6E890D-02EC-416C-97CB-3F5629569129}"/>
              </a:ext>
            </a:extLst>
          </p:cNvPr>
          <p:cNvSpPr>
            <a:spLocks xmlns:a="http://schemas.openxmlformats.org/drawingml/2006/main" noGrp="1"/>
          </p:cNvSpPr>
          <p:nvPr/>
        </p:nvSpPr>
        <p:spPr>
          <a:xfrm xmlns:a="http://schemas.openxmlformats.org/drawingml/2006/main">
            <a:off x="34290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4176BF3E-DFA0-4236-B6E0-0D26CE0003D2}"/>
              </a:ext>
            </a:extLst>
          </p:cNvPr>
          <p:cNvSpPr>
            <a:spLocks xmlns:a="http://schemas.openxmlformats.org/drawingml/2006/main" noGrp="1"/>
          </p:cNvSpPr>
          <p:nvPr/>
        </p:nvSpPr>
        <p:spPr>
          <a:xfrm xmlns:a="http://schemas.openxmlformats.org/drawingml/2006/main">
            <a:off x="34290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83251ADC-4BE3-4E63-8C4A-05F7C265B14E}"/>
              </a:ext>
            </a:extLst>
          </p:cNvPr>
          <p:cNvSpPr>
            <a:spLocks xmlns:a="http://schemas.openxmlformats.org/drawingml/2006/main" noGrp="1"/>
          </p:cNvSpPr>
          <p:nvPr/>
        </p:nvSpPr>
        <p:spPr>
          <a:xfrm xmlns:a="http://schemas.openxmlformats.org/drawingml/2006/main">
            <a:off x="34290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61CDF205-CBDB-4C4C-9D2A-7A5D369ADAB8}"/>
              </a:ext>
            </a:extLst>
          </p:cNvPr>
          <p:cNvSpPr>
            <a:spLocks xmlns:a="http://schemas.openxmlformats.org/drawingml/2006/main" noGrp="1"/>
          </p:cNvSpPr>
          <p:nvPr/>
        </p:nvSpPr>
        <p:spPr>
          <a:xfrm xmlns:a="http://schemas.openxmlformats.org/drawingml/2006/main">
            <a:off x="342900" y="4114800"/>
            <a:ext cx="838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F86"/>
                </a:solidFill>
                <a:latin typeface="Calibri"/>
                <a:ea typeface="Calibri"/>
                <a:cs typeface="Calibri"/>
              </a:defRPr>
            </a:defPPr>
          </a:lstStyle>
          <a:p xmlns:a="http://schemas.openxmlformats.org/drawingml/2006/main">
            <a:pPr algn="l">
              <a:buNone/>
              <a:defRPr sz="1650" b="0">
                <a:solidFill>
                  <a:srgbClr val="007F86"/>
                </a:solidFill>
                <a:latin typeface="Calibri"/>
                <a:ea typeface="Calibri"/>
                <a:cs typeface="Calibri"/>
              </a:defRPr>
            </a:pPr>
            <a:r>
              <a:rPr sz="1650" b="0">
                <a:solidFill>
                  <a:srgbClr val="007F86"/>
                </a:solidFill>
                <a:latin typeface="Calibri"/>
                <a:ea typeface="Calibri"/>
                <a:cs typeface="Calibri"/>
              </a:rPr>
              <a:t>t = (mean System - mean Manual)</a:t>
            </a:r>
          </a:p>
          <a:p xmlns:a="http://schemas.openxmlformats.org/drawingml/2006/main">
            <a:pPr algn="l">
              <a:buNone/>
              <a:defRPr sz="1650" b="0">
                <a:solidFill>
                  <a:srgbClr val="007F86"/>
                </a:solidFill>
                <a:latin typeface="Calibri"/>
                <a:ea typeface="Calibri"/>
                <a:cs typeface="Calibri"/>
              </a:defRPr>
            </a:pPr>
            <a:r>
              <a:rPr sz="1650" b="0">
                <a:solidFill>
                  <a:srgbClr val="007F86"/>
                </a:solidFill>
                <a:latin typeface="Calibri"/>
                <a:ea typeface="Calibri"/>
                <a:cs typeface="Calibri"/>
              </a:rPr>
              <a:t>     / sqrt(SD System^2 / n System + SD Manual^2 / n Manual)</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611462F7-1715-4D95-BFC7-EA4CDFDE508E}"/>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7DA0B7B9-E55B-42BB-9CD7-DC8396B4D2E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Observation Records and Functionality Cases</a:t>
            </a:r>
          </a:p>
        </p:txBody>
      </p:sp>
      <p:sp>
        <p:nvSpPr>
          <p:cNvPr id="3" name="12 / 24">
            <a:extLst xmlns:a="http://schemas.openxmlformats.org/drawingml/2006/main">
              <a:ext uri="{FF2B5EF4-FFF2-40B4-BE49-F238E27FC236}">
                <a16:creationId xmlns:a16="http://schemas.microsoft.com/office/drawing/2014/main" id="{5FBD70FA-2388-4AB3-AA18-42F1F38D517A}"/>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BA8E9450-65FB-48D8-869E-891277E66F2E}"/>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0" tIns="0" rIns="0" bIns="0">
                      <a:noAutofit/>
                    </a:bodyPr>
                    <a:lstStyle/>
                    <a:p>
                      <a:pPr algn="l">
                        <a:buNone/>
                      </a:pPr>
                      <a:r>
                        <a:rPr sz="1500"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Successful Entries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Reset Exits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Denied Records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Total</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22910">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142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2910">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12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152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22910">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144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2910">
                <a:tc>
                  <a:txBody>
                    <a:bodyPr lIns="0" tIns="0" rIns="0" bIns="0">
                      <a:noAutofit/>
                    </a:bodyPr>
                    <a:lstStyle/>
                    <a:p>
                      <a:pPr algn="l">
                        <a:buNone/>
                      </a:pPr>
                      <a:r>
                        <a:rPr sz="1575" b="1">
                          <a:solidFill>
                            <a:srgbClr val="007F86"/>
                          </a:solidFill>
                          <a:latin typeface="Calibri"/>
                          <a:ea typeface="Calibri"/>
                          <a:cs typeface="Calibri"/>
                        </a:rPr>
                        <a:t>Total</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210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210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18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buNone/>
                      </a:pPr>
                      <a:r>
                        <a:rPr sz="1575" b="1">
                          <a:solidFill>
                            <a:srgbClr val="007F86"/>
                          </a:solidFill>
                          <a:latin typeface="Calibri"/>
                          <a:ea typeface="Calibri"/>
                          <a:cs typeface="Calibri"/>
                        </a:rPr>
                        <a:t>438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E7F3F3"/>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0B6DE7B7-EB41-46E4-8DA7-57371350AFD7}"/>
              </a:ext>
            </a:extLst>
          </p:cNvPr>
          <p:cNvSpPr>
            <a:spLocks xmlns:a="http://schemas.openxmlformats.org/drawingml/2006/main" noGrp="1"/>
          </p:cNvSpPr>
          <p:nvPr/>
        </p:nvSpPr>
        <p:spPr>
          <a:xfrm xmlns:a="http://schemas.openxmlformats.org/drawingml/2006/main">
            <a:off x="342900" y="35242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2EE87913-A850-42CE-AF56-6DC20FC8DEF3}"/>
              </a:ext>
            </a:extLst>
          </p:cNvPr>
          <p:cNvSpPr>
            <a:spLocks xmlns:a="http://schemas.openxmlformats.org/drawingml/2006/main" noGrp="1"/>
          </p:cNvSpPr>
          <p:nvPr/>
        </p:nvSpPr>
        <p:spPr>
          <a:xfrm xmlns:a="http://schemas.openxmlformats.org/drawingml/2006/main">
            <a:off x="342900" y="3886200"/>
            <a:ext cx="3952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7BA21AA4-A4C3-4506-8A8E-DF4991F2DBE7}"/>
              </a:ext>
            </a:extLst>
          </p:cNvPr>
          <p:cNvSpPr>
            <a:spLocks xmlns:a="http://schemas.openxmlformats.org/drawingml/2006/main" noGrp="1"/>
          </p:cNvSpPr>
          <p:nvPr/>
        </p:nvSpPr>
        <p:spPr>
          <a:xfrm xmlns:a="http://schemas.openxmlformats.org/drawingml/2006/main">
            <a:off x="4781550" y="3524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5D56E260-551E-4991-B516-5CC07A3E3D46}"/>
              </a:ext>
            </a:extLst>
          </p:cNvPr>
          <p:cNvSpPr>
            <a:spLocks xmlns:a="http://schemas.openxmlformats.org/drawingml/2006/main" noGrp="1"/>
          </p:cNvSpPr>
          <p:nvPr/>
        </p:nvSpPr>
        <p:spPr>
          <a:xfrm xmlns:a="http://schemas.openxmlformats.org/drawingml/2006/main">
            <a:off x="4781550" y="3886200"/>
            <a:ext cx="3952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0CA9DEFB-78AB-4A68-8C96-B65D6B97B33A}"/>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4B6AFF49-5063-43B6-8A40-696E63521937}"/>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Internal System Latency</a:t>
            </a:r>
          </a:p>
        </p:txBody>
      </p:sp>
      <p:sp>
        <p:nvSpPr>
          <p:cNvPr id="3" name="13 / 24">
            <a:extLst xmlns:a="http://schemas.openxmlformats.org/drawingml/2006/main">
              <a:ext uri="{FF2B5EF4-FFF2-40B4-BE49-F238E27FC236}">
                <a16:creationId xmlns:a16="http://schemas.microsoft.com/office/drawing/2014/main" id="{5BC5E4C2-5B21-4357-A36A-4DC1F71D7538}"/>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93B400BD-7BBA-4C9D-894D-4D087DDD138B}"/>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0" tIns="0" rIns="0" bIns="0">
                      <a:noAutofit/>
                    </a:bodyPr>
                    <a:lstStyle/>
                    <a:p>
                      <a:pPr algn="l">
                        <a:buNone/>
                      </a:pPr>
                      <a:r>
                        <a:rPr sz="1425"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425" b="1">
                          <a:solidFill>
                            <a:srgbClr val="FFFFFF"/>
                          </a:solidFill>
                          <a:latin typeface="Calibri"/>
                          <a:ea typeface="Calibri"/>
                          <a:cs typeface="Calibri"/>
                        </a:rPr>
                        <a:t>Mean ms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425" b="1">
                          <a:solidFill>
                            <a:srgbClr val="FFFFFF"/>
                          </a:solidFill>
                          <a:latin typeface="Calibri"/>
                          <a:ea typeface="Calibri"/>
                          <a:cs typeface="Calibri"/>
                        </a:rPr>
                        <a:t>Sample SD ms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425" b="1">
                          <a:solidFill>
                            <a:srgbClr val="FFFFFF"/>
                          </a:solidFill>
                          <a:latin typeface="Calibri"/>
                          <a:ea typeface="Calibri"/>
                          <a:cs typeface="Calibri"/>
                        </a:rPr>
                        <a:t>DB Mean ms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540544">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11.49</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2.20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2.88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540544">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57.37</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17.46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47.95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540544">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54.06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6.34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44.90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9A0CDC5E-B534-430D-A22A-1BC9995D4269}"/>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7ec3f23e52e04ae9"/>
          </a:graphicData>
        </a:graphic>
      </p:graphicFrame>
      <p:sp>
        <p:nvSpPr>
          <p:cNvPr id="6" name="70 successful entries per mode">
            <a:extLst xmlns:a="http://schemas.openxmlformats.org/drawingml/2006/main">
              <a:ext uri="{FF2B5EF4-FFF2-40B4-BE49-F238E27FC236}">
                <a16:creationId xmlns:a16="http://schemas.microsoft.com/office/drawing/2014/main" id="{A54A7160-8F7B-4DE6-A872-9D34B6417965}"/>
              </a:ext>
            </a:extLst>
          </p:cNvPr>
          <p:cNvSpPr>
            <a:spLocks xmlns:a="http://schemas.openxmlformats.org/drawingml/2006/main" noGrp="1"/>
          </p:cNvSpPr>
          <p:nvPr/>
        </p:nvSpPr>
        <p:spPr>
          <a:xfrm xmlns:a="http://schemas.openxmlformats.org/drawingml/2006/main">
            <a:off x="342900" y="4038600"/>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9163E79C-6BC7-4766-978A-B726F32897C5}"/>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843F5315-2CF6-448C-B3FB-BD9C07434CAB}"/>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B47DA83F-1559-43EF-B693-0302D29EB43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Recorded PIN and QR Interaction</a:t>
            </a:r>
          </a:p>
        </p:txBody>
      </p:sp>
      <p:sp>
        <p:nvSpPr>
          <p:cNvPr id="3" name="14 / 24">
            <a:extLst xmlns:a="http://schemas.openxmlformats.org/drawingml/2006/main">
              <a:ext uri="{FF2B5EF4-FFF2-40B4-BE49-F238E27FC236}">
                <a16:creationId xmlns:a16="http://schemas.microsoft.com/office/drawing/2014/main" id="{4DCB654C-C7C0-4071-B560-6522DF54F44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190D558E-B3E3-49FE-A924-FB60332B8F8B}"/>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8b212c1c63874c4d"/>
          </a:graphicData>
        </a:graphic>
      </p:graphicFrame>
      <p:graphicFrame>
        <p:nvGraphicFramePr>
          <p:cNvPr id="5" name="">
            <a:extLst xmlns:a="http://schemas.openxmlformats.org/drawingml/2006/main">
              <a:ext uri="{FF2B5EF4-FFF2-40B4-BE49-F238E27FC236}">
                <a16:creationId xmlns:a16="http://schemas.microsoft.com/office/drawing/2014/main" id="{0BD1CA83-0F95-4440-B078-AFC3974F8F18}"/>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0" tIns="0" rIns="0" bIns="0">
                      <a:noAutofit/>
                    </a:bodyPr>
                    <a:lstStyle/>
                    <a:p>
                      <a:pPr algn="l">
                        <a:buNone/>
                      </a:pPr>
                      <a:r>
                        <a:rPr sz="1425" b="1">
                          <a:solidFill>
                            <a:srgbClr val="FFFFFF"/>
                          </a:solidFill>
                          <a:latin typeface="Calibri"/>
                          <a:ea typeface="Calibri"/>
                          <a:cs typeface="Calibri"/>
                        </a:rPr>
                        <a:t>Total Stage Duration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425" b="1">
                          <a:solidFill>
                            <a:srgbClr val="FFFFFF"/>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425" b="1">
                          <a:solidFill>
                            <a:srgbClr val="FFFFFF"/>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19100">
                <a:tc>
                  <a:txBody>
                    <a:bodyPr lIns="0" tIns="0" rIns="0" bIns="0">
                      <a:noAutofit/>
                    </a:bodyPr>
                    <a:lstStyle/>
                    <a:p>
                      <a:pPr algn="l">
                        <a:buNone/>
                      </a:pPr>
                      <a:r>
                        <a:rPr sz="1425" b="0">
                          <a:solidFill>
                            <a:srgbClr val="33424D"/>
                          </a:solidFill>
                          <a:latin typeface="Calibri"/>
                          <a:ea typeface="Calibri"/>
                          <a:cs typeface="Calibri"/>
                        </a:rPr>
                        <a:t>Mean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425" b="0">
                          <a:solidFill>
                            <a:srgbClr val="33424D"/>
                          </a:solidFill>
                          <a:latin typeface="Calibri"/>
                          <a:ea typeface="Calibri"/>
                          <a:cs typeface="Calibri"/>
                        </a:rPr>
                        <a:t>2.505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425" b="0">
                          <a:solidFill>
                            <a:srgbClr val="33424D"/>
                          </a:solidFill>
                          <a:latin typeface="Calibri"/>
                          <a:ea typeface="Calibri"/>
                          <a:cs typeface="Calibri"/>
                        </a:rPr>
                        <a:t>5.799</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19100">
                <a:tc>
                  <a:txBody>
                    <a:bodyPr lIns="0" tIns="0" rIns="0" bIns="0">
                      <a:noAutofit/>
                    </a:bodyPr>
                    <a:lstStyle/>
                    <a:p>
                      <a:pPr algn="l">
                        <a:buNone/>
                      </a:pPr>
                      <a:r>
                        <a:rPr sz="1425" b="0">
                          <a:solidFill>
                            <a:srgbClr val="33424D"/>
                          </a:solidFill>
                          <a:latin typeface="Calibri"/>
                          <a:ea typeface="Calibri"/>
                          <a:cs typeface="Calibri"/>
                        </a:rPr>
                        <a:t>Median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425" b="0">
                          <a:solidFill>
                            <a:srgbClr val="33424D"/>
                          </a:solidFill>
                          <a:latin typeface="Calibri"/>
                          <a:ea typeface="Calibri"/>
                          <a:cs typeface="Calibri"/>
                        </a:rPr>
                        <a:t>2.035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425" b="0">
                          <a:solidFill>
                            <a:srgbClr val="33424D"/>
                          </a:solidFill>
                          <a:latin typeface="Calibri"/>
                          <a:ea typeface="Calibri"/>
                          <a:cs typeface="Calibri"/>
                        </a:rPr>
                        <a:t>4.348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19100">
                <a:tc>
                  <a:txBody>
                    <a:bodyPr lIns="0" tIns="0" rIns="0" bIns="0">
                      <a:noAutofit/>
                    </a:bodyPr>
                    <a:lstStyle/>
                    <a:p>
                      <a:pPr algn="l">
                        <a:buNone/>
                      </a:pPr>
                      <a:r>
                        <a:rPr sz="1425" b="0">
                          <a:solidFill>
                            <a:srgbClr val="33424D"/>
                          </a:solidFill>
                          <a:latin typeface="Calibri"/>
                          <a:ea typeface="Calibri"/>
                          <a:cs typeface="Calibri"/>
                        </a:rPr>
                        <a:t>Sample SD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425" b="0">
                          <a:solidFill>
                            <a:srgbClr val="33424D"/>
                          </a:solidFill>
                          <a:latin typeface="Calibri"/>
                          <a:ea typeface="Calibri"/>
                          <a:cs typeface="Calibri"/>
                        </a:rPr>
                        <a:t>1.152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425" b="0">
                          <a:solidFill>
                            <a:srgbClr val="33424D"/>
                          </a:solidFill>
                          <a:latin typeface="Calibri"/>
                          <a:ea typeface="Calibri"/>
                          <a:cs typeface="Calibri"/>
                        </a:rPr>
                        <a:t>3.878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19100">
                <a:tc>
                  <a:txBody>
                    <a:bodyPr lIns="0" tIns="0" rIns="0" bIns="0">
                      <a:noAutofit/>
                    </a:bodyPr>
                    <a:lstStyle/>
                    <a:p>
                      <a:pPr algn="l">
                        <a:buNone/>
                      </a:pPr>
                      <a:r>
                        <a:rPr sz="1425" b="0">
                          <a:solidFill>
                            <a:srgbClr val="33424D"/>
                          </a:solidFill>
                          <a:latin typeface="Calibri"/>
                          <a:ea typeface="Calibri"/>
                          <a:cs typeface="Calibri"/>
                        </a:rPr>
                        <a:t>Maximum (s)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425" b="0">
                          <a:solidFill>
                            <a:srgbClr val="33424D"/>
                          </a:solidFill>
                          <a:latin typeface="Calibri"/>
                          <a:ea typeface="Calibri"/>
                          <a:cs typeface="Calibri"/>
                        </a:rPr>
                        <a:t>6.875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425" b="0">
                          <a:solidFill>
                            <a:srgbClr val="33424D"/>
                          </a:solidFill>
                          <a:latin typeface="Calibri"/>
                          <a:ea typeface="Calibri"/>
                          <a:cs typeface="Calibri"/>
                        </a:rPr>
                        <a:t>22.604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281F19FA-58D9-4EE7-A94C-D37EA054B707}"/>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67C26A64-AA11-4471-99A0-4B7DC863202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84CF7903-EE20-4A4D-87BB-E69716707376}"/>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Manual Paper Attendance Baseline</a:t>
            </a:r>
          </a:p>
        </p:txBody>
      </p:sp>
      <p:sp>
        <p:nvSpPr>
          <p:cNvPr id="3" name="15 / 24">
            <a:extLst xmlns:a="http://schemas.openxmlformats.org/drawingml/2006/main">
              <a:ext uri="{FF2B5EF4-FFF2-40B4-BE49-F238E27FC236}">
                <a16:creationId xmlns:a16="http://schemas.microsoft.com/office/drawing/2014/main" id="{88E82878-B270-4A3F-ACE7-146F564AA7F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7B5803F4-E2BC-4473-811A-072AE5AF8038}"/>
              </a:ext>
            </a:extLst>
          </p:cNvPr>
          <p:cNvSpPr>
            <a:spLocks xmlns:a="http://schemas.openxmlformats.org/drawingml/2006/main" noGrp="1"/>
          </p:cNvSpPr>
          <p:nvPr/>
        </p:nvSpPr>
        <p:spPr>
          <a:xfrm xmlns:a="http://schemas.openxmlformats.org/drawingml/2006/main">
            <a:off x="342900" y="135255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98D32"/>
                </a:solidFill>
                <a:latin typeface="Calibri"/>
                <a:ea typeface="Calibri"/>
                <a:cs typeface="Calibri"/>
              </a:defRPr>
            </a:defPPr>
          </a:lstStyle>
          <a:p xmlns:a="http://schemas.openxmlformats.org/drawingml/2006/main">
            <a:pPr algn="l">
              <a:buNone/>
              <a:defRPr sz="3600" b="1">
                <a:solidFill>
                  <a:srgbClr val="C98D32"/>
                </a:solidFill>
                <a:latin typeface="Calibri"/>
                <a:ea typeface="Calibri"/>
                <a:cs typeface="Calibri"/>
              </a:defRPr>
            </a:pPr>
            <a:r>
              <a:rPr sz="3600" b="1">
                <a:solidFill>
                  <a:srgbClr val="C98D32"/>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5D73C20C-B6BD-473A-AD07-142ADD356506}"/>
              </a:ext>
            </a:extLst>
          </p:cNvPr>
          <p:cNvSpPr>
            <a:spLocks xmlns:a="http://schemas.openxmlformats.org/drawingml/2006/main" noGrp="1"/>
          </p:cNvSpPr>
          <p:nvPr/>
        </p:nvSpPr>
        <p:spPr>
          <a:xfrm xmlns:a="http://schemas.openxmlformats.org/drawingml/2006/main">
            <a:off x="342900" y="204787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DC043102-446B-408C-88CA-EE202D5F23D4}"/>
              </a:ext>
            </a:extLst>
          </p:cNvPr>
          <p:cNvSpPr>
            <a:spLocks xmlns:a="http://schemas.openxmlformats.org/drawingml/2006/main" noGrp="1"/>
          </p:cNvSpPr>
          <p:nvPr/>
        </p:nvSpPr>
        <p:spPr>
          <a:xfrm xmlns:a="http://schemas.openxmlformats.org/drawingml/2006/main">
            <a:off x="342900" y="2695575"/>
            <a:ext cx="414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3424D"/>
                </a:solidFill>
                <a:latin typeface="Calibri"/>
                <a:ea typeface="Calibri"/>
                <a:cs typeface="Calibri"/>
              </a:defRPr>
            </a:defPPr>
          </a:lstStyle>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Sample SD 4.436 s</a:t>
            </a:r>
          </a:p>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Median 21.135 s</a:t>
            </a:r>
          </a:p>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FDACB452-A1A2-4233-85AD-8C820442EE72}"/>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e9b441aed1cd4639"/>
          </a:graphicData>
        </a:graphic>
      </p:graphicFrame>
      <p:sp>
        <p:nvSpPr>
          <p:cNvPr id="8" name="Duration bins in seconds">
            <a:extLst xmlns:a="http://schemas.openxmlformats.org/drawingml/2006/main">
              <a:ext uri="{FF2B5EF4-FFF2-40B4-BE49-F238E27FC236}">
                <a16:creationId xmlns:a16="http://schemas.microsoft.com/office/drawing/2014/main" id="{6F6AD8F9-5919-4471-8FD3-B48197B38F25}"/>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3424D"/>
                </a:solidFill>
                <a:latin typeface="Calibri"/>
                <a:ea typeface="Calibri"/>
                <a:cs typeface="Calibri"/>
              </a:defRPr>
            </a:defPPr>
          </a:lstStyle>
          <a:p xmlns:a="http://schemas.openxmlformats.org/drawingml/2006/main">
            <a:pPr algn="l">
              <a:buNone/>
              <a:defRPr sz="1425" b="0">
                <a:solidFill>
                  <a:srgbClr val="33424D"/>
                </a:solidFill>
                <a:latin typeface="Calibri"/>
                <a:ea typeface="Calibri"/>
                <a:cs typeface="Calibri"/>
              </a:defRPr>
            </a:pPr>
            <a:r>
              <a:rPr sz="1425" b="0">
                <a:solidFill>
                  <a:srgbClr val="33424D"/>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BE82A0E5-9E9B-4D3C-BBA3-D45B87BE93D8}"/>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6DF65B63-DBEB-4E71-BA15-28092CAB1811}"/>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11B74E77-0FB1-481A-8C04-7CDB9912CC08}"/>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Recorded Entry Spacing and Rate</a:t>
            </a:r>
          </a:p>
        </p:txBody>
      </p:sp>
      <p:sp>
        <p:nvSpPr>
          <p:cNvPr id="3" name="16 / 24">
            <a:extLst xmlns:a="http://schemas.openxmlformats.org/drawingml/2006/main">
              <a:ext uri="{FF2B5EF4-FFF2-40B4-BE49-F238E27FC236}">
                <a16:creationId xmlns:a16="http://schemas.microsoft.com/office/drawing/2014/main" id="{8B5190B5-8D00-45B0-A590-877982FB8B9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1A94A7D2-246A-4FBC-8B33-F2937AF2C8A1}"/>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0" tIns="0" rIns="0" bIns="0">
                      <a:noAutofit/>
                    </a:bodyPr>
                    <a:lstStyle/>
                    <a:p>
                      <a:pPr algn="l">
                        <a:buNone/>
                      </a:pPr>
                      <a:r>
                        <a:rPr sz="1500" b="1">
                          <a:solidFill>
                            <a:srgbClr val="FFFFFF"/>
                          </a:solidFill>
                          <a:latin typeface="Calibri"/>
                          <a:ea typeface="Calibri"/>
                          <a:cs typeface="Calibri"/>
                        </a:rPr>
                        <a:t>Mode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Intervals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Mean Spacing s</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Intervals per Minute</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69106">
                <a:tc>
                  <a:txBody>
                    <a:bodyPr lIns="0" tIns="0" rIns="0" bIns="0">
                      <a:noAutofit/>
                    </a:bodyPr>
                    <a:lstStyle/>
                    <a:p>
                      <a:pPr algn="l">
                        <a:buNone/>
                      </a:pPr>
                      <a:r>
                        <a:rPr sz="1575" b="0">
                          <a:solidFill>
                            <a:srgbClr val="33424D"/>
                          </a:solidFill>
                          <a:latin typeface="Calibri"/>
                          <a:ea typeface="Calibri"/>
                          <a:cs typeface="Calibri"/>
                        </a:rPr>
                        <a:t>Fast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66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2.730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21.98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69106">
                <a:tc>
                  <a:txBody>
                    <a:bodyPr lIns="0" tIns="0" rIns="0" bIns="0">
                      <a:noAutofit/>
                    </a:bodyPr>
                    <a:lstStyle/>
                    <a:p>
                      <a:pPr algn="l">
                        <a:buNone/>
                      </a:pPr>
                      <a:r>
                        <a:rPr sz="1575" b="0">
                          <a:solidFill>
                            <a:srgbClr val="33424D"/>
                          </a:solidFill>
                          <a:latin typeface="Calibri"/>
                          <a:ea typeface="Calibri"/>
                          <a:cs typeface="Calibri"/>
                        </a:rPr>
                        <a:t>Standard</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66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8.048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7.46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469106">
                <a:tc>
                  <a:txBody>
                    <a:bodyPr lIns="0" tIns="0" rIns="0" bIns="0">
                      <a:noAutofit/>
                    </a:bodyPr>
                    <a:lstStyle/>
                    <a:p>
                      <a:pPr algn="l">
                        <a:buNone/>
                      </a:pPr>
                      <a:r>
                        <a:rPr sz="1575" b="0">
                          <a:solidFill>
                            <a:srgbClr val="33424D"/>
                          </a:solidFill>
                          <a:latin typeface="Calibri"/>
                          <a:ea typeface="Calibri"/>
                          <a:cs typeface="Calibri"/>
                        </a:rPr>
                        <a:t>High-Security</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66</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12.129</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4.95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E55A9A7F-AAD4-45A6-B429-06B93C5D0399}"/>
              </a:ext>
            </a:extLst>
          </p:cNvPr>
          <p:cNvSpPr>
            <a:spLocks xmlns:a="http://schemas.openxmlformats.org/drawingml/2006/main" noGrp="1"/>
          </p:cNvSpPr>
          <p:nvPr/>
        </p:nvSpPr>
        <p:spPr>
          <a:xfrm xmlns:a="http://schemas.openxmlformats.org/drawingml/2006/main">
            <a:off x="34290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3430F449-A9F8-4EBA-A5FB-22F3145E8798}"/>
              </a:ext>
            </a:extLst>
          </p:cNvPr>
          <p:cNvSpPr>
            <a:spLocks xmlns:a="http://schemas.openxmlformats.org/drawingml/2006/main" noGrp="1"/>
          </p:cNvSpPr>
          <p:nvPr/>
        </p:nvSpPr>
        <p:spPr>
          <a:xfrm xmlns:a="http://schemas.openxmlformats.org/drawingml/2006/main">
            <a:off x="34290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24D"/>
                </a:solidFill>
                <a:latin typeface="Calibri"/>
                <a:ea typeface="Calibri"/>
                <a:cs typeface="Calibri"/>
              </a:defRPr>
            </a:defPPr>
          </a:lstStyle>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8B15B685-8BC2-407C-8210-F3DB660F0FC8}"/>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A9B6489C-DF0B-4A49-8EA2-1A4C257F512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4315A904-95E4-41D6-AAD1-0F1A1D8B8559}"/>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Credential Decisions and Security Conditions</a:t>
            </a:r>
          </a:p>
        </p:txBody>
      </p:sp>
      <p:sp>
        <p:nvSpPr>
          <p:cNvPr id="3" name="17 / 24">
            <a:extLst xmlns:a="http://schemas.openxmlformats.org/drawingml/2006/main">
              <a:ext uri="{FF2B5EF4-FFF2-40B4-BE49-F238E27FC236}">
                <a16:creationId xmlns:a16="http://schemas.microsoft.com/office/drawing/2014/main" id="{DD5C9B65-DB67-4274-AC0A-64A2A07F891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0D83EA37-BE86-4EFD-84E5-CDE3A2BD7B9E}"/>
              </a:ext>
            </a:extLst>
          </p:cNvPr>
          <p:cNvSpPr>
            <a:spLocks xmlns:a="http://schemas.openxmlformats.org/drawingml/2006/main" noGrp="1"/>
          </p:cNvSpPr>
          <p:nvPr/>
        </p:nvSpPr>
        <p:spPr>
          <a:xfrm xmlns:a="http://schemas.openxmlformats.org/drawingml/2006/main">
            <a:off x="342900" y="130492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E6DCCAFA-1D6E-40E3-AB8E-68DD4A2107AE}"/>
              </a:ext>
            </a:extLst>
          </p:cNvPr>
          <p:cNvSpPr>
            <a:spLocks xmlns:a="http://schemas.openxmlformats.org/drawingml/2006/main" noGrp="1"/>
          </p:cNvSpPr>
          <p:nvPr/>
        </p:nvSpPr>
        <p:spPr>
          <a:xfrm xmlns:a="http://schemas.openxmlformats.org/drawingml/2006/main">
            <a:off x="342900" y="19716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222 / 222 correct applicable</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C0FC2F23-C825-4E45-A834-B9A15F56BF07}"/>
              </a:ext>
            </a:extLst>
          </p:cNvPr>
          <p:cNvSpPr>
            <a:spLocks xmlns:a="http://schemas.openxmlformats.org/drawingml/2006/main" noGrp="1"/>
          </p:cNvSpPr>
          <p:nvPr/>
        </p:nvSpPr>
        <p:spPr>
          <a:xfrm xmlns:a="http://schemas.openxmlformats.org/drawingml/2006/main">
            <a:off x="3333750" y="130492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03D541B9-616F-4AC4-8BDC-D7A4CD229648}"/>
              </a:ext>
            </a:extLst>
          </p:cNvPr>
          <p:cNvSpPr>
            <a:spLocks xmlns:a="http://schemas.openxmlformats.org/drawingml/2006/main" noGrp="1"/>
          </p:cNvSpPr>
          <p:nvPr/>
        </p:nvSpPr>
        <p:spPr>
          <a:xfrm xmlns:a="http://schemas.openxmlformats.org/drawingml/2006/main">
            <a:off x="3333750" y="19716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18 / 438 denied</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B89A90DD-2DE2-46E7-B674-16963D063F83}"/>
              </a:ext>
            </a:extLst>
          </p:cNvPr>
          <p:cNvSpPr>
            <a:spLocks xmlns:a="http://schemas.openxmlformats.org/drawingml/2006/main" noGrp="1"/>
          </p:cNvSpPr>
          <p:nvPr/>
        </p:nvSpPr>
        <p:spPr>
          <a:xfrm xmlns:a="http://schemas.openxmlformats.org/drawingml/2006/main">
            <a:off x="6305550" y="13049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BF8A1977-611F-48BB-B570-735497637EFF}"/>
              </a:ext>
            </a:extLst>
          </p:cNvPr>
          <p:cNvSpPr>
            <a:spLocks xmlns:a="http://schemas.openxmlformats.org/drawingml/2006/main" noGrp="1"/>
          </p:cNvSpPr>
          <p:nvPr/>
        </p:nvSpPr>
        <p:spPr>
          <a:xfrm xmlns:a="http://schemas.openxmlformats.org/drawingml/2006/main">
            <a:off x="6305550" y="1971675"/>
            <a:ext cx="2419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2 new lockouts /</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152 PIN submissions</a:t>
            </a:r>
          </a:p>
        </p:txBody>
      </p:sp>
      <p:graphicFrame>
        <p:nvGraphicFramePr>
          <p:cNvPr id="10" name="">
            <a:extLst xmlns:a="http://schemas.openxmlformats.org/drawingml/2006/main">
              <a:ext uri="{FF2B5EF4-FFF2-40B4-BE49-F238E27FC236}">
                <a16:creationId xmlns:a16="http://schemas.microsoft.com/office/drawing/2014/main" id="{CF830EA0-C32F-4C83-A4A4-8F7C0BA4DF5D}"/>
              </a:ext>
            </a:extLst>
          </p:cNvPr>
          <p:cNvGraphicFramePr/>
          <p:nvPr/>
        </p:nvGraphicFramePr>
        <p:xfrm>
          <a:off xmlns:a="http://schemas.openxmlformats.org/drawingml/2006/main" x="304800" y="2562225"/>
          <a:ext xmlns:a="http://schemas.openxmlformats.org/drawingml/2006/main" cx="4953000" cy="1733550"/>
        </p:xfrm>
        <a:graphic xmlns:a="http://schemas.openxmlformats.org/drawingml/2006/main">
          <a:graphicData uri="http://schemas.openxmlformats.org/drawingml/2006/table">
            <a:tbl>
              <a:tblPr/>
              <a:tblGrid>
                <a:gridCol w="4238625"/>
                <a:gridCol w="714375"/>
              </a:tblGrid>
              <a:tr h="288925">
                <a:tc>
                  <a:txBody>
                    <a:bodyPr lIns="0" tIns="0" rIns="0" bIns="0">
                      <a:noAutofit/>
                    </a:bodyPr>
                    <a:lstStyle/>
                    <a:p>
                      <a:pPr algn="l">
                        <a:buNone/>
                      </a:pPr>
                      <a:r>
                        <a:rPr sz="1500" b="1">
                          <a:solidFill>
                            <a:srgbClr val="FFFFFF"/>
                          </a:solidFill>
                          <a:latin typeface="Calibri"/>
                          <a:ea typeface="Calibri"/>
                          <a:cs typeface="Calibri"/>
                        </a:rPr>
                        <a:t>Recorded Denial Condition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buNone/>
                      </a:pPr>
                      <a:r>
                        <a:rPr sz="1500" b="1">
                          <a:solidFill>
                            <a:srgbClr val="FFFFFF"/>
                          </a:solidFill>
                          <a:latin typeface="Calibri"/>
                          <a:ea typeface="Calibri"/>
                          <a:cs typeface="Calibri"/>
                        </a:rPr>
                        <a:t>Count</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288925">
                <a:tc>
                  <a:txBody>
                    <a:bodyPr lIns="0" tIns="0" rIns="0" bIns="0">
                      <a:noAutofit/>
                    </a:bodyPr>
                    <a:lstStyle/>
                    <a:p>
                      <a:pPr algn="l">
                        <a:buNone/>
                      </a:pPr>
                      <a:r>
                        <a:rPr sz="1575" b="0">
                          <a:solidFill>
                            <a:srgbClr val="33424D"/>
                          </a:solidFill>
                          <a:latin typeface="Calibri"/>
                          <a:ea typeface="Calibri"/>
                          <a:cs typeface="Calibri"/>
                        </a:rPr>
                        <a:t>Incorrect PIN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8</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288925">
                <a:tc>
                  <a:txBody>
                    <a:bodyPr lIns="0" tIns="0" rIns="0" bIns="0">
                      <a:noAutofit/>
                    </a:bodyPr>
                    <a:lstStyle/>
                    <a:p>
                      <a:pPr algn="l">
                        <a:buNone/>
                      </a:pPr>
                      <a:r>
                        <a:rPr sz="1575" b="0">
                          <a:solidFill>
                            <a:srgbClr val="33424D"/>
                          </a:solidFill>
                          <a:latin typeface="Calibri"/>
                          <a:ea typeface="Calibri"/>
                          <a:cs typeface="Calibri"/>
                        </a:rPr>
                        <a:t>Consecutive-entry state violation</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5</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288925">
                <a:tc>
                  <a:txBody>
                    <a:bodyPr lIns="0" tIns="0" rIns="0" bIns="0">
                      <a:noAutofit/>
                    </a:bodyPr>
                    <a:lstStyle/>
                    <a:p>
                      <a:pPr algn="l">
                        <a:buNone/>
                      </a:pPr>
                      <a:r>
                        <a:rPr sz="1575" b="0">
                          <a:solidFill>
                            <a:srgbClr val="33424D"/>
                          </a:solidFill>
                          <a:latin typeface="Calibri"/>
                          <a:ea typeface="Calibri"/>
                          <a:cs typeface="Calibri"/>
                        </a:rPr>
                        <a:t>New PIN lockout</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288925">
                <a:tc>
                  <a:txBody>
                    <a:bodyPr lIns="0" tIns="0" rIns="0" bIns="0">
                      <a:noAutofit/>
                    </a:bodyPr>
                    <a:lstStyle/>
                    <a:p>
                      <a:pPr algn="l">
                        <a:buNone/>
                      </a:pPr>
                      <a:r>
                        <a:rPr sz="1575" b="0">
                          <a:solidFill>
                            <a:srgbClr val="33424D"/>
                          </a:solidFill>
                          <a:latin typeface="Calibri"/>
                          <a:ea typeface="Calibri"/>
                          <a:cs typeface="Calibri"/>
                        </a:rPr>
                        <a:t>QR mismatch</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buNone/>
                      </a:pPr>
                      <a:r>
                        <a:rPr sz="1575" b="0">
                          <a:solidFill>
                            <a:srgbClr val="33424D"/>
                          </a:solidFill>
                          <a:latin typeface="Calibri"/>
                          <a:ea typeface="Calibri"/>
                          <a:cs typeface="Calibri"/>
                        </a:rPr>
                        <a:t>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r h="288925">
                <a:tc>
                  <a:txBody>
                    <a:bodyPr lIns="0" tIns="0" rIns="0" bIns="0">
                      <a:noAutofit/>
                    </a:bodyPr>
                    <a:lstStyle/>
                    <a:p>
                      <a:pPr algn="l">
                        <a:buNone/>
                      </a:pPr>
                      <a:r>
                        <a:rPr sz="1575" b="0">
                          <a:solidFill>
                            <a:srgbClr val="33424D"/>
                          </a:solidFill>
                          <a:latin typeface="Calibri"/>
                          <a:ea typeface="Calibri"/>
                          <a:cs typeface="Calibri"/>
                        </a:rPr>
                        <a:t>Irregular exit state</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buNone/>
                      </a:pPr>
                      <a:r>
                        <a:rPr sz="1575" b="0">
                          <a:solidFill>
                            <a:srgbClr val="33424D"/>
                          </a:solidFill>
                          <a:latin typeface="Calibri"/>
                          <a:ea typeface="Calibri"/>
                          <a:cs typeface="Calibri"/>
                        </a:rPr>
                        <a:t>1</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50A7C8F5-7A77-44DA-B37C-54861785739F}"/>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A140C633-2991-436A-9B3F-5ECA81512DB0}"/>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79EE478F-F923-44CB-8773-DAC5B75C956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18E31969-5AAB-4144-BB10-BB909500A9D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Manual and System Student Survey Ratings</a:t>
            </a:r>
          </a:p>
        </p:txBody>
      </p:sp>
      <p:sp>
        <p:nvSpPr>
          <p:cNvPr id="3" name="18 / 24">
            <a:extLst xmlns:a="http://schemas.openxmlformats.org/drawingml/2006/main">
              <a:ext uri="{FF2B5EF4-FFF2-40B4-BE49-F238E27FC236}">
                <a16:creationId xmlns:a16="http://schemas.microsoft.com/office/drawing/2014/main" id="{31E978D9-A128-4B30-8E1C-2A1D36B4252E}"/>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701EB853-38B7-4C5C-9C84-631B9A3EC888}"/>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03ec21325caa4c20"/>
          </a:graphicData>
        </a:graphic>
      </p:graphicFrame>
      <p:sp>
        <p:nvSpPr>
          <p:cNvPr id="5" name="Largest descriptive difference: Performance E">
            <a:extLst xmlns:a="http://schemas.openxmlformats.org/drawingml/2006/main">
              <a:ext uri="{FF2B5EF4-FFF2-40B4-BE49-F238E27FC236}">
                <a16:creationId xmlns:a16="http://schemas.microsoft.com/office/drawing/2014/main" id="{813BCB45-9FE3-4929-B095-E500596D1F3B}"/>
              </a:ext>
            </a:extLst>
          </p:cNvPr>
          <p:cNvSpPr>
            <a:spLocks xmlns:a="http://schemas.openxmlformats.org/drawingml/2006/main" noGrp="1"/>
          </p:cNvSpPr>
          <p:nvPr/>
        </p:nvSpPr>
        <p:spPr>
          <a:xfrm xmlns:a="http://schemas.openxmlformats.org/drawingml/2006/main">
            <a:off x="34290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D60A63D6-DC60-4A35-8721-44DD5CC2E1C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FC1EB0A9-86D6-4944-A821-C4983E643D5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085A014C-4ED4-4A92-BDE6-1BA44D5C072E}"/>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Proposed-System Evaluation by Group</a:t>
            </a:r>
          </a:p>
        </p:txBody>
      </p:sp>
      <p:sp>
        <p:nvSpPr>
          <p:cNvPr id="3" name="19 / 24">
            <a:extLst xmlns:a="http://schemas.openxmlformats.org/drawingml/2006/main">
              <a:ext uri="{FF2B5EF4-FFF2-40B4-BE49-F238E27FC236}">
                <a16:creationId xmlns:a16="http://schemas.microsoft.com/office/drawing/2014/main" id="{49659DA0-9967-48D6-9856-6751D5E5FCB3}"/>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09CF218F-982D-4789-A778-E8C9393E5F26}"/>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6a187389ab424f5b"/>
          </a:graphicData>
        </a:graphic>
      </p:graphicFrame>
      <p:sp>
        <p:nvSpPr>
          <p:cNvPr id="5" name="Highly Satisfactory">
            <a:extLst xmlns:a="http://schemas.openxmlformats.org/drawingml/2006/main">
              <a:ext uri="{FF2B5EF4-FFF2-40B4-BE49-F238E27FC236}">
                <a16:creationId xmlns:a16="http://schemas.microsoft.com/office/drawing/2014/main" id="{2B540018-B829-4A79-B81F-6F98E8CCBF33}"/>
              </a:ext>
            </a:extLst>
          </p:cNvPr>
          <p:cNvSpPr>
            <a:spLocks xmlns:a="http://schemas.openxmlformats.org/drawingml/2006/main" noGrp="1"/>
          </p:cNvSpPr>
          <p:nvPr/>
        </p:nvSpPr>
        <p:spPr>
          <a:xfrm xmlns:a="http://schemas.openxmlformats.org/drawingml/2006/main">
            <a:off x="5467350" y="13811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86"/>
                </a:solidFill>
                <a:latin typeface="Calibri"/>
                <a:ea typeface="Calibri"/>
                <a:cs typeface="Calibri"/>
              </a:defRPr>
            </a:defPPr>
          </a:lstStyle>
          <a:p xmlns:a="http://schemas.openxmlformats.org/drawingml/2006/main">
            <a:pPr algn="l">
              <a:buNone/>
              <a:defRPr sz="2025" b="1">
                <a:solidFill>
                  <a:srgbClr val="007F86"/>
                </a:solidFill>
                <a:latin typeface="Calibri"/>
                <a:ea typeface="Calibri"/>
                <a:cs typeface="Calibri"/>
              </a:defRPr>
            </a:pPr>
            <a:r>
              <a:rPr sz="2025" b="1">
                <a:solidFill>
                  <a:srgbClr val="007F86"/>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A3F7A5B8-17E3-49F6-BBD1-32F34B3FC3DB}"/>
              </a:ext>
            </a:extLst>
          </p:cNvPr>
          <p:cNvSpPr>
            <a:spLocks xmlns:a="http://schemas.openxmlformats.org/drawingml/2006/main" noGrp="1"/>
          </p:cNvSpPr>
          <p:nvPr/>
        </p:nvSpPr>
        <p:spPr>
          <a:xfrm xmlns:a="http://schemas.openxmlformats.org/drawingml/2006/main">
            <a:off x="5467350" y="184785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1234EE00-C81C-4761-9994-0C9DE9DCFEDA}"/>
              </a:ext>
            </a:extLst>
          </p:cNvPr>
          <p:cNvSpPr>
            <a:spLocks xmlns:a="http://schemas.openxmlformats.org/drawingml/2006/main" noGrp="1"/>
          </p:cNvSpPr>
          <p:nvPr/>
        </p:nvSpPr>
        <p:spPr>
          <a:xfrm xmlns:a="http://schemas.openxmlformats.org/drawingml/2006/main">
            <a:off x="5467350" y="2638425"/>
            <a:ext cx="3257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Security personnel: five categories</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Lowest category mean: Performance Efficiency, 3.45.</a:t>
            </a:r>
          </a:p>
        </p:txBody>
      </p:sp>
      <p:sp>
        <p:nvSpPr>
          <p:cNvPr id="8" name="Admin: eight categories&#10;Portability 3.92&#10;Perf">
            <a:extLst xmlns:a="http://schemas.openxmlformats.org/drawingml/2006/main">
              <a:ext uri="{FF2B5EF4-FFF2-40B4-BE49-F238E27FC236}">
                <a16:creationId xmlns:a16="http://schemas.microsoft.com/office/drawing/2014/main" id="{B801F630-650E-4FD7-A0BB-0A43CE777D1A}"/>
              </a:ext>
            </a:extLst>
          </p:cNvPr>
          <p:cNvSpPr>
            <a:spLocks xmlns:a="http://schemas.openxmlformats.org/drawingml/2006/main" noGrp="1"/>
          </p:cNvSpPr>
          <p:nvPr/>
        </p:nvSpPr>
        <p:spPr>
          <a:xfrm xmlns:a="http://schemas.openxmlformats.org/drawingml/2006/main">
            <a:off x="5467350" y="3552825"/>
            <a:ext cx="3257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Admin: eight categories</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Portability 3.92</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B25109E8-3082-411E-92E9-1FCF2AB2B89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1CB63D50-EB13-440F-8121-1A7AECDEDCF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EAEF8E31-4743-4E68-93F3-CF8747F603FD}"/>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Welch Test of Overall Survey Scores</a:t>
            </a:r>
          </a:p>
        </p:txBody>
      </p:sp>
      <p:sp>
        <p:nvSpPr>
          <p:cNvPr id="3" name="20 / 24">
            <a:extLst xmlns:a="http://schemas.openxmlformats.org/drawingml/2006/main">
              <a:ext uri="{FF2B5EF4-FFF2-40B4-BE49-F238E27FC236}">
                <a16:creationId xmlns:a16="http://schemas.microsoft.com/office/drawing/2014/main" id="{6D104F7E-9299-4D51-A915-B192E099503E}"/>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9B8FD254-A0C8-454A-A0ED-6A1C7D278CF8}"/>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0" tIns="0" rIns="0" bIns="0">
                      <a:noAutofit/>
                    </a:bodyPr>
                    <a:lstStyle/>
                    <a:p>
                      <a:pPr algn="l">
                        <a:buNone/>
                      </a:pPr>
                      <a:r>
                        <a:rPr sz="1500" b="1">
                          <a:solidFill>
                            <a:srgbClr val="FFFFFF"/>
                          </a:solidFill>
                          <a:latin typeface="Calibri"/>
                          <a:ea typeface="Calibri"/>
                          <a:cs typeface="Calibri"/>
                        </a:rPr>
                        <a:t>Group</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Overall Mean</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buNone/>
                      </a:pPr>
                      <a:r>
                        <a:rPr sz="1500" b="1">
                          <a:solidFill>
                            <a:srgbClr val="FFFFFF"/>
                          </a:solidFill>
                          <a:latin typeface="Calibri"/>
                          <a:ea typeface="Calibri"/>
                          <a:cs typeface="Calibri"/>
                        </a:rPr>
                        <a:t>Composite Sample SD</a:t>
                      </a:r>
                    </a:p>
                  </a:txBody>
                  <a:tcPr marL="95250" marR="95250" marT="38100" marB="38100" anchor="ctr">
                    <a:lnL w="6350">
                      <a:noFill/>
                      <a:prstDash val="solid"/>
                    </a:lnL>
                    <a:lnR w="6350">
                      <a:noFill/>
                      <a:prstDash val="solid"/>
                    </a:lnR>
                    <a:lnT w="6350">
                      <a:noFill/>
                      <a:prstDash val="solid"/>
                    </a:lnT>
                    <a:lnB w="6350">
                      <a:noFill/>
                      <a:prstDash val="solid"/>
                    </a:lnB>
                    <a:solidFill>
                      <a:srgbClr val="142C45"/>
                    </a:solidFill>
                  </a:tcPr>
                </a:tc>
              </a:tr>
              <a:tr h="422275">
                <a:tc>
                  <a:txBody>
                    <a:bodyPr lIns="0" tIns="0" rIns="0" bIns="0">
                      <a:noAutofit/>
                    </a:bodyPr>
                    <a:lstStyle/>
                    <a:p>
                      <a:pPr algn="l">
                        <a:buNone/>
                      </a:pPr>
                      <a:r>
                        <a:rPr sz="1575" b="0">
                          <a:solidFill>
                            <a:srgbClr val="33424D"/>
                          </a:solidFill>
                          <a:latin typeface="Calibri"/>
                          <a:ea typeface="Calibri"/>
                          <a:cs typeface="Calibri"/>
                        </a:rPr>
                        <a:t>Manual process</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2.284</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buNone/>
                      </a:pPr>
                      <a:r>
                        <a:rPr sz="1575" b="0">
                          <a:solidFill>
                            <a:srgbClr val="33424D"/>
                          </a:solidFill>
                          <a:latin typeface="Calibri"/>
                          <a:ea typeface="Calibri"/>
                          <a:cs typeface="Calibri"/>
                        </a:rPr>
                        <a:t>0.753</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FFFFF"/>
                    </a:solidFill>
                  </a:tcPr>
                </a:tc>
              </a:tr>
              <a:tr h="422275">
                <a:tc>
                  <a:txBody>
                    <a:bodyPr lIns="0" tIns="0" rIns="0" bIns="0">
                      <a:noAutofit/>
                    </a:bodyPr>
                    <a:lstStyle/>
                    <a:p>
                      <a:pPr algn="l">
                        <a:buNone/>
                      </a:pPr>
                      <a:r>
                        <a:rPr sz="1575" b="0">
                          <a:solidFill>
                            <a:srgbClr val="33424D"/>
                          </a:solidFill>
                          <a:latin typeface="Calibri"/>
                          <a:ea typeface="Calibri"/>
                          <a:cs typeface="Calibri"/>
                        </a:rPr>
                        <a:t>Proposed system</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70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3.742</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buNone/>
                      </a:pPr>
                      <a:r>
                        <a:rPr sz="1575" b="0">
                          <a:solidFill>
                            <a:srgbClr val="33424D"/>
                          </a:solidFill>
                          <a:latin typeface="Calibri"/>
                          <a:ea typeface="Calibri"/>
                          <a:cs typeface="Calibri"/>
                        </a:rPr>
                        <a:t>0.290</a:t>
                      </a:r>
                    </a:p>
                  </a:txBody>
                  <a:tcPr marL="95250" marR="95250" marT="38100" marB="38100"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0FC7B6DE-A5F4-441C-B769-FA4D532799D4}"/>
              </a:ext>
            </a:extLst>
          </p:cNvPr>
          <p:cNvSpPr>
            <a:spLocks xmlns:a="http://schemas.openxmlformats.org/drawingml/2006/main" noGrp="1"/>
          </p:cNvSpPr>
          <p:nvPr/>
        </p:nvSpPr>
        <p:spPr>
          <a:xfrm xmlns:a="http://schemas.openxmlformats.org/drawingml/2006/main">
            <a:off x="34290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24C20995-6722-44DC-907A-D01EB3BB0393}"/>
              </a:ext>
            </a:extLst>
          </p:cNvPr>
          <p:cNvSpPr>
            <a:spLocks xmlns:a="http://schemas.openxmlformats.org/drawingml/2006/main" noGrp="1"/>
          </p:cNvSpPr>
          <p:nvPr/>
        </p:nvSpPr>
        <p:spPr>
          <a:xfrm xmlns:a="http://schemas.openxmlformats.org/drawingml/2006/main">
            <a:off x="34290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SE = sqrt(0.290^2 / 70 + 0.753^2 / 70) = 0.096445</a:t>
            </a:r>
          </a:p>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1079F738-5BAC-444A-9F64-9C75AB18EB4E}"/>
              </a:ext>
            </a:extLst>
          </p:cNvPr>
          <p:cNvSpPr>
            <a:spLocks xmlns:a="http://schemas.openxmlformats.org/drawingml/2006/main" noGrp="1"/>
          </p:cNvSpPr>
          <p:nvPr/>
        </p:nvSpPr>
        <p:spPr>
          <a:xfrm xmlns:a="http://schemas.openxmlformats.org/drawingml/2006/main">
            <a:off x="342900" y="3952875"/>
            <a:ext cx="4619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86"/>
                </a:solidFill>
                <a:latin typeface="Calibri"/>
                <a:ea typeface="Calibri"/>
                <a:cs typeface="Calibri"/>
              </a:defRPr>
            </a:defPPr>
          </a:lstStyle>
          <a:p xmlns:a="http://schemas.openxmlformats.org/drawingml/2006/main">
            <a:pPr algn="l">
              <a:buNone/>
              <a:defRPr sz="2250" b="1">
                <a:solidFill>
                  <a:srgbClr val="007F86"/>
                </a:solidFill>
                <a:latin typeface="Calibri"/>
                <a:ea typeface="Calibri"/>
                <a:cs typeface="Calibri"/>
              </a:defRPr>
            </a:pPr>
            <a:r>
              <a:rPr sz="2250" b="1">
                <a:solidFill>
                  <a:srgbClr val="007F86"/>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5C083FAC-3E3B-470A-B9B0-B41DE5EB9D8E}"/>
              </a:ext>
            </a:extLst>
          </p:cNvPr>
          <p:cNvSpPr>
            <a:spLocks xmlns:a="http://schemas.openxmlformats.org/drawingml/2006/main" noGrp="1"/>
          </p:cNvSpPr>
          <p:nvPr/>
        </p:nvSpPr>
        <p:spPr>
          <a:xfrm xmlns:a="http://schemas.openxmlformats.org/drawingml/2006/main">
            <a:off x="5305425" y="38862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24D"/>
                </a:solidFill>
                <a:latin typeface="Calibri"/>
                <a:ea typeface="Calibri"/>
                <a:cs typeface="Calibri"/>
              </a:defRPr>
            </a:defPPr>
          </a:lstStyle>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Difference 1.458 points</a:t>
            </a:r>
          </a:p>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280004D7-A7E2-40CB-B318-9F703FFF746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7602022C-BED2-40D8-BA8B-F6C6BFE07DED}"/>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D3D710A2-756B-4205-A6D9-6C002E9F423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Discussion and Study Limitations</a:t>
            </a:r>
          </a:p>
        </p:txBody>
      </p:sp>
      <p:sp>
        <p:nvSpPr>
          <p:cNvPr id="3" name="21 / 24">
            <a:extLst xmlns:a="http://schemas.openxmlformats.org/drawingml/2006/main">
              <a:ext uri="{FF2B5EF4-FFF2-40B4-BE49-F238E27FC236}">
                <a16:creationId xmlns:a16="http://schemas.microsoft.com/office/drawing/2014/main" id="{A8679683-0C36-4E25-A469-7DC7ACBF90BA}"/>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25CD78C9-A314-4457-BC62-E2EF5139ADE4}"/>
              </a:ext>
            </a:extLst>
          </p:cNvPr>
          <p:cNvSpPr>
            <a:spLocks xmlns:a="http://schemas.openxmlformats.org/drawingml/2006/main" noGrp="1"/>
          </p:cNvSpPr>
          <p:nvPr/>
        </p:nvSpPr>
        <p:spPr>
          <a:xfrm xmlns:a="http://schemas.openxmlformats.org/drawingml/2006/main">
            <a:off x="34290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Recorded capability</a:t>
            </a:r>
          </a:p>
        </p:txBody>
      </p:sp>
      <p:sp>
        <p:nvSpPr>
          <p:cNvPr id="5" name="The prototype applied configured rules in the">
            <a:extLst xmlns:a="http://schemas.openxmlformats.org/drawingml/2006/main">
              <a:ext uri="{FF2B5EF4-FFF2-40B4-BE49-F238E27FC236}">
                <a16:creationId xmlns:a16="http://schemas.microsoft.com/office/drawing/2014/main" id="{8D8AF5B1-E7D1-467C-89CB-1F25FB0DDAD7}"/>
              </a:ext>
            </a:extLst>
          </p:cNvPr>
          <p:cNvSpPr>
            <a:spLocks xmlns:a="http://schemas.openxmlformats.org/drawingml/2006/main" noGrp="1"/>
          </p:cNvSpPr>
          <p:nvPr/>
        </p:nvSpPr>
        <p:spPr>
          <a:xfrm xmlns:a="http://schemas.openxmlformats.org/drawingml/2006/main">
            <a:off x="34290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The prototype applied configured rules in the recorded tests. Logical re-entry rejection does not establish physical tailgating prevention.</a:t>
            </a:r>
          </a:p>
        </p:txBody>
      </p:sp>
      <p:sp>
        <p:nvSpPr>
          <p:cNvPr id="6" name="Timing interpretation">
            <a:extLst xmlns:a="http://schemas.openxmlformats.org/drawingml/2006/main">
              <a:ext uri="{FF2B5EF4-FFF2-40B4-BE49-F238E27FC236}">
                <a16:creationId xmlns:a16="http://schemas.microsoft.com/office/drawing/2014/main" id="{1DC50B09-F66D-40FF-9D64-4CD43FF94281}"/>
              </a:ext>
            </a:extLst>
          </p:cNvPr>
          <p:cNvSpPr>
            <a:spLocks xmlns:a="http://schemas.openxmlformats.org/drawingml/2006/main" noGrp="1"/>
          </p:cNvSpPr>
          <p:nvPr/>
        </p:nvSpPr>
        <p:spPr>
          <a:xfrm xmlns:a="http://schemas.openxmlformats.org/drawingml/2006/main">
            <a:off x="34290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EBD96324-48AD-4F87-A3AE-FB66AF0E384D}"/>
              </a:ext>
            </a:extLst>
          </p:cNvPr>
          <p:cNvSpPr>
            <a:spLocks xmlns:a="http://schemas.openxmlformats.org/drawingml/2006/main" noGrp="1"/>
          </p:cNvSpPr>
          <p:nvPr/>
        </p:nvSpPr>
        <p:spPr>
          <a:xfrm xmlns:a="http://schemas.openxmlformats.org/drawingml/2006/main">
            <a:off x="34290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3AFE70AE-7FE1-4F15-A437-EEC0CA2CEE94}"/>
              </a:ext>
            </a:extLst>
          </p:cNvPr>
          <p:cNvSpPr>
            <a:spLocks xmlns:a="http://schemas.openxmlformats.org/drawingml/2006/main" noGrp="1"/>
          </p:cNvSpPr>
          <p:nvPr/>
        </p:nvSpPr>
        <p:spPr>
          <a:xfrm xmlns:a="http://schemas.openxmlformats.org/drawingml/2006/main">
            <a:off x="34290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EB3A8B50-279D-4BCA-9A1A-2392C1CFC7C0}"/>
              </a:ext>
            </a:extLst>
          </p:cNvPr>
          <p:cNvSpPr>
            <a:spLocks xmlns:a="http://schemas.openxmlformats.org/drawingml/2006/main" noGrp="1"/>
          </p:cNvSpPr>
          <p:nvPr/>
        </p:nvSpPr>
        <p:spPr>
          <a:xfrm xmlns:a="http://schemas.openxmlformats.org/drawingml/2006/main">
            <a:off x="34290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5314E34-CAB9-4761-AEA3-8789E04D2E3A}"/>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6AD0D4"/>
                </a:solidFill>
                <a:latin typeface="Calibri"/>
                <a:ea typeface="Calibri"/>
                <a:cs typeface="Calibri"/>
              </a:defRPr>
            </a:defPPr>
          </a:lstStyle>
          <a:p xmlns:a="http://schemas.openxmlformats.org/drawingml/2006/main">
            <a:pPr algn="l">
              <a:buNone/>
              <a:defRPr sz="975" b="1">
                <a:solidFill>
                  <a:srgbClr val="6AD0D4"/>
                </a:solidFill>
                <a:latin typeface="Calibri"/>
                <a:ea typeface="Calibri"/>
                <a:cs typeface="Calibri"/>
              </a:defRPr>
            </a:pPr>
            <a:r>
              <a:rPr sz="975" b="1">
                <a:solidFill>
                  <a:srgbClr val="6AD0D4"/>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F377566D-76D8-4F91-868A-7412D42DADF2}"/>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Calibri"/>
                <a:ea typeface="Calibri"/>
                <a:cs typeface="Calibri"/>
              </a:defRPr>
            </a:defPPr>
          </a:lstStyle>
          <a:p xmlns:a="http://schemas.openxmlformats.org/drawingml/2006/main">
            <a:pPr algn="l">
              <a:buNone/>
              <a:defRPr sz="2550" b="1">
                <a:solidFill>
                  <a:srgbClr val="FFFFFF"/>
                </a:solidFill>
                <a:latin typeface="Calibri"/>
                <a:ea typeface="Calibri"/>
                <a:cs typeface="Calibri"/>
              </a:defRPr>
            </a:pPr>
            <a:r>
              <a:rPr sz="2550" b="1">
                <a:solidFill>
                  <a:srgbClr val="FFFFFF"/>
                </a:solidFill>
                <a:latin typeface="Calibri"/>
                <a:ea typeface="Calibri"/>
                <a:cs typeface="Calibri"/>
              </a:rPr>
              <a:t>Conclusion</a:t>
            </a:r>
          </a:p>
        </p:txBody>
      </p:sp>
      <p:sp>
        <p:nvSpPr>
          <p:cNvPr id="3" name="22 / 24">
            <a:extLst xmlns:a="http://schemas.openxmlformats.org/drawingml/2006/main">
              <a:ext uri="{FF2B5EF4-FFF2-40B4-BE49-F238E27FC236}">
                <a16:creationId xmlns:a16="http://schemas.microsoft.com/office/drawing/2014/main" id="{81735C47-4244-436A-93AA-9930AF12A5F1}"/>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buNone/>
              <a:defRPr sz="825" b="0">
                <a:solidFill>
                  <a:srgbClr val="AEC0CB"/>
                </a:solidFill>
                <a:latin typeface="Calibri"/>
                <a:ea typeface="Calibri"/>
                <a:cs typeface="Calibri"/>
              </a:defRPr>
            </a:pPr>
            <a:r>
              <a:rPr sz="825" b="0">
                <a:solidFill>
                  <a:srgbClr val="AEC0CB"/>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CDCEA84C-690E-4E21-9895-4B6B15B87CFD}"/>
              </a:ext>
            </a:extLst>
          </p:cNvPr>
          <p:cNvSpPr>
            <a:spLocks xmlns:a="http://schemas.openxmlformats.org/drawingml/2006/main" noGrp="1"/>
          </p:cNvSpPr>
          <p:nvPr/>
        </p:nvSpPr>
        <p:spPr>
          <a:xfrm xmlns:a="http://schemas.openxmlformats.org/drawingml/2006/main">
            <a:off x="34290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195A9B77-3A52-464A-8D1D-C4E46F5D7526}"/>
              </a:ext>
            </a:extLst>
          </p:cNvPr>
          <p:cNvSpPr>
            <a:spLocks xmlns:a="http://schemas.openxmlformats.org/drawingml/2006/main" noGrp="1"/>
          </p:cNvSpPr>
          <p:nvPr/>
        </p:nvSpPr>
        <p:spPr>
          <a:xfrm xmlns:a="http://schemas.openxmlformats.org/drawingml/2006/main">
            <a:off x="34290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2EC727BC-466E-4EBC-B74B-E0680E5C1394}"/>
              </a:ext>
            </a:extLst>
          </p:cNvPr>
          <p:cNvSpPr>
            <a:spLocks xmlns:a="http://schemas.openxmlformats.org/drawingml/2006/main" noGrp="1"/>
          </p:cNvSpPr>
          <p:nvPr/>
        </p:nvSpPr>
        <p:spPr>
          <a:xfrm xmlns:a="http://schemas.openxmlformats.org/drawingml/2006/main">
            <a:off x="34290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Supported findings</a:t>
            </a:r>
          </a:p>
        </p:txBody>
      </p:sp>
      <p:sp>
        <p:nvSpPr>
          <p:cNvPr id="7" name="Controlled credential decisions matched expec">
            <a:extLst xmlns:a="http://schemas.openxmlformats.org/drawingml/2006/main">
              <a:ext uri="{FF2B5EF4-FFF2-40B4-BE49-F238E27FC236}">
                <a16:creationId xmlns:a16="http://schemas.microsoft.com/office/drawing/2014/main" id="{29B46020-5B6E-4785-8918-6B4DCD1ED984}"/>
              </a:ext>
            </a:extLst>
          </p:cNvPr>
          <p:cNvSpPr>
            <a:spLocks xmlns:a="http://schemas.openxmlformats.org/drawingml/2006/main" noGrp="1"/>
          </p:cNvSpPr>
          <p:nvPr/>
        </p:nvSpPr>
        <p:spPr>
          <a:xfrm xmlns:a="http://schemas.openxmlformats.org/drawingml/2006/main">
            <a:off x="34290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Controlled credential decisions matched expected outcomes. Respondents reported favorable perceived quality and higher overall system-group student ratings.</a:t>
            </a:r>
          </a:p>
        </p:txBody>
      </p:sp>
      <p:sp>
        <p:nvSpPr>
          <p:cNvPr id="8" name="Scope of the conclusion">
            <a:extLst xmlns:a="http://schemas.openxmlformats.org/drawingml/2006/main">
              <a:ext uri="{FF2B5EF4-FFF2-40B4-BE49-F238E27FC236}">
                <a16:creationId xmlns:a16="http://schemas.microsoft.com/office/drawing/2014/main" id="{920C6D80-337E-4323-B37A-C3D3B5DC3572}"/>
              </a:ext>
            </a:extLst>
          </p:cNvPr>
          <p:cNvSpPr>
            <a:spLocks xmlns:a="http://schemas.openxmlformats.org/drawingml/2006/main" noGrp="1"/>
          </p:cNvSpPr>
          <p:nvPr/>
        </p:nvSpPr>
        <p:spPr>
          <a:xfrm xmlns:a="http://schemas.openxmlformats.org/drawingml/2006/main">
            <a:off x="34290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0365DCCE-EBB8-444E-A12D-07ADA028A1B4}"/>
              </a:ext>
            </a:extLst>
          </p:cNvPr>
          <p:cNvSpPr>
            <a:spLocks xmlns:a="http://schemas.openxmlformats.org/drawingml/2006/main" noGrp="1"/>
          </p:cNvSpPr>
          <p:nvPr/>
        </p:nvSpPr>
        <p:spPr>
          <a:xfrm xmlns:a="http://schemas.openxmlformats.org/drawingml/2006/main">
            <a:off x="34290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B7060E2-8B1A-4D60-A625-BF81B75E32A9}"/>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6AD0D4"/>
                </a:solidFill>
                <a:latin typeface="Calibri"/>
                <a:ea typeface="Calibri"/>
                <a:cs typeface="Calibri"/>
              </a:defRPr>
            </a:defPPr>
          </a:lstStyle>
          <a:p xmlns:a="http://schemas.openxmlformats.org/drawingml/2006/main">
            <a:pPr algn="l">
              <a:buNone/>
              <a:defRPr sz="975" b="1">
                <a:solidFill>
                  <a:srgbClr val="6AD0D4"/>
                </a:solidFill>
                <a:latin typeface="Calibri"/>
                <a:ea typeface="Calibri"/>
                <a:cs typeface="Calibri"/>
              </a:defRPr>
            </a:pPr>
            <a:r>
              <a:rPr sz="975" b="1">
                <a:solidFill>
                  <a:srgbClr val="6AD0D4"/>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5886EF76-E3A4-4762-A7F7-B3557F189E0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Calibri"/>
                <a:ea typeface="Calibri"/>
                <a:cs typeface="Calibri"/>
              </a:defRPr>
            </a:defPPr>
          </a:lstStyle>
          <a:p xmlns:a="http://schemas.openxmlformats.org/drawingml/2006/main">
            <a:pPr algn="l">
              <a:buNone/>
              <a:defRPr sz="2550" b="1">
                <a:solidFill>
                  <a:srgbClr val="FFFFFF"/>
                </a:solidFill>
                <a:latin typeface="Calibri"/>
                <a:ea typeface="Calibri"/>
                <a:cs typeface="Calibri"/>
              </a:defRPr>
            </a:pPr>
            <a:r>
              <a:rPr sz="2550" b="1">
                <a:solidFill>
                  <a:srgbClr val="FFFFFF"/>
                </a:solidFill>
                <a:latin typeface="Calibri"/>
                <a:ea typeface="Calibri"/>
                <a:cs typeface="Calibri"/>
              </a:rPr>
              <a:t>Recommendations for Further Evaluation</a:t>
            </a:r>
          </a:p>
        </p:txBody>
      </p:sp>
      <p:sp>
        <p:nvSpPr>
          <p:cNvPr id="3" name="23 / 24">
            <a:extLst xmlns:a="http://schemas.openxmlformats.org/drawingml/2006/main">
              <a:ext uri="{FF2B5EF4-FFF2-40B4-BE49-F238E27FC236}">
                <a16:creationId xmlns:a16="http://schemas.microsoft.com/office/drawing/2014/main" id="{4BC1D412-6A27-4219-A113-EA7931480D64}"/>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buNone/>
              <a:defRPr sz="825" b="0">
                <a:solidFill>
                  <a:srgbClr val="AEC0CB"/>
                </a:solidFill>
                <a:latin typeface="Calibri"/>
                <a:ea typeface="Calibri"/>
                <a:cs typeface="Calibri"/>
              </a:defRPr>
            </a:pPr>
            <a:r>
              <a:rPr sz="825" b="0">
                <a:solidFill>
                  <a:srgbClr val="AEC0CB"/>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080918CD-60E9-4E89-A88A-63F2A18FEB16}"/>
              </a:ext>
            </a:extLst>
          </p:cNvPr>
          <p:cNvSpPr>
            <a:spLocks xmlns:a="http://schemas.openxmlformats.org/drawingml/2006/main" noGrp="1"/>
          </p:cNvSpPr>
          <p:nvPr/>
        </p:nvSpPr>
        <p:spPr>
          <a:xfrm xmlns:a="http://schemas.openxmlformats.org/drawingml/2006/main">
            <a:off x="34290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19CFA843-D787-4971-88C4-54E32A72AB70}"/>
              </a:ext>
            </a:extLst>
          </p:cNvPr>
          <p:cNvSpPr>
            <a:spLocks xmlns:a="http://schemas.openxmlformats.org/drawingml/2006/main" noGrp="1"/>
          </p:cNvSpPr>
          <p:nvPr/>
        </p:nvSpPr>
        <p:spPr>
          <a:xfrm xmlns:a="http://schemas.openxmlformats.org/drawingml/2006/main">
            <a:off x="34290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91424BD7-1916-42F8-99A1-CD5E60148BE7}"/>
              </a:ext>
            </a:extLst>
          </p:cNvPr>
          <p:cNvSpPr>
            <a:spLocks xmlns:a="http://schemas.openxmlformats.org/drawingml/2006/main" noGrp="1"/>
          </p:cNvSpPr>
          <p:nvPr/>
        </p:nvSpPr>
        <p:spPr>
          <a:xfrm xmlns:a="http://schemas.openxmlformats.org/drawingml/2006/main">
            <a:off x="34290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765193D5-09D3-41A8-9965-FF573820F4BA}"/>
              </a:ext>
            </a:extLst>
          </p:cNvPr>
          <p:cNvSpPr>
            <a:spLocks xmlns:a="http://schemas.openxmlformats.org/drawingml/2006/main" noGrp="1"/>
          </p:cNvSpPr>
          <p:nvPr/>
        </p:nvSpPr>
        <p:spPr>
          <a:xfrm xmlns:a="http://schemas.openxmlformats.org/drawingml/2006/main">
            <a:off x="34290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B345823C-4F6B-4EBB-A3B3-647E551D0042}"/>
              </a:ext>
            </a:extLst>
          </p:cNvPr>
          <p:cNvSpPr>
            <a:spLocks xmlns:a="http://schemas.openxmlformats.org/drawingml/2006/main" noGrp="1"/>
          </p:cNvSpPr>
          <p:nvPr/>
        </p:nvSpPr>
        <p:spPr>
          <a:xfrm xmlns:a="http://schemas.openxmlformats.org/drawingml/2006/main">
            <a:off x="34290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1510D1FE-1004-4880-8F5D-DB2C71139321}"/>
              </a:ext>
            </a:extLst>
          </p:cNvPr>
          <p:cNvSpPr>
            <a:spLocks xmlns:a="http://schemas.openxmlformats.org/drawingml/2006/main" noGrp="1"/>
          </p:cNvSpPr>
          <p:nvPr/>
        </p:nvSpPr>
        <p:spPr>
          <a:xfrm xmlns:a="http://schemas.openxmlformats.org/drawingml/2006/main">
            <a:off x="34290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5" name="SYSTEM DEMONSTRATION">
            <a:extLst xmlns:a="http://schemas.openxmlformats.org/drawingml/2006/main">
              <a:ext uri="{FF2B5EF4-FFF2-40B4-BE49-F238E27FC236}">
                <a16:creationId xmlns:a16="http://schemas.microsoft.com/office/drawing/2014/main" id="{9B5CF959-27E6-4E17-A48A-1028C591BFAA}"/>
              </a:ext>
            </a:extLst>
          </p:cNvPr>
          <p:cNvSpPr>
            <a:spLocks xmlns:a="http://schemas.openxmlformats.org/drawingml/2006/main" noGrp="1"/>
          </p:cNvSpPr>
          <p:nvPr/>
        </p:nvSpPr>
        <p:spPr>
          <a:xfrm xmlns:a="http://schemas.openxmlformats.org/drawingml/2006/main">
            <a:off x="457200" y="14287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6AD0D4"/>
                </a:solidFill>
                <a:latin typeface="Calibri"/>
                <a:ea typeface="Calibri"/>
                <a:cs typeface="Calibri"/>
              </a:defRPr>
            </a:defPPr>
          </a:lstStyle>
          <a:p xmlns:a="http://schemas.openxmlformats.org/drawingml/2006/main">
            <a:pPr algn="l">
              <a:defRPr sz="1350" b="1">
                <a:solidFill>
                  <a:srgbClr val="6AD0D4"/>
                </a:solidFill>
                <a:latin typeface="Calibri"/>
                <a:ea typeface="Calibri"/>
                <a:cs typeface="Calibri"/>
              </a:defRPr>
            </a:pPr>
            <a:r>
              <a:rPr sz="1350" b="1">
                <a:solidFill>
                  <a:srgbClr val="6AD0D4"/>
                </a:solidFill>
                <a:latin typeface="Calibri"/>
                <a:ea typeface="Calibri"/>
                <a:cs typeface="Calibri"/>
              </a:rPr>
              <a:t>SYSTEM DEMONSTRATION</a:t>
            </a:r>
          </a:p>
        </p:txBody>
      </p:sp>
      <p:sp>
        <p:nvSpPr>
          <p:cNvPr id="2" name="Live Demo and Questions">
            <a:extLst xmlns:a="http://schemas.openxmlformats.org/drawingml/2006/main">
              <a:ext uri="{FF2B5EF4-FFF2-40B4-BE49-F238E27FC236}">
                <a16:creationId xmlns:a16="http://schemas.microsoft.com/office/drawing/2014/main" id="{2C3A6E0B-2859-438B-966A-E84927C1ADE1}"/>
              </a:ext>
            </a:extLst>
          </p:cNvPr>
          <p:cNvSpPr>
            <a:spLocks xmlns:a="http://schemas.openxmlformats.org/drawingml/2006/main" noGrp="1"/>
          </p:cNvSpPr>
          <p:nvPr/>
        </p:nvSpPr>
        <p:spPr>
          <a:xfrm xmlns:a="http://schemas.openxmlformats.org/drawingml/2006/main">
            <a:off x="457200" y="2047875"/>
            <a:ext cx="822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Live Demo and Questions</a:t>
            </a:r>
          </a:p>
        </p:txBody>
      </p:sp>
      <p:sp>
        <p:nvSpPr>
          <p:cNvPr id="3" name="Configured modes, entry/exit timestamps, alerts,&#10;and authori">
            <a:extLst xmlns:a="http://schemas.openxmlformats.org/drawingml/2006/main">
              <a:ext uri="{FF2B5EF4-FFF2-40B4-BE49-F238E27FC236}">
                <a16:creationId xmlns:a16="http://schemas.microsoft.com/office/drawing/2014/main" id="{06DBB584-5AED-4B42-9AB5-A7AF8EDC6824}"/>
              </a:ext>
            </a:extLst>
          </p:cNvPr>
          <p:cNvSpPr>
            <a:spLocks xmlns:a="http://schemas.openxmlformats.org/drawingml/2006/main" noGrp="1"/>
          </p:cNvSpPr>
          <p:nvPr/>
        </p:nvSpPr>
        <p:spPr>
          <a:xfrm xmlns:a="http://schemas.openxmlformats.org/drawingml/2006/main">
            <a:off x="457200" y="3105150"/>
            <a:ext cx="7953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DD6"/>
                </a:solidFill>
                <a:latin typeface="Calibri"/>
                <a:ea typeface="Calibri"/>
                <a:cs typeface="Calibri"/>
              </a:defRPr>
            </a:defPPr>
          </a:lstStyle>
          <a:p xmlns:a="http://schemas.openxmlformats.org/drawingml/2006/main">
            <a:pPr algn="l">
              <a:defRPr sz="1800" b="0">
                <a:solidFill>
                  <a:srgbClr val="BDCDD6"/>
                </a:solidFill>
                <a:latin typeface="Calibri"/>
                <a:ea typeface="Calibri"/>
                <a:cs typeface="Calibri"/>
              </a:defRPr>
            </a:pPr>
            <a:r>
              <a:rPr sz="1800" b="0">
                <a:solidFill>
                  <a:srgbClr val="BDCDD6"/>
                </a:solidFill>
                <a:latin typeface="Calibri"/>
                <a:ea typeface="Calibri"/>
                <a:cs typeface="Calibri"/>
              </a:rPr>
              <a:t>Configured modes, entry/exit timestamps, alerts,</a:t>
            </a:r>
          </a:p>
          <a:p xmlns:a="http://schemas.openxmlformats.org/drawingml/2006/main">
            <a:pPr algn="l">
              <a:defRPr sz="1800" b="0">
                <a:solidFill>
                  <a:srgbClr val="BDCDD6"/>
                </a:solidFill>
                <a:latin typeface="Calibri"/>
                <a:ea typeface="Calibri"/>
                <a:cs typeface="Calibri"/>
              </a:defRPr>
            </a:pPr>
            <a:r>
              <a:rPr sz="1800" b="0">
                <a:solidFill>
                  <a:srgbClr val="BDCDD6"/>
                </a:solidFill>
                <a:latin typeface="Calibri"/>
                <a:ea typeface="Calibri"/>
                <a:cs typeface="Calibri"/>
              </a:rPr>
              <a:t>and authorized local cleanup</a:t>
            </a:r>
          </a:p>
        </p:txBody>
      </p:sp>
      <p:sp>
        <p:nvSpPr>
          <p:cNvPr id="4" name="24 / 24">
            <a:extLst xmlns:a="http://schemas.openxmlformats.org/drawingml/2006/main">
              <a:ext uri="{FF2B5EF4-FFF2-40B4-BE49-F238E27FC236}">
                <a16:creationId xmlns:a16="http://schemas.microsoft.com/office/drawing/2014/main" id="{8C340B25-F479-482E-89D2-D693298ACA9F}"/>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defRPr sz="825" b="0">
                <a:solidFill>
                  <a:srgbClr val="AEC0CB"/>
                </a:solidFill>
                <a:latin typeface="Calibri"/>
                <a:ea typeface="Calibri"/>
                <a:cs typeface="Calibri"/>
              </a:defRPr>
            </a:pPr>
            <a:r>
              <a:rPr sz="825" b="0">
                <a:solidFill>
                  <a:srgbClr val="AEC0CB"/>
                </a:solidFill>
                <a:latin typeface="Calibri"/>
                <a:ea typeface="Calibri"/>
                <a:cs typeface="Calibri"/>
              </a:rPr>
              <a:t>24 / 24</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2026-10-12T11:51:57.9120000Z</dcterms:created>
  <dcterms:modified xsi:type="dcterms:W3CDTF">2026-10-12T11:51:57.9120000Z</dcterms:modified>
</coreProperties>
</file>